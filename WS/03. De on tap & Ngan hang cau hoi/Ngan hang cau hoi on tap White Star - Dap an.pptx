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68"/>
  </p:notesMasterIdLst>
  <p:sldIdLst>
    <p:sldId id="280" r:id="rId4"/>
    <p:sldId id="281" r:id="rId5"/>
    <p:sldId id="282" r:id="rId6"/>
    <p:sldId id="283" r:id="rId7"/>
    <p:sldId id="260" r:id="rId8"/>
    <p:sldId id="261" r:id="rId9"/>
    <p:sldId id="284" r:id="rId10"/>
    <p:sldId id="285" r:id="rId11"/>
    <p:sldId id="286" r:id="rId12"/>
    <p:sldId id="287" r:id="rId13"/>
    <p:sldId id="288" r:id="rId14"/>
    <p:sldId id="289" r:id="rId15"/>
    <p:sldId id="290" r:id="rId16"/>
    <p:sldId id="291" r:id="rId17"/>
    <p:sldId id="292" r:id="rId18"/>
    <p:sldId id="293" r:id="rId19"/>
    <p:sldId id="294" r:id="rId20"/>
    <p:sldId id="295" r:id="rId21"/>
    <p:sldId id="296" r:id="rId22"/>
    <p:sldId id="297" r:id="rId23"/>
    <p:sldId id="298" r:id="rId24"/>
    <p:sldId id="299" r:id="rId25"/>
    <p:sldId id="300" r:id="rId26"/>
    <p:sldId id="301" r:id="rId27"/>
    <p:sldId id="302" r:id="rId28"/>
    <p:sldId id="303" r:id="rId29"/>
    <p:sldId id="304" r:id="rId30"/>
    <p:sldId id="305" r:id="rId31"/>
    <p:sldId id="306" r:id="rId32"/>
    <p:sldId id="307" r:id="rId33"/>
    <p:sldId id="308" r:id="rId34"/>
    <p:sldId id="309" r:id="rId35"/>
    <p:sldId id="310" r:id="rId36"/>
    <p:sldId id="311" r:id="rId37"/>
    <p:sldId id="312" r:id="rId38"/>
    <p:sldId id="313" r:id="rId39"/>
    <p:sldId id="314" r:id="rId40"/>
    <p:sldId id="315" r:id="rId41"/>
    <p:sldId id="316" r:id="rId42"/>
    <p:sldId id="317" r:id="rId43"/>
    <p:sldId id="318" r:id="rId44"/>
    <p:sldId id="319" r:id="rId45"/>
    <p:sldId id="320" r:id="rId46"/>
    <p:sldId id="321" r:id="rId47"/>
    <p:sldId id="322" r:id="rId48"/>
    <p:sldId id="323" r:id="rId49"/>
    <p:sldId id="324" r:id="rId50"/>
    <p:sldId id="325" r:id="rId51"/>
    <p:sldId id="326" r:id="rId52"/>
    <p:sldId id="327" r:id="rId53"/>
    <p:sldId id="328" r:id="rId54"/>
    <p:sldId id="329" r:id="rId55"/>
    <p:sldId id="330" r:id="rId56"/>
    <p:sldId id="331" r:id="rId57"/>
    <p:sldId id="332" r:id="rId58"/>
    <p:sldId id="333" r:id="rId59"/>
    <p:sldId id="334" r:id="rId60"/>
    <p:sldId id="335" r:id="rId61"/>
    <p:sldId id="336" r:id="rId62"/>
    <p:sldId id="337" r:id="rId63"/>
    <p:sldId id="338" r:id="rId64"/>
    <p:sldId id="339" r:id="rId65"/>
    <p:sldId id="340" r:id="rId66"/>
    <p:sldId id="341" r:id="rId67"/>
  </p:sldIdLst>
  <p:sldSz cx="6858000" cy="9906000" type="A4"/>
  <p:notesSz cx="6797675" cy="9926638"/>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2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502" autoAdjust="0"/>
    <p:restoredTop sz="94660"/>
  </p:normalViewPr>
  <p:slideViewPr>
    <p:cSldViewPr>
      <p:cViewPr varScale="1">
        <p:scale>
          <a:sx n="81" d="100"/>
          <a:sy n="81" d="100"/>
        </p:scale>
        <p:origin x="3588" y="84"/>
      </p:cViewPr>
      <p:guideLst>
        <p:guide orient="horz" pos="3120"/>
        <p:guide pos="216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notesMaster" Target="notesMasters/notesMaster1.xml"/><Relationship Id="rId7" Type="http://schemas.openxmlformats.org/officeDocument/2006/relationships/slide" Target="slides/slide4.xml"/><Relationship Id="rId71"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presProps" Target="presProp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tableStyles" Target="tableStyle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image" Target="../media/image123.png"/></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image" Target="../media/image123.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45659" cy="496332"/>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50443" y="0"/>
            <a:ext cx="2945659" cy="496332"/>
          </a:xfrm>
          <a:prstGeom prst="rect">
            <a:avLst/>
          </a:prstGeom>
        </p:spPr>
        <p:txBody>
          <a:bodyPr vert="horz" lIns="91440" tIns="45720" rIns="91440" bIns="45720" rtlCol="0"/>
          <a:lstStyle>
            <a:lvl1pPr algn="r">
              <a:defRPr sz="1200"/>
            </a:lvl1pPr>
          </a:lstStyle>
          <a:p>
            <a:fld id="{8F459F4F-D87C-4373-9D51-4A683C6D4DE9}" type="datetimeFigureOut">
              <a:rPr lang="ko-KR" altLang="en-US" smtClean="0"/>
              <a:t>2025-11-17</a:t>
            </a:fld>
            <a:endParaRPr lang="ko-KR" altLang="en-US"/>
          </a:p>
        </p:txBody>
      </p:sp>
      <p:sp>
        <p:nvSpPr>
          <p:cNvPr id="4" name="슬라이드 이미지 개체 틀 3"/>
          <p:cNvSpPr>
            <a:spLocks noGrp="1" noRot="1" noChangeAspect="1"/>
          </p:cNvSpPr>
          <p:nvPr>
            <p:ph type="sldImg" idx="2"/>
          </p:nvPr>
        </p:nvSpPr>
        <p:spPr>
          <a:xfrm>
            <a:off x="2111375" y="744538"/>
            <a:ext cx="2574925" cy="3722687"/>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79768" y="4715153"/>
            <a:ext cx="5438140" cy="4466987"/>
          </a:xfrm>
          <a:prstGeom prst="rect">
            <a:avLst/>
          </a:prstGeom>
        </p:spPr>
        <p:txBody>
          <a:bodyPr vert="horz" lIns="91440" tIns="45720" rIns="91440" bIns="45720" rtlCol="0"/>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6" name="바닥글 개체 틀 5"/>
          <p:cNvSpPr>
            <a:spLocks noGrp="1"/>
          </p:cNvSpPr>
          <p:nvPr>
            <p:ph type="ftr" sz="quarter" idx="4"/>
          </p:nvPr>
        </p:nvSpPr>
        <p:spPr>
          <a:xfrm>
            <a:off x="0" y="9428583"/>
            <a:ext cx="2945659" cy="496332"/>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50443" y="9428583"/>
            <a:ext cx="2945659" cy="496332"/>
          </a:xfrm>
          <a:prstGeom prst="rect">
            <a:avLst/>
          </a:prstGeom>
        </p:spPr>
        <p:txBody>
          <a:bodyPr vert="horz" lIns="91440" tIns="45720" rIns="91440" bIns="45720" rtlCol="0" anchor="b"/>
          <a:lstStyle>
            <a:lvl1pPr algn="r">
              <a:defRPr sz="1200"/>
            </a:lvl1pPr>
          </a:lstStyle>
          <a:p>
            <a:fld id="{C87EBFD4-6F2A-453D-A87C-FDB992512203}" type="slidenum">
              <a:rPr lang="ko-KR" altLang="en-US" smtClean="0"/>
              <a:t>‹#›</a:t>
            </a:fld>
            <a:endParaRPr lang="ko-KR" altLang="en-US"/>
          </a:p>
        </p:txBody>
      </p:sp>
    </p:spTree>
    <p:extLst>
      <p:ext uri="{BB962C8B-B14F-4D97-AF65-F5344CB8AC3E}">
        <p14:creationId xmlns:p14="http://schemas.microsoft.com/office/powerpoint/2010/main" val="148346057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1</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2</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3</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4</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5</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6</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7</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8</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9</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10</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11</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12</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13</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14</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15</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16</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17</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18</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19</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20</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21</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22</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23</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24</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25</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26</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27</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28</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29</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30</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31</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32</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33</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34</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35</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36</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37</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38</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39</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40</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41</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42</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43</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44</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45</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46</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47</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48</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49</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50</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51</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52</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53</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54</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55</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56</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313A862-3715-45F0-9479-E1251CD2E9FB}" type="slidenum">
              <a:rPr lang="en-US" altLang="ko-KR" sz="1200">
                <a:solidFill>
                  <a:prstClr val="black"/>
                </a:solidFill>
                <a:latin typeface="굴림" pitchFamily="50" charset="-127"/>
                <a:ea typeface="굴림" pitchFamily="50" charset="-127"/>
              </a:rPr>
              <a:pPr eaLnBrk="1" hangingPunct="1"/>
              <a:t>57</a:t>
            </a:fld>
            <a:endParaRPr lang="en-US" altLang="ko-KR" sz="1200">
              <a:solidFill>
                <a:prstClr val="black"/>
              </a:solidFill>
              <a:latin typeface="굴림" pitchFamily="50" charset="-127"/>
              <a:ea typeface="굴림" pitchFamily="50" charset="-127"/>
            </a:endParaRPr>
          </a:p>
        </p:txBody>
      </p:sp>
      <p:sp>
        <p:nvSpPr>
          <p:cNvPr id="13315" name="Rectangle 2"/>
          <p:cNvSpPr>
            <a:spLocks noGrp="1" noRot="1" noChangeAspect="1" noChangeArrowheads="1" noTextEdit="1"/>
          </p:cNvSpPr>
          <p:nvPr>
            <p:ph type="sldImg"/>
          </p:nvPr>
        </p:nvSpPr>
        <p:spPr>
          <a:ln/>
        </p:spPr>
      </p:sp>
      <p:sp>
        <p:nvSpPr>
          <p:cNvPr id="133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3B66D77D-1B9A-431F-8B28-CB5EAE99E87C}" type="slidenum">
              <a:rPr lang="en-US" altLang="ko-KR" sz="1200">
                <a:solidFill>
                  <a:prstClr val="black"/>
                </a:solidFill>
                <a:latin typeface="굴림" pitchFamily="50" charset="-127"/>
                <a:ea typeface="굴림" pitchFamily="50" charset="-127"/>
              </a:rPr>
              <a:pPr eaLnBrk="1" hangingPunct="1"/>
              <a:t>58</a:t>
            </a:fld>
            <a:endParaRPr lang="en-US" altLang="ko-KR" sz="1200">
              <a:solidFill>
                <a:prstClr val="black"/>
              </a:solidFill>
              <a:latin typeface="굴림" pitchFamily="50" charset="-127"/>
              <a:ea typeface="굴림" pitchFamily="50" charset="-127"/>
            </a:endParaRPr>
          </a:p>
        </p:txBody>
      </p:sp>
      <p:sp>
        <p:nvSpPr>
          <p:cNvPr id="14339" name="Rectangle 2"/>
          <p:cNvSpPr>
            <a:spLocks noGrp="1" noRot="1" noChangeAspect="1" noChangeArrowheads="1" noTextEdit="1"/>
          </p:cNvSpPr>
          <p:nvPr>
            <p:ph type="sldImg"/>
          </p:nvPr>
        </p:nvSpPr>
        <p:spPr>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428EBB48-1DCD-4D3F-8E5F-AF67BBFD5493}" type="slidenum">
              <a:rPr lang="en-US" altLang="ko-KR" sz="1200">
                <a:solidFill>
                  <a:prstClr val="black"/>
                </a:solidFill>
                <a:latin typeface="굴림" pitchFamily="50" charset="-127"/>
                <a:ea typeface="굴림" pitchFamily="50" charset="-127"/>
              </a:rPr>
              <a:pPr eaLnBrk="1" hangingPunct="1"/>
              <a:t>59</a:t>
            </a:fld>
            <a:endParaRPr lang="en-US" altLang="ko-KR" sz="1200">
              <a:solidFill>
                <a:prstClr val="black"/>
              </a:solidFill>
              <a:latin typeface="굴림" pitchFamily="50" charset="-127"/>
              <a:ea typeface="굴림" pitchFamily="50" charset="-127"/>
            </a:endParaRPr>
          </a:p>
        </p:txBody>
      </p:sp>
      <p:sp>
        <p:nvSpPr>
          <p:cNvPr id="15363" name="Rectangle 2"/>
          <p:cNvSpPr>
            <a:spLocks noGrp="1" noRot="1" noChangeAspect="1" noChangeArrowheads="1" noTextEdit="1"/>
          </p:cNvSpPr>
          <p:nvPr>
            <p:ph type="sldImg"/>
          </p:nvPr>
        </p:nvSpPr>
        <p:spPr>
          <a:ln/>
        </p:spPr>
      </p:sp>
      <p:sp>
        <p:nvSpPr>
          <p:cNvPr id="153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fld id="{FF66D0D1-7E05-4BBC-8EF1-754D8DEA343F}" type="slidenum">
              <a:rPr lang="en-US" altLang="ko-KR" sz="1200">
                <a:solidFill>
                  <a:prstClr val="black"/>
                </a:solidFill>
                <a:latin typeface="굴림" pitchFamily="50" charset="-127"/>
                <a:ea typeface="굴림" pitchFamily="50" charset="-127"/>
              </a:rPr>
              <a:pPr eaLnBrk="1" hangingPunct="1"/>
              <a:t>60</a:t>
            </a:fld>
            <a:endParaRPr lang="en-US" altLang="ko-KR" sz="1200">
              <a:solidFill>
                <a:prstClr val="black"/>
              </a:solidFill>
              <a:latin typeface="굴림" pitchFamily="50" charset="-127"/>
              <a:ea typeface="굴림" pitchFamily="50" charset="-127"/>
            </a:endParaRPr>
          </a:p>
        </p:txBody>
      </p:sp>
      <p:sp>
        <p:nvSpPr>
          <p:cNvPr id="16387" name="Rectangle 2"/>
          <p:cNvSpPr>
            <a:spLocks noGrp="1" noRot="1" noChangeAspec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B390F20F-F90D-4705-8D07-5BA66D4C8E8C}" type="slidenum">
              <a:rPr lang="en-US" altLang="ko-KR" sz="1200">
                <a:solidFill>
                  <a:prstClr val="black"/>
                </a:solidFill>
                <a:latin typeface="굴림" pitchFamily="50" charset="-127"/>
                <a:ea typeface="굴림" pitchFamily="50" charset="-127"/>
              </a:rPr>
              <a:pPr eaLnBrk="1" hangingPunct="1"/>
              <a:t>61</a:t>
            </a:fld>
            <a:endParaRPr lang="en-US" altLang="ko-KR" sz="1200">
              <a:solidFill>
                <a:prstClr val="black"/>
              </a:solidFill>
              <a:latin typeface="굴림" pitchFamily="50" charset="-127"/>
              <a:ea typeface="굴림" pitchFamily="50" charset="-127"/>
            </a:endParaRPr>
          </a:p>
        </p:txBody>
      </p:sp>
      <p:sp>
        <p:nvSpPr>
          <p:cNvPr id="17411" name="Rectangle 2"/>
          <p:cNvSpPr>
            <a:spLocks noGrp="1" noRot="1" noChangeAspect="1" noChangeArrowheads="1" noTextEdit="1"/>
          </p:cNvSpPr>
          <p:nvPr>
            <p:ph type="sldImg"/>
          </p:nvPr>
        </p:nvSpPr>
        <p:spPr>
          <a:ln/>
        </p:spPr>
      </p:sp>
      <p:sp>
        <p:nvSpPr>
          <p:cNvPr id="174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hangingPunct="1"/>
            <a:fld id="{AB41B8D7-C026-4CDC-BB03-36F755FFAFC0}" type="slidenum">
              <a:rPr lang="en-US" altLang="ko-KR" sz="1200">
                <a:solidFill>
                  <a:prstClr val="black"/>
                </a:solidFill>
                <a:latin typeface="굴림" pitchFamily="50" charset="-127"/>
                <a:ea typeface="굴림" pitchFamily="50" charset="-127"/>
              </a:rPr>
              <a:pPr eaLnBrk="1" hangingPunct="1"/>
              <a:t>62</a:t>
            </a:fld>
            <a:endParaRPr lang="en-US" altLang="ko-KR" sz="1200">
              <a:solidFill>
                <a:prstClr val="black"/>
              </a:solidFill>
              <a:latin typeface="굴림" pitchFamily="50" charset="-127"/>
              <a:ea typeface="굴림" pitchFamily="50" charset="-127"/>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ko-KR" altLang="ko-KR" smtClean="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3A906A86-C561-43BF-B6AA-AF15C62956D3}"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63</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19459" name="Rectangle 2"/>
          <p:cNvSpPr>
            <a:spLocks noGrp="1" noRot="1" noChangeAspec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9090400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kumimoji="1" sz="1200">
                <a:solidFill>
                  <a:schemeClr val="tx1"/>
                </a:solidFill>
                <a:latin typeface="굴림" charset="-127"/>
                <a:ea typeface="굴림" charset="-127"/>
              </a:defRPr>
            </a:lvl1pPr>
            <a:lvl2pPr marL="742950" indent="-285750" eaLnBrk="0" hangingPunct="0">
              <a:spcBef>
                <a:spcPct val="30000"/>
              </a:spcBef>
              <a:defRPr kumimoji="1" sz="1200">
                <a:solidFill>
                  <a:schemeClr val="tx1"/>
                </a:solidFill>
                <a:latin typeface="굴림" charset="-127"/>
                <a:ea typeface="굴림" charset="-127"/>
              </a:defRPr>
            </a:lvl2pPr>
            <a:lvl3pPr marL="1143000" indent="-228600" eaLnBrk="0" hangingPunct="0">
              <a:spcBef>
                <a:spcPct val="30000"/>
              </a:spcBef>
              <a:defRPr kumimoji="1" sz="1200">
                <a:solidFill>
                  <a:schemeClr val="tx1"/>
                </a:solidFill>
                <a:latin typeface="굴림" charset="-127"/>
                <a:ea typeface="굴림" charset="-127"/>
              </a:defRPr>
            </a:lvl3pPr>
            <a:lvl4pPr marL="1600200" indent="-228600" eaLnBrk="0" hangingPunct="0">
              <a:spcBef>
                <a:spcPct val="30000"/>
              </a:spcBef>
              <a:defRPr kumimoji="1" sz="1200">
                <a:solidFill>
                  <a:schemeClr val="tx1"/>
                </a:solidFill>
                <a:latin typeface="굴림" charset="-127"/>
                <a:ea typeface="굴림" charset="-127"/>
              </a:defRPr>
            </a:lvl4pPr>
            <a:lvl5pPr marL="2057400" indent="-228600" eaLnBrk="0" hangingPunct="0">
              <a:spcBef>
                <a:spcPct val="30000"/>
              </a:spcBef>
              <a:defRPr kumimoji="1" sz="1200">
                <a:solidFill>
                  <a:schemeClr val="tx1"/>
                </a:solidFill>
                <a:latin typeface="굴림" charset="-127"/>
                <a:ea typeface="굴림" charset="-127"/>
              </a:defRPr>
            </a:lvl5pPr>
            <a:lvl6pPr marL="2514600" indent="-228600" eaLnBrk="0" fontAlgn="base" hangingPunct="0">
              <a:spcBef>
                <a:spcPct val="30000"/>
              </a:spcBef>
              <a:spcAft>
                <a:spcPct val="0"/>
              </a:spcAft>
              <a:defRPr kumimoji="1" sz="1200">
                <a:solidFill>
                  <a:schemeClr val="tx1"/>
                </a:solidFill>
                <a:latin typeface="굴림" charset="-127"/>
                <a:ea typeface="굴림" charset="-127"/>
              </a:defRPr>
            </a:lvl6pPr>
            <a:lvl7pPr marL="2971800" indent="-228600" eaLnBrk="0" fontAlgn="base" hangingPunct="0">
              <a:spcBef>
                <a:spcPct val="30000"/>
              </a:spcBef>
              <a:spcAft>
                <a:spcPct val="0"/>
              </a:spcAft>
              <a:defRPr kumimoji="1" sz="1200">
                <a:solidFill>
                  <a:schemeClr val="tx1"/>
                </a:solidFill>
                <a:latin typeface="굴림" charset="-127"/>
                <a:ea typeface="굴림" charset="-127"/>
              </a:defRPr>
            </a:lvl7pPr>
            <a:lvl8pPr marL="3429000" indent="-228600" eaLnBrk="0" fontAlgn="base" hangingPunct="0">
              <a:spcBef>
                <a:spcPct val="30000"/>
              </a:spcBef>
              <a:spcAft>
                <a:spcPct val="0"/>
              </a:spcAft>
              <a:defRPr kumimoji="1" sz="1200">
                <a:solidFill>
                  <a:schemeClr val="tx1"/>
                </a:solidFill>
                <a:latin typeface="굴림" charset="-127"/>
                <a:ea typeface="굴림" charset="-127"/>
              </a:defRPr>
            </a:lvl8pPr>
            <a:lvl9pPr marL="3886200" indent="-228600" eaLnBrk="0" fontAlgn="base" hangingPunct="0">
              <a:spcBef>
                <a:spcPct val="30000"/>
              </a:spcBef>
              <a:spcAft>
                <a:spcPct val="0"/>
              </a:spcAft>
              <a:defRPr kumimoji="1" sz="1200">
                <a:solidFill>
                  <a:schemeClr val="tx1"/>
                </a:solidFill>
                <a:latin typeface="굴림" charset="-127"/>
                <a:ea typeface="굴림" charset="-127"/>
              </a:defRPr>
            </a:lvl9pPr>
          </a:lstStyle>
          <a:p>
            <a:pPr marL="0" marR="0" lvl="0" indent="0" algn="r" defTabSz="914400" rtl="0" eaLnBrk="1" fontAlgn="base" latinLnBrk="1" hangingPunct="1">
              <a:lnSpc>
                <a:spcPct val="100000"/>
              </a:lnSpc>
              <a:spcBef>
                <a:spcPct val="0"/>
              </a:spcBef>
              <a:spcAft>
                <a:spcPct val="0"/>
              </a:spcAft>
              <a:buClrTx/>
              <a:buSzTx/>
              <a:buFontTx/>
              <a:buNone/>
              <a:tabLst/>
              <a:defRPr/>
            </a:pPr>
            <a:fld id="{FF6DB6C4-B4EA-415D-8DA5-7732A0194FDA}" type="slidenum">
              <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rPr>
              <a:pPr marL="0" marR="0" lvl="0" indent="0" algn="r" defTabSz="914400" rtl="0" eaLnBrk="1" fontAlgn="base" latinLnBrk="1" hangingPunct="1">
                <a:lnSpc>
                  <a:spcPct val="100000"/>
                </a:lnSpc>
                <a:spcBef>
                  <a:spcPct val="0"/>
                </a:spcBef>
                <a:spcAft>
                  <a:spcPct val="0"/>
                </a:spcAft>
                <a:buClrTx/>
                <a:buSzTx/>
                <a:buFontTx/>
                <a:buNone/>
                <a:tabLst/>
                <a:defRPr/>
              </a:pPr>
              <a:t>64</a:t>
            </a:fld>
            <a:endParaRPr kumimoji="1" lang="en-US" altLang="ko-KR" sz="1200" b="0" i="0" u="none" strike="noStrike" kern="1200" cap="none" spc="0" normalizeH="0" baseline="0" noProof="0" smtClean="0">
              <a:ln>
                <a:noFill/>
              </a:ln>
              <a:solidFill>
                <a:srgbClr val="000000"/>
              </a:solidFill>
              <a:effectLst/>
              <a:uLnTx/>
              <a:uFillTx/>
              <a:latin typeface="굴림" charset="-127"/>
              <a:ea typeface="굴림" charset="-127"/>
              <a:cs typeface="+mn-cs"/>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ko-KR" altLang="ko-KR" smtClean="0">
              <a:latin typeface="굴림" charset="-127"/>
              <a:ea typeface="굴림" charset="-127"/>
            </a:endParaRPr>
          </a:p>
        </p:txBody>
      </p:sp>
    </p:spTree>
    <p:extLst>
      <p:ext uri="{BB962C8B-B14F-4D97-AF65-F5344CB8AC3E}">
        <p14:creationId xmlns:p14="http://schemas.microsoft.com/office/powerpoint/2010/main" val="18404908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3077282"/>
            <a:ext cx="5829300" cy="2123369"/>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028700" y="5613400"/>
            <a:ext cx="4800600" cy="253153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ko-KR" altLang="en-US" smtClean="0"/>
              <a:t>마스터 부제목 스타일 편집</a:t>
            </a:r>
            <a:endParaRPr lang="ko-KR" altLang="en-US"/>
          </a:p>
        </p:txBody>
      </p:sp>
      <p:sp>
        <p:nvSpPr>
          <p:cNvPr id="4" name="날짜 개체 틀 3"/>
          <p:cNvSpPr>
            <a:spLocks noGrp="1"/>
          </p:cNvSpPr>
          <p:nvPr>
            <p:ph type="dt" sz="half" idx="10"/>
          </p:nvPr>
        </p:nvSpPr>
        <p:spPr/>
        <p:txBody>
          <a:bodyPr/>
          <a:lstStyle/>
          <a:p>
            <a:fld id="{B95CB5C2-294B-4C29-B16A-99572685E4B0}" type="datetimeFigureOut">
              <a:rPr lang="ko-KR" altLang="en-US" smtClean="0"/>
              <a:t>2025-11-17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11671757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B95CB5C2-294B-4C29-B16A-99572685E4B0}" type="datetimeFigureOut">
              <a:rPr lang="ko-KR" altLang="en-US" smtClean="0"/>
              <a:t>2025-11-17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3037538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735" y="6365523"/>
            <a:ext cx="5829300" cy="1967442"/>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541735" y="4198586"/>
            <a:ext cx="5829300" cy="216693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ko-KR" altLang="en-US" smtClean="0"/>
              <a:t>마스터 텍스트 스타일을 편집합니다</a:t>
            </a:r>
          </a:p>
        </p:txBody>
      </p:sp>
      <p:sp>
        <p:nvSpPr>
          <p:cNvPr id="4" name="날짜 개체 틀 3"/>
          <p:cNvSpPr>
            <a:spLocks noGrp="1"/>
          </p:cNvSpPr>
          <p:nvPr>
            <p:ph type="dt" sz="half" idx="10"/>
          </p:nvPr>
        </p:nvSpPr>
        <p:spPr/>
        <p:txBody>
          <a:bodyPr/>
          <a:lstStyle/>
          <a:p>
            <a:fld id="{B95CB5C2-294B-4C29-B16A-99572685E4B0}" type="datetimeFigureOut">
              <a:rPr lang="ko-KR" altLang="en-US" smtClean="0"/>
              <a:t>2025-11-17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2087875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342900" y="2311401"/>
            <a:ext cx="3028950" cy="6537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3486150" y="2311401"/>
            <a:ext cx="3028950" cy="653750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날짜 개체 틀 4"/>
          <p:cNvSpPr>
            <a:spLocks noGrp="1"/>
          </p:cNvSpPr>
          <p:nvPr>
            <p:ph type="dt" sz="half" idx="10"/>
          </p:nvPr>
        </p:nvSpPr>
        <p:spPr/>
        <p:txBody>
          <a:bodyPr/>
          <a:lstStyle/>
          <a:p>
            <a:fld id="{B95CB5C2-294B-4C29-B16A-99572685E4B0}" type="datetimeFigureOut">
              <a:rPr lang="ko-KR" altLang="en-US" smtClean="0"/>
              <a:t>2025-11-17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3259211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342900" y="2217385"/>
            <a:ext cx="3030141" cy="92410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342900" y="3141486"/>
            <a:ext cx="3030141" cy="570741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3483769" y="2217385"/>
            <a:ext cx="3031331" cy="924101"/>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3483769" y="3141486"/>
            <a:ext cx="3031331" cy="570741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날짜 개체 틀 6"/>
          <p:cNvSpPr>
            <a:spLocks noGrp="1"/>
          </p:cNvSpPr>
          <p:nvPr>
            <p:ph type="dt" sz="half" idx="10"/>
          </p:nvPr>
        </p:nvSpPr>
        <p:spPr/>
        <p:txBody>
          <a:bodyPr/>
          <a:lstStyle/>
          <a:p>
            <a:fld id="{B95CB5C2-294B-4C29-B16A-99572685E4B0}" type="datetimeFigureOut">
              <a:rPr lang="ko-KR" altLang="en-US" smtClean="0"/>
              <a:t>2025-11-17</a:t>
            </a:fld>
            <a:endParaRPr lang="ko-KR" altLang="en-US"/>
          </a:p>
        </p:txBody>
      </p:sp>
      <p:sp>
        <p:nvSpPr>
          <p:cNvPr id="8" name="바닥글 개체 틀 7"/>
          <p:cNvSpPr>
            <a:spLocks noGrp="1"/>
          </p:cNvSpPr>
          <p:nvPr>
            <p:ph type="ftr" sz="quarter" idx="11"/>
          </p:nvPr>
        </p:nvSpPr>
        <p:spPr/>
        <p:txBody>
          <a:bodyPr/>
          <a:lstStyle/>
          <a:p>
            <a:endParaRPr lang="ko-KR" altLang="en-US"/>
          </a:p>
        </p:txBody>
      </p:sp>
      <p:sp>
        <p:nvSpPr>
          <p:cNvPr id="9" name="슬라이드 번호 개체 틀 8"/>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41102656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날짜 개체 틀 2"/>
          <p:cNvSpPr>
            <a:spLocks noGrp="1"/>
          </p:cNvSpPr>
          <p:nvPr>
            <p:ph type="dt" sz="half" idx="10"/>
          </p:nvPr>
        </p:nvSpPr>
        <p:spPr/>
        <p:txBody>
          <a:bodyPr/>
          <a:lstStyle/>
          <a:p>
            <a:fld id="{B95CB5C2-294B-4C29-B16A-99572685E4B0}" type="datetimeFigureOut">
              <a:rPr lang="ko-KR" altLang="en-US" smtClean="0"/>
              <a:t>2025-11-17</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840847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fld id="{B95CB5C2-294B-4C29-B16A-99572685E4B0}" type="datetimeFigureOut">
              <a:rPr lang="ko-KR" altLang="en-US" smtClean="0"/>
              <a:t>2025-11-17</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3384278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94405"/>
            <a:ext cx="2256235" cy="1678517"/>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2681287" y="394406"/>
            <a:ext cx="3833813" cy="845449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342900" y="2072923"/>
            <a:ext cx="2256235" cy="677598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B95CB5C2-294B-4C29-B16A-99572685E4B0}" type="datetimeFigureOut">
              <a:rPr lang="ko-KR" altLang="en-US" smtClean="0"/>
              <a:t>2025-11-17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3172843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216" y="6934200"/>
            <a:ext cx="4114800" cy="818622"/>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344216" y="885119"/>
            <a:ext cx="4114800"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p:cNvSpPr>
            <a:spLocks noGrp="1"/>
          </p:cNvSpPr>
          <p:nvPr>
            <p:ph type="body" sz="half" idx="2"/>
          </p:nvPr>
        </p:nvSpPr>
        <p:spPr>
          <a:xfrm>
            <a:off x="1344216" y="7752822"/>
            <a:ext cx="4114800" cy="116257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날짜 개체 틀 4"/>
          <p:cNvSpPr>
            <a:spLocks noGrp="1"/>
          </p:cNvSpPr>
          <p:nvPr>
            <p:ph type="dt" sz="half" idx="10"/>
          </p:nvPr>
        </p:nvSpPr>
        <p:spPr/>
        <p:txBody>
          <a:bodyPr/>
          <a:lstStyle/>
          <a:p>
            <a:fld id="{B95CB5C2-294B-4C29-B16A-99572685E4B0}" type="datetimeFigureOut">
              <a:rPr lang="ko-KR" altLang="en-US" smtClean="0"/>
              <a:t>2025-11-17</a:t>
            </a:fld>
            <a:endParaRPr lang="ko-KR" altLang="en-US"/>
          </a:p>
        </p:txBody>
      </p:sp>
      <p:sp>
        <p:nvSpPr>
          <p:cNvPr id="6" name="바닥글 개체 틀 5"/>
          <p:cNvSpPr>
            <a:spLocks noGrp="1"/>
          </p:cNvSpPr>
          <p:nvPr>
            <p:ph type="ftr" sz="quarter" idx="11"/>
          </p:nvPr>
        </p:nvSpPr>
        <p:spPr/>
        <p:txBody>
          <a:bodyPr/>
          <a:lstStyle/>
          <a:p>
            <a:endParaRPr lang="ko-KR" altLang="en-US"/>
          </a:p>
        </p:txBody>
      </p:sp>
      <p:sp>
        <p:nvSpPr>
          <p:cNvPr id="7" name="슬라이드 번호 개체 틀 6"/>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17047977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B95CB5C2-294B-4C29-B16A-99572685E4B0}" type="datetimeFigureOut">
              <a:rPr lang="ko-KR" altLang="en-US" smtClean="0"/>
              <a:t>2025-11-17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928543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4972050" y="396700"/>
            <a:ext cx="1543050" cy="8452203"/>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342900" y="396700"/>
            <a:ext cx="4514850" cy="8452203"/>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10"/>
          </p:nvPr>
        </p:nvSpPr>
        <p:spPr/>
        <p:txBody>
          <a:bodyPr/>
          <a:lstStyle/>
          <a:p>
            <a:fld id="{B95CB5C2-294B-4C29-B16A-99572685E4B0}" type="datetimeFigureOut">
              <a:rPr lang="ko-KR" altLang="en-US" smtClean="0"/>
              <a:t>2025-11-17</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10498465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3076575"/>
            <a:ext cx="5829300" cy="212407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028700" y="5613400"/>
            <a:ext cx="4800600" cy="253206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smtClean="0"/>
              <a:t>마스터 부제목 스타일 편집</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39390150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26098465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338" y="6365875"/>
            <a:ext cx="5829300" cy="1966913"/>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541338" y="4198938"/>
            <a:ext cx="5829300" cy="21669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smtClean="0"/>
              <a:t>마스터 텍스트 스타일을 편집합니다</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15773031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51435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350520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2993472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96875"/>
            <a:ext cx="6172200" cy="1651000"/>
          </a:xfrm>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342900" y="2217738"/>
            <a:ext cx="3030538"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342900" y="3141663"/>
            <a:ext cx="3030538"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3484563" y="2217738"/>
            <a:ext cx="3030537"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3484563" y="3141663"/>
            <a:ext cx="3030537"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22423245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37232588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274498369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93700"/>
            <a:ext cx="2255838" cy="1679575"/>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2681288" y="393700"/>
            <a:ext cx="3833812" cy="84550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342900" y="2073275"/>
            <a:ext cx="2255838" cy="67754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31252614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613" y="6934200"/>
            <a:ext cx="4114800" cy="819150"/>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344613" y="885825"/>
            <a:ext cx="4114800"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smtClean="0"/>
          </a:p>
        </p:txBody>
      </p:sp>
      <p:sp>
        <p:nvSpPr>
          <p:cNvPr id="4" name="텍스트 개체 틀 3"/>
          <p:cNvSpPr>
            <a:spLocks noGrp="1"/>
          </p:cNvSpPr>
          <p:nvPr>
            <p:ph type="body" sz="half" idx="2"/>
          </p:nvPr>
        </p:nvSpPr>
        <p:spPr>
          <a:xfrm>
            <a:off x="1344613" y="7753350"/>
            <a:ext cx="4114800" cy="11620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371714212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8336517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4886325" y="881063"/>
            <a:ext cx="1457325" cy="7924800"/>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514350" y="881063"/>
            <a:ext cx="4219575" cy="7924800"/>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ko-KR">
              <a:solidFill>
                <a:srgbClr val="000000"/>
              </a:solidFill>
            </a:endParaRPr>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ko-KR">
              <a:solidFill>
                <a:srgbClr val="000000"/>
              </a:solidFill>
            </a:endParaRPr>
          </a:p>
        </p:txBody>
      </p:sp>
    </p:spTree>
    <p:extLst>
      <p:ext uri="{BB962C8B-B14F-4D97-AF65-F5344CB8AC3E}">
        <p14:creationId xmlns:p14="http://schemas.microsoft.com/office/powerpoint/2010/main" val="32305593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514350" y="3076575"/>
            <a:ext cx="5829300" cy="2124075"/>
          </a:xfrm>
        </p:spPr>
        <p:txBody>
          <a:bodyPr/>
          <a:lstStyle/>
          <a:p>
            <a:r>
              <a:rPr lang="ko-KR" altLang="en-US" smtClean="0"/>
              <a:t>마스터 제목 스타일 편집</a:t>
            </a:r>
            <a:endParaRPr lang="ko-KR" altLang="en-US"/>
          </a:p>
        </p:txBody>
      </p:sp>
      <p:sp>
        <p:nvSpPr>
          <p:cNvPr id="3" name="부제목 2"/>
          <p:cNvSpPr>
            <a:spLocks noGrp="1"/>
          </p:cNvSpPr>
          <p:nvPr>
            <p:ph type="subTitle" idx="1"/>
          </p:nvPr>
        </p:nvSpPr>
        <p:spPr>
          <a:xfrm>
            <a:off x="1028700" y="5613400"/>
            <a:ext cx="4800600" cy="2532063"/>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ko-KR" altLang="en-US" smtClean="0"/>
              <a:t>마스터 부제목 스타일 편집</a:t>
            </a:r>
            <a:endParaRPr lang="ko-KR"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3293203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idx="1"/>
          </p:nvPr>
        </p:nvSpPr>
        <p:spPr/>
        <p:txBody>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109470204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541338" y="6365875"/>
            <a:ext cx="5829300" cy="1966913"/>
          </a:xfrm>
        </p:spPr>
        <p:txBody>
          <a:bodyPr anchor="t"/>
          <a:lstStyle>
            <a:lvl1pPr algn="l">
              <a:defRPr sz="4000" b="1" cap="all"/>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541338" y="4198938"/>
            <a:ext cx="5829300" cy="216693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smtClean="0"/>
              <a:t>마스터 텍스트 스타일을 편집합니다</a:t>
            </a:r>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34733177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내용 개체 틀 2"/>
          <p:cNvSpPr>
            <a:spLocks noGrp="1"/>
          </p:cNvSpPr>
          <p:nvPr>
            <p:ph sz="half" idx="1"/>
          </p:nvPr>
        </p:nvSpPr>
        <p:spPr>
          <a:xfrm>
            <a:off x="51435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내용 개체 틀 3"/>
          <p:cNvSpPr>
            <a:spLocks noGrp="1"/>
          </p:cNvSpPr>
          <p:nvPr>
            <p:ph sz="half" idx="2"/>
          </p:nvPr>
        </p:nvSpPr>
        <p:spPr>
          <a:xfrm>
            <a:off x="3505200" y="2862263"/>
            <a:ext cx="2838450" cy="5943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270626317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342900" y="396875"/>
            <a:ext cx="6172200" cy="1651000"/>
          </a:xfrm>
        </p:spPr>
        <p:txBody>
          <a:bodyPr/>
          <a:lstStyle>
            <a:lvl1pPr>
              <a:defRPr/>
            </a:lvl1p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342900" y="2217738"/>
            <a:ext cx="3030538"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4" name="내용 개체 틀 3"/>
          <p:cNvSpPr>
            <a:spLocks noGrp="1"/>
          </p:cNvSpPr>
          <p:nvPr>
            <p:ph sz="half" idx="2"/>
          </p:nvPr>
        </p:nvSpPr>
        <p:spPr>
          <a:xfrm>
            <a:off x="342900" y="3141663"/>
            <a:ext cx="3030538"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5" name="텍스트 개체 틀 4"/>
          <p:cNvSpPr>
            <a:spLocks noGrp="1"/>
          </p:cNvSpPr>
          <p:nvPr>
            <p:ph type="body" sz="quarter" idx="3"/>
          </p:nvPr>
        </p:nvSpPr>
        <p:spPr>
          <a:xfrm>
            <a:off x="3484563" y="2217738"/>
            <a:ext cx="3030537" cy="92392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smtClean="0"/>
              <a:t>마스터 텍스트 스타일을 편집합니다</a:t>
            </a:r>
          </a:p>
        </p:txBody>
      </p:sp>
      <p:sp>
        <p:nvSpPr>
          <p:cNvPr id="6" name="내용 개체 틀 5"/>
          <p:cNvSpPr>
            <a:spLocks noGrp="1"/>
          </p:cNvSpPr>
          <p:nvPr>
            <p:ph sz="quarter" idx="4"/>
          </p:nvPr>
        </p:nvSpPr>
        <p:spPr>
          <a:xfrm>
            <a:off x="3484563" y="3141663"/>
            <a:ext cx="3030537" cy="57070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7"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8"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8100975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4"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408015207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3"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15825794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342900" y="393700"/>
            <a:ext cx="2255838" cy="1679575"/>
          </a:xfrm>
        </p:spPr>
        <p:txBody>
          <a:bodyPr anchor="b"/>
          <a:lstStyle>
            <a:lvl1pPr algn="l">
              <a:defRPr sz="2000" b="1"/>
            </a:lvl1pPr>
          </a:lstStyle>
          <a:p>
            <a:r>
              <a:rPr lang="ko-KR" altLang="en-US" smtClean="0"/>
              <a:t>마스터 제목 스타일 편집</a:t>
            </a:r>
            <a:endParaRPr lang="ko-KR" altLang="en-US"/>
          </a:p>
        </p:txBody>
      </p:sp>
      <p:sp>
        <p:nvSpPr>
          <p:cNvPr id="3" name="내용 개체 틀 2"/>
          <p:cNvSpPr>
            <a:spLocks noGrp="1"/>
          </p:cNvSpPr>
          <p:nvPr>
            <p:ph idx="1"/>
          </p:nvPr>
        </p:nvSpPr>
        <p:spPr>
          <a:xfrm>
            <a:off x="2681288" y="393700"/>
            <a:ext cx="3833812" cy="84550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텍스트 개체 틀 3"/>
          <p:cNvSpPr>
            <a:spLocks noGrp="1"/>
          </p:cNvSpPr>
          <p:nvPr>
            <p:ph type="body" sz="half" idx="2"/>
          </p:nvPr>
        </p:nvSpPr>
        <p:spPr>
          <a:xfrm>
            <a:off x="342900" y="2073275"/>
            <a:ext cx="2255838" cy="67754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11770809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1344613" y="6934200"/>
            <a:ext cx="4114800" cy="819150"/>
          </a:xfrm>
        </p:spPr>
        <p:txBody>
          <a:bodyPr anchor="b"/>
          <a:lstStyle>
            <a:lvl1pPr algn="l">
              <a:defRPr sz="2000" b="1"/>
            </a:lvl1pPr>
          </a:lstStyle>
          <a:p>
            <a:r>
              <a:rPr lang="ko-KR" altLang="en-US" smtClean="0"/>
              <a:t>마스터 제목 스타일 편집</a:t>
            </a:r>
            <a:endParaRPr lang="ko-KR" altLang="en-US"/>
          </a:p>
        </p:txBody>
      </p:sp>
      <p:sp>
        <p:nvSpPr>
          <p:cNvPr id="3" name="그림 개체 틀 2"/>
          <p:cNvSpPr>
            <a:spLocks noGrp="1"/>
          </p:cNvSpPr>
          <p:nvPr>
            <p:ph type="pic" idx="1"/>
          </p:nvPr>
        </p:nvSpPr>
        <p:spPr>
          <a:xfrm>
            <a:off x="1344613" y="885825"/>
            <a:ext cx="4114800" cy="59436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smtClean="0"/>
          </a:p>
        </p:txBody>
      </p:sp>
      <p:sp>
        <p:nvSpPr>
          <p:cNvPr id="4" name="텍스트 개체 틀 3"/>
          <p:cNvSpPr>
            <a:spLocks noGrp="1"/>
          </p:cNvSpPr>
          <p:nvPr>
            <p:ph type="body" sz="half" idx="2"/>
          </p:nvPr>
        </p:nvSpPr>
        <p:spPr>
          <a:xfrm>
            <a:off x="1344613" y="7753350"/>
            <a:ext cx="4114800" cy="11620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smtClean="0"/>
              <a:t>마스터 텍스트 스타일을 편집합니다</a:t>
            </a:r>
          </a:p>
        </p:txBody>
      </p:sp>
      <p:sp>
        <p:nvSpPr>
          <p:cNvPr id="5"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6"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7782657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340323707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4886325" y="881063"/>
            <a:ext cx="1457325" cy="7924800"/>
          </a:xfrm>
        </p:spPr>
        <p:txBody>
          <a:bodyPr vert="eaVert"/>
          <a:lstStyle/>
          <a:p>
            <a:r>
              <a:rPr lang="ko-KR" altLang="en-US" smtClean="0"/>
              <a:t>마스터 제목 스타일 편집</a:t>
            </a:r>
            <a:endParaRPr lang="ko-KR" altLang="en-US"/>
          </a:p>
        </p:txBody>
      </p:sp>
      <p:sp>
        <p:nvSpPr>
          <p:cNvPr id="3" name="세로 텍스트 개체 틀 2"/>
          <p:cNvSpPr>
            <a:spLocks noGrp="1"/>
          </p:cNvSpPr>
          <p:nvPr>
            <p:ph type="body" orient="vert" idx="1"/>
          </p:nvPr>
        </p:nvSpPr>
        <p:spPr>
          <a:xfrm>
            <a:off x="514350" y="881063"/>
            <a:ext cx="4219575" cy="7924800"/>
          </a:xfrm>
        </p:spPr>
        <p:txBody>
          <a:bodyPr vert="eaVert"/>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Rectangle 4"/>
          <p:cNvSpPr>
            <a:spLocks noGrp="1" noChangeArrowheads="1"/>
          </p:cNvSpPr>
          <p:nvPr>
            <p:ph type="dt" sz="half" idx="10"/>
          </p:nvPr>
        </p:nvSpPr>
        <p:spPr>
          <a:ln/>
        </p:spPr>
        <p:txBody>
          <a:bodyPr/>
          <a:lstStyle>
            <a:lvl1pPr>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5" name="Rectangle 5"/>
          <p:cNvSpPr>
            <a:spLocks noGrp="1" noChangeArrowheads="1"/>
          </p:cNvSpPr>
          <p:nvPr>
            <p:ph type="ftr" sz="quarter" idx="11"/>
          </p:nvPr>
        </p:nvSpPr>
        <p:spPr>
          <a:ln/>
        </p:spPr>
        <p:txBody>
          <a:bodyPr/>
          <a:lstStyle>
            <a:lvl1pPr>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41229126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342900" y="396699"/>
            <a:ext cx="6172200" cy="1651000"/>
          </a:xfrm>
          <a:prstGeom prst="rect">
            <a:avLst/>
          </a:prstGeom>
        </p:spPr>
        <p:txBody>
          <a:bodyPr vert="horz" lIns="91440" tIns="45720" rIns="91440" bIns="45720" rtlCol="0" anchor="ctr">
            <a:normAutofit/>
          </a:bodyPr>
          <a:lstStyle/>
          <a:p>
            <a:r>
              <a:rPr lang="ko-KR" altLang="en-US" smtClean="0"/>
              <a:t>마스터 제목 스타일 편집</a:t>
            </a:r>
            <a:endParaRPr lang="ko-KR" altLang="en-US"/>
          </a:p>
        </p:txBody>
      </p:sp>
      <p:sp>
        <p:nvSpPr>
          <p:cNvPr id="3" name="텍스트 개체 틀 2"/>
          <p:cNvSpPr>
            <a:spLocks noGrp="1"/>
          </p:cNvSpPr>
          <p:nvPr>
            <p:ph type="body" idx="1"/>
          </p:nvPr>
        </p:nvSpPr>
        <p:spPr>
          <a:xfrm>
            <a:off x="342900" y="2311401"/>
            <a:ext cx="6172200" cy="6537502"/>
          </a:xfrm>
          <a:prstGeom prst="rect">
            <a:avLst/>
          </a:prstGeom>
        </p:spPr>
        <p:txBody>
          <a:bodyPr vert="horz" lIns="91440" tIns="45720" rIns="91440" bIns="45720" rtlCol="0">
            <a:normAutofit/>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endParaRPr lang="ko-KR" altLang="en-US"/>
          </a:p>
        </p:txBody>
      </p:sp>
      <p:sp>
        <p:nvSpPr>
          <p:cNvPr id="4" name="날짜 개체 틀 3"/>
          <p:cNvSpPr>
            <a:spLocks noGrp="1"/>
          </p:cNvSpPr>
          <p:nvPr>
            <p:ph type="dt" sz="half" idx="2"/>
          </p:nvPr>
        </p:nvSpPr>
        <p:spPr>
          <a:xfrm>
            <a:off x="342900" y="9181395"/>
            <a:ext cx="1600200" cy="527403"/>
          </a:xfrm>
          <a:prstGeom prst="rect">
            <a:avLst/>
          </a:prstGeom>
        </p:spPr>
        <p:txBody>
          <a:bodyPr vert="horz" lIns="91440" tIns="45720" rIns="91440" bIns="45720" rtlCol="0" anchor="ctr"/>
          <a:lstStyle>
            <a:lvl1pPr algn="l">
              <a:defRPr sz="1200">
                <a:solidFill>
                  <a:schemeClr val="tx1">
                    <a:tint val="75000"/>
                  </a:schemeClr>
                </a:solidFill>
              </a:defRPr>
            </a:lvl1pPr>
          </a:lstStyle>
          <a:p>
            <a:fld id="{B95CB5C2-294B-4C29-B16A-99572685E4B0}" type="datetimeFigureOut">
              <a:rPr lang="ko-KR" altLang="en-US" smtClean="0"/>
              <a:t>2025-11-17</a:t>
            </a:fld>
            <a:endParaRPr lang="ko-KR" altLang="en-US"/>
          </a:p>
        </p:txBody>
      </p:sp>
      <p:sp>
        <p:nvSpPr>
          <p:cNvPr id="5" name="바닥글 개체 틀 4"/>
          <p:cNvSpPr>
            <a:spLocks noGrp="1"/>
          </p:cNvSpPr>
          <p:nvPr>
            <p:ph type="ftr" sz="quarter" idx="3"/>
          </p:nvPr>
        </p:nvSpPr>
        <p:spPr>
          <a:xfrm>
            <a:off x="2343150" y="9181395"/>
            <a:ext cx="2171700" cy="52740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4914900" y="9181395"/>
            <a:ext cx="1600200" cy="527403"/>
          </a:xfrm>
          <a:prstGeom prst="rect">
            <a:avLst/>
          </a:prstGeom>
        </p:spPr>
        <p:txBody>
          <a:bodyPr vert="horz" lIns="91440" tIns="45720" rIns="91440" bIns="45720" rtlCol="0" anchor="ctr"/>
          <a:lstStyle>
            <a:lvl1pPr algn="r">
              <a:defRPr sz="1200">
                <a:solidFill>
                  <a:schemeClr val="tx1">
                    <a:tint val="75000"/>
                  </a:schemeClr>
                </a:solidFill>
              </a:defRPr>
            </a:lvl1pPr>
          </a:lstStyle>
          <a:p>
            <a:fld id="{786451DF-144A-4AA3-BFE3-F7D410FA4A96}" type="slidenum">
              <a:rPr lang="ko-KR" altLang="en-US" smtClean="0"/>
              <a:t>‹#›</a:t>
            </a:fld>
            <a:endParaRPr lang="ko-KR" altLang="en-US"/>
          </a:p>
        </p:txBody>
      </p:sp>
    </p:spTree>
    <p:extLst>
      <p:ext uri="{BB962C8B-B14F-4D97-AF65-F5344CB8AC3E}">
        <p14:creationId xmlns:p14="http://schemas.microsoft.com/office/powerpoint/2010/main" val="245486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1"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14350" y="881063"/>
            <a:ext cx="5829300" cy="165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7" name="Rectangle 3"/>
          <p:cNvSpPr>
            <a:spLocks noGrp="1" noChangeArrowheads="1"/>
          </p:cNvSpPr>
          <p:nvPr>
            <p:ph type="body" idx="1"/>
          </p:nvPr>
        </p:nvSpPr>
        <p:spPr bwMode="auto">
          <a:xfrm>
            <a:off x="514350" y="2862263"/>
            <a:ext cx="58293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154628" name="Rectangle 4"/>
          <p:cNvSpPr>
            <a:spLocks noGrp="1" noChangeArrowheads="1"/>
          </p:cNvSpPr>
          <p:nvPr>
            <p:ph type="dt" sz="half" idx="2"/>
          </p:nvPr>
        </p:nvSpPr>
        <p:spPr bwMode="auto">
          <a:xfrm>
            <a:off x="514350" y="9024938"/>
            <a:ext cx="142875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smtClean="0">
                <a:latin typeface="+mn-lt"/>
                <a:ea typeface="+mn-ea"/>
              </a:defRPr>
            </a:lvl1pPr>
          </a:lstStyle>
          <a:p>
            <a:pPr fontAlgn="base">
              <a:spcBef>
                <a:spcPct val="0"/>
              </a:spcBef>
              <a:spcAft>
                <a:spcPct val="0"/>
              </a:spcAft>
              <a:defRPr/>
            </a:pPr>
            <a:endParaRPr kumimoji="1" lang="en-US" altLang="ko-KR">
              <a:solidFill>
                <a:srgbClr val="000000"/>
              </a:solidFill>
            </a:endParaRPr>
          </a:p>
        </p:txBody>
      </p:sp>
      <p:sp>
        <p:nvSpPr>
          <p:cNvPr id="154629" name="Rectangle 5"/>
          <p:cNvSpPr>
            <a:spLocks noGrp="1" noChangeArrowheads="1"/>
          </p:cNvSpPr>
          <p:nvPr>
            <p:ph type="ftr" sz="quarter" idx="3"/>
          </p:nvPr>
        </p:nvSpPr>
        <p:spPr bwMode="auto">
          <a:xfrm>
            <a:off x="2343150" y="9024938"/>
            <a:ext cx="2171700" cy="660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smtClean="0">
                <a:latin typeface="+mn-lt"/>
                <a:ea typeface="+mn-ea"/>
              </a:defRPr>
            </a:lvl1pPr>
          </a:lstStyle>
          <a:p>
            <a:pPr fontAlgn="base">
              <a:spcBef>
                <a:spcPct val="0"/>
              </a:spcBef>
              <a:spcAft>
                <a:spcPct val="0"/>
              </a:spcAft>
              <a:defRPr/>
            </a:pPr>
            <a:endParaRPr kumimoji="1" lang="en-US" altLang="ko-KR">
              <a:solidFill>
                <a:srgbClr val="000000"/>
              </a:solidFill>
            </a:endParaRPr>
          </a:p>
        </p:txBody>
      </p:sp>
    </p:spTree>
    <p:extLst>
      <p:ext uri="{BB962C8B-B14F-4D97-AF65-F5344CB8AC3E}">
        <p14:creationId xmlns:p14="http://schemas.microsoft.com/office/powerpoint/2010/main" val="108663835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514350" y="881063"/>
            <a:ext cx="5829300" cy="165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smtClean="0"/>
              <a:t>마스터 제목 스타일 편집</a:t>
            </a:r>
          </a:p>
        </p:txBody>
      </p:sp>
      <p:sp>
        <p:nvSpPr>
          <p:cNvPr id="1027" name="Rectangle 3"/>
          <p:cNvSpPr>
            <a:spLocks noGrp="1" noChangeArrowheads="1"/>
          </p:cNvSpPr>
          <p:nvPr>
            <p:ph type="body" idx="1"/>
          </p:nvPr>
        </p:nvSpPr>
        <p:spPr bwMode="auto">
          <a:xfrm>
            <a:off x="514350" y="2862263"/>
            <a:ext cx="58293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smtClean="0"/>
              <a:t>마스터 텍스트 스타일을 편집합니다</a:t>
            </a:r>
          </a:p>
          <a:p>
            <a:pPr lvl="1"/>
            <a:r>
              <a:rPr lang="ko-KR" altLang="en-US" smtClean="0"/>
              <a:t>둘째 수준</a:t>
            </a:r>
          </a:p>
          <a:p>
            <a:pPr lvl="2"/>
            <a:r>
              <a:rPr lang="ko-KR" altLang="en-US" smtClean="0"/>
              <a:t>셋째 수준</a:t>
            </a:r>
          </a:p>
          <a:p>
            <a:pPr lvl="3"/>
            <a:r>
              <a:rPr lang="ko-KR" altLang="en-US" smtClean="0"/>
              <a:t>넷째 수준</a:t>
            </a:r>
          </a:p>
          <a:p>
            <a:pPr lvl="4"/>
            <a:r>
              <a:rPr lang="ko-KR" altLang="en-US" smtClean="0"/>
              <a:t>다섯째 수준</a:t>
            </a:r>
          </a:p>
        </p:txBody>
      </p:sp>
      <p:sp>
        <p:nvSpPr>
          <p:cNvPr id="154628" name="Rectangle 4"/>
          <p:cNvSpPr>
            <a:spLocks noGrp="1" noChangeArrowheads="1"/>
          </p:cNvSpPr>
          <p:nvPr>
            <p:ph type="dt" sz="half" idx="2"/>
          </p:nvPr>
        </p:nvSpPr>
        <p:spPr bwMode="auto">
          <a:xfrm>
            <a:off x="514350" y="9024938"/>
            <a:ext cx="142875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mn-lt"/>
                <a:ea typeface="+mn-ea"/>
              </a:defRPr>
            </a:lvl1p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
        <p:nvSpPr>
          <p:cNvPr id="154629" name="Rectangle 5"/>
          <p:cNvSpPr>
            <a:spLocks noGrp="1" noChangeArrowheads="1"/>
          </p:cNvSpPr>
          <p:nvPr>
            <p:ph type="ftr" sz="quarter" idx="3"/>
          </p:nvPr>
        </p:nvSpPr>
        <p:spPr bwMode="auto">
          <a:xfrm>
            <a:off x="2343150" y="9024938"/>
            <a:ext cx="2171700" cy="6604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mn-lt"/>
                <a:ea typeface="+mn-ea"/>
              </a:defRPr>
            </a:lvl1pPr>
          </a:lstStyle>
          <a:p>
            <a:pPr marL="0" marR="0" lvl="0" indent="0" algn="ctr" defTabSz="914400" rtl="0" eaLnBrk="1" fontAlgn="base" latinLnBrk="1" hangingPunct="1">
              <a:lnSpc>
                <a:spcPct val="100000"/>
              </a:lnSpc>
              <a:spcBef>
                <a:spcPct val="0"/>
              </a:spcBef>
              <a:spcAft>
                <a:spcPct val="0"/>
              </a:spcAft>
              <a:buClrTx/>
              <a:buSzTx/>
              <a:buFontTx/>
              <a:buNone/>
              <a:tabLst/>
              <a:defRPr/>
            </a:pPr>
            <a:endParaRPr kumimoji="1" lang="en-US" altLang="ko-KR" sz="1400" b="0" i="0" u="none" strike="noStrike" kern="1200" cap="none" spc="0" normalizeH="0" baseline="0" noProof="0">
              <a:ln>
                <a:noFill/>
              </a:ln>
              <a:solidFill>
                <a:srgbClr val="000000"/>
              </a:solidFill>
              <a:effectLst/>
              <a:uLnTx/>
              <a:uFillTx/>
              <a:latin typeface="굴림"/>
              <a:ea typeface="굴림"/>
              <a:cs typeface="+mn-cs"/>
            </a:endParaRPr>
          </a:p>
        </p:txBody>
      </p:sp>
    </p:spTree>
    <p:extLst>
      <p:ext uri="{BB962C8B-B14F-4D97-AF65-F5344CB8AC3E}">
        <p14:creationId xmlns:p14="http://schemas.microsoft.com/office/powerpoint/2010/main" val="2279486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latinLnBrk="1" hangingPunct="0">
        <a:spcBef>
          <a:spcPct val="0"/>
        </a:spcBef>
        <a:spcAft>
          <a:spcPct val="0"/>
        </a:spcAft>
        <a:defRPr kumimoji="1" sz="4400">
          <a:solidFill>
            <a:schemeClr val="tx2"/>
          </a:solidFill>
          <a:latin typeface="+mj-lt"/>
          <a:ea typeface="+mj-ea"/>
          <a:cs typeface="+mj-cs"/>
        </a:defRPr>
      </a:lvl1pPr>
      <a:lvl2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2pPr>
      <a:lvl3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3pPr>
      <a:lvl4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4pPr>
      <a:lvl5pPr algn="ctr" rtl="0" eaLnBrk="0" fontAlgn="base" latinLnBrk="1" hangingPunct="0">
        <a:spcBef>
          <a:spcPct val="0"/>
        </a:spcBef>
        <a:spcAft>
          <a:spcPct val="0"/>
        </a:spcAft>
        <a:defRPr kumimoji="1" sz="4400">
          <a:solidFill>
            <a:schemeClr val="tx2"/>
          </a:solidFill>
          <a:latin typeface="굴림" pitchFamily="50" charset="-127"/>
          <a:ea typeface="굴림" pitchFamily="50" charset="-127"/>
        </a:defRPr>
      </a:lvl5pPr>
      <a:lvl6pPr marL="457200" algn="ctr" rtl="0" fontAlgn="base" latinLnBrk="1">
        <a:spcBef>
          <a:spcPct val="0"/>
        </a:spcBef>
        <a:spcAft>
          <a:spcPct val="0"/>
        </a:spcAft>
        <a:defRPr kumimoji="1" sz="4400">
          <a:solidFill>
            <a:schemeClr val="tx2"/>
          </a:solidFill>
          <a:latin typeface="굴림" pitchFamily="50" charset="-127"/>
          <a:ea typeface="굴림" pitchFamily="50" charset="-127"/>
        </a:defRPr>
      </a:lvl6pPr>
      <a:lvl7pPr marL="914400" algn="ctr" rtl="0" fontAlgn="base" latinLnBrk="1">
        <a:spcBef>
          <a:spcPct val="0"/>
        </a:spcBef>
        <a:spcAft>
          <a:spcPct val="0"/>
        </a:spcAft>
        <a:defRPr kumimoji="1" sz="4400">
          <a:solidFill>
            <a:schemeClr val="tx2"/>
          </a:solidFill>
          <a:latin typeface="굴림" pitchFamily="50" charset="-127"/>
          <a:ea typeface="굴림" pitchFamily="50" charset="-127"/>
        </a:defRPr>
      </a:lvl7pPr>
      <a:lvl8pPr marL="1371600" algn="ctr" rtl="0" fontAlgn="base" latinLnBrk="1">
        <a:spcBef>
          <a:spcPct val="0"/>
        </a:spcBef>
        <a:spcAft>
          <a:spcPct val="0"/>
        </a:spcAft>
        <a:defRPr kumimoji="1" sz="4400">
          <a:solidFill>
            <a:schemeClr val="tx2"/>
          </a:solidFill>
          <a:latin typeface="굴림" pitchFamily="50" charset="-127"/>
          <a:ea typeface="굴림" pitchFamily="50" charset="-127"/>
        </a:defRPr>
      </a:lvl8pPr>
      <a:lvl9pPr marL="1828800" algn="ctr" rtl="0" fontAlgn="base" latinLnBrk="1">
        <a:spcBef>
          <a:spcPct val="0"/>
        </a:spcBef>
        <a:spcAft>
          <a:spcPct val="0"/>
        </a:spcAft>
        <a:defRPr kumimoji="1" sz="4400">
          <a:solidFill>
            <a:schemeClr val="tx2"/>
          </a:solidFill>
          <a:latin typeface="굴림" pitchFamily="50" charset="-127"/>
          <a:ea typeface="굴림" pitchFamily="50" charset="-127"/>
        </a:defRPr>
      </a:lvl9pPr>
    </p:titleStyle>
    <p:bodyStyle>
      <a:lvl1pPr marL="342900" indent="-342900" algn="l" rtl="0" eaLnBrk="0" fontAlgn="base" latinLnBrk="1"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latinLnBrk="1" hangingPunct="0">
        <a:spcBef>
          <a:spcPct val="20000"/>
        </a:spcBef>
        <a:spcAft>
          <a:spcPct val="0"/>
        </a:spcAft>
        <a:buChar char="–"/>
        <a:defRPr kumimoji="1" sz="2800">
          <a:solidFill>
            <a:schemeClr val="tx1"/>
          </a:solidFill>
          <a:latin typeface="+mn-lt"/>
          <a:ea typeface="+mn-ea"/>
        </a:defRPr>
      </a:lvl2pPr>
      <a:lvl3pPr marL="1143000" indent="-228600" algn="l" rtl="0" eaLnBrk="0" fontAlgn="base" latinLnBrk="1" hangingPunct="0">
        <a:spcBef>
          <a:spcPct val="20000"/>
        </a:spcBef>
        <a:spcAft>
          <a:spcPct val="0"/>
        </a:spcAft>
        <a:buChar char="•"/>
        <a:defRPr kumimoji="1" sz="2400">
          <a:solidFill>
            <a:schemeClr val="tx1"/>
          </a:solidFill>
          <a:latin typeface="+mn-lt"/>
          <a:ea typeface="+mn-ea"/>
        </a:defRPr>
      </a:lvl3pPr>
      <a:lvl4pPr marL="1600200" indent="-228600" algn="l" rtl="0" eaLnBrk="0" fontAlgn="base" latinLnBrk="1" hangingPunct="0">
        <a:spcBef>
          <a:spcPct val="20000"/>
        </a:spcBef>
        <a:spcAft>
          <a:spcPct val="0"/>
        </a:spcAft>
        <a:buChar char="–"/>
        <a:defRPr kumimoji="1" sz="2000">
          <a:solidFill>
            <a:schemeClr val="tx1"/>
          </a:solidFill>
          <a:latin typeface="+mn-lt"/>
          <a:ea typeface="+mn-ea"/>
        </a:defRPr>
      </a:lvl4pPr>
      <a:lvl5pPr marL="2057400" indent="-228600" algn="l" rtl="0" eaLnBrk="0" fontAlgn="base" latinLnBrk="1" hangingPunct="0">
        <a:spcBef>
          <a:spcPct val="20000"/>
        </a:spcBef>
        <a:spcAft>
          <a:spcPct val="0"/>
        </a:spcAft>
        <a:buChar char="»"/>
        <a:defRPr kumimoji="1" sz="2000">
          <a:solidFill>
            <a:schemeClr val="tx1"/>
          </a:solidFill>
          <a:latin typeface="+mn-lt"/>
          <a:ea typeface="+mn-ea"/>
        </a:defRPr>
      </a:lvl5pPr>
      <a:lvl6pPr marL="2514600" indent="-228600" algn="l" rtl="0" fontAlgn="base" latinLnBrk="1">
        <a:spcBef>
          <a:spcPct val="20000"/>
        </a:spcBef>
        <a:spcAft>
          <a:spcPct val="0"/>
        </a:spcAft>
        <a:buChar char="»"/>
        <a:defRPr kumimoji="1" sz="2000">
          <a:solidFill>
            <a:schemeClr val="tx1"/>
          </a:solidFill>
          <a:latin typeface="+mn-lt"/>
          <a:ea typeface="+mn-ea"/>
        </a:defRPr>
      </a:lvl6pPr>
      <a:lvl7pPr marL="2971800" indent="-228600" algn="l" rtl="0" fontAlgn="base" latinLnBrk="1">
        <a:spcBef>
          <a:spcPct val="20000"/>
        </a:spcBef>
        <a:spcAft>
          <a:spcPct val="0"/>
        </a:spcAft>
        <a:buChar char="»"/>
        <a:defRPr kumimoji="1" sz="2000">
          <a:solidFill>
            <a:schemeClr val="tx1"/>
          </a:solidFill>
          <a:latin typeface="+mn-lt"/>
          <a:ea typeface="+mn-ea"/>
        </a:defRPr>
      </a:lvl7pPr>
      <a:lvl8pPr marL="3429000" indent="-228600" algn="l" rtl="0" fontAlgn="base" latinLnBrk="1">
        <a:spcBef>
          <a:spcPct val="20000"/>
        </a:spcBef>
        <a:spcAft>
          <a:spcPct val="0"/>
        </a:spcAft>
        <a:buChar char="»"/>
        <a:defRPr kumimoji="1" sz="2000">
          <a:solidFill>
            <a:schemeClr val="tx1"/>
          </a:solidFill>
          <a:latin typeface="+mn-lt"/>
          <a:ea typeface="+mn-ea"/>
        </a:defRPr>
      </a:lvl8pPr>
      <a:lvl9pPr marL="3886200" indent="-228600" algn="l" rtl="0" fontAlgn="base" latinLnBrk="1">
        <a:spcBef>
          <a:spcPct val="20000"/>
        </a:spcBef>
        <a:spcAft>
          <a:spcPct val="0"/>
        </a:spcAft>
        <a:buChar char="»"/>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8.xml"/><Relationship Id="rId5" Type="http://schemas.openxmlformats.org/officeDocument/2006/relationships/image" Target="../media/image4.jpe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8.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29.xml"/><Relationship Id="rId5" Type="http://schemas.openxmlformats.org/officeDocument/2006/relationships/image" Target="../media/image19.JP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0.emf"/><Relationship Id="rId7" Type="http://schemas.openxmlformats.org/officeDocument/2006/relationships/image" Target="../media/image24.wmf"/><Relationship Id="rId2" Type="http://schemas.openxmlformats.org/officeDocument/2006/relationships/notesSlide" Target="../notesSlides/notesSlide10.xml"/><Relationship Id="rId1" Type="http://schemas.openxmlformats.org/officeDocument/2006/relationships/slideLayout" Target="../slideLayouts/slideLayout29.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9.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9.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3.xml"/><Relationship Id="rId1" Type="http://schemas.openxmlformats.org/officeDocument/2006/relationships/slideLayout" Target="../slideLayouts/slideLayout29.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5.xml"/><Relationship Id="rId1" Type="http://schemas.openxmlformats.org/officeDocument/2006/relationships/slideLayout" Target="../slideLayouts/slideLayout29.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16.xml"/><Relationship Id="rId1" Type="http://schemas.openxmlformats.org/officeDocument/2006/relationships/slideLayout" Target="../slideLayouts/slideLayout29.xml"/><Relationship Id="rId5" Type="http://schemas.openxmlformats.org/officeDocument/2006/relationships/image" Target="../media/image50.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8" Type="http://schemas.openxmlformats.org/officeDocument/2006/relationships/image" Target="../media/image56.jpe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17.xml"/><Relationship Id="rId1" Type="http://schemas.openxmlformats.org/officeDocument/2006/relationships/slideLayout" Target="../slideLayouts/slideLayout29.xml"/><Relationship Id="rId6" Type="http://schemas.openxmlformats.org/officeDocument/2006/relationships/image" Target="../media/image54.jpg"/><Relationship Id="rId5" Type="http://schemas.openxmlformats.org/officeDocument/2006/relationships/image" Target="../media/image53.png"/><Relationship Id="rId4" Type="http://schemas.openxmlformats.org/officeDocument/2006/relationships/image" Target="../media/image52.png"/></Relationships>
</file>

<file path=ppt/slides/_rels/slide1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9.xml"/><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9.png"/><Relationship Id="rId7" Type="http://schemas.openxmlformats.org/officeDocument/2006/relationships/image" Target="../media/image35.png"/><Relationship Id="rId2" Type="http://schemas.openxmlformats.org/officeDocument/2006/relationships/notesSlide" Target="../notesSlides/notesSlide21.xml"/><Relationship Id="rId1" Type="http://schemas.openxmlformats.org/officeDocument/2006/relationships/slideLayout" Target="../slideLayouts/slideLayout29.xml"/><Relationship Id="rId6" Type="http://schemas.openxmlformats.org/officeDocument/2006/relationships/image" Target="../media/image36.png"/><Relationship Id="rId5" Type="http://schemas.openxmlformats.org/officeDocument/2006/relationships/image" Target="../media/image61.png"/><Relationship Id="rId4" Type="http://schemas.openxmlformats.org/officeDocument/2006/relationships/image" Target="../media/image60.png"/></Relationships>
</file>

<file path=ppt/slides/_rels/slide22.xml.rels><?xml version="1.0" encoding="UTF-8" standalone="yes"?>
<Relationships xmlns="http://schemas.openxmlformats.org/package/2006/relationships"><Relationship Id="rId8" Type="http://schemas.openxmlformats.org/officeDocument/2006/relationships/image" Target="../media/image68.png"/><Relationship Id="rId13" Type="http://schemas.openxmlformats.org/officeDocument/2006/relationships/image" Target="../media/image73.emf"/><Relationship Id="rId3" Type="http://schemas.openxmlformats.org/officeDocument/2006/relationships/image" Target="../media/image63.png"/><Relationship Id="rId7" Type="http://schemas.openxmlformats.org/officeDocument/2006/relationships/image" Target="../media/image67.png"/><Relationship Id="rId12" Type="http://schemas.openxmlformats.org/officeDocument/2006/relationships/image" Target="../media/image72.emf"/><Relationship Id="rId2" Type="http://schemas.openxmlformats.org/officeDocument/2006/relationships/notesSlide" Target="../notesSlides/notesSlide22.xml"/><Relationship Id="rId1" Type="http://schemas.openxmlformats.org/officeDocument/2006/relationships/slideLayout" Target="../slideLayouts/slideLayout29.xml"/><Relationship Id="rId6" Type="http://schemas.openxmlformats.org/officeDocument/2006/relationships/image" Target="../media/image66.png"/><Relationship Id="rId11" Type="http://schemas.openxmlformats.org/officeDocument/2006/relationships/image" Target="../media/image71.emf"/><Relationship Id="rId5" Type="http://schemas.openxmlformats.org/officeDocument/2006/relationships/image" Target="../media/image65.png"/><Relationship Id="rId10" Type="http://schemas.openxmlformats.org/officeDocument/2006/relationships/image" Target="../media/image70.emf"/><Relationship Id="rId4" Type="http://schemas.openxmlformats.org/officeDocument/2006/relationships/image" Target="../media/image64.png"/><Relationship Id="rId9" Type="http://schemas.openxmlformats.org/officeDocument/2006/relationships/image" Target="../media/image69.png"/></Relationships>
</file>

<file path=ppt/slides/_rels/slide23.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23.xml"/><Relationship Id="rId1" Type="http://schemas.openxmlformats.org/officeDocument/2006/relationships/slideLayout" Target="../slideLayouts/slideLayout29.xml"/><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s>
</file>

<file path=ppt/slides/_rels/slide24.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jpeg"/><Relationship Id="rId2" Type="http://schemas.openxmlformats.org/officeDocument/2006/relationships/notesSlide" Target="../notesSlides/notesSlide24.xml"/><Relationship Id="rId1" Type="http://schemas.openxmlformats.org/officeDocument/2006/relationships/slideLayout" Target="../slideLayouts/slideLayout29.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25.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29.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2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26.xml"/><Relationship Id="rId1" Type="http://schemas.openxmlformats.org/officeDocument/2006/relationships/slideLayout" Target="../slideLayouts/slideLayout29.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27.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7.xml"/><Relationship Id="rId1" Type="http://schemas.openxmlformats.org/officeDocument/2006/relationships/slideLayout" Target="../slideLayouts/slideLayout29.xml"/></Relationships>
</file>

<file path=ppt/slides/_rels/slide2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28.xml"/><Relationship Id="rId1" Type="http://schemas.openxmlformats.org/officeDocument/2006/relationships/slideLayout" Target="../slideLayouts/slideLayout29.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18" Type="http://schemas.openxmlformats.org/officeDocument/2006/relationships/image" Target="../media/image108.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107.png"/><Relationship Id="rId2" Type="http://schemas.openxmlformats.org/officeDocument/2006/relationships/notesSlide" Target="../notesSlides/notesSlide29.xml"/><Relationship Id="rId16" Type="http://schemas.openxmlformats.org/officeDocument/2006/relationships/image" Target="../media/image106.png"/><Relationship Id="rId1" Type="http://schemas.openxmlformats.org/officeDocument/2006/relationships/slideLayout" Target="../slideLayouts/slideLayout29.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5.png"/><Relationship Id="rId15" Type="http://schemas.openxmlformats.org/officeDocument/2006/relationships/image" Target="../media/image105.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 Id="rId14" Type="http://schemas.openxmlformats.org/officeDocument/2006/relationships/image" Target="../media/image104.png"/></Relationships>
</file>

<file path=ppt/slides/_rels/slide3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30.xml"/><Relationship Id="rId1" Type="http://schemas.openxmlformats.org/officeDocument/2006/relationships/slideLayout" Target="../slideLayouts/slideLayout29.xml"/></Relationships>
</file>

<file path=ppt/slides/_rels/slide31.xml.rels><?xml version="1.0" encoding="UTF-8" standalone="yes"?>
<Relationships xmlns="http://schemas.openxmlformats.org/package/2006/relationships"><Relationship Id="rId3" Type="http://schemas.openxmlformats.org/officeDocument/2006/relationships/image" Target="../media/image110.png"/><Relationship Id="rId7" Type="http://schemas.openxmlformats.org/officeDocument/2006/relationships/image" Target="../media/image114.png"/><Relationship Id="rId2" Type="http://schemas.openxmlformats.org/officeDocument/2006/relationships/notesSlide" Target="../notesSlides/notesSlide31.xml"/><Relationship Id="rId1" Type="http://schemas.openxmlformats.org/officeDocument/2006/relationships/slideLayout" Target="../slideLayouts/slideLayout29.xml"/><Relationship Id="rId6" Type="http://schemas.openxmlformats.org/officeDocument/2006/relationships/image" Target="../media/image113.png"/><Relationship Id="rId5" Type="http://schemas.openxmlformats.org/officeDocument/2006/relationships/image" Target="../media/image112.png"/><Relationship Id="rId4" Type="http://schemas.openxmlformats.org/officeDocument/2006/relationships/image" Target="../media/image111.png"/></Relationships>
</file>

<file path=ppt/slides/_rels/slide32.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5.png"/><Relationship Id="rId7" Type="http://schemas.openxmlformats.org/officeDocument/2006/relationships/image" Target="../media/image119.png"/><Relationship Id="rId2" Type="http://schemas.openxmlformats.org/officeDocument/2006/relationships/notesSlide" Target="../notesSlides/notesSlide32.xml"/><Relationship Id="rId1" Type="http://schemas.openxmlformats.org/officeDocument/2006/relationships/slideLayout" Target="../slideLayouts/slideLayout29.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s>
</file>

<file path=ppt/slides/_rels/slide3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9.xml"/><Relationship Id="rId5" Type="http://schemas.openxmlformats.org/officeDocument/2006/relationships/image" Target="../media/image122.png"/><Relationship Id="rId4" Type="http://schemas.openxmlformats.org/officeDocument/2006/relationships/image" Target="../media/image121.JPG"/></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34.xml"/><Relationship Id="rId7" Type="http://schemas.openxmlformats.org/officeDocument/2006/relationships/image" Target="../media/image124.png"/><Relationship Id="rId2" Type="http://schemas.openxmlformats.org/officeDocument/2006/relationships/slideLayout" Target="../slideLayouts/slideLayout29.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23.png"/><Relationship Id="rId4" Type="http://schemas.openxmlformats.org/officeDocument/2006/relationships/oleObject" Target="../embeddings/oleObject1.bin"/></Relationships>
</file>

<file path=ppt/slides/_rels/slide35.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35.xml"/><Relationship Id="rId1" Type="http://schemas.openxmlformats.org/officeDocument/2006/relationships/slideLayout" Target="../slideLayouts/slideLayout29.xml"/><Relationship Id="rId4" Type="http://schemas.openxmlformats.org/officeDocument/2006/relationships/image" Target="../media/image126.png"/></Relationships>
</file>

<file path=ppt/slides/_rels/slide36.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36.xml"/><Relationship Id="rId1" Type="http://schemas.openxmlformats.org/officeDocument/2006/relationships/slideLayout" Target="../slideLayouts/slideLayout29.xml"/><Relationship Id="rId4" Type="http://schemas.openxmlformats.org/officeDocument/2006/relationships/image" Target="../media/image128.png"/></Relationships>
</file>

<file path=ppt/slides/_rels/slide37.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61.png"/><Relationship Id="rId7" Type="http://schemas.openxmlformats.org/officeDocument/2006/relationships/image" Target="../media/image94.png"/><Relationship Id="rId2" Type="http://schemas.openxmlformats.org/officeDocument/2006/relationships/notesSlide" Target="../notesSlides/notesSlide37.xml"/><Relationship Id="rId1" Type="http://schemas.openxmlformats.org/officeDocument/2006/relationships/slideLayout" Target="../slideLayouts/slideLayout29.xml"/><Relationship Id="rId6" Type="http://schemas.openxmlformats.org/officeDocument/2006/relationships/image" Target="../media/image62.png"/><Relationship Id="rId5" Type="http://schemas.openxmlformats.org/officeDocument/2006/relationships/image" Target="../media/image35.png"/><Relationship Id="rId4" Type="http://schemas.openxmlformats.org/officeDocument/2006/relationships/image" Target="../media/image36.png"/><Relationship Id="rId9" Type="http://schemas.openxmlformats.org/officeDocument/2006/relationships/image" Target="../media/image130.png"/></Relationships>
</file>

<file path=ppt/slides/_rels/slide38.x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notesSlide" Target="../notesSlides/notesSlide38.xml"/><Relationship Id="rId1" Type="http://schemas.openxmlformats.org/officeDocument/2006/relationships/slideLayout" Target="../slideLayouts/slideLayout29.xml"/><Relationship Id="rId4" Type="http://schemas.openxmlformats.org/officeDocument/2006/relationships/image" Target="../media/image67.png"/></Relationships>
</file>

<file path=ppt/slides/_rels/slide39.xml.rels><?xml version="1.0" encoding="UTF-8" standalone="yes"?>
<Relationships xmlns="http://schemas.openxmlformats.org/package/2006/relationships"><Relationship Id="rId3" Type="http://schemas.openxmlformats.org/officeDocument/2006/relationships/image" Target="../media/image132.png"/><Relationship Id="rId7" Type="http://schemas.openxmlformats.org/officeDocument/2006/relationships/image" Target="../media/image136.jpeg"/><Relationship Id="rId2" Type="http://schemas.openxmlformats.org/officeDocument/2006/relationships/notesSlide" Target="../notesSlides/notesSlide39.xml"/><Relationship Id="rId1" Type="http://schemas.openxmlformats.org/officeDocument/2006/relationships/slideLayout" Target="../slideLayouts/slideLayout29.xml"/><Relationship Id="rId6" Type="http://schemas.openxmlformats.org/officeDocument/2006/relationships/image" Target="../media/image135.jpeg"/><Relationship Id="rId5" Type="http://schemas.openxmlformats.org/officeDocument/2006/relationships/image" Target="../media/image134.jpeg"/><Relationship Id="rId4" Type="http://schemas.openxmlformats.org/officeDocument/2006/relationships/image" Target="../media/image133.jpeg"/></Relationships>
</file>

<file path=ppt/slides/_rels/slide40.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0.xml"/><Relationship Id="rId1" Type="http://schemas.openxmlformats.org/officeDocument/2006/relationships/slideLayout" Target="../slideLayouts/slideLayout29.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41.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41.xml"/><Relationship Id="rId1" Type="http://schemas.openxmlformats.org/officeDocument/2006/relationships/slideLayout" Target="../slideLayouts/slideLayout29.xml"/><Relationship Id="rId5" Type="http://schemas.openxmlformats.org/officeDocument/2006/relationships/image" Target="../media/image139.png"/><Relationship Id="rId4" Type="http://schemas.openxmlformats.org/officeDocument/2006/relationships/image" Target="../media/image138.png"/></Relationships>
</file>

<file path=ppt/slides/_rels/slide4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2.xml"/><Relationship Id="rId1" Type="http://schemas.openxmlformats.org/officeDocument/2006/relationships/slideLayout" Target="../slideLayouts/slideLayout29.xml"/></Relationships>
</file>

<file path=ppt/slides/_rels/slide43.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43.xml"/><Relationship Id="rId1" Type="http://schemas.openxmlformats.org/officeDocument/2006/relationships/slideLayout" Target="../slideLayouts/slideLayout29.xml"/><Relationship Id="rId5" Type="http://schemas.openxmlformats.org/officeDocument/2006/relationships/image" Target="../media/image143.png"/><Relationship Id="rId4" Type="http://schemas.openxmlformats.org/officeDocument/2006/relationships/image" Target="../media/image142.png"/></Relationships>
</file>

<file path=ppt/slides/_rels/slide44.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44.xml"/><Relationship Id="rId1" Type="http://schemas.openxmlformats.org/officeDocument/2006/relationships/slideLayout" Target="../slideLayouts/slideLayout29.xml"/><Relationship Id="rId4" Type="http://schemas.openxmlformats.org/officeDocument/2006/relationships/image" Target="../media/image145.png"/></Relationships>
</file>

<file path=ppt/slides/_rels/slide45.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image" Target="../media/image146.png"/><Relationship Id="rId7"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29.xml"/><Relationship Id="rId6" Type="http://schemas.openxmlformats.org/officeDocument/2006/relationships/image" Target="../media/image149.png"/><Relationship Id="rId11" Type="http://schemas.openxmlformats.org/officeDocument/2006/relationships/image" Target="../media/image129.png"/><Relationship Id="rId5" Type="http://schemas.openxmlformats.org/officeDocument/2006/relationships/image" Target="../media/image148.png"/><Relationship Id="rId10" Type="http://schemas.openxmlformats.org/officeDocument/2006/relationships/image" Target="../media/image150.png"/><Relationship Id="rId4" Type="http://schemas.openxmlformats.org/officeDocument/2006/relationships/image" Target="../media/image147.png"/><Relationship Id="rId9" Type="http://schemas.openxmlformats.org/officeDocument/2006/relationships/image" Target="../media/image62.png"/></Relationships>
</file>

<file path=ppt/slides/_rels/slide46.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46.xml"/><Relationship Id="rId1" Type="http://schemas.openxmlformats.org/officeDocument/2006/relationships/slideLayout" Target="../slideLayouts/slideLayout29.xml"/></Relationships>
</file>

<file path=ppt/slides/_rels/slide47.xml.rels><?xml version="1.0" encoding="UTF-8" standalone="yes"?>
<Relationships xmlns="http://schemas.openxmlformats.org/package/2006/relationships"><Relationship Id="rId8" Type="http://schemas.openxmlformats.org/officeDocument/2006/relationships/image" Target="../media/image157.png"/><Relationship Id="rId3" Type="http://schemas.openxmlformats.org/officeDocument/2006/relationships/image" Target="../media/image152.png"/><Relationship Id="rId7" Type="http://schemas.openxmlformats.org/officeDocument/2006/relationships/image" Target="../media/image156.png"/><Relationship Id="rId2" Type="http://schemas.openxmlformats.org/officeDocument/2006/relationships/notesSlide" Target="../notesSlides/notesSlide47.xml"/><Relationship Id="rId1" Type="http://schemas.openxmlformats.org/officeDocument/2006/relationships/slideLayout" Target="../slideLayouts/slideLayout29.xml"/><Relationship Id="rId6" Type="http://schemas.openxmlformats.org/officeDocument/2006/relationships/image" Target="../media/image155.png"/><Relationship Id="rId5" Type="http://schemas.openxmlformats.org/officeDocument/2006/relationships/image" Target="../media/image154.png"/><Relationship Id="rId4" Type="http://schemas.openxmlformats.org/officeDocument/2006/relationships/image" Target="../media/image153.png"/><Relationship Id="rId9" Type="http://schemas.openxmlformats.org/officeDocument/2006/relationships/image" Target="../media/image158.png"/></Relationships>
</file>

<file path=ppt/slides/_rels/slide48.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8.xml"/><Relationship Id="rId1" Type="http://schemas.openxmlformats.org/officeDocument/2006/relationships/slideLayout" Target="../slideLayouts/slideLayout29.xml"/><Relationship Id="rId4" Type="http://schemas.openxmlformats.org/officeDocument/2006/relationships/image" Target="../media/image159.png"/></Relationships>
</file>

<file path=ppt/slides/_rels/slide4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9.xml"/><Relationship Id="rId1" Type="http://schemas.openxmlformats.org/officeDocument/2006/relationships/slideLayout" Target="../slideLayouts/slideLayout29.xml"/><Relationship Id="rId5" Type="http://schemas.openxmlformats.org/officeDocument/2006/relationships/image" Target="../media/image122.png"/><Relationship Id="rId4" Type="http://schemas.openxmlformats.org/officeDocument/2006/relationships/image" Target="../media/image121.JPG"/></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notesSlide" Target="../notesSlides/notesSlide50.xml"/><Relationship Id="rId7" Type="http://schemas.openxmlformats.org/officeDocument/2006/relationships/image" Target="../media/image124.png"/><Relationship Id="rId2" Type="http://schemas.openxmlformats.org/officeDocument/2006/relationships/slideLayout" Target="../slideLayouts/slideLayout29.xml"/><Relationship Id="rId1" Type="http://schemas.openxmlformats.org/officeDocument/2006/relationships/vmlDrawing" Target="../drawings/vmlDrawing2.vml"/><Relationship Id="rId6" Type="http://schemas.openxmlformats.org/officeDocument/2006/relationships/oleObject" Target="../embeddings/oleObject5.bin"/><Relationship Id="rId5" Type="http://schemas.openxmlformats.org/officeDocument/2006/relationships/image" Target="../media/image123.png"/><Relationship Id="rId4" Type="http://schemas.openxmlformats.org/officeDocument/2006/relationships/oleObject" Target="../embeddings/oleObject4.bin"/></Relationships>
</file>

<file path=ppt/slides/_rels/slide51.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51.xml"/><Relationship Id="rId1" Type="http://schemas.openxmlformats.org/officeDocument/2006/relationships/slideLayout" Target="../slideLayouts/slideLayout29.xml"/><Relationship Id="rId4" Type="http://schemas.openxmlformats.org/officeDocument/2006/relationships/image" Target="../media/image126.png"/></Relationships>
</file>

<file path=ppt/slides/_rels/slide52.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52.xml"/><Relationship Id="rId1" Type="http://schemas.openxmlformats.org/officeDocument/2006/relationships/slideLayout" Target="../slideLayouts/slideLayout29.xml"/><Relationship Id="rId4" Type="http://schemas.openxmlformats.org/officeDocument/2006/relationships/image" Target="../media/image128.png"/></Relationships>
</file>

<file path=ppt/slides/_rels/slide53.xml.rels><?xml version="1.0" encoding="UTF-8" standalone="yes"?>
<Relationships xmlns="http://schemas.openxmlformats.org/package/2006/relationships"><Relationship Id="rId8" Type="http://schemas.openxmlformats.org/officeDocument/2006/relationships/image" Target="../media/image129.png"/><Relationship Id="rId3" Type="http://schemas.openxmlformats.org/officeDocument/2006/relationships/image" Target="../media/image61.png"/><Relationship Id="rId7" Type="http://schemas.openxmlformats.org/officeDocument/2006/relationships/image" Target="../media/image94.png"/><Relationship Id="rId2" Type="http://schemas.openxmlformats.org/officeDocument/2006/relationships/notesSlide" Target="../notesSlides/notesSlide53.xml"/><Relationship Id="rId1" Type="http://schemas.openxmlformats.org/officeDocument/2006/relationships/slideLayout" Target="../slideLayouts/slideLayout29.xml"/><Relationship Id="rId6" Type="http://schemas.openxmlformats.org/officeDocument/2006/relationships/image" Target="../media/image62.png"/><Relationship Id="rId5" Type="http://schemas.openxmlformats.org/officeDocument/2006/relationships/image" Target="../media/image35.png"/><Relationship Id="rId4" Type="http://schemas.openxmlformats.org/officeDocument/2006/relationships/image" Target="../media/image36.png"/><Relationship Id="rId9" Type="http://schemas.openxmlformats.org/officeDocument/2006/relationships/image" Target="../media/image130.png"/></Relationships>
</file>

<file path=ppt/slides/_rels/slide54.x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notesSlide" Target="../notesSlides/notesSlide54.xml"/><Relationship Id="rId1" Type="http://schemas.openxmlformats.org/officeDocument/2006/relationships/slideLayout" Target="../slideLayouts/slideLayout29.xml"/><Relationship Id="rId4" Type="http://schemas.openxmlformats.org/officeDocument/2006/relationships/image" Target="../media/image67.png"/></Relationships>
</file>

<file path=ppt/slides/_rels/slide55.xml.rels><?xml version="1.0" encoding="UTF-8" standalone="yes"?>
<Relationships xmlns="http://schemas.openxmlformats.org/package/2006/relationships"><Relationship Id="rId3" Type="http://schemas.openxmlformats.org/officeDocument/2006/relationships/image" Target="../media/image132.png"/><Relationship Id="rId7" Type="http://schemas.openxmlformats.org/officeDocument/2006/relationships/image" Target="../media/image136.jpeg"/><Relationship Id="rId2" Type="http://schemas.openxmlformats.org/officeDocument/2006/relationships/notesSlide" Target="../notesSlides/notesSlide55.xml"/><Relationship Id="rId1" Type="http://schemas.openxmlformats.org/officeDocument/2006/relationships/slideLayout" Target="../slideLayouts/slideLayout29.xml"/><Relationship Id="rId6" Type="http://schemas.openxmlformats.org/officeDocument/2006/relationships/image" Target="../media/image135.jpeg"/><Relationship Id="rId5" Type="http://schemas.openxmlformats.org/officeDocument/2006/relationships/image" Target="../media/image134.jpeg"/><Relationship Id="rId4" Type="http://schemas.openxmlformats.org/officeDocument/2006/relationships/image" Target="../media/image133.jpeg"/></Relationships>
</file>

<file path=ppt/slides/_rels/slide56.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6.xml"/><Relationship Id="rId1" Type="http://schemas.openxmlformats.org/officeDocument/2006/relationships/slideLayout" Target="../slideLayouts/slideLayout29.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57.xml.rels><?xml version="1.0" encoding="UTF-8" standalone="yes"?>
<Relationships xmlns="http://schemas.openxmlformats.org/package/2006/relationships"><Relationship Id="rId3" Type="http://schemas.openxmlformats.org/officeDocument/2006/relationships/image" Target="../media/image83.png"/><Relationship Id="rId7" Type="http://schemas.openxmlformats.org/officeDocument/2006/relationships/image" Target="../media/image56.jpeg"/><Relationship Id="rId2" Type="http://schemas.openxmlformats.org/officeDocument/2006/relationships/notesSlide" Target="../notesSlides/notesSlide57.xml"/><Relationship Id="rId1" Type="http://schemas.openxmlformats.org/officeDocument/2006/relationships/slideLayout" Target="../slideLayouts/slideLayout29.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58.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8.xml"/><Relationship Id="rId1" Type="http://schemas.openxmlformats.org/officeDocument/2006/relationships/slideLayout" Target="../slideLayouts/slideLayout29.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9.xml"/></Relationships>
</file>

<file path=ppt/slides/_rels/slide60.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60.xml"/><Relationship Id="rId1" Type="http://schemas.openxmlformats.org/officeDocument/2006/relationships/slideLayout" Target="../slideLayouts/slideLayout29.xml"/><Relationship Id="rId4" Type="http://schemas.openxmlformats.org/officeDocument/2006/relationships/image" Target="../media/image33.PNG"/></Relationships>
</file>

<file path=ppt/slides/_rels/slide61.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18" Type="http://schemas.openxmlformats.org/officeDocument/2006/relationships/image" Target="../media/image108.png"/><Relationship Id="rId3" Type="http://schemas.openxmlformats.org/officeDocument/2006/relationships/image" Target="../media/image93.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107.png"/><Relationship Id="rId2" Type="http://schemas.openxmlformats.org/officeDocument/2006/relationships/notesSlide" Target="../notesSlides/notesSlide61.xml"/><Relationship Id="rId16" Type="http://schemas.openxmlformats.org/officeDocument/2006/relationships/image" Target="../media/image106.png"/><Relationship Id="rId1" Type="http://schemas.openxmlformats.org/officeDocument/2006/relationships/slideLayout" Target="../slideLayouts/slideLayout29.xml"/><Relationship Id="rId6" Type="http://schemas.openxmlformats.org/officeDocument/2006/relationships/image" Target="../media/image96.png"/><Relationship Id="rId11" Type="http://schemas.openxmlformats.org/officeDocument/2006/relationships/image" Target="../media/image101.png"/><Relationship Id="rId5" Type="http://schemas.openxmlformats.org/officeDocument/2006/relationships/image" Target="../media/image95.png"/><Relationship Id="rId15" Type="http://schemas.openxmlformats.org/officeDocument/2006/relationships/image" Target="../media/image105.png"/><Relationship Id="rId10" Type="http://schemas.openxmlformats.org/officeDocument/2006/relationships/image" Target="../media/image100.png"/><Relationship Id="rId4" Type="http://schemas.openxmlformats.org/officeDocument/2006/relationships/image" Target="../media/image94.png"/><Relationship Id="rId9" Type="http://schemas.openxmlformats.org/officeDocument/2006/relationships/image" Target="../media/image99.png"/><Relationship Id="rId14" Type="http://schemas.openxmlformats.org/officeDocument/2006/relationships/image" Target="../media/image104.png"/></Relationships>
</file>

<file path=ppt/slides/_rels/slide62.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70.emf"/><Relationship Id="rId7" Type="http://schemas.openxmlformats.org/officeDocument/2006/relationships/image" Target="../media/image69.png"/><Relationship Id="rId2" Type="http://schemas.openxmlformats.org/officeDocument/2006/relationships/notesSlide" Target="../notesSlides/notesSlide62.xml"/><Relationship Id="rId1" Type="http://schemas.openxmlformats.org/officeDocument/2006/relationships/slideLayout" Target="../slideLayouts/slideLayout29.xml"/><Relationship Id="rId6" Type="http://schemas.openxmlformats.org/officeDocument/2006/relationships/image" Target="../media/image73.emf"/><Relationship Id="rId5" Type="http://schemas.openxmlformats.org/officeDocument/2006/relationships/image" Target="../media/image72.emf"/><Relationship Id="rId4" Type="http://schemas.openxmlformats.org/officeDocument/2006/relationships/image" Target="../media/image71.emf"/></Relationships>
</file>

<file path=ppt/slides/_rels/slide63.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63.xml"/><Relationship Id="rId1" Type="http://schemas.openxmlformats.org/officeDocument/2006/relationships/slideLayout" Target="../slideLayouts/slideLayout29.xml"/><Relationship Id="rId4" Type="http://schemas.openxmlformats.org/officeDocument/2006/relationships/image" Target="../media/image110.png"/></Relationships>
</file>

<file path=ppt/slides/_rels/slide64.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115.png"/><Relationship Id="rId7" Type="http://schemas.openxmlformats.org/officeDocument/2006/relationships/image" Target="../media/image119.png"/><Relationship Id="rId2" Type="http://schemas.openxmlformats.org/officeDocument/2006/relationships/notesSlide" Target="../notesSlides/notesSlide64.xml"/><Relationship Id="rId1" Type="http://schemas.openxmlformats.org/officeDocument/2006/relationships/slideLayout" Target="../slideLayouts/slideLayout29.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2573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60" name="Rectangle 7"/>
          <p:cNvSpPr>
            <a:spLocks noChangeArrowheads="1"/>
          </p:cNvSpPr>
          <p:nvPr/>
        </p:nvSpPr>
        <p:spPr bwMode="auto">
          <a:xfrm>
            <a:off x="3445715" y="1136576"/>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Hiện tượng mất đi 1 phần pha của dòng điện xoay chiều là loại nào sau </a:t>
            </a:r>
            <a:r>
              <a:rPr lang="vi-VN" altLang="ko-KR" sz="950" smtClean="0">
                <a:latin typeface="Times New Roman" pitchFamily="18" charset="0"/>
                <a:ea typeface="LG Smart_H Regular" panose="020B0600000101010101" pitchFamily="34" charset="-127"/>
                <a:cs typeface="Times New Roman" pitchFamily="18" charset="0"/>
              </a:rPr>
              <a:t>đây</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Nhiễu </a:t>
            </a:r>
            <a:r>
              <a:rPr lang="en-US" altLang="ko-KR" sz="950" smtClean="0">
                <a:latin typeface="Times New Roman" pitchFamily="18" charset="0"/>
                <a:ea typeface="LG Smart_H Regular" panose="020B0600000101010101" pitchFamily="34" charset="-127"/>
                <a:cs typeface="Times New Roman" pitchFamily="18" charset="0"/>
              </a:rPr>
              <a:t>sét</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Nhiễu do biến đổi điện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áp</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Nhiễu tĩnh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Nhiễu chuyển mạch(switching noise)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3416474" y="4448944"/>
            <a:ext cx="3227834"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8</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Quấn dây điện vào thước kẹp và nó có chức năng như một loại máy biến áp. Dòng điện chạy qua vào trong lõi ấy thì nó biến thành cuộn cảm thứ nhất và cuộn cảm thứ 2, biểu thị lên màn hình theo tỷ lệ đó. Là loại đồng hồ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Mega </a:t>
            </a:r>
            <a:r>
              <a:rPr lang="vi-VN" altLang="ko-KR" sz="950" smtClean="0">
                <a:latin typeface="Times New Roman" pitchFamily="18" charset="0"/>
                <a:ea typeface="LG Smart_H Regular" panose="020B0600000101010101" pitchFamily="34" charset="-127"/>
                <a:cs typeface="Times New Roman" pitchFamily="18" charset="0"/>
              </a:rPr>
              <a:t>Tester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solidFill>
                  <a:srgbClr val="FF0000"/>
                </a:solidFill>
                <a:latin typeface="Times New Roman" pitchFamily="18" charset="0"/>
                <a:ea typeface="LG Smart_H Regular" panose="020B0600000101010101" pitchFamily="34" charset="-127"/>
                <a:cs typeface="Times New Roman" pitchFamily="18" charset="0"/>
              </a:rPr>
              <a:t>Thước kẹp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mét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DVM (Digital Volts Meter</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Thước đo mét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3" name="Rectangle 7"/>
          <p:cNvSpPr>
            <a:spLocks noChangeArrowheads="1"/>
          </p:cNvSpPr>
          <p:nvPr/>
        </p:nvSpPr>
        <p:spPr bwMode="auto">
          <a:xfrm>
            <a:off x="151249" y="5608799"/>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4</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Trong những đặc tính sau,đâu không là đặc tính của Photo </a:t>
            </a:r>
            <a:r>
              <a:rPr lang="vi-VN" altLang="ko-KR" sz="950" smtClean="0">
                <a:latin typeface="Times New Roman" pitchFamily="18" charset="0"/>
                <a:ea typeface="LG Smart_H Regular" panose="020B0600000101010101" pitchFamily="34" charset="-127"/>
                <a:cs typeface="Times New Roman" pitchFamily="18" charset="0"/>
              </a:rPr>
              <a:t>Coupler?</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loại hạng nhẹ và nhỏ nên có thể tăng mật độ đóng gói</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Sử dụng ánh sáng để truyền tín hiệu nên không tiếng </a:t>
            </a:r>
            <a:r>
              <a:rPr lang="vi-VN" altLang="ko-KR" sz="950" smtClean="0">
                <a:latin typeface="Times New Roman" pitchFamily="18" charset="0"/>
                <a:ea typeface="LG Smart_H Regular" panose="020B0600000101010101" pitchFamily="34" charset="-127"/>
                <a:cs typeface="Times New Roman" pitchFamily="18" charset="0"/>
              </a:rPr>
              <a:t>ồn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Giao diện với các phần tử logic dễ và tốc độ phản hồi </a:t>
            </a:r>
            <a:r>
              <a:rPr lang="vi-VN" altLang="ko-KR" sz="950" smtClean="0">
                <a:latin typeface="Times New Roman" pitchFamily="18" charset="0"/>
                <a:ea typeface="LG Smart_H Regular" panose="020B0600000101010101" pitchFamily="34" charset="-127"/>
                <a:cs typeface="Times New Roman" pitchFamily="18" charset="0"/>
              </a:rPr>
              <a:t>nhanh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Cấu tạo đơn giản nên có thể làm nhỏ đi</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p:txBody>
      </p:sp>
      <p:sp>
        <p:nvSpPr>
          <p:cNvPr id="76" name="Rectangle 7"/>
          <p:cNvSpPr>
            <a:spLocks noChangeArrowheads="1"/>
          </p:cNvSpPr>
          <p:nvPr/>
        </p:nvSpPr>
        <p:spPr bwMode="auto">
          <a:xfrm>
            <a:off x="3439885" y="8155612"/>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 </a:t>
            </a:r>
            <a:r>
              <a:rPr lang="vi-VN" altLang="ko-KR" sz="950">
                <a:latin typeface="Times New Roman" pitchFamily="18" charset="0"/>
                <a:ea typeface="LG Smart_H Regular" panose="020B0600000101010101" pitchFamily="34" charset="-127"/>
                <a:cs typeface="Times New Roman" pitchFamily="18" charset="0"/>
              </a:rPr>
              <a:t>Quang phổ của tia hồng ngoại nằm ở khoảng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2000-4000 (Å</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7500-9000 (Å</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6000-7000 (Å</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4000-5000 (Å)</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7" name="Rectangle 7"/>
          <p:cNvSpPr>
            <a:spLocks noChangeArrowheads="1"/>
          </p:cNvSpPr>
          <p:nvPr/>
        </p:nvSpPr>
        <p:spPr bwMode="auto">
          <a:xfrm>
            <a:off x="3448472" y="6804147"/>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Chênh lệch điện thế được gọi là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Electric </a:t>
            </a:r>
            <a:r>
              <a:rPr lang="vi-VN" altLang="ko-KR" sz="950" smtClean="0">
                <a:latin typeface="Times New Roman" pitchFamily="18" charset="0"/>
                <a:ea typeface="LG Smart_H Regular" panose="020B0600000101010101" pitchFamily="34" charset="-127"/>
                <a:cs typeface="Times New Roman" pitchFamily="18" charset="0"/>
              </a:rPr>
              <a:t>potential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Potential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difference</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Electric voltage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Electromotive force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9" name="Rectangle 7"/>
          <p:cNvSpPr>
            <a:spLocks noChangeArrowheads="1"/>
          </p:cNvSpPr>
          <p:nvPr/>
        </p:nvSpPr>
        <p:spPr bwMode="auto">
          <a:xfrm>
            <a:off x="188640" y="1136576"/>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1</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Dòng điện cung cấp năng lượng không đổi chiều và độ lớn theo thời gian là loại nào sau </a:t>
            </a:r>
            <a:r>
              <a:rPr lang="vi-VN" altLang="ko-KR" sz="950" smtClean="0">
                <a:latin typeface="Times New Roman" pitchFamily="18" charset="0"/>
                <a:ea typeface="LG Smart_H Regular" panose="020B0600000101010101" pitchFamily="34" charset="-127"/>
                <a:cs typeface="Times New Roman" pitchFamily="18" charset="0"/>
              </a:rPr>
              <a:t>đây?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220V </a:t>
            </a:r>
            <a:r>
              <a:rPr lang="en-US" altLang="ko-KR" sz="950" smtClean="0">
                <a:latin typeface="Times New Roman" pitchFamily="18" charset="0"/>
                <a:ea typeface="LG Smart_H Regular" panose="020B0600000101010101" pitchFamily="34" charset="-127"/>
                <a:cs typeface="Times New Roman" pitchFamily="18" charset="0"/>
              </a:rPr>
              <a:t>AC</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Dòng điện 1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chiều</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Dòng điện xoay </a:t>
            </a:r>
            <a:r>
              <a:rPr lang="vi-VN" altLang="ko-KR" sz="950" smtClean="0">
                <a:latin typeface="Times New Roman" pitchFamily="18" charset="0"/>
                <a:ea typeface="LG Smart_H Regular" panose="020B0600000101010101" pitchFamily="34" charset="-127"/>
                <a:cs typeface="Times New Roman" pitchFamily="18" charset="0"/>
              </a:rPr>
              <a:t>chiều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110V AC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1" name="Rectangle 7"/>
          <p:cNvSpPr>
            <a:spLocks noChangeArrowheads="1"/>
          </p:cNvSpPr>
          <p:nvPr/>
        </p:nvSpPr>
        <p:spPr bwMode="auto">
          <a:xfrm>
            <a:off x="174625" y="2664786"/>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2</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Chọn đáp án đúng cho khái niệm sau: "cản trở dòng chảy của dòng điện và nó mang chức năng làm cho mạch điện hoạt động một cách bình thường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Tụ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Điot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Điện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trở</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Cuộn cảm</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0" name="Rectangle 7"/>
          <p:cNvSpPr>
            <a:spLocks noChangeArrowheads="1"/>
          </p:cNvSpPr>
          <p:nvPr/>
        </p:nvSpPr>
        <p:spPr bwMode="auto">
          <a:xfrm>
            <a:off x="169381" y="4511675"/>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Đặc tính gây cộng hưởng có ở linh kiện 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Cuộn cảm, tụ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điện</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Điot, Điện </a:t>
            </a:r>
            <a:r>
              <a:rPr lang="en-US" altLang="ko-KR" sz="950" smtClean="0">
                <a:latin typeface="Times New Roman" pitchFamily="18" charset="0"/>
                <a:ea typeface="LG Smart_H Regular" panose="020B0600000101010101" pitchFamily="34" charset="-127"/>
                <a:cs typeface="Times New Roman" pitchFamily="18" charset="0"/>
              </a:rPr>
              <a:t>trở</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Điện trở, </a:t>
            </a:r>
            <a:r>
              <a:rPr lang="en-US" altLang="ko-KR" sz="950" smtClean="0">
                <a:latin typeface="Times New Roman" pitchFamily="18" charset="0"/>
                <a:ea typeface="LG Smart_H Regular" panose="020B0600000101010101" pitchFamily="34" charset="-127"/>
                <a:cs typeface="Times New Roman" pitchFamily="18" charset="0"/>
              </a:rPr>
              <a:t>transitor</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Transitor, điot</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 name="Group 2"/>
          <p:cNvGrpSpPr/>
          <p:nvPr/>
        </p:nvGrpSpPr>
        <p:grpSpPr>
          <a:xfrm>
            <a:off x="162099" y="7130077"/>
            <a:ext cx="3239810" cy="2431435"/>
            <a:chOff x="162099" y="6969224"/>
            <a:chExt cx="3239810" cy="2431435"/>
          </a:xfrm>
        </p:grpSpPr>
        <p:sp>
          <p:nvSpPr>
            <p:cNvPr id="68" name="Rectangle 7"/>
            <p:cNvSpPr>
              <a:spLocks noChangeArrowheads="1"/>
            </p:cNvSpPr>
            <p:nvPr/>
          </p:nvSpPr>
          <p:spPr bwMode="auto">
            <a:xfrm>
              <a:off x="162099" y="6969224"/>
              <a:ext cx="3239810"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Nhìn vào hình vẽ. Giá trị  tần số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500[m].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500[Hz].</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1500[Hz].</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1500[m].</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5" name="Group 34"/>
            <p:cNvGrpSpPr/>
            <p:nvPr/>
          </p:nvGrpSpPr>
          <p:grpSpPr>
            <a:xfrm>
              <a:off x="292206" y="7329264"/>
              <a:ext cx="3064786" cy="1416286"/>
              <a:chOff x="-2" y="-1"/>
              <a:chExt cx="3923106" cy="3437166"/>
            </a:xfrm>
          </p:grpSpPr>
          <p:grpSp>
            <p:nvGrpSpPr>
              <p:cNvPr id="36" name="Group 35"/>
              <p:cNvGrpSpPr/>
              <p:nvPr/>
            </p:nvGrpSpPr>
            <p:grpSpPr>
              <a:xfrm>
                <a:off x="-2" y="-1"/>
                <a:ext cx="3652497" cy="3437166"/>
                <a:chOff x="-1" y="-35305"/>
                <a:chExt cx="6090748" cy="4519999"/>
              </a:xfrm>
            </p:grpSpPr>
            <p:sp>
              <p:nvSpPr>
                <p:cNvPr id="38" name="Rectangle 37"/>
                <p:cNvSpPr>
                  <a:spLocks noChangeArrowheads="1"/>
                </p:cNvSpPr>
                <p:nvPr/>
              </p:nvSpPr>
              <p:spPr bwMode="auto">
                <a:xfrm>
                  <a:off x="5311839" y="3016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39" name="Rectangle 38"/>
                <p:cNvSpPr>
                  <a:spLocks noChangeArrowheads="1"/>
                </p:cNvSpPr>
                <p:nvPr/>
              </p:nvSpPr>
              <p:spPr bwMode="auto">
                <a:xfrm>
                  <a:off x="4945127" y="30163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0" name="Rectangle 39"/>
                <p:cNvSpPr>
                  <a:spLocks noChangeArrowheads="1"/>
                </p:cNvSpPr>
                <p:nvPr/>
              </p:nvSpPr>
              <p:spPr bwMode="auto">
                <a:xfrm>
                  <a:off x="4580002" y="3016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1" name="Rectangle 40"/>
                <p:cNvSpPr>
                  <a:spLocks noChangeArrowheads="1"/>
                </p:cNvSpPr>
                <p:nvPr/>
              </p:nvSpPr>
              <p:spPr bwMode="auto">
                <a:xfrm>
                  <a:off x="4213289" y="30163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2" name="Rectangle 41"/>
                <p:cNvSpPr>
                  <a:spLocks noChangeArrowheads="1"/>
                </p:cNvSpPr>
                <p:nvPr/>
              </p:nvSpPr>
              <p:spPr bwMode="auto">
                <a:xfrm>
                  <a:off x="3848164" y="3016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3" name="Rectangle 42"/>
                <p:cNvSpPr>
                  <a:spLocks noChangeArrowheads="1"/>
                </p:cNvSpPr>
                <p:nvPr/>
              </p:nvSpPr>
              <p:spPr bwMode="auto">
                <a:xfrm>
                  <a:off x="3483039" y="3016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4" name="Rectangle 43"/>
                <p:cNvSpPr>
                  <a:spLocks noChangeArrowheads="1"/>
                </p:cNvSpPr>
                <p:nvPr/>
              </p:nvSpPr>
              <p:spPr bwMode="auto">
                <a:xfrm>
                  <a:off x="3116327" y="30163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5" name="Rectangle 44"/>
                <p:cNvSpPr>
                  <a:spLocks noChangeArrowheads="1"/>
                </p:cNvSpPr>
                <p:nvPr/>
              </p:nvSpPr>
              <p:spPr bwMode="auto">
                <a:xfrm>
                  <a:off x="2751202" y="3016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6" name="Rectangle 45"/>
                <p:cNvSpPr>
                  <a:spLocks noChangeArrowheads="1"/>
                </p:cNvSpPr>
                <p:nvPr/>
              </p:nvSpPr>
              <p:spPr bwMode="auto">
                <a:xfrm>
                  <a:off x="2384489" y="30163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7" name="Rectangle 46"/>
                <p:cNvSpPr>
                  <a:spLocks noChangeArrowheads="1"/>
                </p:cNvSpPr>
                <p:nvPr/>
              </p:nvSpPr>
              <p:spPr bwMode="auto">
                <a:xfrm>
                  <a:off x="2019364" y="3016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8" name="Rectangle 47"/>
                <p:cNvSpPr>
                  <a:spLocks noChangeArrowheads="1"/>
                </p:cNvSpPr>
                <p:nvPr/>
              </p:nvSpPr>
              <p:spPr bwMode="auto">
                <a:xfrm>
                  <a:off x="5311839" y="2667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49" name="Rectangle 48"/>
                <p:cNvSpPr>
                  <a:spLocks noChangeArrowheads="1"/>
                </p:cNvSpPr>
                <p:nvPr/>
              </p:nvSpPr>
              <p:spPr bwMode="auto">
                <a:xfrm>
                  <a:off x="4945127" y="26671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0" name="Rectangle 49"/>
                <p:cNvSpPr>
                  <a:spLocks noChangeArrowheads="1"/>
                </p:cNvSpPr>
                <p:nvPr/>
              </p:nvSpPr>
              <p:spPr bwMode="auto">
                <a:xfrm>
                  <a:off x="4580002" y="2667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1" name="Rectangle 50"/>
                <p:cNvSpPr>
                  <a:spLocks noChangeArrowheads="1"/>
                </p:cNvSpPr>
                <p:nvPr/>
              </p:nvSpPr>
              <p:spPr bwMode="auto">
                <a:xfrm>
                  <a:off x="4213289" y="26671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2" name="Rectangle 51"/>
                <p:cNvSpPr>
                  <a:spLocks noChangeArrowheads="1"/>
                </p:cNvSpPr>
                <p:nvPr/>
              </p:nvSpPr>
              <p:spPr bwMode="auto">
                <a:xfrm>
                  <a:off x="3848164" y="2667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3" name="Rectangle 52"/>
                <p:cNvSpPr>
                  <a:spLocks noChangeArrowheads="1"/>
                </p:cNvSpPr>
                <p:nvPr/>
              </p:nvSpPr>
              <p:spPr bwMode="auto">
                <a:xfrm>
                  <a:off x="3483039" y="2667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4" name="Rectangle 53"/>
                <p:cNvSpPr>
                  <a:spLocks noChangeArrowheads="1"/>
                </p:cNvSpPr>
                <p:nvPr/>
              </p:nvSpPr>
              <p:spPr bwMode="auto">
                <a:xfrm>
                  <a:off x="3116327" y="26671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5" name="Rectangle 54"/>
                <p:cNvSpPr>
                  <a:spLocks noChangeArrowheads="1"/>
                </p:cNvSpPr>
                <p:nvPr/>
              </p:nvSpPr>
              <p:spPr bwMode="auto">
                <a:xfrm>
                  <a:off x="2751202" y="2667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6" name="Rectangle 55"/>
                <p:cNvSpPr>
                  <a:spLocks noChangeArrowheads="1"/>
                </p:cNvSpPr>
                <p:nvPr/>
              </p:nvSpPr>
              <p:spPr bwMode="auto">
                <a:xfrm>
                  <a:off x="2384489" y="26671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58" name="Rectangle 57"/>
                <p:cNvSpPr>
                  <a:spLocks noChangeArrowheads="1"/>
                </p:cNvSpPr>
                <p:nvPr/>
              </p:nvSpPr>
              <p:spPr bwMode="auto">
                <a:xfrm>
                  <a:off x="2019364" y="2667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62" name="Rectangle 61"/>
                <p:cNvSpPr>
                  <a:spLocks noChangeArrowheads="1"/>
                </p:cNvSpPr>
                <p:nvPr/>
              </p:nvSpPr>
              <p:spPr bwMode="auto">
                <a:xfrm>
                  <a:off x="5311839" y="2317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63" name="Rectangle 62"/>
                <p:cNvSpPr>
                  <a:spLocks noChangeArrowheads="1"/>
                </p:cNvSpPr>
                <p:nvPr/>
              </p:nvSpPr>
              <p:spPr bwMode="auto">
                <a:xfrm>
                  <a:off x="4945127" y="23178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64" name="Rectangle 63"/>
                <p:cNvSpPr>
                  <a:spLocks noChangeArrowheads="1"/>
                </p:cNvSpPr>
                <p:nvPr/>
              </p:nvSpPr>
              <p:spPr bwMode="auto">
                <a:xfrm>
                  <a:off x="4580002" y="2317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65" name="Rectangle 64"/>
                <p:cNvSpPr>
                  <a:spLocks noChangeArrowheads="1"/>
                </p:cNvSpPr>
                <p:nvPr/>
              </p:nvSpPr>
              <p:spPr bwMode="auto">
                <a:xfrm>
                  <a:off x="4213289" y="23178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66" name="Rectangle 65"/>
                <p:cNvSpPr>
                  <a:spLocks noChangeArrowheads="1"/>
                </p:cNvSpPr>
                <p:nvPr/>
              </p:nvSpPr>
              <p:spPr bwMode="auto">
                <a:xfrm>
                  <a:off x="3848164" y="2317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67" name="Rectangle 66"/>
                <p:cNvSpPr>
                  <a:spLocks noChangeArrowheads="1"/>
                </p:cNvSpPr>
                <p:nvPr/>
              </p:nvSpPr>
              <p:spPr bwMode="auto">
                <a:xfrm>
                  <a:off x="3483039" y="2317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72" name="Rectangle 71"/>
                <p:cNvSpPr>
                  <a:spLocks noChangeArrowheads="1"/>
                </p:cNvSpPr>
                <p:nvPr/>
              </p:nvSpPr>
              <p:spPr bwMode="auto">
                <a:xfrm>
                  <a:off x="3116327" y="23178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74" name="Rectangle 73"/>
                <p:cNvSpPr>
                  <a:spLocks noChangeArrowheads="1"/>
                </p:cNvSpPr>
                <p:nvPr/>
              </p:nvSpPr>
              <p:spPr bwMode="auto">
                <a:xfrm>
                  <a:off x="2751202" y="2317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75" name="Rectangle 74"/>
                <p:cNvSpPr>
                  <a:spLocks noChangeArrowheads="1"/>
                </p:cNvSpPr>
                <p:nvPr/>
              </p:nvSpPr>
              <p:spPr bwMode="auto">
                <a:xfrm>
                  <a:off x="2384489" y="23178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77" name="Rectangle 76"/>
                <p:cNvSpPr>
                  <a:spLocks noChangeArrowheads="1"/>
                </p:cNvSpPr>
                <p:nvPr/>
              </p:nvSpPr>
              <p:spPr bwMode="auto">
                <a:xfrm>
                  <a:off x="2019364" y="2317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78" name="Rectangle 77"/>
                <p:cNvSpPr>
                  <a:spLocks noChangeArrowheads="1"/>
                </p:cNvSpPr>
                <p:nvPr/>
              </p:nvSpPr>
              <p:spPr bwMode="auto">
                <a:xfrm>
                  <a:off x="5311839" y="1968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79" name="Rectangle 78"/>
                <p:cNvSpPr>
                  <a:spLocks noChangeArrowheads="1"/>
                </p:cNvSpPr>
                <p:nvPr/>
              </p:nvSpPr>
              <p:spPr bwMode="auto">
                <a:xfrm>
                  <a:off x="4945127" y="19686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0" name="Rectangle 79"/>
                <p:cNvSpPr>
                  <a:spLocks noChangeArrowheads="1"/>
                </p:cNvSpPr>
                <p:nvPr/>
              </p:nvSpPr>
              <p:spPr bwMode="auto">
                <a:xfrm>
                  <a:off x="4580002" y="1968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1" name="Rectangle 80"/>
                <p:cNvSpPr>
                  <a:spLocks noChangeArrowheads="1"/>
                </p:cNvSpPr>
                <p:nvPr/>
              </p:nvSpPr>
              <p:spPr bwMode="auto">
                <a:xfrm>
                  <a:off x="4213289" y="19686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2" name="Rectangle 81"/>
                <p:cNvSpPr>
                  <a:spLocks noChangeArrowheads="1"/>
                </p:cNvSpPr>
                <p:nvPr/>
              </p:nvSpPr>
              <p:spPr bwMode="auto">
                <a:xfrm>
                  <a:off x="3848164" y="1968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3" name="Rectangle 82"/>
                <p:cNvSpPr>
                  <a:spLocks noChangeArrowheads="1"/>
                </p:cNvSpPr>
                <p:nvPr/>
              </p:nvSpPr>
              <p:spPr bwMode="auto">
                <a:xfrm>
                  <a:off x="3483039" y="1968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4" name="Rectangle 83"/>
                <p:cNvSpPr>
                  <a:spLocks noChangeArrowheads="1"/>
                </p:cNvSpPr>
                <p:nvPr/>
              </p:nvSpPr>
              <p:spPr bwMode="auto">
                <a:xfrm>
                  <a:off x="3116327" y="19686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5" name="Rectangle 84"/>
                <p:cNvSpPr>
                  <a:spLocks noChangeArrowheads="1"/>
                </p:cNvSpPr>
                <p:nvPr/>
              </p:nvSpPr>
              <p:spPr bwMode="auto">
                <a:xfrm>
                  <a:off x="2751202" y="1968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6" name="Rectangle 85"/>
                <p:cNvSpPr>
                  <a:spLocks noChangeArrowheads="1"/>
                </p:cNvSpPr>
                <p:nvPr/>
              </p:nvSpPr>
              <p:spPr bwMode="auto">
                <a:xfrm>
                  <a:off x="2384489" y="19686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7" name="Rectangle 86"/>
                <p:cNvSpPr>
                  <a:spLocks noChangeArrowheads="1"/>
                </p:cNvSpPr>
                <p:nvPr/>
              </p:nvSpPr>
              <p:spPr bwMode="auto">
                <a:xfrm>
                  <a:off x="2019364" y="1968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8" name="Rectangle 87"/>
                <p:cNvSpPr>
                  <a:spLocks noChangeArrowheads="1"/>
                </p:cNvSpPr>
                <p:nvPr/>
              </p:nvSpPr>
              <p:spPr bwMode="auto">
                <a:xfrm>
                  <a:off x="5311839" y="1619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89" name="Rectangle 88"/>
                <p:cNvSpPr>
                  <a:spLocks noChangeArrowheads="1"/>
                </p:cNvSpPr>
                <p:nvPr/>
              </p:nvSpPr>
              <p:spPr bwMode="auto">
                <a:xfrm>
                  <a:off x="4945127" y="16193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0" name="Rectangle 89"/>
                <p:cNvSpPr>
                  <a:spLocks noChangeArrowheads="1"/>
                </p:cNvSpPr>
                <p:nvPr/>
              </p:nvSpPr>
              <p:spPr bwMode="auto">
                <a:xfrm>
                  <a:off x="4580002" y="1619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1" name="Rectangle 90"/>
                <p:cNvSpPr>
                  <a:spLocks noChangeArrowheads="1"/>
                </p:cNvSpPr>
                <p:nvPr/>
              </p:nvSpPr>
              <p:spPr bwMode="auto">
                <a:xfrm>
                  <a:off x="4213289" y="16193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2" name="Rectangle 91"/>
                <p:cNvSpPr>
                  <a:spLocks noChangeArrowheads="1"/>
                </p:cNvSpPr>
                <p:nvPr/>
              </p:nvSpPr>
              <p:spPr bwMode="auto">
                <a:xfrm>
                  <a:off x="3848164" y="1619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3" name="Rectangle 92"/>
                <p:cNvSpPr>
                  <a:spLocks noChangeArrowheads="1"/>
                </p:cNvSpPr>
                <p:nvPr/>
              </p:nvSpPr>
              <p:spPr bwMode="auto">
                <a:xfrm>
                  <a:off x="3483039" y="1619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4" name="Rectangle 93"/>
                <p:cNvSpPr>
                  <a:spLocks noChangeArrowheads="1"/>
                </p:cNvSpPr>
                <p:nvPr/>
              </p:nvSpPr>
              <p:spPr bwMode="auto">
                <a:xfrm>
                  <a:off x="3116327" y="16193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5" name="Rectangle 94"/>
                <p:cNvSpPr>
                  <a:spLocks noChangeArrowheads="1"/>
                </p:cNvSpPr>
                <p:nvPr/>
              </p:nvSpPr>
              <p:spPr bwMode="auto">
                <a:xfrm>
                  <a:off x="2751202" y="1619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6" name="Rectangle 95"/>
                <p:cNvSpPr>
                  <a:spLocks noChangeArrowheads="1"/>
                </p:cNvSpPr>
                <p:nvPr/>
              </p:nvSpPr>
              <p:spPr bwMode="auto">
                <a:xfrm>
                  <a:off x="2384489" y="16193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7" name="Rectangle 96"/>
                <p:cNvSpPr>
                  <a:spLocks noChangeArrowheads="1"/>
                </p:cNvSpPr>
                <p:nvPr/>
              </p:nvSpPr>
              <p:spPr bwMode="auto">
                <a:xfrm>
                  <a:off x="2019364" y="16193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8" name="Rectangle 97"/>
                <p:cNvSpPr>
                  <a:spLocks noChangeArrowheads="1"/>
                </p:cNvSpPr>
                <p:nvPr/>
              </p:nvSpPr>
              <p:spPr bwMode="auto">
                <a:xfrm>
                  <a:off x="5311839" y="1270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99" name="Rectangle 98"/>
                <p:cNvSpPr>
                  <a:spLocks noChangeArrowheads="1"/>
                </p:cNvSpPr>
                <p:nvPr/>
              </p:nvSpPr>
              <p:spPr bwMode="auto">
                <a:xfrm>
                  <a:off x="4945127" y="12701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0" name="Rectangle 99"/>
                <p:cNvSpPr>
                  <a:spLocks noChangeArrowheads="1"/>
                </p:cNvSpPr>
                <p:nvPr/>
              </p:nvSpPr>
              <p:spPr bwMode="auto">
                <a:xfrm>
                  <a:off x="4580002" y="1270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1" name="Rectangle 100"/>
                <p:cNvSpPr>
                  <a:spLocks noChangeArrowheads="1"/>
                </p:cNvSpPr>
                <p:nvPr/>
              </p:nvSpPr>
              <p:spPr bwMode="auto">
                <a:xfrm>
                  <a:off x="4213289" y="12701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2" name="Rectangle 101"/>
                <p:cNvSpPr>
                  <a:spLocks noChangeArrowheads="1"/>
                </p:cNvSpPr>
                <p:nvPr/>
              </p:nvSpPr>
              <p:spPr bwMode="auto">
                <a:xfrm>
                  <a:off x="3848164" y="1270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3" name="Rectangle 102"/>
                <p:cNvSpPr>
                  <a:spLocks noChangeArrowheads="1"/>
                </p:cNvSpPr>
                <p:nvPr/>
              </p:nvSpPr>
              <p:spPr bwMode="auto">
                <a:xfrm>
                  <a:off x="3483039" y="1270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4" name="Rectangle 103"/>
                <p:cNvSpPr>
                  <a:spLocks noChangeArrowheads="1"/>
                </p:cNvSpPr>
                <p:nvPr/>
              </p:nvSpPr>
              <p:spPr bwMode="auto">
                <a:xfrm>
                  <a:off x="3116327" y="12701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5" name="Rectangle 104"/>
                <p:cNvSpPr>
                  <a:spLocks noChangeArrowheads="1"/>
                </p:cNvSpPr>
                <p:nvPr/>
              </p:nvSpPr>
              <p:spPr bwMode="auto">
                <a:xfrm>
                  <a:off x="2751202" y="1270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6" name="Rectangle 105"/>
                <p:cNvSpPr>
                  <a:spLocks noChangeArrowheads="1"/>
                </p:cNvSpPr>
                <p:nvPr/>
              </p:nvSpPr>
              <p:spPr bwMode="auto">
                <a:xfrm>
                  <a:off x="2384489" y="12701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7" name="Rectangle 106"/>
                <p:cNvSpPr>
                  <a:spLocks noChangeArrowheads="1"/>
                </p:cNvSpPr>
                <p:nvPr/>
              </p:nvSpPr>
              <p:spPr bwMode="auto">
                <a:xfrm>
                  <a:off x="2019364" y="12701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8" name="Rectangle 107"/>
                <p:cNvSpPr>
                  <a:spLocks noChangeArrowheads="1"/>
                </p:cNvSpPr>
                <p:nvPr/>
              </p:nvSpPr>
              <p:spPr bwMode="auto">
                <a:xfrm>
                  <a:off x="5311839" y="920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09" name="Rectangle 108"/>
                <p:cNvSpPr>
                  <a:spLocks noChangeArrowheads="1"/>
                </p:cNvSpPr>
                <p:nvPr/>
              </p:nvSpPr>
              <p:spPr bwMode="auto">
                <a:xfrm>
                  <a:off x="4945127" y="9208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0" name="Rectangle 109"/>
                <p:cNvSpPr>
                  <a:spLocks noChangeArrowheads="1"/>
                </p:cNvSpPr>
                <p:nvPr/>
              </p:nvSpPr>
              <p:spPr bwMode="auto">
                <a:xfrm>
                  <a:off x="4580002" y="920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1" name="Rectangle 110"/>
                <p:cNvSpPr>
                  <a:spLocks noChangeArrowheads="1"/>
                </p:cNvSpPr>
                <p:nvPr/>
              </p:nvSpPr>
              <p:spPr bwMode="auto">
                <a:xfrm>
                  <a:off x="4213289" y="9208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2" name="Rectangle 111"/>
                <p:cNvSpPr>
                  <a:spLocks noChangeArrowheads="1"/>
                </p:cNvSpPr>
                <p:nvPr/>
              </p:nvSpPr>
              <p:spPr bwMode="auto">
                <a:xfrm>
                  <a:off x="3848164" y="920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3" name="Rectangle 112"/>
                <p:cNvSpPr>
                  <a:spLocks noChangeArrowheads="1"/>
                </p:cNvSpPr>
                <p:nvPr/>
              </p:nvSpPr>
              <p:spPr bwMode="auto">
                <a:xfrm>
                  <a:off x="3483039" y="920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4" name="Rectangle 113"/>
                <p:cNvSpPr>
                  <a:spLocks noChangeArrowheads="1"/>
                </p:cNvSpPr>
                <p:nvPr/>
              </p:nvSpPr>
              <p:spPr bwMode="auto">
                <a:xfrm>
                  <a:off x="3116327" y="92088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5" name="Rectangle 114"/>
                <p:cNvSpPr>
                  <a:spLocks noChangeArrowheads="1"/>
                </p:cNvSpPr>
                <p:nvPr/>
              </p:nvSpPr>
              <p:spPr bwMode="auto">
                <a:xfrm>
                  <a:off x="2751202" y="920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6" name="Rectangle 115"/>
                <p:cNvSpPr>
                  <a:spLocks noChangeArrowheads="1"/>
                </p:cNvSpPr>
                <p:nvPr/>
              </p:nvSpPr>
              <p:spPr bwMode="auto">
                <a:xfrm>
                  <a:off x="2384489" y="92088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7" name="Rectangle 116"/>
                <p:cNvSpPr>
                  <a:spLocks noChangeArrowheads="1"/>
                </p:cNvSpPr>
                <p:nvPr/>
              </p:nvSpPr>
              <p:spPr bwMode="auto">
                <a:xfrm>
                  <a:off x="2019364" y="92088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8" name="Rectangle 117"/>
                <p:cNvSpPr>
                  <a:spLocks noChangeArrowheads="1"/>
                </p:cNvSpPr>
                <p:nvPr/>
              </p:nvSpPr>
              <p:spPr bwMode="auto">
                <a:xfrm>
                  <a:off x="5311839" y="571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19" name="Rectangle 118"/>
                <p:cNvSpPr>
                  <a:spLocks noChangeArrowheads="1"/>
                </p:cNvSpPr>
                <p:nvPr/>
              </p:nvSpPr>
              <p:spPr bwMode="auto">
                <a:xfrm>
                  <a:off x="4945127" y="5716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0" name="Rectangle 119"/>
                <p:cNvSpPr>
                  <a:spLocks noChangeArrowheads="1"/>
                </p:cNvSpPr>
                <p:nvPr/>
              </p:nvSpPr>
              <p:spPr bwMode="auto">
                <a:xfrm>
                  <a:off x="4580002" y="571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1" name="Rectangle 120"/>
                <p:cNvSpPr>
                  <a:spLocks noChangeArrowheads="1"/>
                </p:cNvSpPr>
                <p:nvPr/>
              </p:nvSpPr>
              <p:spPr bwMode="auto">
                <a:xfrm>
                  <a:off x="4213289" y="5716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2" name="Rectangle 121"/>
                <p:cNvSpPr>
                  <a:spLocks noChangeArrowheads="1"/>
                </p:cNvSpPr>
                <p:nvPr/>
              </p:nvSpPr>
              <p:spPr bwMode="auto">
                <a:xfrm>
                  <a:off x="3848164" y="571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3" name="Rectangle 122"/>
                <p:cNvSpPr>
                  <a:spLocks noChangeArrowheads="1"/>
                </p:cNvSpPr>
                <p:nvPr/>
              </p:nvSpPr>
              <p:spPr bwMode="auto">
                <a:xfrm>
                  <a:off x="3483039" y="571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4" name="Rectangle 123"/>
                <p:cNvSpPr>
                  <a:spLocks noChangeArrowheads="1"/>
                </p:cNvSpPr>
                <p:nvPr/>
              </p:nvSpPr>
              <p:spPr bwMode="auto">
                <a:xfrm>
                  <a:off x="3116327" y="571638"/>
                  <a:ext cx="366712"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5" name="Rectangle 124"/>
                <p:cNvSpPr>
                  <a:spLocks noChangeArrowheads="1"/>
                </p:cNvSpPr>
                <p:nvPr/>
              </p:nvSpPr>
              <p:spPr bwMode="auto">
                <a:xfrm>
                  <a:off x="2751202" y="571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6" name="Rectangle 125"/>
                <p:cNvSpPr>
                  <a:spLocks noChangeArrowheads="1"/>
                </p:cNvSpPr>
                <p:nvPr/>
              </p:nvSpPr>
              <p:spPr bwMode="auto">
                <a:xfrm>
                  <a:off x="2384489" y="571638"/>
                  <a:ext cx="366713"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7" name="Rectangle 126"/>
                <p:cNvSpPr>
                  <a:spLocks noChangeArrowheads="1"/>
                </p:cNvSpPr>
                <p:nvPr/>
              </p:nvSpPr>
              <p:spPr bwMode="auto">
                <a:xfrm>
                  <a:off x="2019364" y="571638"/>
                  <a:ext cx="365125" cy="349250"/>
                </a:xfrm>
                <a:prstGeom prst="rect">
                  <a:avLst/>
                </a:prstGeom>
                <a:noFill/>
                <a:ln w="9525">
                  <a:solidFill>
                    <a:schemeClr val="bg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spcBef>
                      <a:spcPct val="20000"/>
                    </a:spcBef>
                  </a:pPr>
                  <a:endParaRPr lang="ko-KR" altLang="ko-KR" sz="800">
                    <a:latin typeface="Times New Roman" pitchFamily="18" charset="0"/>
                    <a:cs typeface="Times New Roman" pitchFamily="18" charset="0"/>
                  </a:endParaRPr>
                </a:p>
              </p:txBody>
            </p:sp>
            <p:sp>
              <p:nvSpPr>
                <p:cNvPr id="128" name="Line 85"/>
                <p:cNvSpPr>
                  <a:spLocks noChangeShapeType="1"/>
                </p:cNvSpPr>
                <p:nvPr/>
              </p:nvSpPr>
              <p:spPr bwMode="auto">
                <a:xfrm>
                  <a:off x="2019364" y="571638"/>
                  <a:ext cx="3657600" cy="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29" name="Line 86"/>
                <p:cNvSpPr>
                  <a:spLocks noChangeShapeType="1"/>
                </p:cNvSpPr>
                <p:nvPr/>
              </p:nvSpPr>
              <p:spPr bwMode="auto">
                <a:xfrm>
                  <a:off x="2019364" y="920888"/>
                  <a:ext cx="365760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0" name="Line 87"/>
                <p:cNvSpPr>
                  <a:spLocks noChangeShapeType="1"/>
                </p:cNvSpPr>
                <p:nvPr/>
              </p:nvSpPr>
              <p:spPr bwMode="auto">
                <a:xfrm>
                  <a:off x="2019364" y="1270138"/>
                  <a:ext cx="365760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1" name="Line 88"/>
                <p:cNvSpPr>
                  <a:spLocks noChangeShapeType="1"/>
                </p:cNvSpPr>
                <p:nvPr/>
              </p:nvSpPr>
              <p:spPr bwMode="auto">
                <a:xfrm>
                  <a:off x="2019364" y="1968638"/>
                  <a:ext cx="36576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2" name="Line 89"/>
                <p:cNvSpPr>
                  <a:spLocks noChangeShapeType="1"/>
                </p:cNvSpPr>
                <p:nvPr/>
              </p:nvSpPr>
              <p:spPr bwMode="auto">
                <a:xfrm>
                  <a:off x="2019364" y="2667138"/>
                  <a:ext cx="365760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3" name="Line 90"/>
                <p:cNvSpPr>
                  <a:spLocks noChangeShapeType="1"/>
                </p:cNvSpPr>
                <p:nvPr/>
              </p:nvSpPr>
              <p:spPr bwMode="auto">
                <a:xfrm>
                  <a:off x="2019364" y="3016388"/>
                  <a:ext cx="3657600" cy="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4" name="Line 91"/>
                <p:cNvSpPr>
                  <a:spLocks noChangeShapeType="1"/>
                </p:cNvSpPr>
                <p:nvPr/>
              </p:nvSpPr>
              <p:spPr bwMode="auto">
                <a:xfrm>
                  <a:off x="2019364" y="3365638"/>
                  <a:ext cx="3657600" cy="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5" name="Line 92"/>
                <p:cNvSpPr>
                  <a:spLocks noChangeShapeType="1"/>
                </p:cNvSpPr>
                <p:nvPr/>
              </p:nvSpPr>
              <p:spPr bwMode="auto">
                <a:xfrm>
                  <a:off x="2019364" y="571638"/>
                  <a:ext cx="0" cy="279400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6" name="Line 93"/>
                <p:cNvSpPr>
                  <a:spLocks noChangeShapeType="1"/>
                </p:cNvSpPr>
                <p:nvPr/>
              </p:nvSpPr>
              <p:spPr bwMode="auto">
                <a:xfrm>
                  <a:off x="2384489" y="571638"/>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7" name="Line 94"/>
                <p:cNvSpPr>
                  <a:spLocks noChangeShapeType="1"/>
                </p:cNvSpPr>
                <p:nvPr/>
              </p:nvSpPr>
              <p:spPr bwMode="auto">
                <a:xfrm>
                  <a:off x="2751202" y="571638"/>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8" name="Line 95"/>
                <p:cNvSpPr>
                  <a:spLocks noChangeShapeType="1"/>
                </p:cNvSpPr>
                <p:nvPr/>
              </p:nvSpPr>
              <p:spPr bwMode="auto">
                <a:xfrm>
                  <a:off x="3116327" y="571638"/>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39" name="Line 96"/>
                <p:cNvSpPr>
                  <a:spLocks noChangeShapeType="1"/>
                </p:cNvSpPr>
                <p:nvPr/>
              </p:nvSpPr>
              <p:spPr bwMode="auto">
                <a:xfrm>
                  <a:off x="3848164" y="571638"/>
                  <a:ext cx="0" cy="2794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0" name="Line 97"/>
                <p:cNvSpPr>
                  <a:spLocks noChangeShapeType="1"/>
                </p:cNvSpPr>
                <p:nvPr/>
              </p:nvSpPr>
              <p:spPr bwMode="auto">
                <a:xfrm>
                  <a:off x="4580002" y="571638"/>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1" name="Line 98"/>
                <p:cNvSpPr>
                  <a:spLocks noChangeShapeType="1"/>
                </p:cNvSpPr>
                <p:nvPr/>
              </p:nvSpPr>
              <p:spPr bwMode="auto">
                <a:xfrm>
                  <a:off x="4945127" y="571638"/>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2" name="Line 99"/>
                <p:cNvSpPr>
                  <a:spLocks noChangeShapeType="1"/>
                </p:cNvSpPr>
                <p:nvPr/>
              </p:nvSpPr>
              <p:spPr bwMode="auto">
                <a:xfrm>
                  <a:off x="5311839" y="571638"/>
                  <a:ext cx="0" cy="2794000"/>
                </a:xfrm>
                <a:prstGeom prst="line">
                  <a:avLst/>
                </a:prstGeom>
                <a:noFill/>
                <a:ln w="127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3" name="Line 100"/>
                <p:cNvSpPr>
                  <a:spLocks noChangeShapeType="1"/>
                </p:cNvSpPr>
                <p:nvPr/>
              </p:nvSpPr>
              <p:spPr bwMode="auto">
                <a:xfrm>
                  <a:off x="5676964" y="571638"/>
                  <a:ext cx="0" cy="279400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4" name="Line 101"/>
                <p:cNvSpPr>
                  <a:spLocks noChangeShapeType="1"/>
                </p:cNvSpPr>
                <p:nvPr/>
              </p:nvSpPr>
              <p:spPr bwMode="auto">
                <a:xfrm>
                  <a:off x="2019364" y="1619388"/>
                  <a:ext cx="3657600" cy="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5" name="Line 102"/>
                <p:cNvSpPr>
                  <a:spLocks noChangeShapeType="1"/>
                </p:cNvSpPr>
                <p:nvPr/>
              </p:nvSpPr>
              <p:spPr bwMode="auto">
                <a:xfrm>
                  <a:off x="2019364" y="2317888"/>
                  <a:ext cx="3657600" cy="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6" name="Line 103"/>
                <p:cNvSpPr>
                  <a:spLocks noChangeShapeType="1"/>
                </p:cNvSpPr>
                <p:nvPr/>
              </p:nvSpPr>
              <p:spPr bwMode="auto">
                <a:xfrm>
                  <a:off x="3483039" y="571638"/>
                  <a:ext cx="0" cy="279400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7" name="Line 104"/>
                <p:cNvSpPr>
                  <a:spLocks noChangeShapeType="1"/>
                </p:cNvSpPr>
                <p:nvPr/>
              </p:nvSpPr>
              <p:spPr bwMode="auto">
                <a:xfrm>
                  <a:off x="4213289" y="571638"/>
                  <a:ext cx="0" cy="2794000"/>
                </a:xfrm>
                <a:prstGeom prst="line">
                  <a:avLst/>
                </a:prstGeom>
                <a:noFill/>
                <a:ln w="12700" cap="sq">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8" name="Freeform 147"/>
                <p:cNvSpPr>
                  <a:spLocks/>
                </p:cNvSpPr>
                <p:nvPr/>
              </p:nvSpPr>
              <p:spPr bwMode="auto">
                <a:xfrm>
                  <a:off x="2017777" y="758963"/>
                  <a:ext cx="3659187" cy="2251075"/>
                </a:xfrm>
                <a:custGeom>
                  <a:avLst/>
                  <a:gdLst>
                    <a:gd name="T0" fmla="*/ 0 w 2305"/>
                    <a:gd name="T1" fmla="*/ 2147483647 h 1910"/>
                    <a:gd name="T2" fmla="*/ 2147483647 w 2305"/>
                    <a:gd name="T3" fmla="*/ 2147483647 h 1910"/>
                    <a:gd name="T4" fmla="*/ 2147483647 w 2305"/>
                    <a:gd name="T5" fmla="*/ 2147483647 h 1910"/>
                    <a:gd name="T6" fmla="*/ 2147483647 w 2305"/>
                    <a:gd name="T7" fmla="*/ 2147483647 h 1910"/>
                    <a:gd name="T8" fmla="*/ 2147483647 w 2305"/>
                    <a:gd name="T9" fmla="*/ 2147483647 h 1910"/>
                    <a:gd name="T10" fmla="*/ 2147483647 w 2305"/>
                    <a:gd name="T11" fmla="*/ 2147483647 h 1910"/>
                    <a:gd name="T12" fmla="*/ 2147483647 w 2305"/>
                    <a:gd name="T13" fmla="*/ 2147483647 h 1910"/>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305" h="1910">
                      <a:moveTo>
                        <a:pt x="0" y="1006"/>
                      </a:moveTo>
                      <a:cubicBezTo>
                        <a:pt x="45" y="864"/>
                        <a:pt x="154" y="0"/>
                        <a:pt x="270" y="151"/>
                      </a:cubicBezTo>
                      <a:cubicBezTo>
                        <a:pt x="386" y="302"/>
                        <a:pt x="548" y="1910"/>
                        <a:pt x="696" y="1909"/>
                      </a:cubicBezTo>
                      <a:cubicBezTo>
                        <a:pt x="844" y="1908"/>
                        <a:pt x="1008" y="145"/>
                        <a:pt x="1160" y="143"/>
                      </a:cubicBezTo>
                      <a:cubicBezTo>
                        <a:pt x="1312" y="141"/>
                        <a:pt x="1463" y="1892"/>
                        <a:pt x="1609" y="1894"/>
                      </a:cubicBezTo>
                      <a:cubicBezTo>
                        <a:pt x="1755" y="1896"/>
                        <a:pt x="1919" y="301"/>
                        <a:pt x="2035" y="158"/>
                      </a:cubicBezTo>
                      <a:cubicBezTo>
                        <a:pt x="2151" y="15"/>
                        <a:pt x="2249" y="851"/>
                        <a:pt x="2305" y="1033"/>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49" name="Text Box 106"/>
                <p:cNvSpPr txBox="1">
                  <a:spLocks noChangeArrowheads="1"/>
                </p:cNvSpPr>
                <p:nvPr/>
              </p:nvSpPr>
              <p:spPr bwMode="auto">
                <a:xfrm>
                  <a:off x="1943165" y="3379927"/>
                  <a:ext cx="1032656" cy="1104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pPr>
                  <a:r>
                    <a:rPr lang="en-US" altLang="ko-KR" sz="800" b="1">
                      <a:latin typeface="Times New Roman" pitchFamily="18" charset="0"/>
                      <a:cs typeface="Times New Roman" pitchFamily="18" charset="0"/>
                    </a:rPr>
                    <a:t>CH1 1.00V</a:t>
                  </a:r>
                </a:p>
              </p:txBody>
            </p:sp>
            <p:sp>
              <p:nvSpPr>
                <p:cNvPr id="150" name="Text Box 107"/>
                <p:cNvSpPr txBox="1">
                  <a:spLocks noChangeArrowheads="1"/>
                </p:cNvSpPr>
                <p:nvPr/>
              </p:nvSpPr>
              <p:spPr bwMode="auto">
                <a:xfrm>
                  <a:off x="2975822" y="3379927"/>
                  <a:ext cx="1315763" cy="687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pPr>
                  <a:r>
                    <a:rPr lang="en-US" altLang="ko-KR" sz="800" b="1">
                      <a:latin typeface="Times New Roman" pitchFamily="18" charset="0"/>
                      <a:cs typeface="Times New Roman" pitchFamily="18" charset="0"/>
                    </a:rPr>
                    <a:t>M 500μs</a:t>
                  </a:r>
                </a:p>
              </p:txBody>
            </p:sp>
            <p:sp>
              <p:nvSpPr>
                <p:cNvPr id="151" name="Line 108"/>
                <p:cNvSpPr>
                  <a:spLocks noChangeShapeType="1"/>
                </p:cNvSpPr>
                <p:nvPr/>
              </p:nvSpPr>
              <p:spPr bwMode="auto">
                <a:xfrm>
                  <a:off x="4229164" y="419238"/>
                  <a:ext cx="685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52" name="Text Box 110"/>
                <p:cNvSpPr txBox="1">
                  <a:spLocks noChangeArrowheads="1"/>
                </p:cNvSpPr>
                <p:nvPr/>
              </p:nvSpPr>
              <p:spPr bwMode="auto">
                <a:xfrm>
                  <a:off x="1036701" y="-35305"/>
                  <a:ext cx="2628900" cy="6875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pPr>
                  <a:r>
                    <a:rPr lang="en-US" altLang="ko-KR" sz="800">
                      <a:latin typeface="Times New Roman" pitchFamily="18" charset="0"/>
                      <a:cs typeface="Times New Roman" pitchFamily="18" charset="0"/>
                    </a:rPr>
                    <a:t>Độ lớn</a:t>
                  </a:r>
                  <a:r>
                    <a:rPr lang="ko-KR" altLang="en-US" sz="800">
                      <a:latin typeface="Times New Roman" pitchFamily="18" charset="0"/>
                      <a:cs typeface="Times New Roman" pitchFamily="18" charset="0"/>
                    </a:rPr>
                    <a:t> </a:t>
                  </a:r>
                  <a:r>
                    <a:rPr lang="en-US" altLang="ko-KR" sz="800">
                      <a:latin typeface="Times New Roman" pitchFamily="18" charset="0"/>
                      <a:cs typeface="Times New Roman" pitchFamily="18" charset="0"/>
                    </a:rPr>
                    <a:t>: điện áp[v]</a:t>
                  </a:r>
                </a:p>
              </p:txBody>
            </p:sp>
            <p:sp>
              <p:nvSpPr>
                <p:cNvPr id="153" name="Line 111"/>
                <p:cNvSpPr>
                  <a:spLocks noChangeShapeType="1"/>
                </p:cNvSpPr>
                <p:nvPr/>
              </p:nvSpPr>
              <p:spPr bwMode="auto">
                <a:xfrm flipV="1">
                  <a:off x="1866964" y="800238"/>
                  <a:ext cx="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54" name="Line 112"/>
                <p:cNvSpPr>
                  <a:spLocks noChangeShapeType="1"/>
                </p:cNvSpPr>
                <p:nvPr/>
              </p:nvSpPr>
              <p:spPr bwMode="auto">
                <a:xfrm>
                  <a:off x="1790764" y="2671901"/>
                  <a:ext cx="15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55" name="Line 113"/>
                <p:cNvSpPr>
                  <a:spLocks noChangeShapeType="1"/>
                </p:cNvSpPr>
                <p:nvPr/>
              </p:nvSpPr>
              <p:spPr bwMode="auto">
                <a:xfrm>
                  <a:off x="1790764" y="3021151"/>
                  <a:ext cx="1524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56" name="Line 114"/>
                <p:cNvSpPr>
                  <a:spLocks noChangeShapeType="1"/>
                </p:cNvSpPr>
                <p:nvPr/>
              </p:nvSpPr>
              <p:spPr bwMode="auto">
                <a:xfrm>
                  <a:off x="1855852" y="2675076"/>
                  <a:ext cx="0" cy="357187"/>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57" name="Text Box 115"/>
                <p:cNvSpPr txBox="1">
                  <a:spLocks noChangeArrowheads="1"/>
                </p:cNvSpPr>
                <p:nvPr/>
              </p:nvSpPr>
              <p:spPr bwMode="auto">
                <a:xfrm>
                  <a:off x="355830" y="2371868"/>
                  <a:ext cx="1549240" cy="810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pPr>
                  <a:r>
                    <a:rPr lang="en-US" altLang="ko-KR" sz="800">
                      <a:latin typeface="Times New Roman" pitchFamily="18" charset="0"/>
                      <a:cs typeface="Times New Roman" pitchFamily="18" charset="0"/>
                    </a:rPr>
                    <a:t>Độ lớn 1 ô</a:t>
                  </a:r>
                  <a:endParaRPr lang="ko-KR" altLang="en-US" sz="800">
                    <a:latin typeface="Times New Roman" pitchFamily="18" charset="0"/>
                    <a:cs typeface="Times New Roman" pitchFamily="18" charset="0"/>
                  </a:endParaRPr>
                </a:p>
              </p:txBody>
            </p:sp>
            <p:sp>
              <p:nvSpPr>
                <p:cNvPr id="158" name="Freeform 157"/>
                <p:cNvSpPr>
                  <a:spLocks/>
                </p:cNvSpPr>
                <p:nvPr/>
              </p:nvSpPr>
              <p:spPr bwMode="auto">
                <a:xfrm>
                  <a:off x="952564" y="2932251"/>
                  <a:ext cx="1019175" cy="561975"/>
                </a:xfrm>
                <a:custGeom>
                  <a:avLst/>
                  <a:gdLst>
                    <a:gd name="T0" fmla="*/ 0 w 672"/>
                    <a:gd name="T1" fmla="*/ 0 h 384"/>
                    <a:gd name="T2" fmla="*/ 2147483647 w 672"/>
                    <a:gd name="T3" fmla="*/ 0 h 384"/>
                    <a:gd name="T4" fmla="*/ 2147483647 w 672"/>
                    <a:gd name="T5" fmla="*/ 2147483647 h 384"/>
                    <a:gd name="T6" fmla="*/ 0 60000 65536"/>
                    <a:gd name="T7" fmla="*/ 0 60000 65536"/>
                    <a:gd name="T8" fmla="*/ 0 60000 65536"/>
                  </a:gdLst>
                  <a:ahLst/>
                  <a:cxnLst>
                    <a:cxn ang="T6">
                      <a:pos x="T0" y="T1"/>
                    </a:cxn>
                    <a:cxn ang="T7">
                      <a:pos x="T2" y="T3"/>
                    </a:cxn>
                    <a:cxn ang="T8">
                      <a:pos x="T4" y="T5"/>
                    </a:cxn>
                  </a:cxnLst>
                  <a:rect l="0" t="0" r="r" b="b"/>
                  <a:pathLst>
                    <a:path w="672" h="384">
                      <a:moveTo>
                        <a:pt x="0" y="0"/>
                      </a:moveTo>
                      <a:lnTo>
                        <a:pt x="432" y="0"/>
                      </a:lnTo>
                      <a:lnTo>
                        <a:pt x="672" y="384"/>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grpSp>
              <p:nvGrpSpPr>
                <p:cNvPr id="159" name="Group 158"/>
                <p:cNvGrpSpPr>
                  <a:grpSpLocks/>
                </p:cNvGrpSpPr>
                <p:nvPr/>
              </p:nvGrpSpPr>
              <p:grpSpPr bwMode="auto">
                <a:xfrm rot="-5400000">
                  <a:off x="-76087" y="3476651"/>
                  <a:ext cx="152400" cy="227"/>
                  <a:chOff x="-76086" y="3476650"/>
                  <a:chExt cx="96" cy="227"/>
                </a:xfrm>
              </p:grpSpPr>
              <p:sp>
                <p:nvSpPr>
                  <p:cNvPr id="162" name="Line 118"/>
                  <p:cNvSpPr>
                    <a:spLocks noChangeShapeType="1"/>
                  </p:cNvSpPr>
                  <p:nvPr/>
                </p:nvSpPr>
                <p:spPr bwMode="auto">
                  <a:xfrm>
                    <a:off x="-76086" y="3476650"/>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63" name="Line 119"/>
                  <p:cNvSpPr>
                    <a:spLocks noChangeShapeType="1"/>
                  </p:cNvSpPr>
                  <p:nvPr/>
                </p:nvSpPr>
                <p:spPr bwMode="auto">
                  <a:xfrm>
                    <a:off x="-76086" y="3476870"/>
                    <a:ext cx="9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sp>
                <p:nvSpPr>
                  <p:cNvPr id="164" name="Line 120"/>
                  <p:cNvSpPr>
                    <a:spLocks noChangeShapeType="1"/>
                  </p:cNvSpPr>
                  <p:nvPr/>
                </p:nvSpPr>
                <p:spPr bwMode="auto">
                  <a:xfrm>
                    <a:off x="-76045" y="3476652"/>
                    <a:ext cx="0" cy="225"/>
                  </a:xfrm>
                  <a:prstGeom prst="line">
                    <a:avLst/>
                  </a:prstGeom>
                  <a:noFill/>
                  <a:ln w="9525">
                    <a:solidFill>
                      <a:schemeClr val="tx1"/>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grpSp>
            <p:sp>
              <p:nvSpPr>
                <p:cNvPr id="160" name="Text Box 121"/>
                <p:cNvSpPr txBox="1">
                  <a:spLocks noChangeArrowheads="1"/>
                </p:cNvSpPr>
                <p:nvPr/>
              </p:nvSpPr>
              <p:spPr bwMode="auto">
                <a:xfrm>
                  <a:off x="4390119" y="3520916"/>
                  <a:ext cx="1700628" cy="810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pPr>
                  <a:r>
                    <a:rPr lang="en-US" altLang="ko-KR" sz="800">
                      <a:latin typeface="Times New Roman" pitchFamily="18" charset="0"/>
                      <a:cs typeface="Times New Roman" pitchFamily="18" charset="0"/>
                    </a:rPr>
                    <a:t>Chiều dài 1 ô</a:t>
                  </a:r>
                  <a:endParaRPr lang="ko-KR" altLang="en-US" sz="800">
                    <a:latin typeface="Times New Roman" pitchFamily="18" charset="0"/>
                    <a:cs typeface="Times New Roman" pitchFamily="18" charset="0"/>
                  </a:endParaRPr>
                </a:p>
              </p:txBody>
            </p:sp>
            <p:sp>
              <p:nvSpPr>
                <p:cNvPr id="161" name="Freeform 160"/>
                <p:cNvSpPr>
                  <a:spLocks/>
                </p:cNvSpPr>
                <p:nvPr/>
              </p:nvSpPr>
              <p:spPr bwMode="auto">
                <a:xfrm>
                  <a:off x="4076764" y="3872667"/>
                  <a:ext cx="1371601" cy="228600"/>
                </a:xfrm>
                <a:custGeom>
                  <a:avLst/>
                  <a:gdLst>
                    <a:gd name="T0" fmla="*/ 2147483647 w 864"/>
                    <a:gd name="T1" fmla="*/ 2147483647 h 144"/>
                    <a:gd name="T2" fmla="*/ 2147483647 w 864"/>
                    <a:gd name="T3" fmla="*/ 2147483647 h 144"/>
                    <a:gd name="T4" fmla="*/ 0 w 864"/>
                    <a:gd name="T5" fmla="*/ 0 h 144"/>
                    <a:gd name="T6" fmla="*/ 0 60000 65536"/>
                    <a:gd name="T7" fmla="*/ 0 60000 65536"/>
                    <a:gd name="T8" fmla="*/ 0 60000 65536"/>
                  </a:gdLst>
                  <a:ahLst/>
                  <a:cxnLst>
                    <a:cxn ang="T6">
                      <a:pos x="T0" y="T1"/>
                    </a:cxn>
                    <a:cxn ang="T7">
                      <a:pos x="T2" y="T3"/>
                    </a:cxn>
                    <a:cxn ang="T8">
                      <a:pos x="T4" y="T5"/>
                    </a:cxn>
                  </a:cxnLst>
                  <a:rect l="0" t="0" r="r" b="b"/>
                  <a:pathLst>
                    <a:path w="864" h="144">
                      <a:moveTo>
                        <a:pt x="864" y="144"/>
                      </a:moveTo>
                      <a:lnTo>
                        <a:pt x="336" y="144"/>
                      </a:lnTo>
                      <a:lnTo>
                        <a:pt x="0" y="0"/>
                      </a:lnTo>
                    </a:path>
                  </a:pathLst>
                </a:custGeom>
                <a:noFill/>
                <a:ln w="9525" cap="flat" cmpd="sng">
                  <a:solidFill>
                    <a:schemeClr val="tx1"/>
                  </a:solidFill>
                  <a:prstDash val="solid"/>
                  <a:round/>
                  <a:headEnd type="none"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endParaRPr lang="ko-KR" altLang="en-US" sz="800"/>
                </a:p>
              </p:txBody>
            </p:sp>
          </p:grpSp>
          <p:sp>
            <p:nvSpPr>
              <p:cNvPr id="37" name="Text Box 109"/>
              <p:cNvSpPr txBox="1">
                <a:spLocks noChangeArrowheads="1"/>
              </p:cNvSpPr>
              <p:nvPr/>
            </p:nvSpPr>
            <p:spPr bwMode="auto">
              <a:xfrm>
                <a:off x="2867304" y="0"/>
                <a:ext cx="1055800" cy="522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latinLnBrk="1" hangingPunct="1">
                  <a:lnSpc>
                    <a:spcPct val="100000"/>
                  </a:lnSpc>
                </a:pPr>
                <a:r>
                  <a:rPr lang="en-US" altLang="ko-KR" sz="800">
                    <a:latin typeface="Times New Roman" pitchFamily="18" charset="0"/>
                    <a:cs typeface="Times New Roman" pitchFamily="18" charset="0"/>
                  </a:rPr>
                  <a:t>Time</a:t>
                </a:r>
                <a:r>
                  <a:rPr lang="ko-KR" altLang="en-US" sz="800">
                    <a:latin typeface="Times New Roman" pitchFamily="18" charset="0"/>
                    <a:cs typeface="Times New Roman" pitchFamily="18" charset="0"/>
                  </a:rPr>
                  <a:t> </a:t>
                </a:r>
                <a:r>
                  <a:rPr lang="en-US" altLang="ko-KR" sz="800">
                    <a:latin typeface="Times New Roman" pitchFamily="18" charset="0"/>
                    <a:cs typeface="Times New Roman" pitchFamily="18" charset="0"/>
                  </a:rPr>
                  <a:t>: giây[s]</a:t>
                </a:r>
              </a:p>
            </p:txBody>
          </p:sp>
        </p:grpSp>
      </p:grpSp>
      <p:grpSp>
        <p:nvGrpSpPr>
          <p:cNvPr id="4" name="Group 3"/>
          <p:cNvGrpSpPr/>
          <p:nvPr/>
        </p:nvGrpSpPr>
        <p:grpSpPr>
          <a:xfrm>
            <a:off x="3448472" y="2685182"/>
            <a:ext cx="3239810" cy="969497"/>
            <a:chOff x="3448472" y="2685182"/>
            <a:chExt cx="3239810" cy="969497"/>
          </a:xfrm>
        </p:grpSpPr>
        <p:sp>
          <p:nvSpPr>
            <p:cNvPr id="69" name="Rectangle 7"/>
            <p:cNvSpPr>
              <a:spLocks noChangeArrowheads="1"/>
            </p:cNvSpPr>
            <p:nvPr/>
          </p:nvSpPr>
          <p:spPr bwMode="auto">
            <a:xfrm>
              <a:off x="3448472" y="2685182"/>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 </a:t>
              </a:r>
              <a:r>
                <a:rPr lang="vi-VN" altLang="ko-KR" sz="950">
                  <a:latin typeface="Times New Roman" pitchFamily="18" charset="0"/>
                  <a:ea typeface="LG Smart_H Regular" panose="020B0600000101010101" pitchFamily="34" charset="-127"/>
                  <a:cs typeface="Times New Roman" pitchFamily="18" charset="0"/>
                </a:rPr>
                <a:t>Chọn đáp án đúng cho mạch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Smoothing </a:t>
              </a:r>
              <a:r>
                <a:rPr lang="en-US" altLang="ko-KR" sz="950" smtClean="0">
                  <a:latin typeface="Times New Roman" pitchFamily="18" charset="0"/>
                  <a:ea typeface="LG Smart_H Regular" panose="020B0600000101010101" pitchFamily="34" charset="-127"/>
                  <a:cs typeface="Times New Roman" pitchFamily="18" charset="0"/>
                </a:rPr>
                <a:t>circuit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Timer </a:t>
              </a:r>
              <a:r>
                <a:rPr lang="en-US" altLang="ko-KR" sz="950" smtClean="0">
                  <a:latin typeface="Times New Roman" pitchFamily="18" charset="0"/>
                  <a:ea typeface="LG Smart_H Regular" panose="020B0600000101010101" pitchFamily="34" charset="-127"/>
                  <a:cs typeface="Times New Roman" pitchFamily="18" charset="0"/>
                </a:rPr>
                <a:t>circuit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Low-pass </a:t>
              </a:r>
              <a:r>
                <a:rPr lang="en-US" altLang="ko-KR" sz="950" smtClean="0">
                  <a:latin typeface="Times New Roman" pitchFamily="18" charset="0"/>
                  <a:ea typeface="LG Smart_H Regular" panose="020B0600000101010101" pitchFamily="34" charset="-127"/>
                  <a:cs typeface="Times New Roman" pitchFamily="18" charset="0"/>
                </a:rPr>
                <a:t>Filter</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High-pass Filter</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pic>
          <p:nvPicPr>
            <p:cNvPr id="165" name="Picture 164"/>
            <p:cNvPicPr>
              <a:picLocks noChangeAspect="1"/>
            </p:cNvPicPr>
            <p:nvPr/>
          </p:nvPicPr>
          <p:blipFill rotWithShape="1">
            <a:blip r:embed="rId3">
              <a:extLst>
                <a:ext uri="{28A0092B-C50C-407E-A947-70E740481C1C}">
                  <a14:useLocalDpi xmlns:a14="http://schemas.microsoft.com/office/drawing/2010/main" val="0"/>
                </a:ext>
              </a:extLst>
            </a:blip>
            <a:srcRect t="38355"/>
            <a:stretch/>
          </p:blipFill>
          <p:spPr>
            <a:xfrm>
              <a:off x="4709370" y="2936777"/>
              <a:ext cx="1743966" cy="717902"/>
            </a:xfrm>
            <a:prstGeom prst="rect">
              <a:avLst/>
            </a:prstGeom>
          </p:spPr>
        </p:pic>
      </p:grpSp>
    </p:spTree>
    <p:extLst>
      <p:ext uri="{BB962C8B-B14F-4D97-AF65-F5344CB8AC3E}">
        <p14:creationId xmlns:p14="http://schemas.microsoft.com/office/powerpoint/2010/main" val="36581059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3752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4100" name="Rectangle 4"/>
          <p:cNvSpPr>
            <a:spLocks noChangeArrowheads="1"/>
          </p:cNvSpPr>
          <p:nvPr/>
        </p:nvSpPr>
        <p:spPr bwMode="auto">
          <a:xfrm>
            <a:off x="3460960" y="776288"/>
            <a:ext cx="324383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7" name="직사각형 5"/>
          <p:cNvSpPr>
            <a:spLocks noChangeArrowheads="1"/>
          </p:cNvSpPr>
          <p:nvPr/>
        </p:nvSpPr>
        <p:spPr bwMode="auto">
          <a:xfrm>
            <a:off x="144016" y="989013"/>
            <a:ext cx="331236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itchFamily="34" charset="0"/>
                <a:ea typeface="돋움" pitchFamily="50" charset="-127"/>
                <a:cs typeface="Arial" panose="020B0604020202020204" pitchFamily="34" charset="0"/>
              </a:rPr>
              <a:t>11. </a:t>
            </a:r>
            <a:r>
              <a:rPr lang="en-US" altLang="ko-KR" sz="900" dirty="0" err="1" smtClean="0">
                <a:latin typeface="Arial" panose="020B0604020202020204" pitchFamily="34" charset="0"/>
                <a:ea typeface="돋움" pitchFamily="50" charset="-127"/>
                <a:cs typeface="Arial" panose="020B0604020202020204" pitchFamily="34" charset="0"/>
              </a:rPr>
              <a:t>Chọn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đáp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án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sai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với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nội</a:t>
            </a:r>
            <a:r>
              <a:rPr lang="en-US" altLang="ko-KR" sz="900" dirty="0" smtClean="0">
                <a:latin typeface="Arial" panose="020B0604020202020204" pitchFamily="34" charset="0"/>
                <a:ea typeface="돋움" pitchFamily="50" charset="-127"/>
                <a:cs typeface="Arial" panose="020B0604020202020204" pitchFamily="34" charset="0"/>
              </a:rPr>
              <a:t> dung </a:t>
            </a:r>
            <a:r>
              <a:rPr lang="en-US" altLang="ko-KR" sz="900" dirty="0" err="1" smtClean="0">
                <a:latin typeface="Arial" panose="020B0604020202020204" pitchFamily="34" charset="0"/>
                <a:ea typeface="돋움" pitchFamily="50" charset="-127"/>
                <a:cs typeface="Arial" panose="020B0604020202020204" pitchFamily="34" charset="0"/>
              </a:rPr>
              <a:t>về</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tiếp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địa</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A. </a:t>
            </a:r>
            <a:r>
              <a:rPr lang="en-US" altLang="ko-KR" sz="900" dirty="0" err="1" smtClean="0">
                <a:latin typeface="Arial" panose="020B0604020202020204" pitchFamily="34" charset="0"/>
                <a:ea typeface="돋움" pitchFamily="50" charset="-127"/>
                <a:cs typeface="Arial" panose="020B0604020202020204" pitchFamily="34" charset="0"/>
              </a:rPr>
              <a:t>Cung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cấp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thế</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tiêu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chuẩn</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B. </a:t>
            </a:r>
            <a:r>
              <a:rPr lang="en-US" altLang="ko-KR" sz="900" dirty="0" err="1" smtClean="0">
                <a:latin typeface="Arial" panose="020B0604020202020204" pitchFamily="34" charset="0"/>
                <a:ea typeface="돋움" pitchFamily="50" charset="-127"/>
                <a:cs typeface="Arial" panose="020B0604020202020204" pitchFamily="34" charset="0"/>
              </a:rPr>
              <a:t>Đảm</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bảo</a:t>
            </a:r>
            <a:r>
              <a:rPr lang="en-US" altLang="ko-KR" sz="900" dirty="0" smtClean="0">
                <a:latin typeface="Arial" panose="020B0604020202020204" pitchFamily="34" charset="0"/>
                <a:ea typeface="돋움" pitchFamily="50" charset="-127"/>
                <a:cs typeface="Arial" panose="020B0604020202020204" pitchFamily="34" charset="0"/>
              </a:rPr>
              <a:t> an </a:t>
            </a:r>
            <a:r>
              <a:rPr lang="en-US" altLang="ko-KR" sz="900" dirty="0" err="1" smtClean="0">
                <a:latin typeface="Arial" panose="020B0604020202020204" pitchFamily="34" charset="0"/>
                <a:ea typeface="돋움" pitchFamily="50" charset="-127"/>
                <a:cs typeface="Arial" panose="020B0604020202020204" pitchFamily="34" charset="0"/>
              </a:rPr>
              <a:t>toàn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cho</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tính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mạng</a:t>
            </a:r>
            <a:r>
              <a:rPr lang="en-US" altLang="ko-KR" sz="900" dirty="0" smtClean="0">
                <a:latin typeface="Arial" panose="020B0604020202020204" pitchFamily="34" charset="0"/>
                <a:ea typeface="돋움" pitchFamily="50" charset="-127"/>
                <a:cs typeface="Arial" panose="020B0604020202020204" pitchFamily="34" charset="0"/>
              </a:rPr>
              <a:t> con </a:t>
            </a:r>
            <a:r>
              <a:rPr lang="en-US" altLang="ko-KR" sz="900" dirty="0" err="1" smtClean="0">
                <a:latin typeface="Arial" panose="020B0604020202020204" pitchFamily="34" charset="0"/>
                <a:ea typeface="돋움" pitchFamily="50" charset="-127"/>
                <a:cs typeface="Arial" panose="020B0604020202020204" pitchFamily="34" charset="0"/>
              </a:rPr>
              <a:t>người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và</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gia</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súc</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C. </a:t>
            </a:r>
            <a:r>
              <a:rPr lang="en-US" altLang="ko-KR" sz="900" dirty="0" err="1" smtClean="0">
                <a:latin typeface="Arial" panose="020B0604020202020204" pitchFamily="34" charset="0"/>
                <a:ea typeface="돋움" pitchFamily="50" charset="-127"/>
                <a:cs typeface="Arial" panose="020B0604020202020204" pitchFamily="34" charset="0"/>
              </a:rPr>
              <a:t>Kết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nối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của</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thiết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bị</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với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nền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đất</a:t>
            </a:r>
            <a:r>
              <a:rPr lang="en-US" altLang="ko-KR" sz="900" dirty="0" smtClean="0">
                <a:latin typeface="Arial" panose="020B0604020202020204" pitchFamily="34" charset="0"/>
                <a:ea typeface="돋움" pitchFamily="50" charset="-127"/>
                <a:cs typeface="Arial" panose="020B0604020202020204" pitchFamily="34" charset="0"/>
              </a:rPr>
              <a:t> .</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solidFill>
                  <a:srgbClr val="FF0000"/>
                </a:solidFill>
                <a:latin typeface="Arial" panose="020B0604020202020204" pitchFamily="34" charset="0"/>
                <a:ea typeface="돋움" pitchFamily="50" charset="-127"/>
                <a:cs typeface="Arial" panose="020B0604020202020204" pitchFamily="34" charset="0"/>
              </a:rPr>
              <a:t>D.Ngăn được đoản mạch và quá tải</a:t>
            </a:r>
            <a:endParaRPr lang="en-US" altLang="ko-KR" sz="900" dirty="0">
              <a:solidFill>
                <a:srgbClr val="FF0000"/>
              </a:solidFill>
              <a:latin typeface="Arial" panose="020B0604020202020204" pitchFamily="34" charset="0"/>
              <a:ea typeface="돋움" pitchFamily="50" charset="-127"/>
              <a:cs typeface="Arial" panose="020B0604020202020204" pitchFamily="34" charset="0"/>
            </a:endParaRPr>
          </a:p>
        </p:txBody>
      </p:sp>
      <p:sp>
        <p:nvSpPr>
          <p:cNvPr id="8" name="직사각형 10"/>
          <p:cNvSpPr>
            <a:spLocks noChangeArrowheads="1"/>
          </p:cNvSpPr>
          <p:nvPr/>
        </p:nvSpPr>
        <p:spPr bwMode="auto">
          <a:xfrm>
            <a:off x="116632" y="2805534"/>
            <a:ext cx="3426820"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77800" indent="-177800" eaLnBrk="1" hangingPunct="1"/>
            <a:r>
              <a:rPr lang="en-US" altLang="ko-KR" sz="900" smtClean="0">
                <a:latin typeface="Arial" panose="020B0604020202020204" pitchFamily="34" charset="0"/>
                <a:ea typeface="돋움" pitchFamily="50" charset="-127"/>
                <a:cs typeface="Arial" panose="020B0604020202020204" pitchFamily="34" charset="0"/>
              </a:rPr>
              <a:t>12</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tượng</a:t>
            </a:r>
            <a:r>
              <a:rPr lang="en-US" altLang="ko-KR" sz="900" dirty="0" smtClean="0">
                <a:latin typeface="Arial" panose="020B0604020202020204" pitchFamily="34" charset="0"/>
                <a:ea typeface="돋움" pitchFamily="50" charset="-127"/>
                <a:cs typeface="Arial" panose="020B0604020202020204" pitchFamily="34" charset="0"/>
              </a:rPr>
              <a:t> electron </a:t>
            </a:r>
            <a:r>
              <a:rPr lang="en-US" altLang="ko-KR" sz="900" dirty="0" err="1" smtClean="0">
                <a:latin typeface="Arial" panose="020B0604020202020204" pitchFamily="34" charset="0"/>
                <a:ea typeface="돋움" pitchFamily="50" charset="-127"/>
                <a:cs typeface="Arial" panose="020B0604020202020204" pitchFamily="34" charset="0"/>
              </a:rPr>
              <a:t>quỹ</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đạo</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nhận</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được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năng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lượng</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mạnh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hơn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rồi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trở</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thành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electron tự </a:t>
            </a:r>
            <a:r>
              <a:rPr lang="en-US" altLang="ko-KR" sz="900" dirty="0" smtClean="0">
                <a:latin typeface="Arial" panose="020B0604020202020204" pitchFamily="34" charset="0"/>
                <a:ea typeface="돋움" pitchFamily="50" charset="-127"/>
                <a:cs typeface="Arial" panose="020B0604020202020204" pitchFamily="34" charset="0"/>
              </a:rPr>
              <a:t>do </a:t>
            </a:r>
            <a:r>
              <a:rPr lang="en-US" altLang="ko-KR" sz="900" err="1" smtClean="0">
                <a:latin typeface="Arial" panose="020B0604020202020204" pitchFamily="34" charset="0"/>
                <a:ea typeface="돋움" pitchFamily="50" charset="-127"/>
                <a:cs typeface="Arial" panose="020B0604020202020204" pitchFamily="34" charset="0"/>
              </a:rPr>
              <a:t>trong</a:t>
            </a:r>
            <a:r>
              <a:rPr lang="en-US" altLang="ko-KR" sz="900" smtClean="0">
                <a:latin typeface="Arial" panose="020B0604020202020204" pitchFamily="34" charset="0"/>
                <a:ea typeface="돋움" pitchFamily="50" charset="-127"/>
                <a:cs typeface="Arial" panose="020B0604020202020204" pitchFamily="34" charset="0"/>
              </a:rPr>
              <a:t> nguyên </a:t>
            </a:r>
            <a:r>
              <a:rPr lang="en-US" altLang="ko-KR" sz="900" err="1" smtClean="0">
                <a:latin typeface="Arial" panose="020B0604020202020204" pitchFamily="34" charset="0"/>
                <a:ea typeface="돋움" pitchFamily="50" charset="-127"/>
                <a:cs typeface="Arial" panose="020B0604020202020204" pitchFamily="34" charset="0"/>
              </a:rPr>
              <a:t>tử</a:t>
            </a:r>
            <a:r>
              <a:rPr lang="en-US" altLang="ko-KR" sz="900" smtClean="0">
                <a:latin typeface="Arial" panose="020B0604020202020204" pitchFamily="34" charset="0"/>
                <a:ea typeface="돋움" pitchFamily="50" charset="-127"/>
                <a:cs typeface="Arial" panose="020B0604020202020204" pitchFamily="34" charset="0"/>
              </a:rPr>
              <a:t> gọi </a:t>
            </a:r>
            <a:r>
              <a:rPr lang="en-US" altLang="ko-KR" sz="900" dirty="0" err="1" smtClean="0">
                <a:latin typeface="Arial" panose="020B0604020202020204" pitchFamily="34" charset="0"/>
                <a:ea typeface="돋움" pitchFamily="50" charset="-127"/>
                <a:cs typeface="Arial" panose="020B0604020202020204" pitchFamily="34" charset="0"/>
              </a:rPr>
              <a:t>là</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endParaRPr lang="en-US" altLang="ko-KR" sz="900" dirty="0">
              <a:latin typeface="Arial" panose="020B0604020202020204" pitchFamily="34" charset="0"/>
              <a:ea typeface="돋움" pitchFamily="50" charset="-127"/>
              <a:cs typeface="Arial" panose="020B0604020202020204" pitchFamily="34" charset="0"/>
            </a:endParaRPr>
          </a:p>
          <a:p>
            <a:pPr marL="0" indent="0" eaLnBrk="1" hangingPunct="1"/>
            <a:r>
              <a:rPr lang="en-US" altLang="ko-KR" sz="900" smtClean="0">
                <a:latin typeface="Arial" panose="020B0604020202020204" pitchFamily="34" charset="0"/>
                <a:ea typeface="돋움" pitchFamily="50" charset="-127"/>
                <a:cs typeface="Arial" panose="020B0604020202020204" pitchFamily="34" charset="0"/>
              </a:rPr>
              <a:t>A. Kích </a:t>
            </a:r>
            <a:r>
              <a:rPr lang="en-US" altLang="ko-KR" sz="900" err="1" smtClean="0">
                <a:latin typeface="Arial" panose="020B0604020202020204" pitchFamily="34" charset="0"/>
                <a:ea typeface="돋움" pitchFamily="50" charset="-127"/>
                <a:cs typeface="Arial" panose="020B0604020202020204" pitchFamily="34" charset="0"/>
              </a:rPr>
              <a:t>thích</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solidFill>
                  <a:srgbClr val="FF0000"/>
                </a:solidFill>
                <a:latin typeface="Arial" panose="020B0604020202020204" pitchFamily="34" charset="0"/>
                <a:ea typeface="돋움" pitchFamily="50" charset="-127"/>
                <a:cs typeface="Arial" panose="020B0604020202020204" pitchFamily="34" charset="0"/>
              </a:rPr>
              <a:t>B.</a:t>
            </a:r>
            <a:r>
              <a:rPr lang="ko-KR" altLang="en-US" sz="90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Ion </a:t>
            </a:r>
            <a:r>
              <a:rPr lang="en-US" altLang="ko-KR" sz="900" err="1" smtClean="0">
                <a:solidFill>
                  <a:srgbClr val="FF0000"/>
                </a:solidFill>
                <a:latin typeface="Arial" panose="020B0604020202020204" pitchFamily="34" charset="0"/>
                <a:ea typeface="돋움" pitchFamily="50" charset="-127"/>
                <a:cs typeface="Arial" panose="020B0604020202020204" pitchFamily="34" charset="0"/>
              </a:rPr>
              <a:t>hóa</a:t>
            </a:r>
            <a:r>
              <a:rPr lang="ko-KR" altLang="en-US" sz="900" smtClean="0">
                <a:solidFill>
                  <a:srgbClr val="FF0000"/>
                </a:solidFill>
                <a:latin typeface="Arial" panose="020B0604020202020204" pitchFamily="34" charset="0"/>
                <a:ea typeface="돋움" pitchFamily="50" charset="-127"/>
                <a:cs typeface="Arial" panose="020B0604020202020204" pitchFamily="34" charset="0"/>
              </a:rPr>
              <a:t> </a:t>
            </a:r>
            <a:endParaRPr lang="en-US" altLang="ko-KR" sz="900" smtClean="0">
              <a:solidFill>
                <a:srgbClr val="FF0000"/>
              </a:solidFill>
              <a:latin typeface="Arial" panose="020B0604020202020204" pitchFamily="34" charset="0"/>
              <a:ea typeface="돋움" pitchFamily="50" charset="-127"/>
              <a:cs typeface="Arial" panose="020B0604020202020204" pitchFamily="34" charset="0"/>
            </a:endParaRPr>
          </a:p>
          <a:p>
            <a:pPr marL="0" indent="0" eaLnBrk="1" hangingPunct="1"/>
            <a:r>
              <a:rPr lang="en-US" altLang="ko-KR" sz="900" smtClean="0">
                <a:latin typeface="Arial" panose="020B0604020202020204" pitchFamily="34" charset="0"/>
                <a:ea typeface="돋움" pitchFamily="50" charset="-127"/>
                <a:cs typeface="Arial" panose="020B0604020202020204" pitchFamily="34" charset="0"/>
              </a:rPr>
              <a:t>C.</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photon</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D.</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phóng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bức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xạ</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điện</a:t>
            </a:r>
            <a:r>
              <a:rPr lang="en-US" altLang="ko-KR" sz="900" smtClean="0">
                <a:latin typeface="Arial" panose="020B0604020202020204" pitchFamily="34" charset="0"/>
                <a:ea typeface="돋움" pitchFamily="50" charset="-127"/>
                <a:cs typeface="Arial" panose="020B0604020202020204" pitchFamily="34" charset="0"/>
              </a:rPr>
              <a:t> từ</a:t>
            </a:r>
            <a:endParaRPr lang="ko-KR" altLang="en-US" sz="900" dirty="0">
              <a:latin typeface="Arial" panose="020B0604020202020204" pitchFamily="34" charset="0"/>
              <a:ea typeface="돋움" pitchFamily="50" charset="-127"/>
              <a:cs typeface="Arial" panose="020B0604020202020204" pitchFamily="34" charset="0"/>
            </a:endParaRPr>
          </a:p>
        </p:txBody>
      </p:sp>
      <p:grpSp>
        <p:nvGrpSpPr>
          <p:cNvPr id="9" name="Group 8"/>
          <p:cNvGrpSpPr/>
          <p:nvPr/>
        </p:nvGrpSpPr>
        <p:grpSpPr>
          <a:xfrm>
            <a:off x="260649" y="4520952"/>
            <a:ext cx="3168351" cy="1152128"/>
            <a:chOff x="304800" y="3347862"/>
            <a:chExt cx="3429000" cy="1152128"/>
          </a:xfrm>
        </p:grpSpPr>
        <p:sp>
          <p:nvSpPr>
            <p:cNvPr id="10" name="직사각형 17"/>
            <p:cNvSpPr>
              <a:spLocks noChangeArrowheads="1"/>
            </p:cNvSpPr>
            <p:nvPr/>
          </p:nvSpPr>
          <p:spPr bwMode="auto">
            <a:xfrm>
              <a:off x="304800" y="3438161"/>
              <a:ext cx="34290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ea typeface="돋움" pitchFamily="50" charset="-127"/>
                  <a:cs typeface="Arial" panose="020B0604020202020204" pitchFamily="34" charset="0"/>
                </a:rPr>
                <a:t>13</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Chọn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đáp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án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sai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với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giải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thích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về</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tụ</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p>
            <a:p>
              <a:pPr eaLnBrk="1" hangingPunct="1"/>
              <a:r>
                <a:rPr lang="ko-KR" altLang="en-US"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trong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hình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dưới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đây</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solidFill>
                    <a:srgbClr val="FF0000"/>
                  </a:solidFill>
                  <a:latin typeface="Arial" panose="020B0604020202020204" pitchFamily="34" charset="0"/>
                  <a:ea typeface="돋움" pitchFamily="50" charset="-127"/>
                  <a:cs typeface="Arial" panose="020B0604020202020204" pitchFamily="34" charset="0"/>
                </a:rPr>
                <a:t>A.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Là</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tụ</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điện</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phân</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cực</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sử</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dụng</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tần</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số</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cao</a:t>
              </a:r>
              <a:endParaRPr lang="ko-KR" altLang="en-US" sz="900" dirty="0">
                <a:solidFill>
                  <a:srgbClr val="FF0000"/>
                </a:solidFill>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B.</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dung </a:t>
              </a:r>
              <a:r>
                <a:rPr lang="en-US" altLang="ko-KR" sz="900" dirty="0" err="1" smtClean="0">
                  <a:latin typeface="Arial" panose="020B0604020202020204" pitchFamily="34" charset="0"/>
                  <a:ea typeface="돋움" pitchFamily="50" charset="-127"/>
                  <a:cs typeface="Arial" panose="020B0604020202020204" pitchFamily="34" charset="0"/>
                </a:rPr>
                <a:t>là</a:t>
              </a:r>
              <a:r>
                <a:rPr lang="en-US" altLang="ko-KR" sz="900" dirty="0" smtClean="0">
                  <a:latin typeface="Arial" panose="020B0604020202020204" pitchFamily="34" charset="0"/>
                  <a:ea typeface="돋움" pitchFamily="50" charset="-127"/>
                  <a:cs typeface="Arial" panose="020B0604020202020204" pitchFamily="34" charset="0"/>
                </a:rPr>
                <a:t> </a:t>
              </a:r>
              <a:r>
                <a:rPr lang="ko-KR" altLang="en-US" sz="900" dirty="0" smtClean="0">
                  <a:latin typeface="Arial" panose="020B0604020202020204" pitchFamily="34" charset="0"/>
                  <a:ea typeface="돋움" pitchFamily="50" charset="-127"/>
                  <a:cs typeface="Arial" panose="020B0604020202020204" pitchFamily="34" charset="0"/>
                </a:rPr>
                <a:t> </a:t>
              </a:r>
              <a:r>
                <a:rPr lang="en-US" altLang="ko-KR" sz="900" dirty="0">
                  <a:latin typeface="Arial" panose="020B0604020202020204" pitchFamily="34" charset="0"/>
                  <a:ea typeface="돋움" pitchFamily="50" charset="-127"/>
                  <a:cs typeface="Arial" panose="020B0604020202020204" pitchFamily="34" charset="0"/>
                </a:rPr>
                <a:t>47[㎌]</a:t>
              </a:r>
            </a:p>
            <a:p>
              <a:pPr eaLnBrk="1" hangingPunct="1"/>
              <a:r>
                <a:rPr lang="en-US" altLang="ko-KR" sz="900" smtClean="0">
                  <a:latin typeface="Arial" panose="020B0604020202020204" pitchFamily="34" charset="0"/>
                  <a:ea typeface="돋움" pitchFamily="50" charset="-127"/>
                  <a:cs typeface="Arial" panose="020B0604020202020204" pitchFamily="34" charset="0"/>
                </a:rPr>
                <a:t>C. </a:t>
              </a:r>
              <a:r>
                <a:rPr lang="en-US" altLang="ko-KR" sz="900" dirty="0" err="1" smtClean="0">
                  <a:latin typeface="Arial" panose="020B0604020202020204" pitchFamily="34" charset="0"/>
                  <a:ea typeface="돋움" pitchFamily="50" charset="-127"/>
                  <a:cs typeface="Arial" panose="020B0604020202020204" pitchFamily="34" charset="0"/>
                </a:rPr>
                <a:t>Sử</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dụng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áp</a:t>
              </a:r>
              <a:r>
                <a:rPr lang="en-US" altLang="ko-KR" sz="900" smtClean="0">
                  <a:latin typeface="Arial" panose="020B0604020202020204" pitchFamily="34" charset="0"/>
                  <a:ea typeface="돋움" pitchFamily="50" charset="-127"/>
                  <a:cs typeface="Arial" panose="020B0604020202020204" pitchFamily="34" charset="0"/>
                </a:rPr>
                <a:t> chịu được trong khoảng50[V</a:t>
              </a:r>
              <a:r>
                <a:rPr lang="en-US" altLang="ko-KR" sz="900" dirty="0" smtClean="0">
                  <a:latin typeface="Arial" panose="020B0604020202020204" pitchFamily="34" charset="0"/>
                  <a:ea typeface="돋움" pitchFamily="50" charset="-127"/>
                  <a:cs typeface="Arial" panose="020B0604020202020204" pitchFamily="34" charset="0"/>
                </a:rPr>
                <a:t>]</a:t>
              </a:r>
              <a:endParaRPr lang="ko-KR" altLang="en-US"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D.</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Cực</a:t>
              </a:r>
              <a:r>
                <a:rPr lang="en-US" altLang="ko-KR" sz="900" dirty="0" smtClean="0">
                  <a:latin typeface="Arial" panose="020B0604020202020204" pitchFamily="34" charset="0"/>
                  <a:ea typeface="돋움" pitchFamily="50" charset="-127"/>
                  <a:cs typeface="Arial" panose="020B0604020202020204" pitchFamily="34" charset="0"/>
                </a:rPr>
                <a:t> Lead </a:t>
              </a:r>
              <a:r>
                <a:rPr lang="en-US" altLang="ko-KR" sz="900" dirty="0" err="1" smtClean="0">
                  <a:latin typeface="Arial" panose="020B0604020202020204" pitchFamily="34" charset="0"/>
                  <a:ea typeface="돋움" pitchFamily="50" charset="-127"/>
                  <a:cs typeface="Arial" panose="020B0604020202020204" pitchFamily="34" charset="0"/>
                </a:rPr>
                <a:t>dưới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dây</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là</a:t>
              </a:r>
              <a:r>
                <a:rPr lang="ko-KR" altLang="en-US" sz="900" dirty="0" smtClean="0">
                  <a:latin typeface="Arial" panose="020B0604020202020204" pitchFamily="34" charset="0"/>
                  <a:ea typeface="돋움" pitchFamily="50" charset="-127"/>
                  <a:cs typeface="Arial" panose="020B0604020202020204" pitchFamily="34" charset="0"/>
                </a:rPr>
                <a:t> </a:t>
              </a:r>
              <a:r>
                <a:rPr lang="en-US" altLang="ko-KR" sz="900" dirty="0">
                  <a:latin typeface="Arial" panose="020B0604020202020204" pitchFamily="34" charset="0"/>
                  <a:ea typeface="돋움" pitchFamily="50" charset="-127"/>
                  <a:cs typeface="Arial" panose="020B0604020202020204" pitchFamily="34" charset="0"/>
                </a:rPr>
                <a:t>(-) </a:t>
              </a:r>
              <a:endParaRPr lang="ko-KR" altLang="en-US" sz="900" dirty="0">
                <a:latin typeface="Arial" panose="020B0604020202020204" pitchFamily="34" charset="0"/>
                <a:ea typeface="돋움" pitchFamily="50" charset="-127"/>
                <a:cs typeface="Arial" panose="020B0604020202020204" pitchFamily="34" charset="0"/>
              </a:endParaRPr>
            </a:p>
          </p:txBody>
        </p:sp>
        <p:pic>
          <p:nvPicPr>
            <p:cNvPr id="11"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4929" y="3347862"/>
              <a:ext cx="739019" cy="8640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2" name="직사각형 23"/>
          <p:cNvSpPr>
            <a:spLocks noChangeArrowheads="1"/>
          </p:cNvSpPr>
          <p:nvPr/>
        </p:nvSpPr>
        <p:spPr bwMode="auto">
          <a:xfrm>
            <a:off x="151252" y="6544434"/>
            <a:ext cx="3305132"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ea typeface="돋움" pitchFamily="50" charset="-127"/>
                <a:cs typeface="Arial" panose="020B0604020202020204" pitchFamily="34" charset="0"/>
              </a:rPr>
              <a:t>14</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Yếu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tố</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quang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có</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hiệu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năng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phát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quang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cao</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công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suất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dòng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điện</a:t>
            </a:r>
            <a:r>
              <a:rPr lang="en-US" altLang="ko-KR" sz="900" smtClean="0">
                <a:latin typeface="Arial" panose="020B0604020202020204" pitchFamily="34" charset="0"/>
                <a:ea typeface="돋움" pitchFamily="50" charset="-127"/>
                <a:cs typeface="Arial" panose="020B0604020202020204" pitchFamily="34" charset="0"/>
              </a:rPr>
              <a:t> thấp,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năng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tiêu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thụ</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nhỏ</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là</a:t>
            </a:r>
            <a:r>
              <a:rPr lang="en-US" altLang="ko-KR" sz="900" smtClean="0">
                <a:latin typeface="Arial" panose="020B0604020202020204" pitchFamily="34" charset="0"/>
                <a:ea typeface="돋움" pitchFamily="50" charset="-127"/>
                <a:cs typeface="Arial" panose="020B0604020202020204" pitchFamily="34" charset="0"/>
              </a:rPr>
              <a:t> gì?</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A. </a:t>
            </a:r>
            <a:r>
              <a:rPr lang="en-US" altLang="ko-KR" sz="900">
                <a:latin typeface="Arial" panose="020B0604020202020204" pitchFamily="34" charset="0"/>
                <a:ea typeface="돋움" pitchFamily="50" charset="-127"/>
                <a:cs typeface="Arial" panose="020B0604020202020204" pitchFamily="34" charset="0"/>
              </a:rPr>
              <a:t>CDS                         </a:t>
            </a:r>
            <a:r>
              <a:rPr lang="en-US" altLang="ko-KR" sz="900" smtClean="0">
                <a:latin typeface="Arial" panose="020B0604020202020204" pitchFamily="34" charset="0"/>
                <a:ea typeface="돋움" pitchFamily="50" charset="-127"/>
                <a:cs typeface="Arial" panose="020B0604020202020204" pitchFamily="34" charset="0"/>
              </a:rPr>
              <a:t> B. </a:t>
            </a:r>
            <a:r>
              <a:rPr lang="en-US" altLang="ko-KR" sz="900" dirty="0" smtClean="0">
                <a:latin typeface="Arial" panose="020B0604020202020204" pitchFamily="34" charset="0"/>
                <a:ea typeface="돋움" pitchFamily="50" charset="-127"/>
                <a:cs typeface="Arial" panose="020B0604020202020204" pitchFamily="34" charset="0"/>
              </a:rPr>
              <a:t>Port</a:t>
            </a:r>
            <a:r>
              <a:rPr lang="ko-KR" altLang="en-US" sz="900" dirty="0" smtClean="0">
                <a:latin typeface="Arial" panose="020B0604020202020204" pitchFamily="34" charset="0"/>
                <a:ea typeface="돋움" pitchFamily="50" charset="-127"/>
                <a:cs typeface="Arial" panose="020B0604020202020204" pitchFamily="34" charset="0"/>
              </a:rPr>
              <a:t> </a:t>
            </a:r>
            <a:r>
              <a:rPr lang="en-US" altLang="ko-KR" sz="900" dirty="0">
                <a:latin typeface="Arial" panose="020B0604020202020204" pitchFamily="34" charset="0"/>
                <a:ea typeface="돋움" pitchFamily="50" charset="-127"/>
                <a:cs typeface="Arial" panose="020B0604020202020204" pitchFamily="34" charset="0"/>
              </a:rPr>
              <a:t>TR</a:t>
            </a:r>
          </a:p>
          <a:p>
            <a:pPr eaLnBrk="1" hangingPunct="1"/>
            <a:r>
              <a:rPr lang="en-US" altLang="ko-KR" sz="900" smtClean="0">
                <a:solidFill>
                  <a:srgbClr val="FF0000"/>
                </a:solidFill>
                <a:latin typeface="Arial" panose="020B0604020202020204" pitchFamily="34" charset="0"/>
                <a:ea typeface="돋움" pitchFamily="50" charset="-127"/>
                <a:cs typeface="Arial" panose="020B0604020202020204" pitchFamily="34" charset="0"/>
              </a:rPr>
              <a:t>C. </a:t>
            </a:r>
            <a:r>
              <a:rPr lang="en-US" altLang="ko-KR" sz="900">
                <a:solidFill>
                  <a:srgbClr val="FF0000"/>
                </a:solidFill>
                <a:latin typeface="Arial" panose="020B0604020202020204" pitchFamily="34" charset="0"/>
                <a:ea typeface="돋움" pitchFamily="50" charset="-127"/>
                <a:cs typeface="Arial" panose="020B0604020202020204" pitchFamily="34" charset="0"/>
              </a:rPr>
              <a:t>LED                          </a:t>
            </a:r>
            <a:r>
              <a:rPr lang="en-US" altLang="ko-KR" sz="900" smtClean="0">
                <a:latin typeface="Arial" panose="020B0604020202020204" pitchFamily="34" charset="0"/>
                <a:ea typeface="돋움" pitchFamily="50" charset="-127"/>
                <a:cs typeface="Arial" panose="020B0604020202020204" pitchFamily="34" charset="0"/>
              </a:rPr>
              <a:t>D. </a:t>
            </a:r>
            <a:r>
              <a:rPr lang="en-US" altLang="ko-KR" sz="900" dirty="0" smtClean="0">
                <a:latin typeface="Arial" panose="020B0604020202020204" pitchFamily="34" charset="0"/>
                <a:ea typeface="돋움" pitchFamily="50" charset="-127"/>
                <a:cs typeface="Arial" panose="020B0604020202020204" pitchFamily="34" charset="0"/>
              </a:rPr>
              <a:t>Cable </a:t>
            </a:r>
            <a:r>
              <a:rPr lang="en-US" altLang="ko-KR" sz="900" dirty="0" err="1" smtClean="0">
                <a:latin typeface="Arial" panose="020B0604020202020204" pitchFamily="34" charset="0"/>
                <a:ea typeface="돋움" pitchFamily="50" charset="-127"/>
                <a:cs typeface="Arial" panose="020B0604020202020204" pitchFamily="34" charset="0"/>
              </a:rPr>
              <a:t>quang</a:t>
            </a:r>
            <a:endParaRPr lang="ko-KR" altLang="en-US" sz="900" dirty="0">
              <a:latin typeface="Arial" panose="020B0604020202020204" pitchFamily="34" charset="0"/>
              <a:ea typeface="돋움" pitchFamily="50" charset="-127"/>
              <a:cs typeface="Arial" panose="020B0604020202020204" pitchFamily="34" charset="0"/>
            </a:endParaRPr>
          </a:p>
        </p:txBody>
      </p:sp>
      <p:sp>
        <p:nvSpPr>
          <p:cNvPr id="13" name="Rectangle 103"/>
          <p:cNvSpPr>
            <a:spLocks noChangeArrowheads="1"/>
          </p:cNvSpPr>
          <p:nvPr/>
        </p:nvSpPr>
        <p:spPr bwMode="auto">
          <a:xfrm>
            <a:off x="133797" y="8200618"/>
            <a:ext cx="3295203" cy="7848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cs typeface="Arial" panose="020B0604020202020204" pitchFamily="34" charset="0"/>
              </a:rPr>
              <a:t>15</a:t>
            </a:r>
            <a:r>
              <a:rPr lang="en-US" altLang="ko-KR" sz="900" dirty="0">
                <a:latin typeface="Arial" panose="020B0604020202020204" pitchFamily="34" charset="0"/>
                <a:cs typeface="Arial" panose="020B0604020202020204" pitchFamily="34" charset="0"/>
              </a:rPr>
              <a:t>. </a:t>
            </a:r>
            <a:r>
              <a:rPr lang="en-US" altLang="ko-KR" sz="900" dirty="0" smtClean="0">
                <a:latin typeface="Arial" panose="020B0604020202020204" pitchFamily="34" charset="0"/>
                <a:cs typeface="Arial" panose="020B0604020202020204" pitchFamily="34" charset="0"/>
              </a:rPr>
              <a:t>‘</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giá</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trị</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độ</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được</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gọi</a:t>
            </a:r>
            <a:r>
              <a:rPr lang="en-US" altLang="ko-KR" sz="900" smtClean="0">
                <a:latin typeface="Arial" panose="020B0604020202020204" pitchFamily="34" charset="0"/>
                <a:cs typeface="Arial" panose="020B0604020202020204" pitchFamily="34" charset="0"/>
              </a:rPr>
              <a:t>  là gì?</a:t>
            </a:r>
            <a:endParaRPr lang="en-US" altLang="ko-KR" sz="900" dirty="0">
              <a:latin typeface="Arial" panose="020B0604020202020204" pitchFamily="34" charset="0"/>
              <a:cs typeface="Arial" panose="020B0604020202020204" pitchFamily="34" charset="0"/>
            </a:endParaRPr>
          </a:p>
          <a:p>
            <a:pPr eaLnBrk="1" hangingPunct="1"/>
            <a:r>
              <a:rPr lang="en-US" altLang="ko-KR" sz="900">
                <a:latin typeface="Arial" panose="020B0604020202020204" pitchFamily="34" charset="0"/>
                <a:cs typeface="Arial" panose="020B0604020202020204" pitchFamily="34" charset="0"/>
              </a:rPr>
              <a:t> </a:t>
            </a:r>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 A. </a:t>
            </a:r>
            <a:r>
              <a:rPr lang="en-US" altLang="ko-KR" sz="900">
                <a:latin typeface="Arial" panose="020B0604020202020204" pitchFamily="34" charset="0"/>
                <a:cs typeface="Arial" panose="020B0604020202020204" pitchFamily="34" charset="0"/>
              </a:rPr>
              <a:t>CTR  </a:t>
            </a:r>
            <a:r>
              <a:rPr lang="en-US" altLang="ko-KR" sz="900" smtClean="0">
                <a:latin typeface="Arial" panose="020B0604020202020204" pitchFamily="34" charset="0"/>
                <a:cs typeface="Arial" panose="020B0604020202020204" pitchFamily="34" charset="0"/>
              </a:rPr>
              <a:t>B. </a:t>
            </a:r>
            <a:r>
              <a:rPr lang="en-US" altLang="ko-KR" sz="900">
                <a:latin typeface="Arial" panose="020B0604020202020204" pitchFamily="34" charset="0"/>
                <a:cs typeface="Arial" panose="020B0604020202020204" pitchFamily="34" charset="0"/>
              </a:rPr>
              <a:t>NTC  </a:t>
            </a:r>
            <a:r>
              <a:rPr lang="en-US" altLang="ko-KR" sz="900" smtClean="0">
                <a:solidFill>
                  <a:srgbClr val="FF0000"/>
                </a:solidFill>
                <a:latin typeface="Arial" panose="020B0604020202020204" pitchFamily="34" charset="0"/>
                <a:cs typeface="Arial" panose="020B0604020202020204" pitchFamily="34" charset="0"/>
              </a:rPr>
              <a:t>C. </a:t>
            </a:r>
            <a:r>
              <a:rPr lang="en-US" altLang="ko-KR" sz="900">
                <a:solidFill>
                  <a:srgbClr val="FF0000"/>
                </a:solidFill>
                <a:latin typeface="Arial" panose="020B0604020202020204" pitchFamily="34" charset="0"/>
                <a:cs typeface="Arial" panose="020B0604020202020204" pitchFamily="34" charset="0"/>
              </a:rPr>
              <a:t>PTC  </a:t>
            </a:r>
            <a:r>
              <a:rPr lang="en-US" altLang="ko-KR" sz="900" smtClean="0">
                <a:latin typeface="Arial" panose="020B0604020202020204" pitchFamily="34" charset="0"/>
                <a:cs typeface="Arial" panose="020B0604020202020204" pitchFamily="34" charset="0"/>
              </a:rPr>
              <a:t>D. </a:t>
            </a:r>
            <a:r>
              <a:rPr lang="en-US" altLang="ko-KR" sz="900" dirty="0">
                <a:latin typeface="Arial" panose="020B0604020202020204" pitchFamily="34" charset="0"/>
                <a:cs typeface="Arial" panose="020B0604020202020204" pitchFamily="34" charset="0"/>
              </a:rPr>
              <a:t>TTR</a:t>
            </a:r>
          </a:p>
          <a:p>
            <a:pPr eaLnBrk="1" hangingPunct="1"/>
            <a:endParaRPr lang="en-US" altLang="ko-KR" sz="900" dirty="0">
              <a:latin typeface="Arial" panose="020B0604020202020204" pitchFamily="34" charset="0"/>
              <a:cs typeface="Arial" panose="020B0604020202020204" pitchFamily="34" charset="0"/>
            </a:endParaRPr>
          </a:p>
        </p:txBody>
      </p:sp>
      <p:sp>
        <p:nvSpPr>
          <p:cNvPr id="14" name="Rectangle 134"/>
          <p:cNvSpPr>
            <a:spLocks noChangeArrowheads="1"/>
          </p:cNvSpPr>
          <p:nvPr/>
        </p:nvSpPr>
        <p:spPr bwMode="auto">
          <a:xfrm>
            <a:off x="3445270" y="992560"/>
            <a:ext cx="3259521"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ea typeface="돋움" pitchFamily="50" charset="-127"/>
                <a:cs typeface="Arial" panose="020B0604020202020204" pitchFamily="34" charset="0"/>
              </a:rPr>
              <a:t>16</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Chọn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đáp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án</a:t>
            </a:r>
            <a:r>
              <a:rPr lang="en-US" altLang="ko-KR" sz="900" smtClean="0">
                <a:latin typeface="Arial" panose="020B0604020202020204" pitchFamily="34" charset="0"/>
                <a:ea typeface="돋움" pitchFamily="50" charset="-127"/>
                <a:cs typeface="Arial" panose="020B0604020202020204" pitchFamily="34" charset="0"/>
              </a:rPr>
              <a:t> nào sai </a:t>
            </a:r>
            <a:r>
              <a:rPr lang="en-US" altLang="ko-KR" sz="900" dirty="0" err="1" smtClean="0">
                <a:latin typeface="Arial" panose="020B0604020202020204" pitchFamily="34" charset="0"/>
                <a:ea typeface="돋움" pitchFamily="50" charset="-127"/>
                <a:cs typeface="Arial" panose="020B0604020202020204" pitchFamily="34" charset="0"/>
              </a:rPr>
              <a:t>khi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giải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thích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về</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SSR’?</a:t>
            </a:r>
            <a:endParaRPr lang="en-US" altLang="ko-KR" sz="900" dirty="0">
              <a:latin typeface="Arial" panose="020B0604020202020204" pitchFamily="34" charset="0"/>
              <a:ea typeface="돋움" pitchFamily="50" charset="-127"/>
              <a:cs typeface="Arial" panose="020B0604020202020204" pitchFamily="34" charset="0"/>
            </a:endParaRPr>
          </a:p>
          <a:p>
            <a:pPr marL="228600" indent="-228600" eaLnBrk="1" hangingPunct="1"/>
            <a:r>
              <a:rPr lang="en-US" altLang="ko-KR" sz="90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A.  </a:t>
            </a:r>
            <a:r>
              <a:rPr lang="en-US" altLang="ko-KR" sz="900" dirty="0" err="1" smtClean="0">
                <a:latin typeface="Arial" panose="020B0604020202020204" pitchFamily="34" charset="0"/>
                <a:ea typeface="돋움" pitchFamily="50" charset="-127"/>
                <a:cs typeface="Arial" panose="020B0604020202020204" pitchFamily="34" charset="0"/>
              </a:rPr>
              <a:t>Là</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chất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bán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dẫn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không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có</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tiếp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điểm</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nên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ít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chịu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ảnh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hưởng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của</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tạp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âm</a:t>
            </a:r>
            <a:r>
              <a:rPr lang="en-US" altLang="ko-KR" sz="900" dirty="0" smtClean="0">
                <a:latin typeface="Arial" panose="020B0604020202020204" pitchFamily="34" charset="0"/>
                <a:ea typeface="돋움" pitchFamily="50" charset="-127"/>
                <a:cs typeface="Arial" panose="020B0604020202020204" pitchFamily="34" charset="0"/>
              </a:rPr>
              <a:t>.</a:t>
            </a:r>
            <a:endParaRPr lang="ko-KR" altLang="en-US" sz="900" dirty="0">
              <a:latin typeface="Arial" panose="020B0604020202020204" pitchFamily="34" charset="0"/>
              <a:ea typeface="돋움" pitchFamily="50" charset="-127"/>
              <a:cs typeface="Arial" panose="020B0604020202020204" pitchFamily="34" charset="0"/>
            </a:endParaRPr>
          </a:p>
          <a:p>
            <a:pPr marL="228600" indent="-228600" eaLnBrk="1" hangingPunct="1"/>
            <a:r>
              <a:rPr lang="ko-KR" altLang="en-US" sz="90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B.</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Vẫn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hoạt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động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tốt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khi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có</a:t>
            </a:r>
            <a:r>
              <a:rPr lang="en-US" altLang="ko-KR" sz="900" dirty="0" smtClean="0">
                <a:latin typeface="Arial" panose="020B0604020202020204" pitchFamily="34" charset="0"/>
                <a:ea typeface="돋움" pitchFamily="50" charset="-127"/>
                <a:cs typeface="Arial" panose="020B0604020202020204" pitchFamily="34" charset="0"/>
              </a:rPr>
              <a:t> rung </a:t>
            </a:r>
            <a:r>
              <a:rPr lang="en-US" altLang="ko-KR" sz="900" dirty="0" err="1" smtClean="0">
                <a:latin typeface="Arial" panose="020B0604020202020204" pitchFamily="34" charset="0"/>
                <a:ea typeface="돋움" pitchFamily="50" charset="-127"/>
                <a:cs typeface="Arial" panose="020B0604020202020204" pitchFamily="34" charset="0"/>
              </a:rPr>
              <a:t>và</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không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phát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sinh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hoạt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động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sai</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marL="228600" indent="-228600" eaLnBrk="1" hangingPunct="1"/>
            <a:r>
              <a:rPr lang="en-US" altLang="ko-KR" sz="90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C. </a:t>
            </a:r>
            <a:r>
              <a:rPr lang="en-US" altLang="ko-KR" sz="900" dirty="0" err="1" smtClean="0">
                <a:latin typeface="Arial" panose="020B0604020202020204" pitchFamily="34" charset="0"/>
                <a:ea typeface="돋움" pitchFamily="50" charset="-127"/>
                <a:cs typeface="Arial" panose="020B0604020202020204" pitchFamily="34" charset="0"/>
              </a:rPr>
              <a:t>Dù</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có</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sử</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dụng</a:t>
            </a:r>
            <a:r>
              <a:rPr lang="en-US" altLang="ko-KR" sz="900" dirty="0" smtClean="0">
                <a:latin typeface="Arial" panose="020B0604020202020204" pitchFamily="34" charset="0"/>
                <a:ea typeface="돋움" pitchFamily="50" charset="-127"/>
                <a:cs typeface="Arial" panose="020B0604020202020204" pitchFamily="34" charset="0"/>
              </a:rPr>
              <a:t> ở </a:t>
            </a:r>
            <a:r>
              <a:rPr lang="en-US" altLang="ko-KR" sz="900" dirty="0" err="1" smtClean="0">
                <a:latin typeface="Arial" panose="020B0604020202020204" pitchFamily="34" charset="0"/>
                <a:ea typeface="돋움" pitchFamily="50" charset="-127"/>
                <a:cs typeface="Arial" panose="020B0604020202020204" pitchFamily="34" charset="0"/>
              </a:rPr>
              <a:t>những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nơi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có</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nhiều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bụi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bẩn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nơi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dùng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khí</a:t>
            </a:r>
            <a:r>
              <a:rPr lang="en-US" altLang="ko-KR" sz="900" dirty="0" smtClean="0">
                <a:latin typeface="Arial" panose="020B0604020202020204" pitchFamily="34" charset="0"/>
                <a:ea typeface="돋움" pitchFamily="50" charset="-127"/>
                <a:cs typeface="Arial" panose="020B0604020202020204" pitchFamily="34" charset="0"/>
              </a:rPr>
              <a:t> gas </a:t>
            </a:r>
            <a:r>
              <a:rPr lang="en-US" altLang="ko-KR" sz="900" dirty="0" err="1" smtClean="0">
                <a:latin typeface="Arial" panose="020B0604020202020204" pitchFamily="34" charset="0"/>
                <a:ea typeface="돋움" pitchFamily="50" charset="-127"/>
                <a:cs typeface="Arial" panose="020B0604020202020204" pitchFamily="34" charset="0"/>
              </a:rPr>
              <a:t>dễ</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cháy</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cũng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không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phát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sinh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vấn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đề</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marL="228600" indent="-228600" eaLnBrk="1" hangingPunct="1"/>
            <a:r>
              <a:rPr lang="en-US" altLang="ko-KR" sz="900">
                <a:latin typeface="Arial" panose="020B0604020202020204" pitchFamily="34" charset="0"/>
                <a:ea typeface="돋움" pitchFamily="50" charset="-127"/>
                <a:cs typeface="Arial" panose="020B0604020202020204" pitchFamily="34" charset="0"/>
              </a:rPr>
              <a:t>   </a:t>
            </a:r>
            <a:r>
              <a:rPr lang="en-US" altLang="ko-KR" sz="900" smtClean="0">
                <a:solidFill>
                  <a:srgbClr val="FF0000"/>
                </a:solidFill>
                <a:latin typeface="Arial" panose="020B0604020202020204" pitchFamily="34" charset="0"/>
                <a:ea typeface="돋움" pitchFamily="50" charset="-127"/>
                <a:cs typeface="Arial" panose="020B0604020202020204" pitchFamily="34" charset="0"/>
              </a:rPr>
              <a:t>D.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Được</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cách</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điện</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hoàn</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toàn</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giữa</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đầu</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smtClean="0">
                <a:solidFill>
                  <a:srgbClr val="FF0000"/>
                </a:solidFill>
                <a:latin typeface="Arial" panose="020B0604020202020204" pitchFamily="34" charset="0"/>
                <a:ea typeface="돋움" pitchFamily="50" charset="-127"/>
                <a:cs typeface="Arial" panose="020B0604020202020204" pitchFamily="34" charset="0"/>
              </a:rPr>
              <a:t>In/Out nên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không</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có</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rò</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dòng</a:t>
            </a:r>
            <a:endParaRPr lang="ko-KR" altLang="en-US" sz="900" dirty="0">
              <a:solidFill>
                <a:srgbClr val="FF0000"/>
              </a:solidFill>
              <a:latin typeface="Arial" panose="020B0604020202020204" pitchFamily="34" charset="0"/>
              <a:ea typeface="돋움" pitchFamily="50" charset="-127"/>
              <a:cs typeface="Arial" panose="020B0604020202020204" pitchFamily="34" charset="0"/>
            </a:endParaRPr>
          </a:p>
        </p:txBody>
      </p:sp>
      <p:grpSp>
        <p:nvGrpSpPr>
          <p:cNvPr id="15" name="Group 14"/>
          <p:cNvGrpSpPr/>
          <p:nvPr/>
        </p:nvGrpSpPr>
        <p:grpSpPr>
          <a:xfrm>
            <a:off x="3456384" y="2822223"/>
            <a:ext cx="3429000" cy="1410697"/>
            <a:chOff x="284163" y="7481903"/>
            <a:chExt cx="3429000" cy="1410697"/>
          </a:xfrm>
        </p:grpSpPr>
        <p:sp>
          <p:nvSpPr>
            <p:cNvPr id="16" name="직사각형 28"/>
            <p:cNvSpPr>
              <a:spLocks noChangeArrowheads="1"/>
            </p:cNvSpPr>
            <p:nvPr/>
          </p:nvSpPr>
          <p:spPr bwMode="auto">
            <a:xfrm>
              <a:off x="284163" y="7481903"/>
              <a:ext cx="34290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ea typeface="돋움" pitchFamily="50" charset="-127"/>
                  <a:cs typeface="Arial" panose="020B0604020202020204" pitchFamily="34" charset="0"/>
                </a:rPr>
                <a:t>17</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Biểu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đồ</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dưới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đây</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hiển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thị</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đặc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tính</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của</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yếu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tố</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nào</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dirty="0">
                  <a:latin typeface="Arial" panose="020B0604020202020204" pitchFamily="34" charset="0"/>
                  <a:ea typeface="돋움" pitchFamily="50" charset="-127"/>
                  <a:cs typeface="Arial" panose="020B0604020202020204" pitchFamily="34" charset="0"/>
                </a:rPr>
                <a:t>                          </a:t>
              </a:r>
            </a:p>
            <a:p>
              <a:pPr eaLnBrk="1" hangingPunct="1"/>
              <a:r>
                <a:rPr lang="en-US" altLang="ko-KR" sz="90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           </a:t>
              </a:r>
              <a:r>
                <a:rPr lang="en-US" altLang="ko-KR" sz="900" smtClean="0">
                  <a:solidFill>
                    <a:srgbClr val="FF0000"/>
                  </a:solidFill>
                  <a:latin typeface="Arial" panose="020B0604020202020204" pitchFamily="34" charset="0"/>
                  <a:ea typeface="돋움" pitchFamily="50" charset="-127"/>
                  <a:cs typeface="Arial" panose="020B0604020202020204" pitchFamily="34" charset="0"/>
                </a:rPr>
                <a:t>A.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Diot</a:t>
              </a:r>
              <a:endParaRPr lang="ko-KR" altLang="en-US" sz="900" dirty="0">
                <a:solidFill>
                  <a:srgbClr val="FF0000"/>
                </a:solidFill>
                <a:latin typeface="Arial" panose="020B0604020202020204" pitchFamily="34" charset="0"/>
                <a:ea typeface="돋움" pitchFamily="50" charset="-127"/>
                <a:cs typeface="Arial" panose="020B0604020202020204" pitchFamily="34" charset="0"/>
              </a:endParaRPr>
            </a:p>
            <a:p>
              <a:pPr eaLnBrk="1" hangingPunct="1"/>
              <a:r>
                <a:rPr lang="ko-KR" altLang="en-US" sz="900">
                  <a:latin typeface="Arial" panose="020B0604020202020204" pitchFamily="34" charset="0"/>
                  <a:ea typeface="돋움" pitchFamily="50" charset="-127"/>
                  <a:cs typeface="Arial" panose="020B0604020202020204" pitchFamily="34" charset="0"/>
                </a:rPr>
                <a:t>                                           </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B.</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smtClean="0">
                  <a:latin typeface="Arial" panose="020B0604020202020204" pitchFamily="34" charset="0"/>
                  <a:ea typeface="돋움" pitchFamily="50" charset="-127"/>
                  <a:cs typeface="Arial" panose="020B0604020202020204" pitchFamily="34" charset="0"/>
                </a:rPr>
                <a:t>Transistor </a:t>
              </a:r>
              <a:r>
                <a:rPr lang="en-US" altLang="ko-KR" sz="900" err="1" smtClean="0">
                  <a:latin typeface="Arial" panose="020B0604020202020204" pitchFamily="34" charset="0"/>
                  <a:ea typeface="돋움" pitchFamily="50" charset="-127"/>
                  <a:cs typeface="Arial" panose="020B0604020202020204" pitchFamily="34" charset="0"/>
                </a:rPr>
                <a:t>hiệu</a:t>
              </a:r>
              <a:r>
                <a:rPr lang="en-US" altLang="ko-KR" sz="900" smtClean="0">
                  <a:latin typeface="Arial" panose="020B0604020202020204" pitchFamily="34" charset="0"/>
                  <a:ea typeface="돋움" pitchFamily="50" charset="-127"/>
                  <a:cs typeface="Arial" panose="020B0604020202020204" pitchFamily="34" charset="0"/>
                </a:rPr>
                <a:t> </a:t>
              </a:r>
            </a:p>
            <a:p>
              <a:pPr eaLnBrk="1" hangingPunct="1"/>
              <a:r>
                <a:rPr lang="en-US" altLang="ko-KR" sz="90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                                                          quả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trường</a:t>
              </a:r>
              <a:endParaRPr lang="ko-KR" altLang="en-US" sz="900" dirty="0">
                <a:latin typeface="Arial" panose="020B0604020202020204" pitchFamily="34" charset="0"/>
                <a:ea typeface="돋움" pitchFamily="50" charset="-127"/>
                <a:cs typeface="Arial" panose="020B0604020202020204" pitchFamily="34" charset="0"/>
              </a:endParaRPr>
            </a:p>
            <a:p>
              <a:pPr eaLnBrk="1" hangingPunct="1"/>
              <a:r>
                <a:rPr lang="ko-KR" altLang="en-US" sz="900">
                  <a:latin typeface="Arial" panose="020B0604020202020204" pitchFamily="34" charset="0"/>
                  <a:ea typeface="돋움" pitchFamily="50" charset="-127"/>
                  <a:cs typeface="Arial" panose="020B0604020202020204" pitchFamily="34" charset="0"/>
                </a:rPr>
                <a:t>                                           </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C.</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trở</a:t>
              </a:r>
              <a:endParaRPr lang="ko-KR" altLang="en-US" sz="900" dirty="0">
                <a:latin typeface="Arial" panose="020B0604020202020204" pitchFamily="34" charset="0"/>
                <a:ea typeface="돋움" pitchFamily="50" charset="-127"/>
                <a:cs typeface="Arial" panose="020B0604020202020204" pitchFamily="34" charset="0"/>
              </a:endParaRPr>
            </a:p>
            <a:p>
              <a:pPr eaLnBrk="1" hangingPunct="1"/>
              <a:r>
                <a:rPr lang="ko-KR" altLang="en-US" sz="900">
                  <a:latin typeface="Arial" panose="020B0604020202020204" pitchFamily="34" charset="0"/>
                  <a:ea typeface="돋움" pitchFamily="50" charset="-127"/>
                  <a:cs typeface="Arial" panose="020B0604020202020204" pitchFamily="34" charset="0"/>
                </a:rPr>
                <a:t>                                           </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D.</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smtClean="0">
                  <a:latin typeface="Arial" panose="020B0604020202020204" pitchFamily="34" charset="0"/>
                  <a:ea typeface="돋움" pitchFamily="50" charset="-127"/>
                  <a:cs typeface="Arial" panose="020B0604020202020204" pitchFamily="34" charset="0"/>
                </a:rPr>
                <a:t>Transistor</a:t>
              </a:r>
              <a:endParaRPr lang="ko-KR" altLang="en-US" sz="900" dirty="0">
                <a:latin typeface="Arial" panose="020B0604020202020204" pitchFamily="34" charset="0"/>
                <a:ea typeface="돋움" pitchFamily="50" charset="-127"/>
                <a:cs typeface="Arial" panose="020B0604020202020204" pitchFamily="34" charset="0"/>
              </a:endParaRPr>
            </a:p>
          </p:txBody>
        </p:sp>
        <p:pic>
          <p:nvPicPr>
            <p:cNvPr id="17" name="Picture 372"/>
            <p:cNvPicPr>
              <a:picLocks noChangeAspect="1" noChangeArrowheads="1"/>
            </p:cNvPicPr>
            <p:nvPr/>
          </p:nvPicPr>
          <p:blipFill>
            <a:blip r:embed="rId4">
              <a:extLst>
                <a:ext uri="{28A0092B-C50C-407E-A947-70E740481C1C}">
                  <a14:useLocalDpi xmlns:a14="http://schemas.microsoft.com/office/drawing/2010/main" val="0"/>
                </a:ext>
              </a:extLst>
            </a:blip>
            <a:srcRect t="8131" r="57114" b="22145"/>
            <a:stretch>
              <a:fillRect/>
            </a:stretch>
          </p:blipFill>
          <p:spPr bwMode="auto">
            <a:xfrm>
              <a:off x="371231" y="7649760"/>
              <a:ext cx="1401539" cy="1154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17"/>
            <p:cNvSpPr/>
            <p:nvPr/>
          </p:nvSpPr>
          <p:spPr>
            <a:xfrm>
              <a:off x="1485461" y="7932238"/>
              <a:ext cx="279689" cy="319892"/>
            </a:xfrm>
            <a:prstGeom prst="rect">
              <a:avLst/>
            </a:prstGeom>
            <a:solidFill>
              <a:schemeClr val="bg1"/>
            </a:solidFill>
            <a:ln>
              <a:solidFill>
                <a:schemeClr val="bg1"/>
              </a:solidFill>
            </a:ln>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err="1" smtClean="0">
                  <a:solidFill>
                    <a:schemeClr val="tx1"/>
                  </a:solidFill>
                  <a:latin typeface="Arial" pitchFamily="34" charset="0"/>
                  <a:cs typeface="Arial" pitchFamily="34" charset="0"/>
                </a:rPr>
                <a:t>Dòng</a:t>
              </a:r>
              <a:r>
                <a:rPr lang="en-US" sz="900" dirty="0" smtClean="0">
                  <a:solidFill>
                    <a:schemeClr val="tx1"/>
                  </a:solidFill>
                  <a:latin typeface="Arial" pitchFamily="34" charset="0"/>
                  <a:cs typeface="Arial" pitchFamily="34" charset="0"/>
                </a:rPr>
                <a:t>    </a:t>
              </a:r>
              <a:r>
                <a:rPr lang="en-US" sz="900" dirty="0" err="1" smtClean="0">
                  <a:solidFill>
                    <a:schemeClr val="tx1"/>
                  </a:solidFill>
                  <a:latin typeface="Arial" pitchFamily="34" charset="0"/>
                  <a:cs typeface="Arial" pitchFamily="34" charset="0"/>
                </a:rPr>
                <a:t>điện</a:t>
              </a:r>
              <a:r>
                <a:rPr lang="en-US" sz="900" dirty="0" smtClean="0">
                  <a:solidFill>
                    <a:schemeClr val="tx1"/>
                  </a:solidFill>
                  <a:latin typeface="Arial" pitchFamily="34" charset="0"/>
                  <a:cs typeface="Arial" pitchFamily="34" charset="0"/>
                </a:rPr>
                <a:t>     </a:t>
              </a:r>
              <a:r>
                <a:rPr lang="en-US" sz="900" dirty="0" err="1" smtClean="0">
                  <a:solidFill>
                    <a:schemeClr val="tx1"/>
                  </a:solidFill>
                  <a:latin typeface="Arial" pitchFamily="34" charset="0"/>
                  <a:cs typeface="Arial" pitchFamily="34" charset="0"/>
                </a:rPr>
                <a:t>thuận</a:t>
              </a:r>
              <a:endParaRPr lang="en-US" sz="900" dirty="0">
                <a:solidFill>
                  <a:schemeClr val="tx1"/>
                </a:solidFill>
                <a:latin typeface="Arial" pitchFamily="34" charset="0"/>
                <a:cs typeface="Arial" pitchFamily="34" charset="0"/>
              </a:endParaRPr>
            </a:p>
          </p:txBody>
        </p:sp>
        <p:sp>
          <p:nvSpPr>
            <p:cNvPr id="19" name="Rectangle 18"/>
            <p:cNvSpPr/>
            <p:nvPr/>
          </p:nvSpPr>
          <p:spPr>
            <a:xfrm>
              <a:off x="692620" y="8572708"/>
              <a:ext cx="373798" cy="319892"/>
            </a:xfrm>
            <a:prstGeom prst="rect">
              <a:avLst/>
            </a:prstGeom>
            <a:solidFill>
              <a:schemeClr val="bg1"/>
            </a:solidFill>
            <a:ln>
              <a:solidFill>
                <a:schemeClr val="bg1"/>
              </a:solidFill>
            </a:ln>
            <a:effectLst>
              <a:outerShdw sx="1000" sy="1000" algn="ctr" rotWithShape="0">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err="1" smtClean="0">
                  <a:solidFill>
                    <a:schemeClr val="tx1"/>
                  </a:solidFill>
                  <a:latin typeface="Arial" pitchFamily="34" charset="0"/>
                  <a:cs typeface="Arial" pitchFamily="34" charset="0"/>
                </a:rPr>
                <a:t>Dòng</a:t>
              </a:r>
              <a:r>
                <a:rPr lang="en-US" sz="900" dirty="0" smtClean="0">
                  <a:solidFill>
                    <a:schemeClr val="tx1"/>
                  </a:solidFill>
                  <a:latin typeface="Arial" pitchFamily="34" charset="0"/>
                  <a:cs typeface="Arial" pitchFamily="34" charset="0"/>
                </a:rPr>
                <a:t> </a:t>
              </a:r>
              <a:r>
                <a:rPr lang="en-US" sz="900" dirty="0" err="1" smtClean="0">
                  <a:solidFill>
                    <a:schemeClr val="tx1"/>
                  </a:solidFill>
                  <a:latin typeface="Arial" pitchFamily="34" charset="0"/>
                  <a:cs typeface="Arial" pitchFamily="34" charset="0"/>
                </a:rPr>
                <a:t>điện</a:t>
              </a:r>
              <a:r>
                <a:rPr lang="en-US" sz="900" dirty="0" smtClean="0">
                  <a:solidFill>
                    <a:schemeClr val="tx1"/>
                  </a:solidFill>
                  <a:latin typeface="Arial" pitchFamily="34" charset="0"/>
                  <a:cs typeface="Arial" pitchFamily="34" charset="0"/>
                </a:rPr>
                <a:t> </a:t>
              </a:r>
              <a:r>
                <a:rPr lang="en-US" sz="900" dirty="0" err="1" smtClean="0">
                  <a:solidFill>
                    <a:schemeClr val="tx1"/>
                  </a:solidFill>
                  <a:latin typeface="Arial" pitchFamily="34" charset="0"/>
                  <a:cs typeface="Arial" pitchFamily="34" charset="0"/>
                </a:rPr>
                <a:t>ngược</a:t>
              </a:r>
              <a:endParaRPr lang="en-US" sz="900" dirty="0">
                <a:solidFill>
                  <a:schemeClr val="tx1"/>
                </a:solidFill>
                <a:latin typeface="Arial" pitchFamily="34" charset="0"/>
                <a:cs typeface="Arial" pitchFamily="34" charset="0"/>
              </a:endParaRPr>
            </a:p>
          </p:txBody>
        </p:sp>
      </p:grpSp>
      <p:sp>
        <p:nvSpPr>
          <p:cNvPr id="20" name="직사각형 30"/>
          <p:cNvSpPr>
            <a:spLocks noChangeArrowheads="1"/>
          </p:cNvSpPr>
          <p:nvPr/>
        </p:nvSpPr>
        <p:spPr bwMode="auto">
          <a:xfrm>
            <a:off x="3462973" y="4592960"/>
            <a:ext cx="3429000"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ea typeface="돋움" pitchFamily="50" charset="-127"/>
                <a:cs typeface="Arial" panose="020B0604020202020204" pitchFamily="34" charset="0"/>
              </a:rPr>
              <a:t>18</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Chọn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từ</a:t>
            </a:r>
            <a:r>
              <a:rPr lang="en-US" altLang="ko-KR" sz="900" smtClean="0">
                <a:latin typeface="Arial" panose="020B0604020202020204" pitchFamily="34" charset="0"/>
                <a:ea typeface="돋움" pitchFamily="50" charset="-127"/>
                <a:cs typeface="Arial" panose="020B0604020202020204" pitchFamily="34" charset="0"/>
              </a:rPr>
              <a:t> thích hợp điền </a:t>
            </a:r>
            <a:r>
              <a:rPr lang="en-US" altLang="ko-KR" sz="900" dirty="0" err="1" smtClean="0">
                <a:latin typeface="Arial" panose="020B0604020202020204" pitchFamily="34" charset="0"/>
                <a:ea typeface="돋움" pitchFamily="50" charset="-127"/>
                <a:cs typeface="Arial" panose="020B0604020202020204" pitchFamily="34" charset="0"/>
              </a:rPr>
              <a:t>vào</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chỗ</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trống</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dirty="0">
                <a:latin typeface="Arial" panose="020B0604020202020204" pitchFamily="34" charset="0"/>
                <a:ea typeface="돋움" pitchFamily="50" charset="-127"/>
                <a:cs typeface="Arial" panose="020B0604020202020204" pitchFamily="34" charset="0"/>
              </a:rPr>
              <a:t> - </a:t>
            </a:r>
            <a:r>
              <a:rPr lang="en-US" altLang="ko-KR" sz="900" dirty="0" err="1" smtClean="0">
                <a:latin typeface="Arial" panose="020B0604020202020204" pitchFamily="34" charset="0"/>
                <a:ea typeface="돋움" pitchFamily="50" charset="-127"/>
                <a:cs typeface="Arial" panose="020B0604020202020204" pitchFamily="34" charset="0"/>
              </a:rPr>
              <a:t>Tất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cả</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các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vật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chất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đều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được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tạo</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thành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bởi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tập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hợp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các</a:t>
            </a:r>
            <a:r>
              <a:rPr lang="en-US" altLang="ko-KR" sz="900" smtClean="0">
                <a:latin typeface="Arial" panose="020B0604020202020204" pitchFamily="34" charset="0"/>
                <a:ea typeface="돋움" pitchFamily="50" charset="-127"/>
                <a:cs typeface="Arial" panose="020B0604020202020204" pitchFamily="34" charset="0"/>
              </a:rPr>
              <a:t> </a:t>
            </a:r>
          </a:p>
          <a:p>
            <a:pPr eaLnBrk="1" hangingPunct="1"/>
            <a:r>
              <a:rPr lang="en-US" altLang="ko-KR" sz="900" smtClean="0">
                <a:latin typeface="Arial" panose="020B0604020202020204" pitchFamily="34" charset="0"/>
                <a:ea typeface="돋움" pitchFamily="50" charset="-127"/>
                <a:cs typeface="Arial" panose="020B0604020202020204" pitchFamily="34" charset="0"/>
              </a:rPr>
              <a:t>phân </a:t>
            </a:r>
            <a:r>
              <a:rPr lang="en-US" altLang="ko-KR" sz="900" dirty="0" err="1" smtClean="0">
                <a:latin typeface="Arial" panose="020B0604020202020204" pitchFamily="34" charset="0"/>
                <a:ea typeface="돋움" pitchFamily="50" charset="-127"/>
                <a:cs typeface="Arial" panose="020B0604020202020204" pitchFamily="34" charset="0"/>
              </a:rPr>
              <a:t>tử</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hoặc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nguyên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tủ</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nguyên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tử</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được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cấu</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trúc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bở</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hạt</a:t>
            </a:r>
            <a:r>
              <a:rPr lang="en-US" altLang="ko-KR" sz="900" smtClean="0">
                <a:latin typeface="Arial" panose="020B0604020202020204" pitchFamily="34" charset="0"/>
                <a:ea typeface="돋움" pitchFamily="50" charset="-127"/>
                <a:cs typeface="Arial" panose="020B0604020202020204" pitchFamily="34" charset="0"/>
              </a:rPr>
              <a:t> </a:t>
            </a:r>
          </a:p>
          <a:p>
            <a:pPr eaLnBrk="1" hangingPunct="1"/>
            <a:r>
              <a:rPr lang="en-US" altLang="ko-KR" sz="900" smtClean="0">
                <a:latin typeface="Arial" panose="020B0604020202020204" pitchFamily="34" charset="0"/>
                <a:ea typeface="돋움" pitchFamily="50" charset="-127"/>
                <a:cs typeface="Arial" panose="020B0604020202020204" pitchFamily="34" charset="0"/>
              </a:rPr>
              <a:t>nhân </a:t>
            </a:r>
            <a:r>
              <a:rPr lang="en-US" altLang="ko-KR" sz="900" dirty="0" err="1" smtClean="0">
                <a:latin typeface="Arial" panose="020B0604020202020204" pitchFamily="34" charset="0"/>
                <a:ea typeface="돋움" pitchFamily="50" charset="-127"/>
                <a:cs typeface="Arial" panose="020B0604020202020204" pitchFamily="34" charset="0"/>
              </a:rPr>
              <a:t>nguyên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tử</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và</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các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           ) quay </a:t>
            </a:r>
            <a:r>
              <a:rPr lang="en-US" altLang="ko-KR" sz="900" dirty="0" err="1" smtClean="0">
                <a:latin typeface="Arial" panose="020B0604020202020204" pitchFamily="34" charset="0"/>
                <a:ea typeface="돋움" pitchFamily="50" charset="-127"/>
                <a:cs typeface="Arial" panose="020B0604020202020204" pitchFamily="34" charset="0"/>
              </a:rPr>
              <a:t>xung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quanh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nó</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A.  Hạt </a:t>
            </a:r>
            <a:r>
              <a:rPr lang="en-US" altLang="ko-KR" sz="900" dirty="0" err="1" smtClean="0">
                <a:latin typeface="Arial" panose="020B0604020202020204" pitchFamily="34" charset="0"/>
                <a:ea typeface="돋움" pitchFamily="50" charset="-127"/>
                <a:cs typeface="Arial" panose="020B0604020202020204" pitchFamily="34" charset="0"/>
              </a:rPr>
              <a:t>nhân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nguyên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tử</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solidFill>
                  <a:srgbClr val="FF0000"/>
                </a:solidFill>
                <a:latin typeface="Arial" panose="020B0604020202020204" pitchFamily="34" charset="0"/>
                <a:ea typeface="돋움" pitchFamily="50" charset="-127"/>
                <a:cs typeface="Arial" panose="020B0604020202020204" pitchFamily="34" charset="0"/>
              </a:rPr>
              <a:t>B.</a:t>
            </a:r>
            <a:r>
              <a:rPr lang="ko-KR" altLang="en-US" sz="90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smtClean="0">
                <a:solidFill>
                  <a:srgbClr val="FF0000"/>
                </a:solidFill>
                <a:latin typeface="Arial" panose="020B0604020202020204" pitchFamily="34" charset="0"/>
                <a:ea typeface="돋움" pitchFamily="50" charset="-127"/>
                <a:cs typeface="Arial" panose="020B0604020202020204" pitchFamily="34" charset="0"/>
              </a:rPr>
              <a:t>Electron</a:t>
            </a:r>
            <a:r>
              <a:rPr lang="ko-KR" altLang="en-US" sz="900" smtClean="0">
                <a:solidFill>
                  <a:srgbClr val="FF0000"/>
                </a:solidFill>
                <a:latin typeface="Arial" panose="020B0604020202020204" pitchFamily="34" charset="0"/>
                <a:ea typeface="돋움" pitchFamily="50" charset="-127"/>
                <a:cs typeface="Arial" panose="020B0604020202020204" pitchFamily="34" charset="0"/>
              </a:rPr>
              <a:t>    </a:t>
            </a:r>
            <a:endParaRPr lang="en-US" altLang="ko-KR" sz="900">
              <a:solidFill>
                <a:srgbClr val="FF0000"/>
              </a:solidFill>
              <a:latin typeface="Arial" panose="020B0604020202020204" pitchFamily="34" charset="0"/>
              <a:ea typeface="돋움" pitchFamily="50" charset="-127"/>
              <a:cs typeface="Arial" panose="020B0604020202020204" pitchFamily="34" charset="0"/>
            </a:endParaRPr>
          </a:p>
          <a:p>
            <a:pPr eaLnBrk="1" hangingPunct="1"/>
            <a:r>
              <a:rPr lang="ko-KR" altLang="en-US" sz="90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C.</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a:latin typeface="Arial" panose="020B0604020202020204" pitchFamily="34" charset="0"/>
                <a:ea typeface="돋움" pitchFamily="50" charset="-127"/>
                <a:cs typeface="Arial" panose="020B0604020202020204" pitchFamily="34" charset="0"/>
              </a:rPr>
              <a:t>N</a:t>
            </a:r>
            <a:r>
              <a:rPr lang="en-US" altLang="ko-KR" sz="900" smtClean="0">
                <a:latin typeface="Arial" panose="020B0604020202020204" pitchFamily="34" charset="0"/>
                <a:ea typeface="돋움" pitchFamily="50" charset="-127"/>
                <a:cs typeface="Arial" panose="020B0604020202020204" pitchFamily="34" charset="0"/>
              </a:rPr>
              <a:t>guyên </a:t>
            </a:r>
            <a:r>
              <a:rPr lang="en-US" altLang="ko-KR" sz="900" err="1" smtClean="0">
                <a:latin typeface="Arial" panose="020B0604020202020204" pitchFamily="34" charset="0"/>
                <a:ea typeface="돋움" pitchFamily="50" charset="-127"/>
                <a:cs typeface="Arial" panose="020B0604020202020204" pitchFamily="34" charset="0"/>
              </a:rPr>
              <a:t>tố</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smtClean="0">
                <a:latin typeface="Arial" panose="020B0604020202020204" pitchFamily="34" charset="0"/>
                <a:ea typeface="돋움" pitchFamily="50" charset="-127"/>
                <a:cs typeface="Arial" panose="020B0604020202020204" pitchFamily="34" charset="0"/>
              </a:rPr>
              <a:t>D.</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a:latin typeface="Arial" panose="020B0604020202020204" pitchFamily="34" charset="0"/>
                <a:ea typeface="돋움" pitchFamily="50" charset="-127"/>
                <a:cs typeface="Arial" panose="020B0604020202020204" pitchFamily="34" charset="0"/>
              </a:rPr>
              <a:t>N</a:t>
            </a:r>
            <a:r>
              <a:rPr lang="en-US" altLang="ko-KR" sz="900" smtClean="0">
                <a:latin typeface="Arial" panose="020B0604020202020204" pitchFamily="34" charset="0"/>
                <a:ea typeface="돋움" pitchFamily="50" charset="-127"/>
                <a:cs typeface="Arial" panose="020B0604020202020204" pitchFamily="34" charset="0"/>
              </a:rPr>
              <a:t>eutron</a:t>
            </a:r>
            <a:endParaRPr lang="ko-KR" altLang="en-US" sz="900" dirty="0">
              <a:latin typeface="Arial" panose="020B0604020202020204" pitchFamily="34" charset="0"/>
              <a:ea typeface="돋움" pitchFamily="50" charset="-127"/>
              <a:cs typeface="Arial" panose="020B0604020202020204" pitchFamily="34" charset="0"/>
            </a:endParaRPr>
          </a:p>
        </p:txBody>
      </p:sp>
      <p:sp>
        <p:nvSpPr>
          <p:cNvPr id="21" name="직사각형 2048"/>
          <p:cNvSpPr>
            <a:spLocks noChangeArrowheads="1"/>
          </p:cNvSpPr>
          <p:nvPr/>
        </p:nvSpPr>
        <p:spPr bwMode="auto">
          <a:xfrm>
            <a:off x="3464133" y="6609184"/>
            <a:ext cx="3160712" cy="1061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14300" indent="-114300" eaLnBrk="1" hangingPunct="1"/>
            <a:r>
              <a:rPr lang="en-US" altLang="ko-KR" sz="900" smtClean="0">
                <a:latin typeface="Arial" panose="020B0604020202020204" pitchFamily="34" charset="0"/>
                <a:ea typeface="돋움" pitchFamily="50" charset="-127"/>
                <a:cs typeface="Arial" panose="020B0604020202020204" pitchFamily="34" charset="0"/>
              </a:rPr>
              <a:t>19</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Đặc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tính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phát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sinh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áp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xuay</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chiều</a:t>
            </a:r>
            <a:r>
              <a:rPr lang="en-US" altLang="ko-KR" sz="900" dirty="0" smtClean="0">
                <a:latin typeface="Arial" panose="020B0604020202020204" pitchFamily="34" charset="0"/>
                <a:ea typeface="돋움" pitchFamily="50" charset="-127"/>
                <a:cs typeface="Arial" panose="020B0604020202020204" pitchFamily="34" charset="0"/>
              </a:rPr>
              <a:t> ở coil do </a:t>
            </a:r>
            <a:r>
              <a:rPr lang="en-US" altLang="ko-KR" sz="900" dirty="0" err="1" smtClean="0">
                <a:latin typeface="Arial" panose="020B0604020202020204" pitchFamily="34" charset="0"/>
                <a:ea typeface="돋움" pitchFamily="50" charset="-127"/>
                <a:cs typeface="Arial" panose="020B0604020202020204" pitchFamily="34" charset="0"/>
              </a:rPr>
              <a:t>hiện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tượng</a:t>
            </a:r>
            <a:r>
              <a:rPr lang="en-US" altLang="ko-KR" sz="900" smtClean="0">
                <a:latin typeface="Arial" panose="020B0604020202020204" pitchFamily="34" charset="0"/>
                <a:ea typeface="돋움" pitchFamily="50" charset="-127"/>
                <a:cs typeface="Arial" panose="020B0604020202020204" pitchFamily="34" charset="0"/>
              </a:rPr>
              <a:t>  điện </a:t>
            </a:r>
            <a:r>
              <a:rPr lang="en-US" altLang="ko-KR" sz="900" dirty="0" err="1" smtClean="0">
                <a:latin typeface="Arial" panose="020B0604020202020204" pitchFamily="34" charset="0"/>
                <a:ea typeface="돋움" pitchFamily="50" charset="-127"/>
                <a:cs typeface="Arial" panose="020B0604020202020204" pitchFamily="34" charset="0"/>
              </a:rPr>
              <a:t>cảm</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tương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hỗ</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phát</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sinh</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trong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trường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hợp</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có</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một</a:t>
            </a:r>
            <a:r>
              <a:rPr lang="en-US" altLang="ko-KR" sz="900" dirty="0" smtClean="0">
                <a:latin typeface="Arial" panose="020B0604020202020204" pitchFamily="34" charset="0"/>
                <a:ea typeface="돋움" pitchFamily="50" charset="-127"/>
                <a:cs typeface="Arial" panose="020B0604020202020204" pitchFamily="34" charset="0"/>
              </a:rPr>
              <a:t> coil </a:t>
            </a:r>
            <a:r>
              <a:rPr lang="en-US" altLang="ko-KR" sz="900" smtClean="0">
                <a:latin typeface="Arial" panose="020B0604020202020204" pitchFamily="34" charset="0"/>
                <a:ea typeface="돋움" pitchFamily="50" charset="-127"/>
                <a:cs typeface="Arial" panose="020B0604020202020204" pitchFamily="34" charset="0"/>
              </a:rPr>
              <a:t>ở gầnmột </a:t>
            </a:r>
            <a:r>
              <a:rPr lang="en-US" altLang="ko-KR" sz="900" dirty="0" smtClean="0">
                <a:latin typeface="Arial" panose="020B0604020202020204" pitchFamily="34" charset="0"/>
                <a:ea typeface="돋움" pitchFamily="50" charset="-127"/>
                <a:cs typeface="Arial" panose="020B0604020202020204" pitchFamily="34" charset="0"/>
              </a:rPr>
              <a:t>coil </a:t>
            </a:r>
            <a:r>
              <a:rPr lang="en-US" altLang="ko-KR" sz="900" dirty="0" err="1" smtClean="0">
                <a:latin typeface="Arial" panose="020B0604020202020204" pitchFamily="34" charset="0"/>
                <a:ea typeface="돋움" pitchFamily="50" charset="-127"/>
                <a:cs typeface="Arial" panose="020B0604020202020204" pitchFamily="34" charset="0"/>
              </a:rPr>
              <a:t>đang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có</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dùng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chạy</a:t>
            </a:r>
            <a:r>
              <a:rPr lang="en-US" altLang="ko-KR" sz="900" dirty="0" smtClean="0">
                <a:latin typeface="Arial" panose="020B0604020202020204" pitchFamily="34" charset="0"/>
                <a:ea typeface="돋움" pitchFamily="50" charset="-127"/>
                <a:cs typeface="Arial" panose="020B0604020202020204" pitchFamily="34" charset="0"/>
              </a:rPr>
              <a:t> qua </a:t>
            </a:r>
            <a:r>
              <a:rPr lang="en-US" altLang="ko-KR" sz="900" dirty="0" err="1" smtClean="0">
                <a:latin typeface="Arial" panose="020B0604020202020204" pitchFamily="34" charset="0"/>
                <a:ea typeface="돋움" pitchFamily="50" charset="-127"/>
                <a:cs typeface="Arial" panose="020B0604020202020204" pitchFamily="34" charset="0"/>
              </a:rPr>
              <a:t>được</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gọi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là</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gì</a:t>
            </a:r>
            <a:r>
              <a:rPr lang="en-US" altLang="ko-KR" sz="900" dirty="0" smtClean="0">
                <a:latin typeface="Arial" panose="020B0604020202020204" pitchFamily="34" charset="0"/>
                <a:ea typeface="돋움" pitchFamily="50" charset="-127"/>
                <a:cs typeface="Arial" panose="020B0604020202020204" pitchFamily="34" charset="0"/>
              </a:rPr>
              <a:t>?</a:t>
            </a:r>
            <a:endParaRPr lang="en-US" altLang="ko-KR" sz="900" dirty="0">
              <a:latin typeface="Arial" panose="020B0604020202020204" pitchFamily="34" charset="0"/>
              <a:ea typeface="돋움" pitchFamily="50" charset="-127"/>
              <a:cs typeface="Arial" panose="020B0604020202020204" pitchFamily="34" charset="0"/>
            </a:endParaRPr>
          </a:p>
          <a:p>
            <a:pPr eaLnBrk="1" hangingPunct="1"/>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A. </a:t>
            </a:r>
            <a:r>
              <a:rPr lang="en-US" altLang="ko-KR" sz="900" dirty="0" err="1">
                <a:latin typeface="Arial" panose="020B0604020202020204" pitchFamily="34" charset="0"/>
                <a:ea typeface="돋움" pitchFamily="50" charset="-127"/>
                <a:cs typeface="Arial" panose="020B0604020202020204" pitchFamily="34" charset="0"/>
              </a:rPr>
              <a:t>H</a:t>
            </a:r>
            <a:r>
              <a:rPr lang="en-US" altLang="ko-KR" sz="900" smtClean="0">
                <a:latin typeface="Arial" panose="020B0604020202020204" pitchFamily="34" charset="0"/>
                <a:ea typeface="돋움" pitchFamily="50" charset="-127"/>
                <a:cs typeface="Arial" panose="020B0604020202020204" pitchFamily="34" charset="0"/>
              </a:rPr>
              <a:t>iện </a:t>
            </a:r>
            <a:r>
              <a:rPr lang="en-US" altLang="ko-KR" sz="900" dirty="0" err="1" smtClean="0">
                <a:latin typeface="Arial" panose="020B0604020202020204" pitchFamily="34" charset="0"/>
                <a:ea typeface="돋움" pitchFamily="50" charset="-127"/>
                <a:cs typeface="Arial" panose="020B0604020202020204" pitchFamily="34" charset="0"/>
              </a:rPr>
              <a:t>tượng</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tự</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dẫn</a:t>
            </a:r>
            <a:r>
              <a:rPr lang="ko-KR" altLang="en-US" sz="900" smtClean="0">
                <a:latin typeface="Arial" pitchFamily="34" charset="0"/>
                <a:ea typeface="돋움" pitchFamily="50" charset="-127"/>
                <a:cs typeface="Arial" pitchFamily="34" charset="0"/>
              </a:rPr>
              <a:t>           </a:t>
            </a:r>
            <a:r>
              <a:rPr lang="en-US" altLang="ko-KR" sz="900" smtClean="0">
                <a:solidFill>
                  <a:srgbClr val="FF0000"/>
                </a:solidFill>
                <a:latin typeface="Arial" pitchFamily="34" charset="0"/>
                <a:ea typeface="돋움" pitchFamily="50" charset="-127"/>
                <a:cs typeface="Arial" pitchFamily="34" charset="0"/>
              </a:rPr>
              <a:t>B.</a:t>
            </a:r>
            <a:r>
              <a:rPr lang="ko-KR" altLang="en-US" sz="900" smtClean="0">
                <a:solidFill>
                  <a:srgbClr val="FF0000"/>
                </a:solidFill>
                <a:latin typeface="Arial" pitchFamily="34" charset="0"/>
                <a:ea typeface="돋움" pitchFamily="50" charset="-127"/>
                <a:cs typeface="Arial" pitchFamily="34" charset="0"/>
              </a:rPr>
              <a:t> </a:t>
            </a:r>
            <a:r>
              <a:rPr lang="en-US" altLang="ko-KR" sz="900" dirty="0" err="1" smtClean="0">
                <a:solidFill>
                  <a:srgbClr val="FF0000"/>
                </a:solidFill>
                <a:latin typeface="Arial" pitchFamily="34" charset="0"/>
                <a:ea typeface="돋움" pitchFamily="50" charset="-127"/>
                <a:cs typeface="Arial" pitchFamily="34" charset="0"/>
              </a:rPr>
              <a:t>Đ</a:t>
            </a:r>
            <a:r>
              <a:rPr lang="en-US" altLang="ko-KR" sz="900" smtClean="0">
                <a:solidFill>
                  <a:srgbClr val="FF0000"/>
                </a:solidFill>
                <a:latin typeface="Arial" pitchFamily="34" charset="0"/>
                <a:ea typeface="돋움" pitchFamily="50" charset="-127"/>
                <a:cs typeface="Arial" pitchFamily="34" charset="0"/>
              </a:rPr>
              <a:t>iện </a:t>
            </a:r>
            <a:r>
              <a:rPr lang="en-US" altLang="ko-KR" sz="900" dirty="0" err="1" smtClean="0">
                <a:solidFill>
                  <a:srgbClr val="FF0000"/>
                </a:solidFill>
                <a:latin typeface="Arial" pitchFamily="34" charset="0"/>
                <a:ea typeface="돋움" pitchFamily="50" charset="-127"/>
                <a:cs typeface="Arial" pitchFamily="34" charset="0"/>
              </a:rPr>
              <a:t>cảm</a:t>
            </a:r>
            <a:r>
              <a:rPr lang="en-US" altLang="ko-KR" sz="900" dirty="0" smtClean="0">
                <a:solidFill>
                  <a:srgbClr val="FF0000"/>
                </a:solidFill>
                <a:latin typeface="Arial" pitchFamily="34" charset="0"/>
                <a:ea typeface="돋움" pitchFamily="50" charset="-127"/>
                <a:cs typeface="Arial" pitchFamily="34" charset="0"/>
              </a:rPr>
              <a:t> </a:t>
            </a:r>
            <a:r>
              <a:rPr lang="en-US" altLang="ko-KR" sz="900" dirty="0" err="1" smtClean="0">
                <a:solidFill>
                  <a:srgbClr val="FF0000"/>
                </a:solidFill>
                <a:latin typeface="Arial" pitchFamily="34" charset="0"/>
                <a:ea typeface="돋움" pitchFamily="50" charset="-127"/>
                <a:cs typeface="Arial" pitchFamily="34" charset="0"/>
              </a:rPr>
              <a:t>tương</a:t>
            </a:r>
            <a:r>
              <a:rPr lang="en-US" altLang="ko-KR" sz="900" dirty="0" smtClean="0">
                <a:solidFill>
                  <a:srgbClr val="FF0000"/>
                </a:solidFill>
                <a:latin typeface="Arial" pitchFamily="34" charset="0"/>
                <a:ea typeface="돋움" pitchFamily="50" charset="-127"/>
                <a:cs typeface="Arial" pitchFamily="34" charset="0"/>
              </a:rPr>
              <a:t> </a:t>
            </a:r>
            <a:r>
              <a:rPr lang="en-US" altLang="ko-KR" sz="900" dirty="0" err="1" smtClean="0">
                <a:solidFill>
                  <a:srgbClr val="FF0000"/>
                </a:solidFill>
                <a:latin typeface="Arial" pitchFamily="34" charset="0"/>
                <a:ea typeface="돋움" pitchFamily="50" charset="-127"/>
                <a:cs typeface="Arial" pitchFamily="34" charset="0"/>
              </a:rPr>
              <a:t>hỗ</a:t>
            </a:r>
            <a:endParaRPr lang="ko-KR" altLang="en-US" sz="900" dirty="0">
              <a:solidFill>
                <a:srgbClr val="FF0000"/>
              </a:solidFill>
              <a:latin typeface="Arial" pitchFamily="34" charset="0"/>
              <a:ea typeface="돋움" pitchFamily="50" charset="-127"/>
              <a:cs typeface="Arial" pitchFamily="34" charset="0"/>
            </a:endParaRPr>
          </a:p>
          <a:p>
            <a:pPr eaLnBrk="1" hangingPunct="1"/>
            <a:r>
              <a:rPr lang="en-US" altLang="ko-KR" sz="900" smtClean="0">
                <a:latin typeface="Arial" pitchFamily="34" charset="0"/>
                <a:ea typeface="돋움" pitchFamily="50" charset="-127"/>
                <a:cs typeface="Arial" pitchFamily="34" charset="0"/>
              </a:rPr>
              <a:t>C.</a:t>
            </a:r>
            <a:r>
              <a:rPr lang="ko-KR" altLang="en-US" sz="900" smtClean="0">
                <a:latin typeface="Arial" pitchFamily="34" charset="0"/>
                <a:ea typeface="돋움" pitchFamily="50" charset="-127"/>
                <a:cs typeface="Arial" pitchFamily="34" charset="0"/>
              </a:rPr>
              <a:t> </a:t>
            </a:r>
            <a:r>
              <a:rPr lang="en-US" altLang="ko-KR" sz="900" dirty="0" err="1">
                <a:latin typeface="Arial" pitchFamily="34" charset="0"/>
                <a:ea typeface="돋움" pitchFamily="50" charset="-127"/>
                <a:cs typeface="Arial" pitchFamily="34" charset="0"/>
              </a:rPr>
              <a:t>H</a:t>
            </a:r>
            <a:r>
              <a:rPr lang="en-US" altLang="ko-KR" sz="900" smtClean="0">
                <a:latin typeface="Arial" pitchFamily="34" charset="0"/>
                <a:ea typeface="돋움" pitchFamily="50" charset="-127"/>
                <a:cs typeface="Arial" pitchFamily="34" charset="0"/>
              </a:rPr>
              <a:t>iện </a:t>
            </a:r>
            <a:r>
              <a:rPr lang="en-US" altLang="ko-KR" sz="900" dirty="0" err="1" smtClean="0">
                <a:latin typeface="Arial" pitchFamily="34" charset="0"/>
                <a:ea typeface="돋움" pitchFamily="50" charset="-127"/>
                <a:cs typeface="Arial" pitchFamily="34" charset="0"/>
              </a:rPr>
              <a:t>tượng</a:t>
            </a:r>
            <a:r>
              <a:rPr lang="en-US" altLang="ko-KR" sz="900" dirty="0" smtClean="0">
                <a:latin typeface="Arial" pitchFamily="34" charset="0"/>
                <a:ea typeface="돋움" pitchFamily="50" charset="-127"/>
                <a:cs typeface="Arial" pitchFamily="34" charset="0"/>
              </a:rPr>
              <a:t> </a:t>
            </a:r>
            <a:r>
              <a:rPr lang="en-US" altLang="ko-KR" sz="900" dirty="0" err="1" smtClean="0">
                <a:latin typeface="Arial" pitchFamily="34" charset="0"/>
                <a:ea typeface="돋움" pitchFamily="50" charset="-127"/>
                <a:cs typeface="Arial" pitchFamily="34" charset="0"/>
              </a:rPr>
              <a:t>tự</a:t>
            </a:r>
            <a:r>
              <a:rPr lang="en-US" altLang="ko-KR" sz="900" dirty="0" smtClean="0">
                <a:latin typeface="Arial" pitchFamily="34" charset="0"/>
                <a:ea typeface="돋움" pitchFamily="50" charset="-127"/>
                <a:cs typeface="Arial" pitchFamily="34" charset="0"/>
              </a:rPr>
              <a:t> </a:t>
            </a:r>
            <a:r>
              <a:rPr lang="en-US" altLang="ko-KR" sz="900" err="1" smtClean="0">
                <a:latin typeface="Arial" pitchFamily="34" charset="0"/>
                <a:ea typeface="돋움" pitchFamily="50" charset="-127"/>
                <a:cs typeface="Arial" pitchFamily="34" charset="0"/>
              </a:rPr>
              <a:t>cảm</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D.</a:t>
            </a:r>
            <a:r>
              <a:rPr lang="ko-KR" altLang="en-US" sz="900" smtClean="0">
                <a:latin typeface="Arial" pitchFamily="34" charset="0"/>
                <a:ea typeface="돋움" pitchFamily="50" charset="-127"/>
                <a:cs typeface="Arial" pitchFamily="34" charset="0"/>
              </a:rPr>
              <a:t> </a:t>
            </a:r>
            <a:r>
              <a:rPr lang="en-US" altLang="ko-KR" sz="900" dirty="0" err="1" smtClean="0">
                <a:latin typeface="Arial" pitchFamily="34" charset="0"/>
                <a:ea typeface="돋움" pitchFamily="50" charset="-127"/>
                <a:cs typeface="Arial" pitchFamily="34" charset="0"/>
              </a:rPr>
              <a:t>Đ</a:t>
            </a:r>
            <a:r>
              <a:rPr lang="en-US" altLang="ko-KR" sz="900" smtClean="0">
                <a:latin typeface="Arial" pitchFamily="34" charset="0"/>
                <a:ea typeface="돋움" pitchFamily="50" charset="-127"/>
                <a:cs typeface="Arial" pitchFamily="34" charset="0"/>
              </a:rPr>
              <a:t>iện </a:t>
            </a:r>
            <a:r>
              <a:rPr lang="en-US" altLang="ko-KR" sz="900" dirty="0" err="1" smtClean="0">
                <a:latin typeface="Arial" pitchFamily="34" charset="0"/>
                <a:ea typeface="돋움" pitchFamily="50" charset="-127"/>
                <a:cs typeface="Arial" pitchFamily="34" charset="0"/>
              </a:rPr>
              <a:t>dẫn</a:t>
            </a:r>
            <a:r>
              <a:rPr lang="en-US" altLang="ko-KR" sz="900" dirty="0" smtClean="0">
                <a:latin typeface="Arial" pitchFamily="34" charset="0"/>
                <a:ea typeface="돋움" pitchFamily="50" charset="-127"/>
                <a:cs typeface="Arial" pitchFamily="34" charset="0"/>
              </a:rPr>
              <a:t> </a:t>
            </a:r>
            <a:r>
              <a:rPr lang="en-US" altLang="ko-KR" sz="900" err="1" smtClean="0">
                <a:latin typeface="Arial" pitchFamily="34" charset="0"/>
                <a:ea typeface="돋움" pitchFamily="50" charset="-127"/>
                <a:cs typeface="Arial" pitchFamily="34" charset="0"/>
              </a:rPr>
              <a:t>hỗ</a:t>
            </a:r>
            <a:r>
              <a:rPr lang="en-US" altLang="ko-KR" sz="900" smtClean="0">
                <a:latin typeface="Arial" pitchFamily="34" charset="0"/>
                <a:ea typeface="돋움" pitchFamily="50" charset="-127"/>
                <a:cs typeface="Arial" pitchFamily="34" charset="0"/>
              </a:rPr>
              <a:t> cảm</a:t>
            </a:r>
            <a:endParaRPr lang="ko-KR" altLang="en-US" sz="900" dirty="0">
              <a:latin typeface="Arial" panose="020B0604020202020204" pitchFamily="34" charset="0"/>
              <a:ea typeface="돋움" pitchFamily="50" charset="-127"/>
              <a:cs typeface="Arial" panose="020B0604020202020204" pitchFamily="34" charset="0"/>
            </a:endParaRPr>
          </a:p>
        </p:txBody>
      </p:sp>
      <p:grpSp>
        <p:nvGrpSpPr>
          <p:cNvPr id="22" name="Group 21"/>
          <p:cNvGrpSpPr/>
          <p:nvPr/>
        </p:nvGrpSpPr>
        <p:grpSpPr>
          <a:xfrm>
            <a:off x="3429000" y="8206134"/>
            <a:ext cx="3429000" cy="995338"/>
            <a:chOff x="3429000" y="3000580"/>
            <a:chExt cx="3429000" cy="995338"/>
          </a:xfrm>
        </p:grpSpPr>
        <p:sp>
          <p:nvSpPr>
            <p:cNvPr id="23" name="직사각형 41"/>
            <p:cNvSpPr>
              <a:spLocks noChangeArrowheads="1"/>
            </p:cNvSpPr>
            <p:nvPr/>
          </p:nvSpPr>
          <p:spPr bwMode="auto">
            <a:xfrm>
              <a:off x="3429000" y="3000580"/>
              <a:ext cx="3429000"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anose="020B0604020202020204" pitchFamily="34" charset="0"/>
                  <a:ea typeface="돋움" pitchFamily="50" charset="-127"/>
                  <a:cs typeface="Arial" panose="020B0604020202020204" pitchFamily="34" charset="0"/>
                </a:rPr>
                <a:t>2</a:t>
              </a:r>
              <a:r>
                <a:rPr lang="en-US" altLang="ko-KR" sz="900" smtClean="0">
                  <a:latin typeface="Arial" panose="020B0604020202020204" pitchFamily="34" charset="0"/>
                  <a:ea typeface="돋움" pitchFamily="50" charset="-127"/>
                  <a:cs typeface="Arial" panose="020B0604020202020204" pitchFamily="34" charset="0"/>
                </a:rPr>
                <a:t>0</a:t>
              </a:r>
              <a:r>
                <a:rPr lang="en-US" altLang="ko-KR" sz="900" dirty="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Tên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của</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trở</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dưới</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đây</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là</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gì</a:t>
              </a:r>
              <a:r>
                <a:rPr lang="ko-KR" altLang="en-US" sz="900" dirty="0" smtClean="0">
                  <a:latin typeface="Arial" panose="020B0604020202020204" pitchFamily="34" charset="0"/>
                  <a:ea typeface="돋움" pitchFamily="50" charset="-127"/>
                  <a:cs typeface="Arial" panose="020B0604020202020204" pitchFamily="34" charset="0"/>
                </a:rPr>
                <a:t> </a:t>
              </a:r>
              <a:r>
                <a:rPr lang="en-US" altLang="ko-KR" sz="900" dirty="0">
                  <a:latin typeface="Arial" panose="020B0604020202020204" pitchFamily="34" charset="0"/>
                  <a:ea typeface="돋움" pitchFamily="50" charset="-127"/>
                  <a:cs typeface="Arial" panose="020B0604020202020204" pitchFamily="34" charset="0"/>
                </a:rPr>
                <a:t>?</a:t>
              </a:r>
              <a:endParaRPr lang="ko-KR" altLang="en-US" sz="900" dirty="0">
                <a:latin typeface="Arial" panose="020B0604020202020204" pitchFamily="34" charset="0"/>
                <a:ea typeface="돋움" pitchFamily="50" charset="-127"/>
                <a:cs typeface="Arial" panose="020B0604020202020204" pitchFamily="34" charset="0"/>
              </a:endParaRPr>
            </a:p>
            <a:p>
              <a:pPr eaLnBrk="1" hangingPunct="1"/>
              <a:endParaRPr lang="en-US" altLang="ko-KR"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solidFill>
                    <a:srgbClr val="FF0000"/>
                  </a:solidFill>
                  <a:latin typeface="Arial" panose="020B0604020202020204" pitchFamily="34" charset="0"/>
                  <a:ea typeface="돋움" pitchFamily="50" charset="-127"/>
                  <a:cs typeface="Arial" panose="020B0604020202020204" pitchFamily="34" charset="0"/>
                </a:rPr>
                <a:t>A.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Điện</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trở</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màng</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kim</a:t>
              </a:r>
              <a:r>
                <a:rPr lang="en-US" altLang="ko-KR" sz="900" dirty="0" smtClean="0">
                  <a:solidFill>
                    <a:srgbClr val="FF0000"/>
                  </a:solidFill>
                  <a:latin typeface="Arial" panose="020B0604020202020204" pitchFamily="34" charset="0"/>
                  <a:ea typeface="돋움" pitchFamily="50" charset="-127"/>
                  <a:cs typeface="Arial" panose="020B0604020202020204" pitchFamily="34" charset="0"/>
                </a:rPr>
                <a:t> </a:t>
              </a:r>
              <a:r>
                <a:rPr lang="en-US" altLang="ko-KR" sz="900" dirty="0" err="1" smtClean="0">
                  <a:solidFill>
                    <a:srgbClr val="FF0000"/>
                  </a:solidFill>
                  <a:latin typeface="Arial" panose="020B0604020202020204" pitchFamily="34" charset="0"/>
                  <a:ea typeface="돋움" pitchFamily="50" charset="-127"/>
                  <a:cs typeface="Arial" panose="020B0604020202020204" pitchFamily="34" charset="0"/>
                </a:rPr>
                <a:t>loại</a:t>
              </a:r>
              <a:endParaRPr lang="en-US" altLang="ko-KR" sz="900" dirty="0">
                <a:solidFill>
                  <a:srgbClr val="FF0000"/>
                </a:solidFill>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B.</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err="1" smtClean="0">
                  <a:latin typeface="Arial" panose="020B0604020202020204" pitchFamily="34" charset="0"/>
                  <a:ea typeface="돋움" pitchFamily="50" charset="-127"/>
                  <a:cs typeface="Arial" panose="020B0604020202020204" pitchFamily="34" charset="0"/>
                </a:rPr>
                <a:t>trở</a:t>
              </a:r>
              <a:r>
                <a:rPr lang="en-US" altLang="ko-KR" sz="900" smtClean="0">
                  <a:latin typeface="Arial" panose="020B0604020202020204" pitchFamily="34" charset="0"/>
                  <a:ea typeface="돋움" pitchFamily="50" charset="-127"/>
                  <a:cs typeface="Arial" panose="020B0604020202020204" pitchFamily="34" charset="0"/>
                </a:rPr>
                <a:t> SOLID</a:t>
              </a:r>
              <a:endParaRPr lang="ko-KR" altLang="en-US"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C.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trở</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cuộn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dây</a:t>
              </a:r>
              <a:endParaRPr lang="ko-KR" altLang="en-US" sz="900" dirty="0">
                <a:latin typeface="Arial" panose="020B0604020202020204" pitchFamily="34" charset="0"/>
                <a:ea typeface="돋움" pitchFamily="50" charset="-127"/>
                <a:cs typeface="Arial" panose="020B0604020202020204" pitchFamily="34" charset="0"/>
              </a:endParaRPr>
            </a:p>
            <a:p>
              <a:pPr eaLnBrk="1" hangingPunct="1"/>
              <a:r>
                <a:rPr lang="en-US" altLang="ko-KR" sz="900" smtClean="0">
                  <a:latin typeface="Arial" panose="020B0604020202020204" pitchFamily="34" charset="0"/>
                  <a:ea typeface="돋움" pitchFamily="50" charset="-127"/>
                  <a:cs typeface="Arial" panose="020B0604020202020204" pitchFamily="34" charset="0"/>
                </a:rPr>
                <a:t>D.</a:t>
              </a:r>
              <a:r>
                <a:rPr lang="ko-KR" altLang="en-US" sz="90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Điện</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trở</a:t>
              </a:r>
              <a:r>
                <a:rPr lang="en-US" altLang="ko-KR" sz="900" dirty="0" smtClean="0">
                  <a:latin typeface="Arial" panose="020B0604020202020204" pitchFamily="34" charset="0"/>
                  <a:ea typeface="돋움" pitchFamily="50" charset="-127"/>
                  <a:cs typeface="Arial" panose="020B0604020202020204" pitchFamily="34" charset="0"/>
                </a:rPr>
                <a:t> </a:t>
              </a:r>
              <a:r>
                <a:rPr lang="en-US" altLang="ko-KR" sz="900" dirty="0" err="1" smtClean="0">
                  <a:latin typeface="Arial" panose="020B0604020202020204" pitchFamily="34" charset="0"/>
                  <a:ea typeface="돋움" pitchFamily="50" charset="-127"/>
                  <a:cs typeface="Arial" panose="020B0604020202020204" pitchFamily="34" charset="0"/>
                </a:rPr>
                <a:t>tráng</a:t>
              </a:r>
              <a:r>
                <a:rPr lang="en-US" altLang="ko-KR" sz="900" dirty="0" smtClean="0">
                  <a:latin typeface="Arial" panose="020B0604020202020204" pitchFamily="34" charset="0"/>
                  <a:ea typeface="돋움" pitchFamily="50" charset="-127"/>
                  <a:cs typeface="Arial" panose="020B0604020202020204" pitchFamily="34" charset="0"/>
                </a:rPr>
                <a:t> men</a:t>
              </a:r>
              <a:endParaRPr lang="ko-KR" altLang="en-US" sz="900" dirty="0">
                <a:latin typeface="Arial" panose="020B0604020202020204" pitchFamily="34" charset="0"/>
                <a:ea typeface="돋움" pitchFamily="50" charset="-127"/>
                <a:cs typeface="Arial" panose="020B0604020202020204" pitchFamily="34" charset="0"/>
              </a:endParaRPr>
            </a:p>
          </p:txBody>
        </p:sp>
        <p:pic>
          <p:nvPicPr>
            <p:cNvPr id="24" name="Picture 8" descr="금속피막_박막"/>
            <p:cNvPicPr>
              <a:picLocks noChangeAspect="1" noChangeArrowheads="1"/>
            </p:cNvPicPr>
            <p:nvPr/>
          </p:nvPicPr>
          <p:blipFill>
            <a:blip r:embed="rId5">
              <a:extLst>
                <a:ext uri="{28A0092B-C50C-407E-A947-70E740481C1C}">
                  <a14:useLocalDpi xmlns:a14="http://schemas.microsoft.com/office/drawing/2010/main" val="0"/>
                </a:ext>
              </a:extLst>
            </a:blip>
            <a:srcRect b="-50"/>
            <a:stretch>
              <a:fillRect/>
            </a:stretch>
          </p:blipFill>
          <p:spPr bwMode="auto">
            <a:xfrm>
              <a:off x="4941548" y="3308530"/>
              <a:ext cx="1439862" cy="687388"/>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090962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latin typeface="Times New Roman" pitchFamily="18" charset="0"/>
              <a:cs typeface="Times New Roman" pitchFamily="18" charset="0"/>
            </a:endParaRPr>
          </a:p>
          <a:p>
            <a:pPr eaLnBrk="1" fontAlgn="base" hangingPunct="1">
              <a:spcBef>
                <a:spcPct val="0"/>
              </a:spcBef>
              <a:spcAft>
                <a:spcPct val="0"/>
              </a:spcAft>
            </a:pPr>
            <a:endParaRPr lang="en-US" altLang="ko-KR" smtClean="0">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PLC :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40</a:t>
            </a:r>
            <a:endParaRPr lang="ko-KR" altLang="en-US" sz="950" b="1" dirty="0" smtClean="0">
              <a:latin typeface="Times New Roman" pitchFamily="18" charset="0"/>
              <a:cs typeface="Times New Roman" pitchFamily="18" charset="0"/>
            </a:endParaRPr>
          </a:p>
        </p:txBody>
      </p:sp>
      <p:sp>
        <p:nvSpPr>
          <p:cNvPr id="105" name="Rectangle 7"/>
          <p:cNvSpPr>
            <a:spLocks noChangeArrowheads="1"/>
          </p:cNvSpPr>
          <p:nvPr/>
        </p:nvSpPr>
        <p:spPr bwMode="auto">
          <a:xfrm>
            <a:off x="189190" y="1208584"/>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 </a:t>
            </a:r>
            <a:r>
              <a:rPr lang="vi-VN" altLang="ko-KR" sz="950">
                <a:latin typeface="Times New Roman" pitchFamily="18" charset="0"/>
                <a:ea typeface="LG Smart_H Regular" panose="020B0600000101010101" pitchFamily="34" charset="-127"/>
                <a:cs typeface="Times New Roman" pitchFamily="18" charset="0"/>
              </a:rPr>
              <a:t>Muốn đặt lại tính toán và reset lại những tính toán sai phát sinh của CPU, reset lại hardware thì cần làm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Stop </a:t>
            </a:r>
            <a:r>
              <a:rPr lang="vi-VN" altLang="ko-KR" sz="950" smtClean="0">
                <a:latin typeface="Times New Roman" pitchFamily="18" charset="0"/>
                <a:ea typeface="LG Smart_H Regular" panose="020B0600000101010101" pitchFamily="34" charset="-127"/>
                <a:cs typeface="Times New Roman" pitchFamily="18" charset="0"/>
              </a:rPr>
              <a:t>CPU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Format </a:t>
            </a:r>
            <a:r>
              <a:rPr lang="vi-VN" altLang="ko-KR" sz="950" smtClean="0">
                <a:latin typeface="Times New Roman" pitchFamily="18" charset="0"/>
                <a:ea typeface="LG Smart_H Regular" panose="020B0600000101010101" pitchFamily="34" charset="-127"/>
                <a:cs typeface="Times New Roman" pitchFamily="18" charset="0"/>
              </a:rPr>
              <a:t>CPU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Clear </a:t>
            </a:r>
            <a:r>
              <a:rPr lang="en-US" altLang="ko-KR" sz="950" smtClean="0">
                <a:latin typeface="Times New Roman" pitchFamily="18" charset="0"/>
                <a:ea typeface="LG Smart_H Regular" panose="020B0600000101010101" pitchFamily="34" charset="-127"/>
                <a:cs typeface="Times New Roman" pitchFamily="18" charset="0"/>
              </a:rPr>
              <a:t>latch</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Reset CPU</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106" name="Rectangle 7"/>
          <p:cNvSpPr>
            <a:spLocks noChangeArrowheads="1"/>
          </p:cNvSpPr>
          <p:nvPr/>
        </p:nvSpPr>
        <p:spPr bwMode="auto">
          <a:xfrm>
            <a:off x="174625" y="2360712"/>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22. </a:t>
            </a:r>
            <a:r>
              <a:rPr lang="vi-VN" altLang="ko-KR" sz="950">
                <a:latin typeface="Times New Roman" pitchFamily="18" charset="0"/>
                <a:ea typeface="LG Smart_H Regular" panose="020B0600000101010101" pitchFamily="34" charset="-127"/>
                <a:cs typeface="Times New Roman" pitchFamily="18" charset="0"/>
              </a:rPr>
              <a:t>Kết quả biến đổi (1001)₂ sang hệ số thập phân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8</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9</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10</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1</a:t>
            </a:r>
            <a:r>
              <a:rPr lang="en-US" altLang="ko-KR" sz="950" smtClean="0">
                <a:latin typeface="Times New Roman" pitchFamily="18" charset="0"/>
                <a:ea typeface="LG Smart_H Regular" panose="020B0600000101010101" pitchFamily="34" charset="-127"/>
                <a:cs typeface="Times New Roman" pitchFamily="18" charset="0"/>
              </a:rPr>
              <a:t>1</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7" name="Rectangle 7"/>
          <p:cNvSpPr>
            <a:spLocks noChangeArrowheads="1"/>
          </p:cNvSpPr>
          <p:nvPr/>
        </p:nvSpPr>
        <p:spPr bwMode="auto">
          <a:xfrm>
            <a:off x="201890" y="3512840"/>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 </a:t>
            </a:r>
            <a:r>
              <a:rPr lang="vi-VN" altLang="ko-KR" sz="950">
                <a:latin typeface="Times New Roman" pitchFamily="18" charset="0"/>
                <a:ea typeface="LG Smart_H Regular" panose="020B0600000101010101" pitchFamily="34" charset="-127"/>
                <a:cs typeface="Times New Roman" pitchFamily="18" charset="0"/>
              </a:rPr>
              <a:t>Device có khả năng điều khiển bằng đơn vị Word, </a:t>
            </a:r>
            <a:r>
              <a:rPr lang="vi-VN" altLang="ko-KR" sz="950" smtClean="0">
                <a:latin typeface="Times New Roman" pitchFamily="18" charset="0"/>
                <a:ea typeface="LG Smart_H Regular" panose="020B0600000101010101" pitchFamily="34" charset="-127"/>
                <a:cs typeface="Times New Roman" pitchFamily="18" charset="0"/>
              </a:rPr>
              <a:t>Bit?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Device ngoài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Device trong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Bit Device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Word Device </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109" name="Rectangle 7"/>
          <p:cNvSpPr>
            <a:spLocks noChangeArrowheads="1"/>
          </p:cNvSpPr>
          <p:nvPr/>
        </p:nvSpPr>
        <p:spPr bwMode="auto">
          <a:xfrm>
            <a:off x="215483" y="8007240"/>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Tiến hành "Memory Format". Thao thác nào là đúng?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a:t>
            </a:r>
            <a:r>
              <a:rPr lang="en-US" altLang="ko-KR" sz="950">
                <a:latin typeface="Times New Roman" pitchFamily="18" charset="0"/>
                <a:ea typeface="LG Smart_H Regular" panose="020B0600000101010101" pitchFamily="34" charset="-127"/>
                <a:cs typeface="Times New Roman" pitchFamily="18" charset="0"/>
              </a:rPr>
              <a:t>1) Kết nối GX Word 2 với CPU PLC -&gt; (2) Stop PLC -&gt;  (3)Reset PLC-&gt;  (4)PLC Memory </a:t>
            </a:r>
            <a:r>
              <a:rPr lang="en-US" altLang="ko-KR" sz="950" smtClean="0">
                <a:latin typeface="Times New Roman" pitchFamily="18" charset="0"/>
                <a:ea typeface="LG Smart_H Regular" panose="020B0600000101010101" pitchFamily="34" charset="-127"/>
                <a:cs typeface="Times New Roman" pitchFamily="18" charset="0"/>
              </a:rPr>
              <a:t>Format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Kết nối GX Word 2 với CPU PLC -&gt; (2) Stop PLC -&gt;  (3)PLC Memory Format -&gt; (4)Reset </a:t>
            </a:r>
            <a:r>
              <a:rPr lang="en-US" altLang="ko-KR" sz="950" smtClean="0">
                <a:latin typeface="Times New Roman" pitchFamily="18" charset="0"/>
                <a:ea typeface="LG Smart_H Regular" panose="020B0600000101010101" pitchFamily="34" charset="-127"/>
                <a:cs typeface="Times New Roman" pitchFamily="18" charset="0"/>
              </a:rPr>
              <a:t>PLC</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Kết nối GX Word 2 với CPU PLC -&gt; (2) PLC Memory Format -&gt; (3)Stop PLC -&gt;  (4)Reset </a:t>
            </a:r>
            <a:r>
              <a:rPr lang="en-US" altLang="ko-KR" sz="950" smtClean="0">
                <a:latin typeface="Times New Roman" pitchFamily="18" charset="0"/>
                <a:ea typeface="LG Smart_H Regular" panose="020B0600000101010101" pitchFamily="34" charset="-127"/>
                <a:cs typeface="Times New Roman" pitchFamily="18" charset="0"/>
              </a:rPr>
              <a:t>PLC</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(1) Kết nối GX Word 2 với CPU PLC -&gt; (2) Stop PLC -&gt;  PLC Memory Format -&gt; Reset PLC</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3449862" y="1136576"/>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Khi cùng lúc chuyển đổi và lưu thẳng vào CPU nội dung đã viết trong khi Run thực hiện thao  tác nào sau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Shift </a:t>
            </a:r>
            <a:r>
              <a:rPr lang="en-US" altLang="ko-KR" sz="950">
                <a:latin typeface="Times New Roman" pitchFamily="18" charset="0"/>
                <a:ea typeface="LG Smart_H Regular" panose="020B0600000101010101" pitchFamily="34" charset="-127"/>
                <a:cs typeface="Times New Roman" pitchFamily="18" charset="0"/>
              </a:rPr>
              <a:t>+ F1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Shift </a:t>
            </a:r>
            <a:r>
              <a:rPr lang="en-US" altLang="ko-KR" sz="950">
                <a:latin typeface="Times New Roman" pitchFamily="18" charset="0"/>
                <a:ea typeface="LG Smart_H Regular" panose="020B0600000101010101" pitchFamily="34" charset="-127"/>
                <a:cs typeface="Times New Roman" pitchFamily="18" charset="0"/>
              </a:rPr>
              <a:t>+ F2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Shift </a:t>
            </a:r>
            <a:r>
              <a:rPr lang="vi-VN"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F3</a:t>
            </a:r>
            <a:r>
              <a:rPr lang="en-US" altLang="ko-KR" sz="950" smtClean="0">
                <a:latin typeface="Times New Roman" pitchFamily="18" charset="0"/>
                <a:ea typeface="LG Smart_H Regular" panose="020B0600000101010101" pitchFamily="34" charset="-127"/>
                <a:cs typeface="Times New Roman" pitchFamily="18" charset="0"/>
              </a:rPr>
              <a:t> </a:t>
            </a: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Shift </a:t>
            </a:r>
            <a:r>
              <a:rPr lang="vi-VN" altLang="ko-KR" sz="950">
                <a:solidFill>
                  <a:srgbClr val="FF0000"/>
                </a:solidFill>
                <a:latin typeface="Times New Roman" pitchFamily="18" charset="0"/>
                <a:ea typeface="LG Smart_H Regular" panose="020B0600000101010101" pitchFamily="34" charset="-127"/>
                <a:cs typeface="Times New Roman" pitchFamily="18" charset="0"/>
              </a:rPr>
              <a:t>+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F</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4</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2399328"/>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Khi sử dụng GX Developer để ngăn chặn sử dụng coil hay tiếp điểm trùng lặp nhất định phải thực hiện thao  tác nào sau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Verify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Copy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Cross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Reference</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Write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2" name="Rectangle 7"/>
          <p:cNvSpPr>
            <a:spLocks noChangeArrowheads="1"/>
          </p:cNvSpPr>
          <p:nvPr/>
        </p:nvSpPr>
        <p:spPr bwMode="auto">
          <a:xfrm>
            <a:off x="3419475" y="3909318"/>
            <a:ext cx="3233208"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Khi cài đặt Parameter để sử dụng khoảng Latch và Timer tích hợp phải thao tác phần nào sau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Device</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I/O </a:t>
            </a:r>
            <a:r>
              <a:rPr lang="en-US" altLang="ko-KR" sz="950" smtClean="0">
                <a:latin typeface="Times New Roman" pitchFamily="18" charset="0"/>
                <a:ea typeface="LG Smart_H Regular" panose="020B0600000101010101" pitchFamily="34" charset="-127"/>
                <a:cs typeface="Times New Roman" pitchFamily="18" charset="0"/>
              </a:rPr>
              <a:t>Assigment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PLC </a:t>
            </a:r>
            <a:r>
              <a:rPr lang="vi-VN" altLang="ko-KR" sz="950" smtClean="0">
                <a:latin typeface="Times New Roman" pitchFamily="18" charset="0"/>
                <a:ea typeface="LG Smart_H Regular" panose="020B0600000101010101" pitchFamily="34" charset="-127"/>
                <a:cs typeface="Times New Roman" pitchFamily="18" charset="0"/>
              </a:rPr>
              <a:t>RAR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PLC system</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84" name="Rectangle 7"/>
          <p:cNvSpPr>
            <a:spLocks noChangeArrowheads="1"/>
          </p:cNvSpPr>
          <p:nvPr/>
        </p:nvSpPr>
        <p:spPr bwMode="auto">
          <a:xfrm>
            <a:off x="3412872" y="8448000"/>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fr-FR" altLang="ko-KR" sz="950">
                <a:latin typeface="Times New Roman" pitchFamily="18" charset="0"/>
                <a:ea typeface="LG Smart_H Regular" panose="020B0600000101010101" pitchFamily="34" charset="-127"/>
                <a:cs typeface="Times New Roman" pitchFamily="18" charset="0"/>
              </a:rPr>
              <a:t>Để Y10 On cần nhấn X1 bao nhiêu </a:t>
            </a:r>
            <a:r>
              <a:rPr lang="fr-FR" altLang="ko-KR" sz="950" smtClean="0">
                <a:latin typeface="Times New Roman" pitchFamily="18" charset="0"/>
                <a:ea typeface="LG Smart_H Regular" panose="020B0600000101010101" pitchFamily="34" charset="-127"/>
                <a:cs typeface="Times New Roman" pitchFamily="18" charset="0"/>
              </a:rPr>
              <a:t>lần?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10</a:t>
            </a: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5</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9</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4" name="Rectangle 7"/>
          <p:cNvSpPr>
            <a:spLocks noChangeArrowheads="1"/>
          </p:cNvSpPr>
          <p:nvPr/>
        </p:nvSpPr>
        <p:spPr bwMode="auto">
          <a:xfrm>
            <a:off x="215484" y="4745102"/>
            <a:ext cx="3239810"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fr-FR" altLang="ko-KR" sz="950">
                <a:latin typeface="Times New Roman" pitchFamily="18" charset="0"/>
                <a:ea typeface="LG Smart_H Regular" panose="020B0600000101010101" pitchFamily="34" charset="-127"/>
                <a:cs typeface="Times New Roman" pitchFamily="18" charset="0"/>
              </a:rPr>
              <a:t>Đâu là "Refresh đầu vào</a:t>
            </a:r>
            <a:r>
              <a:rPr lang="fr-FR"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Khi PLC được vận hành thì các thông tin đã được nhập sẽ được nhận vào khu vực nhập của Memory thông qua Module đầu vào và thông tin này được copy lại vào khu vực đầu vào để sử dụng như Data đầu vào trong khi thực hiện tính toán</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Sử dụng thông tin của tiếp điểm đầu vào được đọc hiểu trong quá trình Refresh đầu vào như Data hoặc điều kiện để thực hiện tính toán theo Program đã nhập trước và kết quả đó sẽ được lưu tại memory đầu ra hoặc memory bên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Khi Main Program đang thực hiện tính toán mà điều kiện thực hiện của Sub Program được thỏa mãn thì sẽ dừng việc tính toán của Main Program và sau khi Sub Program thực hiện xong thì Main Program sẽ quay trở lại tiếp tục tính toán.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Kết quả được tạo ra trong quá trình Main Program hay Sub Program tính toán thì không được đưa đến đầu ra ngay mà được lưu trữ trong khu vực đầu vào</a:t>
            </a:r>
          </a:p>
        </p:txBody>
      </p:sp>
      <p:grpSp>
        <p:nvGrpSpPr>
          <p:cNvPr id="2" name="Group 1"/>
          <p:cNvGrpSpPr/>
          <p:nvPr/>
        </p:nvGrpSpPr>
        <p:grpSpPr>
          <a:xfrm>
            <a:off x="3425951" y="5628798"/>
            <a:ext cx="3239810" cy="1700466"/>
            <a:chOff x="3425951" y="5628798"/>
            <a:chExt cx="3239810" cy="1700466"/>
          </a:xfrm>
        </p:grpSpPr>
        <p:sp>
          <p:nvSpPr>
            <p:cNvPr id="183" name="Rectangle 7"/>
            <p:cNvSpPr>
              <a:spLocks noChangeArrowheads="1"/>
            </p:cNvSpPr>
            <p:nvPr/>
          </p:nvSpPr>
          <p:spPr bwMode="auto">
            <a:xfrm>
              <a:off x="3425951" y="5628798"/>
              <a:ext cx="3239810"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Tìm đáp án thích hợp để điền vào (?) sao cho giá trị của </a:t>
              </a:r>
              <a:r>
                <a:rPr lang="vi-VN" altLang="ko-KR" sz="950" smtClean="0">
                  <a:latin typeface="Times New Roman" pitchFamily="18" charset="0"/>
                  <a:ea typeface="LG Smart_H Regular" panose="020B0600000101010101" pitchFamily="34" charset="-127"/>
                  <a:cs typeface="Times New Roman" pitchFamily="18" charset="0"/>
                </a:rPr>
                <a:t>D1</a:t>
              </a:r>
              <a:r>
                <a:rPr lang="en-US" altLang="ko-KR" sz="950" smtClean="0">
                  <a:latin typeface="Times New Roman" pitchFamily="18" charset="0"/>
                  <a:ea typeface="LG Smart_H Regular" panose="020B0600000101010101" pitchFamily="34" charset="-127"/>
                  <a:cs typeface="Times New Roman" pitchFamily="18" charset="0"/>
                </a:rPr>
                <a:t>9</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là 10</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K5                 B</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K0              C</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X10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a:t>
              </a:r>
              <a:r>
                <a:rPr lang="en-US" altLang="ko-KR" sz="950">
                  <a:solidFill>
                    <a:srgbClr val="FF0000"/>
                  </a:solidFill>
                  <a:latin typeface="Times New Roman" pitchFamily="18" charset="0"/>
                  <a:ea typeface="LG Smart_H Regular" panose="020B0600000101010101" pitchFamily="34" charset="-127"/>
                  <a:cs typeface="Times New Roman" pitchFamily="18" charset="0"/>
                </a:rPr>
                <a:t>. K</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10</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pic>
          <p:nvPicPr>
            <p:cNvPr id="26" name="그림 11"/>
            <p:cNvPicPr>
              <a:picLocks noChangeAspect="1"/>
            </p:cNvPicPr>
            <p:nvPr/>
          </p:nvPicPr>
          <p:blipFill>
            <a:blip r:embed="rId3"/>
            <a:stretch>
              <a:fillRect/>
            </a:stretch>
          </p:blipFill>
          <p:spPr>
            <a:xfrm>
              <a:off x="3441700" y="6075057"/>
              <a:ext cx="3210982" cy="807947"/>
            </a:xfrm>
            <a:prstGeom prst="rect">
              <a:avLst/>
            </a:prstGeom>
          </p:spPr>
        </p:pic>
      </p:grpSp>
    </p:spTree>
    <p:extLst>
      <p:ext uri="{BB962C8B-B14F-4D97-AF65-F5344CB8AC3E}">
        <p14:creationId xmlns:p14="http://schemas.microsoft.com/office/powerpoint/2010/main" val="124360880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7" name="Rectangle 99"/>
          <p:cNvSpPr>
            <a:spLocks noChangeArrowheads="1"/>
          </p:cNvSpPr>
          <p:nvPr/>
        </p:nvSpPr>
        <p:spPr bwMode="auto">
          <a:xfrm>
            <a:off x="188640" y="1042988"/>
            <a:ext cx="325306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71450" indent="-171450" eaLnBrk="1" hangingPunct="1"/>
            <a:r>
              <a:rPr lang="en-US" altLang="ko-KR" sz="950" smtClean="0">
                <a:solidFill>
                  <a:srgbClr val="000000"/>
                </a:solidFill>
                <a:latin typeface="Times New Roman" pitchFamily="18" charset="0"/>
                <a:cs typeface="Times New Roman" panose="02020603050405020304" pitchFamily="18" charset="0"/>
              </a:rPr>
              <a:t>31. Cái </a:t>
            </a:r>
            <a:r>
              <a:rPr lang="en-US" altLang="ko-KR" sz="950" dirty="0" err="1" smtClean="0">
                <a:solidFill>
                  <a:srgbClr val="000000"/>
                </a:solidFill>
                <a:latin typeface="Times New Roman" panose="02020603050405020304" pitchFamily="18" charset="0"/>
                <a:cs typeface="Times New Roman" panose="02020603050405020304" pitchFamily="18" charset="0"/>
              </a:rPr>
              <a:t>đúng</a:t>
            </a:r>
            <a:r>
              <a:rPr lang="en-US" altLang="ko-KR" sz="950" dirty="0" smtClean="0">
                <a:solidFill>
                  <a:srgbClr val="000000"/>
                </a:solidFill>
                <a:latin typeface="Times New Roman" panose="02020603050405020304" pitchFamily="18" charset="0"/>
                <a:cs typeface="Times New Roman" panose="02020603050405020304" pitchFamily="18" charset="0"/>
              </a:rPr>
              <a:t> </a:t>
            </a:r>
            <a:r>
              <a:rPr lang="en-US" altLang="ko-KR" sz="950" err="1" smtClean="0">
                <a:solidFill>
                  <a:srgbClr val="000000"/>
                </a:solidFill>
                <a:latin typeface="Times New Roman" panose="02020603050405020304" pitchFamily="18" charset="0"/>
                <a:cs typeface="Times New Roman" panose="02020603050405020304" pitchFamily="18" charset="0"/>
              </a:rPr>
              <a:t>với</a:t>
            </a:r>
            <a:r>
              <a:rPr lang="en-US" altLang="ko-KR" sz="950" smtClean="0">
                <a:solidFill>
                  <a:srgbClr val="000000"/>
                </a:solidFill>
                <a:latin typeface="Times New Roman" panose="02020603050405020304" pitchFamily="18" charset="0"/>
                <a:cs typeface="Times New Roman" panose="02020603050405020304" pitchFamily="18" charset="0"/>
              </a:rPr>
              <a:t> TIP </a:t>
            </a:r>
            <a:r>
              <a:rPr lang="en-US" altLang="ko-KR" sz="950" dirty="0" smtClean="0">
                <a:solidFill>
                  <a:srgbClr val="000000"/>
                </a:solidFill>
                <a:latin typeface="Times New Roman" panose="02020603050405020304" pitchFamily="18" charset="0"/>
                <a:cs typeface="Times New Roman" panose="02020603050405020304" pitchFamily="18" charset="0"/>
              </a:rPr>
              <a:t>Switch </a:t>
            </a:r>
            <a:r>
              <a:rPr lang="en-US" altLang="ko-KR" sz="950" dirty="0" err="1" smtClean="0">
                <a:solidFill>
                  <a:srgbClr val="000000"/>
                </a:solidFill>
                <a:latin typeface="Times New Roman" panose="02020603050405020304" pitchFamily="18" charset="0"/>
                <a:cs typeface="Times New Roman" panose="02020603050405020304" pitchFamily="18" charset="0"/>
              </a:rPr>
              <a:t>trong</a:t>
            </a:r>
            <a:r>
              <a:rPr lang="en-US" altLang="ko-KR" sz="950" dirty="0" smtClean="0">
                <a:solidFill>
                  <a:srgbClr val="000000"/>
                </a:solidFill>
                <a:latin typeface="Times New Roman" panose="02020603050405020304" pitchFamily="18" charset="0"/>
                <a:cs typeface="Times New Roman" panose="02020603050405020304" pitchFamily="18" charset="0"/>
              </a:rPr>
              <a:t> ROM </a:t>
            </a:r>
            <a:r>
              <a:rPr lang="en-US" altLang="ko-KR" sz="950" dirty="0" err="1" smtClean="0">
                <a:solidFill>
                  <a:srgbClr val="000000"/>
                </a:solidFill>
                <a:latin typeface="Times New Roman" panose="02020603050405020304" pitchFamily="18" charset="0"/>
                <a:cs typeface="Times New Roman" panose="02020603050405020304" pitchFamily="18" charset="0"/>
              </a:rPr>
              <a:t>tiêu</a:t>
            </a:r>
            <a:r>
              <a:rPr lang="en-US" altLang="ko-KR" sz="950" dirty="0" smtClean="0">
                <a:solidFill>
                  <a:srgbClr val="000000"/>
                </a:solidFill>
                <a:latin typeface="Times New Roman" panose="02020603050405020304" pitchFamily="18" charset="0"/>
                <a:cs typeface="Times New Roman" panose="02020603050405020304" pitchFamily="18" charset="0"/>
              </a:rPr>
              <a:t> </a:t>
            </a:r>
            <a:r>
              <a:rPr lang="en-US" altLang="ko-KR" sz="950" dirty="0" err="1" smtClean="0">
                <a:solidFill>
                  <a:srgbClr val="000000"/>
                </a:solidFill>
                <a:latin typeface="Times New Roman" panose="02020603050405020304" pitchFamily="18" charset="0"/>
                <a:cs typeface="Times New Roman" panose="02020603050405020304" pitchFamily="18" charset="0"/>
              </a:rPr>
              <a:t>chuẩn</a:t>
            </a:r>
            <a:r>
              <a:rPr lang="en-US" altLang="ko-KR" sz="950" dirty="0" smtClean="0">
                <a:solidFill>
                  <a:srgbClr val="000000"/>
                </a:solidFill>
                <a:latin typeface="Times New Roman" panose="02020603050405020304" pitchFamily="18" charset="0"/>
                <a:cs typeface="Times New Roman" panose="02020603050405020304" pitchFamily="18" charset="0"/>
              </a:rPr>
              <a:t> </a:t>
            </a:r>
            <a:r>
              <a:rPr lang="en-US" altLang="ko-KR" sz="950" dirty="0" err="1" smtClean="0">
                <a:solidFill>
                  <a:srgbClr val="000000"/>
                </a:solidFill>
                <a:latin typeface="Times New Roman" panose="02020603050405020304" pitchFamily="18" charset="0"/>
                <a:cs typeface="Times New Roman" panose="02020603050405020304" pitchFamily="18" charset="0"/>
              </a:rPr>
              <a:t>khi</a:t>
            </a:r>
            <a:r>
              <a:rPr lang="en-US" altLang="ko-KR" sz="950" dirty="0" smtClean="0">
                <a:solidFill>
                  <a:srgbClr val="000000"/>
                </a:solidFill>
                <a:latin typeface="Times New Roman" panose="02020603050405020304" pitchFamily="18" charset="0"/>
                <a:cs typeface="Times New Roman" panose="02020603050405020304" pitchFamily="18" charset="0"/>
              </a:rPr>
              <a:t> </a:t>
            </a:r>
            <a:r>
              <a:rPr lang="en-US" altLang="ko-KR" sz="950" dirty="0" err="1" smtClean="0">
                <a:solidFill>
                  <a:srgbClr val="000000"/>
                </a:solidFill>
                <a:latin typeface="Times New Roman" panose="02020603050405020304" pitchFamily="18" charset="0"/>
                <a:cs typeface="Times New Roman" panose="02020603050405020304" pitchFamily="18" charset="0"/>
              </a:rPr>
              <a:t>chỉ</a:t>
            </a:r>
            <a:r>
              <a:rPr lang="en-US" altLang="ko-KR" sz="950" dirty="0" smtClean="0">
                <a:solidFill>
                  <a:srgbClr val="000000"/>
                </a:solidFill>
                <a:latin typeface="Times New Roman" panose="02020603050405020304" pitchFamily="18" charset="0"/>
                <a:cs typeface="Times New Roman" panose="02020603050405020304" pitchFamily="18" charset="0"/>
              </a:rPr>
              <a:t> </a:t>
            </a:r>
            <a:r>
              <a:rPr lang="en-US" altLang="ko-KR" sz="950" err="1" smtClean="0">
                <a:solidFill>
                  <a:srgbClr val="000000"/>
                </a:solidFill>
                <a:latin typeface="Times New Roman" panose="02020603050405020304" pitchFamily="18" charset="0"/>
                <a:cs typeface="Times New Roman" panose="02020603050405020304" pitchFamily="18" charset="0"/>
              </a:rPr>
              <a:t>định</a:t>
            </a:r>
            <a:r>
              <a:rPr lang="en-US" altLang="ko-KR" sz="950" smtClean="0">
                <a:solidFill>
                  <a:srgbClr val="000000"/>
                </a:solidFill>
                <a:latin typeface="Times New Roman" panose="02020603050405020304" pitchFamily="18" charset="0"/>
                <a:cs typeface="Times New Roman" panose="02020603050405020304" pitchFamily="18" charset="0"/>
              </a:rPr>
              <a:t> Drive </a:t>
            </a:r>
            <a:r>
              <a:rPr lang="en-US" altLang="ko-KR" sz="950" dirty="0" err="1" smtClean="0">
                <a:solidFill>
                  <a:srgbClr val="000000"/>
                </a:solidFill>
                <a:latin typeface="Times New Roman" panose="02020603050405020304" pitchFamily="18" charset="0"/>
                <a:cs typeface="Times New Roman" panose="02020603050405020304" pitchFamily="18" charset="0"/>
              </a:rPr>
              <a:t>hữu</a:t>
            </a:r>
            <a:r>
              <a:rPr lang="en-US" altLang="ko-KR" sz="950" dirty="0" smtClean="0">
                <a:solidFill>
                  <a:srgbClr val="000000"/>
                </a:solidFill>
                <a:latin typeface="Times New Roman" panose="02020603050405020304" pitchFamily="18" charset="0"/>
                <a:cs typeface="Times New Roman" panose="02020603050405020304" pitchFamily="18" charset="0"/>
              </a:rPr>
              <a:t> </a:t>
            </a:r>
            <a:r>
              <a:rPr lang="en-US" altLang="ko-KR" sz="950" dirty="0" err="1" smtClean="0">
                <a:solidFill>
                  <a:srgbClr val="000000"/>
                </a:solidFill>
                <a:latin typeface="Times New Roman" panose="02020603050405020304" pitchFamily="18" charset="0"/>
                <a:cs typeface="Times New Roman" panose="02020603050405020304" pitchFamily="18" charset="0"/>
              </a:rPr>
              <a:t>hiệu</a:t>
            </a:r>
            <a:r>
              <a:rPr lang="en-US" altLang="ko-KR" sz="950" dirty="0" smtClean="0">
                <a:solidFill>
                  <a:srgbClr val="000000"/>
                </a:solidFill>
                <a:latin typeface="Times New Roman" panose="02020603050405020304" pitchFamily="18" charset="0"/>
                <a:cs typeface="Times New Roman" panose="02020603050405020304" pitchFamily="18" charset="0"/>
              </a:rPr>
              <a:t> Parameter </a:t>
            </a:r>
            <a:r>
              <a:rPr lang="en-US" altLang="ko-KR" sz="950" dirty="0" err="1" smtClean="0">
                <a:solidFill>
                  <a:srgbClr val="000000"/>
                </a:solidFill>
                <a:latin typeface="Times New Roman" panose="02020603050405020304" pitchFamily="18" charset="0"/>
                <a:cs typeface="Times New Roman" panose="02020603050405020304" pitchFamily="18" charset="0"/>
              </a:rPr>
              <a:t>của</a:t>
            </a:r>
            <a:r>
              <a:rPr lang="en-US" altLang="ko-KR" sz="950" dirty="0" smtClean="0">
                <a:solidFill>
                  <a:srgbClr val="000000"/>
                </a:solidFill>
                <a:latin typeface="Times New Roman" panose="02020603050405020304" pitchFamily="18" charset="0"/>
                <a:cs typeface="Times New Roman" panose="02020603050405020304" pitchFamily="18" charset="0"/>
              </a:rPr>
              <a:t> CPU </a:t>
            </a:r>
            <a:r>
              <a:rPr lang="en-US" altLang="ko-KR" sz="950" dirty="0" err="1" smtClean="0">
                <a:solidFill>
                  <a:srgbClr val="000000"/>
                </a:solidFill>
                <a:latin typeface="Times New Roman" panose="02020603050405020304" pitchFamily="18" charset="0"/>
                <a:cs typeface="Times New Roman" panose="02020603050405020304" pitchFamily="18" charset="0"/>
              </a:rPr>
              <a:t>là</a:t>
            </a:r>
            <a:r>
              <a:rPr lang="en-US" altLang="ko-KR" sz="950" dirty="0" smtClean="0">
                <a:solidFill>
                  <a:srgbClr val="000000"/>
                </a:solidFill>
                <a:latin typeface="Times New Roman" panose="02020603050405020304" pitchFamily="18" charset="0"/>
                <a:cs typeface="Times New Roman" panose="02020603050405020304" pitchFamily="18" charset="0"/>
              </a:rPr>
              <a:t> </a:t>
            </a:r>
            <a:r>
              <a:rPr lang="en-US" altLang="ko-KR" sz="950" err="1" smtClean="0">
                <a:solidFill>
                  <a:srgbClr val="000000"/>
                </a:solidFill>
                <a:latin typeface="Times New Roman" panose="02020603050405020304" pitchFamily="18" charset="0"/>
                <a:cs typeface="Times New Roman" panose="02020603050405020304" pitchFamily="18" charset="0"/>
              </a:rPr>
              <a:t>gì</a:t>
            </a:r>
            <a:r>
              <a:rPr lang="en-US" altLang="ko-KR" sz="950" smtClean="0">
                <a:solidFill>
                  <a:srgbClr val="000000"/>
                </a:solidFill>
                <a:latin typeface="Times New Roman" panose="02020603050405020304" pitchFamily="18" charset="0"/>
                <a:cs typeface="Times New Roman" panose="02020603050405020304" pitchFamily="18" charset="0"/>
              </a:rPr>
              <a:t>?</a:t>
            </a:r>
            <a:endParaRPr lang="en-US" altLang="ko-KR" sz="950" dirty="0">
              <a:solidFill>
                <a:srgbClr val="000000"/>
              </a:solidFill>
              <a:latin typeface="Times New Roman" panose="02020603050405020304" pitchFamily="18" charset="0"/>
              <a:cs typeface="Times New Roman" panose="02020603050405020304" pitchFamily="18" charset="0"/>
            </a:endParaRPr>
          </a:p>
          <a:p>
            <a:pPr eaLnBrk="1" hangingPunct="1"/>
            <a:r>
              <a:rPr lang="en-US" altLang="ko-KR" sz="950">
                <a:solidFill>
                  <a:srgbClr val="000000"/>
                </a:solidFill>
                <a:latin typeface="Times New Roman" panose="02020603050405020304" pitchFamily="18" charset="0"/>
                <a:cs typeface="Times New Roman" panose="02020603050405020304" pitchFamily="18" charset="0"/>
              </a:rPr>
              <a:t>   </a:t>
            </a:r>
            <a:endParaRPr lang="en-US" altLang="ko-KR" sz="950" smtClean="0">
              <a:solidFill>
                <a:srgbClr val="000000"/>
              </a:solidFill>
              <a:latin typeface="Times New Roman" panose="02020603050405020304" pitchFamily="18" charset="0"/>
              <a:cs typeface="Times New Roman" panose="02020603050405020304" pitchFamily="18" charset="0"/>
            </a:endParaRPr>
          </a:p>
          <a:p>
            <a:pPr eaLnBrk="1" hangingPunct="1"/>
            <a:r>
              <a:rPr lang="en-US" altLang="ko-KR" sz="950" smtClean="0">
                <a:solidFill>
                  <a:srgbClr val="000000"/>
                </a:solidFill>
                <a:latin typeface="Times New Roman" panose="02020603050405020304" pitchFamily="18" charset="0"/>
                <a:cs typeface="Times New Roman" panose="02020603050405020304" pitchFamily="18" charset="0"/>
              </a:rPr>
              <a:t>   A.  </a:t>
            </a:r>
            <a:r>
              <a:rPr lang="en-US" altLang="ko-KR" sz="950" dirty="0">
                <a:solidFill>
                  <a:srgbClr val="000000"/>
                </a:solidFill>
                <a:latin typeface="Times New Roman" panose="02020603050405020304" pitchFamily="18" charset="0"/>
                <a:cs typeface="Times New Roman" panose="02020603050405020304" pitchFamily="18" charset="0"/>
              </a:rPr>
              <a:t>SW2 ON SW3 </a:t>
            </a:r>
            <a:r>
              <a:rPr lang="en-US" altLang="ko-KR" sz="950">
                <a:solidFill>
                  <a:srgbClr val="000000"/>
                </a:solidFill>
                <a:latin typeface="Times New Roman" panose="02020603050405020304" pitchFamily="18" charset="0"/>
                <a:cs typeface="Times New Roman" panose="02020603050405020304" pitchFamily="18" charset="0"/>
              </a:rPr>
              <a:t>OFF       </a:t>
            </a:r>
            <a:r>
              <a:rPr lang="en-US" altLang="ko-KR" sz="950" smtClean="0">
                <a:solidFill>
                  <a:srgbClr val="000000"/>
                </a:solidFill>
                <a:latin typeface="Times New Roman" panose="02020603050405020304" pitchFamily="18" charset="0"/>
                <a:cs typeface="Times New Roman" panose="02020603050405020304" pitchFamily="18" charset="0"/>
              </a:rPr>
              <a:t> B.  </a:t>
            </a:r>
            <a:r>
              <a:rPr lang="en-US" altLang="ko-KR" sz="950" dirty="0">
                <a:solidFill>
                  <a:srgbClr val="000000"/>
                </a:solidFill>
                <a:latin typeface="Times New Roman" panose="02020603050405020304" pitchFamily="18" charset="0"/>
                <a:cs typeface="Times New Roman" panose="02020603050405020304" pitchFamily="18" charset="0"/>
              </a:rPr>
              <a:t>SW2 OFF SW3 ON</a:t>
            </a:r>
          </a:p>
          <a:p>
            <a:pPr eaLnBrk="1" hangingPunct="1"/>
            <a:r>
              <a:rPr lang="en-US" altLang="ko-KR" sz="950">
                <a:solidFill>
                  <a:srgbClr val="000000"/>
                </a:solidFill>
                <a:latin typeface="Times New Roman" panose="02020603050405020304" pitchFamily="18" charset="0"/>
                <a:cs typeface="Times New Roman" panose="02020603050405020304" pitchFamily="18" charset="0"/>
              </a:rPr>
              <a:t>  </a:t>
            </a:r>
            <a:r>
              <a:rPr lang="en-US" altLang="ko-KR" sz="950" smtClean="0">
                <a:solidFill>
                  <a:srgbClr val="000000"/>
                </a:solidFill>
                <a:latin typeface="Times New Roman" panose="02020603050405020304" pitchFamily="18" charset="0"/>
                <a:cs typeface="Times New Roman" panose="02020603050405020304" pitchFamily="18" charset="0"/>
              </a:rPr>
              <a:t> C.  </a:t>
            </a:r>
            <a:r>
              <a:rPr lang="en-US" altLang="ko-KR" sz="950" dirty="0">
                <a:solidFill>
                  <a:srgbClr val="000000"/>
                </a:solidFill>
                <a:latin typeface="Times New Roman" panose="02020603050405020304" pitchFamily="18" charset="0"/>
                <a:cs typeface="Times New Roman" panose="02020603050405020304" pitchFamily="18" charset="0"/>
              </a:rPr>
              <a:t>SW2 OFF SW3 </a:t>
            </a:r>
            <a:r>
              <a:rPr lang="en-US" altLang="ko-KR" sz="950">
                <a:solidFill>
                  <a:srgbClr val="000000"/>
                </a:solidFill>
                <a:latin typeface="Times New Roman" panose="02020603050405020304" pitchFamily="18" charset="0"/>
                <a:cs typeface="Times New Roman" panose="02020603050405020304" pitchFamily="18" charset="0"/>
              </a:rPr>
              <a:t>OFF       </a:t>
            </a:r>
            <a:r>
              <a:rPr lang="en-US" altLang="ko-KR" sz="950" smtClean="0">
                <a:solidFill>
                  <a:srgbClr val="FF0000"/>
                </a:solidFill>
                <a:latin typeface="Times New Roman" panose="02020603050405020304" pitchFamily="18" charset="0"/>
                <a:cs typeface="Times New Roman" panose="02020603050405020304" pitchFamily="18" charset="0"/>
              </a:rPr>
              <a:t>D.  </a:t>
            </a:r>
            <a:r>
              <a:rPr lang="en-US" altLang="ko-KR" sz="950" dirty="0">
                <a:solidFill>
                  <a:srgbClr val="FF0000"/>
                </a:solidFill>
                <a:latin typeface="Times New Roman" panose="02020603050405020304" pitchFamily="18" charset="0"/>
                <a:cs typeface="Times New Roman" panose="02020603050405020304" pitchFamily="18" charset="0"/>
              </a:rPr>
              <a:t>SW2 ON SW3 ON     </a:t>
            </a:r>
          </a:p>
        </p:txBody>
      </p:sp>
      <p:sp>
        <p:nvSpPr>
          <p:cNvPr id="8" name="Rectangle 100"/>
          <p:cNvSpPr>
            <a:spLocks noChangeArrowheads="1"/>
          </p:cNvSpPr>
          <p:nvPr/>
        </p:nvSpPr>
        <p:spPr bwMode="auto">
          <a:xfrm>
            <a:off x="189189" y="2432720"/>
            <a:ext cx="3252511"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32.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Cái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nào</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sai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khi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giải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thích</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về</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Data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Resister?</a:t>
            </a:r>
            <a:endParaRPr lang="ko-KR"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A. </a:t>
            </a:r>
            <a:r>
              <a:rPr lang="ko-KR"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Memory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lưu</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Data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PLC</a:t>
            </a:r>
            <a:r>
              <a:rPr lang="ko-KR"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endParaRPr lang="ko-KR"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marL="171450" indent="-171450"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B. </a:t>
            </a:r>
            <a:r>
              <a:rPr lang="ko-KR"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rPr>
              <a:t>Data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Resiste</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được</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cấu</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trúc</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1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điểm</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16Bit</a:t>
            </a:r>
            <a:r>
              <a:rPr lang="ko-KR" altLang="en-US" sz="95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và</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err="1" smtClean="0">
                <a:solidFill>
                  <a:srgbClr val="000000"/>
                </a:solidFill>
                <a:latin typeface="Times New Roman" panose="02020603050405020304" pitchFamily="18" charset="0"/>
                <a:ea typeface="돋움" pitchFamily="50" charset="-127"/>
                <a:cs typeface="Times New Roman" panose="02020603050405020304" pitchFamily="18" charset="0"/>
              </a:rPr>
              <a:t>có</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 thể</a:t>
            </a:r>
            <a:r>
              <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Read/Write theo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đơn</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vị</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16Bit</a:t>
            </a:r>
            <a:endParaRPr lang="ko-KR"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marL="171450" indent="-171450"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C.</a:t>
            </a:r>
            <a:r>
              <a:rPr lang="ko-KR"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Data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được</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lưu</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một</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lần</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ở Sequence Program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sẽ</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duy</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trì</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err="1" smtClean="0">
                <a:solidFill>
                  <a:srgbClr val="000000"/>
                </a:solidFill>
                <a:latin typeface="Times New Roman" panose="02020603050405020304" pitchFamily="18" charset="0"/>
                <a:ea typeface="돋움" pitchFamily="50" charset="-127"/>
                <a:cs typeface="Times New Roman" panose="02020603050405020304" pitchFamily="18" charset="0"/>
              </a:rPr>
              <a:t>đến</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 khi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lưu</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Data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khác</a:t>
            </a:r>
            <a:endParaRPr lang="ko-KR"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D. </a:t>
            </a:r>
            <a:r>
              <a:rPr lang="ko-KR"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Data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đang</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lưu</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ở Data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Resiste</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khi</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Off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nguồn</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hoặc</a:t>
            </a:r>
            <a:r>
              <a:rPr lang="en-US" altLang="ko-KR" sz="950" dirty="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Reset thì</a:t>
            </a:r>
          </a:p>
          <a:p>
            <a:pPr marL="341313" indent="-171450" eaLnBrk="1" hangingPunct="1"/>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Latch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của</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S/W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bị</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Clear </a:t>
            </a:r>
            <a:endParaRPr lang="ko-KR" altLang="en-US" sz="950" dirty="0">
              <a:solidFill>
                <a:srgbClr val="FF0000"/>
              </a:solidFill>
              <a:latin typeface="Times New Roman" panose="02020603050405020304" pitchFamily="18" charset="0"/>
              <a:ea typeface="돋움" pitchFamily="50" charset="-127"/>
              <a:cs typeface="Times New Roman" panose="02020603050405020304" pitchFamily="18" charset="0"/>
            </a:endParaRPr>
          </a:p>
        </p:txBody>
      </p:sp>
      <p:sp>
        <p:nvSpPr>
          <p:cNvPr id="9" name="Rectangle 102"/>
          <p:cNvSpPr>
            <a:spLocks noChangeArrowheads="1"/>
          </p:cNvSpPr>
          <p:nvPr/>
        </p:nvSpPr>
        <p:spPr bwMode="auto">
          <a:xfrm>
            <a:off x="174624" y="8174675"/>
            <a:ext cx="3235325"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35</a:t>
            </a:r>
            <a:r>
              <a:rPr lang="en-US" altLang="ko-KR" sz="950">
                <a:latin typeface="Times New Roman" panose="02020603050405020304" pitchFamily="18" charset="0"/>
                <a:ea typeface="돋움" pitchFamily="50" charset="-127"/>
                <a:cs typeface="Times New Roman" panose="02020603050405020304" pitchFamily="18" charset="0"/>
              </a:rPr>
              <a:t>.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Khi lệnh MC/MCR OFF, lệnh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nào</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err="1" smtClean="0">
                <a:solidFill>
                  <a:srgbClr val="000000"/>
                </a:solidFill>
                <a:latin typeface="Times New Roman" panose="02020603050405020304" pitchFamily="18" charset="0"/>
                <a:ea typeface="돋움" pitchFamily="50" charset="-127"/>
                <a:cs typeface="Times New Roman" panose="02020603050405020304" pitchFamily="18" charset="0"/>
              </a:rPr>
              <a:t>không</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 được duy trì trạng </a:t>
            </a:r>
            <a:r>
              <a:rPr lang="en-US" altLang="ko-KR" sz="950" err="1" smtClean="0">
                <a:solidFill>
                  <a:srgbClr val="000000"/>
                </a:solidFill>
                <a:latin typeface="Times New Roman" panose="02020603050405020304" pitchFamily="18" charset="0"/>
                <a:ea typeface="돋움" pitchFamily="50" charset="-127"/>
                <a:cs typeface="Times New Roman" panose="02020603050405020304" pitchFamily="18" charset="0"/>
              </a:rPr>
              <a:t>thái</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 ON mà sẽ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chuyển</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sang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OFF?</a:t>
            </a:r>
            <a:endPar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    A. SET                        B.   RST</a:t>
            </a:r>
            <a:endPar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    C. OUT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D.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Giá</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trị</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Timer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tích</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hợp</a:t>
            </a:r>
            <a:endParaRPr lang="ko-KR" altLang="en-US" sz="95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sp>
        <p:nvSpPr>
          <p:cNvPr id="10" name="Rectangle 103"/>
          <p:cNvSpPr>
            <a:spLocks noChangeArrowheads="1"/>
          </p:cNvSpPr>
          <p:nvPr/>
        </p:nvSpPr>
        <p:spPr bwMode="auto">
          <a:xfrm>
            <a:off x="3409950" y="2288704"/>
            <a:ext cx="3398838" cy="96949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latin typeface="Times New Roman" panose="02020603050405020304" pitchFamily="18" charset="0"/>
                <a:ea typeface="돋움" pitchFamily="50" charset="-127"/>
                <a:cs typeface="Times New Roman" panose="02020603050405020304" pitchFamily="18" charset="0"/>
              </a:rPr>
              <a:t>37.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Program </a:t>
            </a:r>
            <a:r>
              <a:rPr lang="en-US" altLang="ko-KR" sz="950" err="1" smtClean="0">
                <a:solidFill>
                  <a:srgbClr val="000000"/>
                </a:solidFill>
                <a:latin typeface="Times New Roman" panose="02020603050405020304" pitchFamily="18" charset="0"/>
                <a:ea typeface="돋움" pitchFamily="50" charset="-127"/>
                <a:cs typeface="Times New Roman" panose="02020603050405020304" pitchFamily="18" charset="0"/>
              </a:rPr>
              <a:t>mà</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 sau </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0.33s </a:t>
            </a:r>
            <a:r>
              <a:rPr lang="en-US" altLang="ko-KR" sz="950" err="1" smtClean="0">
                <a:solidFill>
                  <a:srgbClr val="000000"/>
                </a:solidFill>
                <a:latin typeface="Times New Roman" panose="02020603050405020304" pitchFamily="18" charset="0"/>
                <a:ea typeface="돋움" pitchFamily="50" charset="-127"/>
                <a:cs typeface="Times New Roman" panose="02020603050405020304" pitchFamily="18" charset="0"/>
              </a:rPr>
              <a:t>hoạt</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 động, Timer T0 ON. </a:t>
            </a:r>
          </a:p>
          <a:p>
            <a:pPr eaLnBrk="1" hangingPunct="1"/>
            <a:r>
              <a:rPr lang="vi-VN"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Chương</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 trình nào dưới đây đúng?</a:t>
            </a:r>
            <a:endPar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A.  </a:t>
            </a:r>
            <a:r>
              <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rPr>
              <a:t>-(T0 K33</a:t>
            </a:r>
            <a:r>
              <a:rPr lang="en-US" altLang="ko-KR" sz="95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B. -(</a:t>
            </a:r>
            <a:r>
              <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rPr>
              <a:t>T0 K333)-</a:t>
            </a:r>
          </a:p>
          <a:p>
            <a:pPr eaLnBrk="1" hangingPunct="1"/>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C. </a:t>
            </a:r>
            <a:r>
              <a:rPr lang="en-US" altLang="ko-KR" sz="950" dirty="0">
                <a:solidFill>
                  <a:srgbClr val="FF0000"/>
                </a:solidFill>
                <a:latin typeface="Times New Roman" panose="02020603050405020304" pitchFamily="18" charset="0"/>
                <a:ea typeface="돋움" pitchFamily="50" charset="-127"/>
                <a:cs typeface="Times New Roman" panose="02020603050405020304" pitchFamily="18" charset="0"/>
              </a:rPr>
              <a:t>-(</a:t>
            </a:r>
            <a:r>
              <a:rPr lang="en-US" altLang="ko-KR" sz="950">
                <a:solidFill>
                  <a:srgbClr val="FF0000"/>
                </a:solidFill>
                <a:latin typeface="Times New Roman" panose="02020603050405020304" pitchFamily="18" charset="0"/>
                <a:ea typeface="돋움" pitchFamily="50" charset="-127"/>
                <a:cs typeface="Times New Roman" panose="02020603050405020304" pitchFamily="18" charset="0"/>
              </a:rPr>
              <a:t>H </a:t>
            </a:r>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T0 </a:t>
            </a:r>
            <a:r>
              <a:rPr lang="en-US" altLang="ko-KR" sz="950" dirty="0">
                <a:solidFill>
                  <a:srgbClr val="FF0000"/>
                </a:solidFill>
                <a:latin typeface="Times New Roman" panose="02020603050405020304" pitchFamily="18" charset="0"/>
                <a:ea typeface="돋움" pitchFamily="50" charset="-127"/>
                <a:cs typeface="Times New Roman" panose="02020603050405020304" pitchFamily="18" charset="0"/>
              </a:rPr>
              <a:t>K33</a:t>
            </a:r>
            <a:r>
              <a:rPr lang="en-US" altLang="ko-KR" sz="95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D. -(</a:t>
            </a:r>
            <a:r>
              <a:rPr lang="en-US" altLang="ko-KR" sz="950">
                <a:solidFill>
                  <a:srgbClr val="000000"/>
                </a:solidFill>
                <a:latin typeface="Times New Roman" panose="02020603050405020304" pitchFamily="18" charset="0"/>
                <a:ea typeface="돋움" pitchFamily="50" charset="-127"/>
                <a:cs typeface="Times New Roman" panose="02020603050405020304" pitchFamily="18" charset="0"/>
              </a:rPr>
              <a:t>H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T0 </a:t>
            </a:r>
            <a:r>
              <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rPr>
              <a:t>K333)</a:t>
            </a:r>
          </a:p>
          <a:p>
            <a:pPr eaLnBrk="1" hangingPunct="1"/>
            <a:endParaRPr lang="ko-KR" altLang="en-US" sz="95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sp>
        <p:nvSpPr>
          <p:cNvPr id="11" name="Rectangle 107"/>
          <p:cNvSpPr>
            <a:spLocks noChangeArrowheads="1"/>
          </p:cNvSpPr>
          <p:nvPr/>
        </p:nvSpPr>
        <p:spPr bwMode="auto">
          <a:xfrm>
            <a:off x="3429000" y="3818766"/>
            <a:ext cx="3240360" cy="126188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38</a:t>
            </a:r>
            <a:r>
              <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Điều</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nào</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không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đúng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những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giải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thích</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về</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Device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sau</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đây</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rPr>
              <a:t>(     )</a:t>
            </a:r>
          </a:p>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A.  </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Device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bên</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ngoài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sử</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dụng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cho</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đầu</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vào</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đầu</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ra</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bên</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err="1" smtClean="0">
                <a:solidFill>
                  <a:srgbClr val="000000"/>
                </a:solidFill>
                <a:latin typeface="Times New Roman" panose="02020603050405020304" pitchFamily="18" charset="0"/>
                <a:ea typeface="돋움" pitchFamily="50" charset="-127"/>
                <a:cs typeface="Times New Roman" panose="02020603050405020304" pitchFamily="18" charset="0"/>
              </a:rPr>
              <a:t>ngoài</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 CPU</a:t>
            </a:r>
            <a:endParaRPr lang="ko-KR" altLang="en-US"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B. </a:t>
            </a:r>
            <a:r>
              <a:rPr lang="ko-KR" altLang="en-US" sz="95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Device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bên</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Device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chỉ</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sử</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dụng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bên</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CPU</a:t>
            </a:r>
            <a:endPar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C. </a:t>
            </a:r>
            <a:r>
              <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rPr>
              <a:t>Bit Device : </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Device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chỉ</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có</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thể</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điều</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khiển</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bằng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hệ</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nhị</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phân</a:t>
            </a:r>
            <a:endPar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D.  </a:t>
            </a:r>
            <a:r>
              <a:rPr lang="en-US" altLang="ko-KR" sz="950" dirty="0">
                <a:solidFill>
                  <a:srgbClr val="FF0000"/>
                </a:solidFill>
                <a:latin typeface="Times New Roman" panose="02020603050405020304" pitchFamily="18" charset="0"/>
                <a:ea typeface="돋움" pitchFamily="50" charset="-127"/>
                <a:cs typeface="Times New Roman" panose="02020603050405020304" pitchFamily="18" charset="0"/>
              </a:rPr>
              <a:t>Word Device : </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Device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chỉ</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có</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thể</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điều</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khiển</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bằng</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đơn</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vị</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Word</a:t>
            </a:r>
            <a:endParaRPr lang="en-US" altLang="ko-KR" sz="950" dirty="0">
              <a:solidFill>
                <a:srgbClr val="FF0000"/>
              </a:solidFill>
              <a:latin typeface="Times New Roman" panose="02020603050405020304" pitchFamily="18" charset="0"/>
              <a:ea typeface="돋움" pitchFamily="50" charset="-127"/>
              <a:cs typeface="Times New Roman" panose="02020603050405020304" pitchFamily="18" charset="0"/>
            </a:endParaRPr>
          </a:p>
        </p:txBody>
      </p:sp>
      <p:sp>
        <p:nvSpPr>
          <p:cNvPr id="12" name="Rectangle 108"/>
          <p:cNvSpPr>
            <a:spLocks noChangeArrowheads="1"/>
          </p:cNvSpPr>
          <p:nvPr/>
        </p:nvSpPr>
        <p:spPr bwMode="auto">
          <a:xfrm>
            <a:off x="3441700" y="5859807"/>
            <a:ext cx="3162558" cy="96949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39</a:t>
            </a:r>
            <a:r>
              <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Cái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nào</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sai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số</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những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giải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thích</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về</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Data Resister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sau</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đây</a:t>
            </a:r>
            <a:r>
              <a:rPr lang="ko-KR"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endParaRPr lang="ko-KR"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A </a:t>
            </a:r>
            <a:r>
              <a:rPr lang="ko-KR"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Memory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lưu</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trữ</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Data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PLC</a:t>
            </a:r>
            <a:r>
              <a:rPr lang="ko-KR"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a:t>
            </a:r>
            <a:endParaRPr lang="ko-KR"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B </a:t>
            </a:r>
            <a:r>
              <a:rPr lang="ko-KR"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Là</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Resister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dùng</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FF0000"/>
                </a:solidFill>
                <a:latin typeface="Times New Roman" panose="02020603050405020304" pitchFamily="18" charset="0"/>
                <a:ea typeface="돋움" pitchFamily="50" charset="-127"/>
                <a:cs typeface="Times New Roman" panose="02020603050405020304" pitchFamily="18" charset="0"/>
              </a:rPr>
              <a:t>cho</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Data Link</a:t>
            </a:r>
            <a:r>
              <a:rPr lang="ko-KR"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  </a:t>
            </a:r>
            <a:endParaRPr lang="ko-KR" altLang="ko-KR" sz="950" dirty="0">
              <a:solidFill>
                <a:srgbClr val="FF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C.</a:t>
            </a:r>
            <a:r>
              <a:rPr lang="ko-KR"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Có</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thể</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Read/Write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với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đơn</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vị</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16Bit</a:t>
            </a:r>
            <a:r>
              <a:rPr lang="ko-KR"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endParaRPr lang="ko-KR"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D. </a:t>
            </a:r>
            <a:r>
              <a:rPr lang="ko-KR"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Sử</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dụng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2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điểm</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trường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hợp</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sử</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dụng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Data 32Bit.</a:t>
            </a:r>
            <a:endPar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sp>
        <p:nvSpPr>
          <p:cNvPr id="13" name="Rectangle 44"/>
          <p:cNvSpPr>
            <a:spLocks noChangeArrowheads="1"/>
          </p:cNvSpPr>
          <p:nvPr/>
        </p:nvSpPr>
        <p:spPr bwMode="auto">
          <a:xfrm>
            <a:off x="3460879" y="1064568"/>
            <a:ext cx="3124200" cy="896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36</a:t>
            </a:r>
            <a:r>
              <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Tiếp</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điểm</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TIMER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lệnh</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mấy</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Step?</a:t>
            </a:r>
            <a:endPar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A.  </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4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Step </a:t>
            </a:r>
            <a:r>
              <a:rPr lang="ko-KR" altLang="en-US" sz="95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B. </a:t>
            </a:r>
            <a:r>
              <a:rPr lang="ko-KR" altLang="en-US" sz="95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3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Step</a:t>
            </a:r>
            <a:r>
              <a:rPr lang="ko-KR" altLang="en-US" sz="95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C. </a:t>
            </a:r>
            <a:r>
              <a:rPr lang="ko-KR" altLang="en-US" sz="95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2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Step</a:t>
            </a:r>
            <a:r>
              <a:rPr lang="ko-KR" altLang="en-US" sz="95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D .</a:t>
            </a:r>
            <a:r>
              <a:rPr lang="ko-KR" altLang="en-US" sz="95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dirty="0" smtClean="0">
                <a:solidFill>
                  <a:srgbClr val="FF0000"/>
                </a:solidFill>
                <a:latin typeface="Times New Roman" panose="02020603050405020304" pitchFamily="18" charset="0"/>
                <a:ea typeface="돋움" pitchFamily="50" charset="-127"/>
                <a:cs typeface="Times New Roman" panose="02020603050405020304" pitchFamily="18" charset="0"/>
              </a:rPr>
              <a:t>1 Step</a:t>
            </a:r>
            <a:r>
              <a:rPr lang="ko-KR" altLang="en-US" sz="950" dirty="0" smtClean="0">
                <a:solidFill>
                  <a:srgbClr val="FF0000"/>
                </a:solidFill>
                <a:latin typeface="Times New Roman" panose="02020603050405020304" pitchFamily="18" charset="0"/>
                <a:ea typeface="돋움" pitchFamily="50" charset="-127"/>
                <a:cs typeface="Times New Roman" panose="02020603050405020304" pitchFamily="18" charset="0"/>
              </a:rPr>
              <a:t> </a:t>
            </a:r>
            <a:endParaRPr lang="ko-KR" altLang="en-US" sz="950" dirty="0">
              <a:solidFill>
                <a:srgbClr val="FF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ko-KR" altLang="en-US"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spcBef>
                <a:spcPct val="50000"/>
              </a:spcBef>
            </a:pPr>
            <a:endParaRPr lang="ko-KR" altLang="en-US" sz="95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grpSp>
        <p:nvGrpSpPr>
          <p:cNvPr id="14" name="Group 13"/>
          <p:cNvGrpSpPr/>
          <p:nvPr/>
        </p:nvGrpSpPr>
        <p:grpSpPr>
          <a:xfrm>
            <a:off x="3422908" y="7248688"/>
            <a:ext cx="3429000" cy="1592744"/>
            <a:chOff x="3422908" y="1042988"/>
            <a:chExt cx="3429000" cy="1592744"/>
          </a:xfrm>
        </p:grpSpPr>
        <p:sp>
          <p:nvSpPr>
            <p:cNvPr id="15" name="Rectangle 104"/>
            <p:cNvSpPr>
              <a:spLocks noChangeArrowheads="1"/>
            </p:cNvSpPr>
            <p:nvPr/>
          </p:nvSpPr>
          <p:spPr bwMode="auto">
            <a:xfrm>
              <a:off x="3422908" y="1042988"/>
              <a:ext cx="3429000" cy="159274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spcBef>
                  <a:spcPct val="50000"/>
                </a:spcBef>
              </a:pP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4</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0</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Lệnh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đúng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vưới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timming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chart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sau</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là?</a:t>
              </a:r>
              <a:endParaRPr lang="en-US" altLang="ko-KR" sz="10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spcBef>
                  <a:spcPct val="50000"/>
                </a:spcBef>
              </a:pPr>
              <a:endParaRPr lang="en-US" altLang="ko-KR" sz="10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spcBef>
                  <a:spcPct val="50000"/>
                </a:spcBef>
              </a:pPr>
              <a:endParaRPr lang="en-US" altLang="ko-KR" sz="10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spcBef>
                  <a:spcPct val="50000"/>
                </a:spcBef>
              </a:pPr>
              <a:endParaRPr lang="en-US" altLang="ko-KR" sz="10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spcBef>
                  <a:spcPct val="50000"/>
                </a:spcBef>
              </a:pPr>
              <a:endParaRPr lang="en-US" altLang="ko-KR" sz="10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spcBef>
                  <a:spcPct val="50000"/>
                </a:spcBef>
              </a:pPr>
              <a:r>
                <a:rPr lang="en-US" altLang="ko-KR" sz="10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1000" smtClean="0">
                  <a:solidFill>
                    <a:srgbClr val="000000"/>
                  </a:solidFill>
                  <a:latin typeface="Times New Roman" panose="02020603050405020304" pitchFamily="18" charset="0"/>
                  <a:ea typeface="돋움" pitchFamily="50" charset="-127"/>
                  <a:cs typeface="Times New Roman" panose="02020603050405020304" pitchFamily="18" charset="0"/>
                </a:rPr>
                <a:t> A.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PLF                    B. PLS</a:t>
              </a:r>
            </a:p>
            <a:p>
              <a:pPr eaLnBrk="1" hangingPunct="1">
                <a:spcBef>
                  <a:spcPct val="50000"/>
                </a:spcBef>
              </a:pPr>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  C.  FF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D.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RST</a:t>
              </a:r>
              <a:endParaRPr lang="en-US" altLang="ko-KR" sz="1000">
                <a:solidFill>
                  <a:srgbClr val="000000"/>
                </a:solidFill>
                <a:latin typeface="Times New Roman" panose="02020603050405020304" pitchFamily="18" charset="0"/>
                <a:ea typeface="돋움" pitchFamily="50" charset="-127"/>
                <a:cs typeface="Times New Roman" panose="02020603050405020304" pitchFamily="18" charset="0"/>
              </a:endParaRPr>
            </a:p>
          </p:txBody>
        </p:sp>
        <p:pic>
          <p:nvPicPr>
            <p:cNvPr id="16" name="Picture 105"/>
            <p:cNvPicPr>
              <a:picLocks noChangeAspect="1" noChangeArrowheads="1"/>
            </p:cNvPicPr>
            <p:nvPr/>
          </p:nvPicPr>
          <p:blipFill>
            <a:blip r:embed="rId3">
              <a:extLst>
                <a:ext uri="{28A0092B-C50C-407E-A947-70E740481C1C}">
                  <a14:useLocalDpi xmlns:a14="http://schemas.microsoft.com/office/drawing/2010/main" val="0"/>
                </a:ext>
              </a:extLst>
            </a:blip>
            <a:srcRect l="21094" t="77161" r="35156" b="7292"/>
            <a:stretch>
              <a:fillRect/>
            </a:stretch>
          </p:blipFill>
          <p:spPr bwMode="auto">
            <a:xfrm>
              <a:off x="3564897" y="1278156"/>
              <a:ext cx="2627313"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17" name="Rectangle 7"/>
          <p:cNvSpPr>
            <a:spLocks noChangeArrowheads="1"/>
          </p:cNvSpPr>
          <p:nvPr/>
        </p:nvSpPr>
        <p:spPr bwMode="auto">
          <a:xfrm>
            <a:off x="189190" y="5781526"/>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09538" indent="-109538"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4. </a:t>
            </a:r>
            <a:r>
              <a:rPr lang="vi-VN" altLang="ko-KR" sz="950">
                <a:latin typeface="Times New Roman" pitchFamily="18" charset="0"/>
                <a:ea typeface="LG Smart_H Regular" panose="020B0600000101010101" pitchFamily="34" charset="-127"/>
                <a:cs typeface="Times New Roman" pitchFamily="18" charset="0"/>
              </a:rPr>
              <a:t>Thao tác nào sau đây có thể Để Clear trạng thái duy trì tĩnh điện (Lacth) của Device?</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Fomat PLC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ON/OFF </a:t>
            </a:r>
            <a:r>
              <a:rPr lang="vi-VN" altLang="ko-KR" sz="950">
                <a:latin typeface="Times New Roman" pitchFamily="18" charset="0"/>
                <a:ea typeface="LG Smart_H Regular" panose="020B0600000101010101" pitchFamily="34" charset="-127"/>
                <a:cs typeface="Times New Roman" pitchFamily="18" charset="0"/>
              </a:rPr>
              <a:t>nguồn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Reset </a:t>
            </a:r>
            <a:r>
              <a:rPr lang="en-US" altLang="ko-KR" sz="950" smtClean="0">
                <a:latin typeface="Times New Roman" pitchFamily="18" charset="0"/>
                <a:ea typeface="LG Smart_H Regular" panose="020B0600000101010101" pitchFamily="34" charset="-127"/>
                <a:cs typeface="Times New Roman" pitchFamily="18" charset="0"/>
              </a:rPr>
              <a:t>PLC</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Thao tác Latch Clear</a:t>
            </a:r>
            <a:endParaRPr lang="vi-VN" altLang="ko-KR" sz="950">
              <a:solidFill>
                <a:srgbClr val="FF0000"/>
              </a:solidFill>
              <a:latin typeface="Times New Roman" pitchFamily="18" charset="0"/>
              <a:ea typeface="LG Smart_H Regular" panose="020B0600000101010101" pitchFamily="34" charset="-127"/>
              <a:cs typeface="Times New Roman" pitchFamily="18" charset="0"/>
            </a:endParaRPr>
          </a:p>
        </p:txBody>
      </p:sp>
      <p:sp>
        <p:nvSpPr>
          <p:cNvPr id="18" name="Rectangle 99"/>
          <p:cNvSpPr>
            <a:spLocks noChangeArrowheads="1"/>
          </p:cNvSpPr>
          <p:nvPr/>
        </p:nvSpPr>
        <p:spPr bwMode="auto">
          <a:xfrm>
            <a:off x="155074" y="4522805"/>
            <a:ext cx="3267834"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solidFill>
                  <a:srgbClr val="000000"/>
                </a:solidFill>
                <a:latin typeface="Times New Roman" panose="02020603050405020304" pitchFamily="18" charset="0"/>
                <a:ea typeface="돋움" pitchFamily="50" charset="-127"/>
                <a:cs typeface="Times New Roman" panose="02020603050405020304" pitchFamily="18" charset="0"/>
              </a:rPr>
              <a:t>33. Từ nào thích hợp điền vào [    ] ở câu sau? </a:t>
            </a:r>
          </a:p>
          <a:p>
            <a:pPr marL="109538" indent="-109538" eaLnBrk="1" hangingPunct="1"/>
            <a:r>
              <a:rPr lang="ko-KR" altLang="en-US" sz="95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a:solidFill>
                  <a:srgbClr val="000000"/>
                </a:solidFill>
                <a:latin typeface="Times New Roman" panose="02020603050405020304" pitchFamily="18" charset="0"/>
                <a:ea typeface="돋움" pitchFamily="50" charset="-127"/>
                <a:cs typeface="Times New Roman" panose="02020603050405020304" pitchFamily="18" charset="0"/>
              </a:rPr>
              <a:t>Phát sinh PLC Error trong trường hợp Run Scan Time muộn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hơn so </a:t>
            </a:r>
            <a:r>
              <a:rPr lang="en-US" altLang="ko-KR" sz="950">
                <a:solidFill>
                  <a:srgbClr val="000000"/>
                </a:solidFill>
                <a:latin typeface="Times New Roman" panose="02020603050405020304" pitchFamily="18" charset="0"/>
                <a:ea typeface="돋움" pitchFamily="50" charset="-127"/>
                <a:cs typeface="Times New Roman" panose="02020603050405020304" pitchFamily="18" charset="0"/>
              </a:rPr>
              <a:t>với thời gian [    ] ở nơi cài đặt Scan Time tối đa</a:t>
            </a:r>
          </a:p>
          <a:p>
            <a:pPr eaLnBrk="1" hangingPunct="1"/>
            <a:r>
              <a:rPr lang="en-US" altLang="ko-KR" sz="950">
                <a:solidFill>
                  <a:srgbClr val="000000"/>
                </a:solidFill>
                <a:latin typeface="Times New Roman" panose="02020603050405020304" pitchFamily="18" charset="0"/>
                <a:ea typeface="돋움" pitchFamily="50" charset="-127"/>
                <a:cs typeface="Times New Roman" panose="02020603050405020304" pitchFamily="18" charset="0"/>
              </a:rPr>
              <a:t> </a:t>
            </a:r>
            <a:endPar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A</a:t>
            </a:r>
            <a:r>
              <a:rPr lang="en-US" altLang="ko-KR" sz="950">
                <a:solidFill>
                  <a:srgbClr val="000000"/>
                </a:solidFill>
                <a:latin typeface="Times New Roman" panose="02020603050405020304" pitchFamily="18" charset="0"/>
                <a:ea typeface="돋움" pitchFamily="50" charset="-127"/>
                <a:cs typeface="Times New Roman" panose="02020603050405020304" pitchFamily="18" charset="0"/>
              </a:rPr>
              <a:t>.  Device</a:t>
            </a:r>
            <a:r>
              <a:rPr lang="ko-KR" altLang="en-US" sz="95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a:solidFill>
                  <a:srgbClr val="000000"/>
                </a:solidFill>
                <a:latin typeface="Times New Roman" panose="02020603050405020304" pitchFamily="18" charset="0"/>
                <a:ea typeface="돋움" pitchFamily="50" charset="-127"/>
                <a:cs typeface="Times New Roman" panose="02020603050405020304" pitchFamily="18" charset="0"/>
              </a:rPr>
              <a:t>B. </a:t>
            </a:r>
            <a:r>
              <a:rPr lang="ko-KR" altLang="en-US" sz="95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a:solidFill>
                  <a:srgbClr val="000000"/>
                </a:solidFill>
                <a:latin typeface="Times New Roman" panose="02020603050405020304" pitchFamily="18" charset="0"/>
                <a:ea typeface="돋움" pitchFamily="50" charset="-127"/>
                <a:cs typeface="Times New Roman" panose="02020603050405020304" pitchFamily="18" charset="0"/>
              </a:rPr>
              <a:t>Constant Scan</a:t>
            </a:r>
            <a:r>
              <a:rPr lang="ko-KR" altLang="en-US" sz="95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a:solidFill>
                  <a:srgbClr val="000000"/>
                </a:solidFill>
                <a:latin typeface="Times New Roman" panose="02020603050405020304" pitchFamily="18" charset="0"/>
                <a:ea typeface="돋움" pitchFamily="50" charset="-127"/>
                <a:cs typeface="Times New Roman" panose="02020603050405020304" pitchFamily="18" charset="0"/>
              </a:rPr>
              <a:t>C. </a:t>
            </a:r>
            <a:r>
              <a:rPr lang="ko-KR" altLang="en-US" sz="95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a:solidFill>
                  <a:srgbClr val="FF0000"/>
                </a:solidFill>
                <a:latin typeface="Times New Roman" panose="02020603050405020304" pitchFamily="18" charset="0"/>
                <a:ea typeface="돋움" pitchFamily="50" charset="-127"/>
                <a:cs typeface="Times New Roman" panose="02020603050405020304" pitchFamily="18" charset="0"/>
              </a:rPr>
              <a:t>WDT  </a:t>
            </a:r>
            <a:r>
              <a:rPr lang="en-US" altLang="ko-KR" sz="950">
                <a:solidFill>
                  <a:srgbClr val="000000"/>
                </a:solidFill>
                <a:latin typeface="Times New Roman" panose="02020603050405020304" pitchFamily="18" charset="0"/>
                <a:ea typeface="돋움" pitchFamily="50" charset="-127"/>
                <a:cs typeface="Times New Roman" panose="02020603050405020304" pitchFamily="18" charset="0"/>
              </a:rPr>
              <a:t>D.  PLC </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RAS</a:t>
            </a:r>
            <a:endParaRPr lang="en-US" altLang="ko-KR" sz="950">
              <a:solidFill>
                <a:srgbClr val="000000"/>
              </a:solidFill>
              <a:latin typeface="Times New Roman" panose="02020603050405020304" pitchFamily="18" charset="0"/>
              <a:ea typeface="돋움" pitchFamily="50" charset="-127"/>
              <a:cs typeface="Times New Roman" panose="02020603050405020304" pitchFamily="18" charset="0"/>
            </a:endParaRPr>
          </a:p>
        </p:txBody>
      </p:sp>
    </p:spTree>
    <p:extLst>
      <p:ext uri="{BB962C8B-B14F-4D97-AF65-F5344CB8AC3E}">
        <p14:creationId xmlns:p14="http://schemas.microsoft.com/office/powerpoint/2010/main" val="233058609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dirty="0">
                <a:latin typeface="Times New Roman" pitchFamily="18" charset="0"/>
                <a:cs typeface="Times New Roman" pitchFamily="18" charset="0"/>
              </a:rPr>
              <a:t>Khí nén</a:t>
            </a:r>
            <a:r>
              <a:rPr lang="en-US" altLang="ko-KR" dirty="0">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sp>
        <p:nvSpPr>
          <p:cNvPr id="25" name="Rectangle 7"/>
          <p:cNvSpPr>
            <a:spLocks noChangeArrowheads="1"/>
          </p:cNvSpPr>
          <p:nvPr/>
        </p:nvSpPr>
        <p:spPr bwMode="auto">
          <a:xfrm>
            <a:off x="206479" y="1064568"/>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a:t>
            </a:r>
            <a:r>
              <a:rPr lang="vi-VN" altLang="ko-KR" sz="950" smtClean="0">
                <a:latin typeface="Times New Roman" pitchFamily="18" charset="0"/>
                <a:ea typeface="LG Smart_H Regular" panose="020B0600000101010101" pitchFamily="34" charset="-127"/>
                <a:cs typeface="Times New Roman" pitchFamily="18" charset="0"/>
              </a:rPr>
              <a:t>Đâu </a:t>
            </a:r>
            <a:r>
              <a:rPr lang="vi-VN" altLang="ko-KR" sz="950">
                <a:latin typeface="Times New Roman" pitchFamily="18" charset="0"/>
                <a:ea typeface="LG Smart_H Regular" panose="020B0600000101010101" pitchFamily="34" charset="-127"/>
                <a:cs typeface="Times New Roman" pitchFamily="18" charset="0"/>
              </a:rPr>
              <a:t>không phải là đặc điểm của ống dẫn khí </a:t>
            </a:r>
            <a:r>
              <a:rPr lang="vi-VN" altLang="ko-KR" sz="950" smtClean="0">
                <a:latin typeface="Times New Roman" pitchFamily="18" charset="0"/>
                <a:ea typeface="LG Smart_H Regular" panose="020B0600000101010101" pitchFamily="34" charset="-127"/>
                <a:cs typeface="Times New Roman" pitchFamily="18" charset="0"/>
              </a:rPr>
              <a:t>nén?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Tiêu hao năng lượng truyền và can thiệp giữa các máy nhỏ nên có thể  dẫn khí nén đến từng góc của nhà máy</a:t>
            </a:r>
            <a:r>
              <a:rPr lang="vi-VN" altLang="ko-KR" sz="950" smtClean="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Ống dẫn khí nén dễ bị rỉ sét do hơi nước của bình ngưng tụ và oxy có trong không </a:t>
            </a:r>
            <a:r>
              <a:rPr lang="vi-VN" altLang="ko-KR" sz="950" smtClean="0">
                <a:latin typeface="Times New Roman" pitchFamily="18" charset="0"/>
                <a:ea typeface="LG Smart_H Regular" panose="020B0600000101010101" pitchFamily="34" charset="-127"/>
                <a:cs typeface="Times New Roman" pitchFamily="18" charset="0"/>
              </a:rPr>
              <a:t>khí.</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Mạch khí nén là hệ thống kín, tuần hoàn năng lượng.</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Không khí bên trong đường ống khí nén có được nén hay không, thì nhiệt độ vẫn giảm, phát sinh lượng lớn ở bình ngưng tụ</a:t>
            </a:r>
            <a:r>
              <a:rPr lang="vi-VN" altLang="ko-KR" sz="950" smtClean="0">
                <a:latin typeface="Times New Roman" pitchFamily="18" charset="0"/>
                <a:ea typeface="LG Smart_H Regular" panose="020B0600000101010101" pitchFamily="34" charset="-127"/>
                <a:cs typeface="Times New Roman" pitchFamily="18" charset="0"/>
              </a:rPr>
              <a:t>.</a:t>
            </a:r>
            <a:endParaRPr lang="vi-VN" altLang="ko-KR" sz="950">
              <a:latin typeface="Times New Roman" pitchFamily="18" charset="0"/>
              <a:ea typeface="LG Smart_H Regular" panose="020B0600000101010101" pitchFamily="34" charset="-127"/>
              <a:cs typeface="Times New Roman" pitchFamily="18" charset="0"/>
            </a:endParaRPr>
          </a:p>
        </p:txBody>
      </p:sp>
      <p:sp>
        <p:nvSpPr>
          <p:cNvPr id="30" name="Rectangle 7"/>
          <p:cNvSpPr>
            <a:spLocks noChangeArrowheads="1"/>
          </p:cNvSpPr>
          <p:nvPr/>
        </p:nvSpPr>
        <p:spPr bwMode="auto">
          <a:xfrm>
            <a:off x="259544" y="649942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Máy sấy nào có thể loại bỏ gần hết độ ẩm trong khí nén, nhiệt độ hóa sương khoảng từ 0.5~-100℃.Có thể tái sử dụng nên được sử dụng thường xuyên.Phí thiết bị và phí sửa chữa cao nhưng phí vận hành </a:t>
            </a:r>
            <a:r>
              <a:rPr lang="vi-VN" altLang="ko-KR" sz="950" smtClean="0">
                <a:latin typeface="Times New Roman" pitchFamily="18" charset="0"/>
                <a:ea typeface="LG Smart_H Regular" panose="020B0600000101010101" pitchFamily="34" charset="-127"/>
                <a:cs typeface="Times New Roman" pitchFamily="18" charset="0"/>
              </a:rPr>
              <a:t>thấp?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ngưng tụ.</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Máy sấy kiểu hấp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thụ</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đông </a:t>
            </a:r>
            <a:r>
              <a:rPr lang="vi-VN" altLang="ko-KR" sz="950" smtClean="0">
                <a:latin typeface="Times New Roman" pitchFamily="18" charset="0"/>
                <a:ea typeface="LG Smart_H Regular" panose="020B0600000101010101" pitchFamily="34" charset="-127"/>
                <a:cs typeface="Times New Roman" pitchFamily="18" charset="0"/>
              </a:rPr>
              <a:t>lạnh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không làm nóng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8" name="Rectangle 7"/>
          <p:cNvSpPr>
            <a:spLocks noChangeArrowheads="1"/>
          </p:cNvSpPr>
          <p:nvPr/>
        </p:nvSpPr>
        <p:spPr bwMode="auto">
          <a:xfrm>
            <a:off x="232792" y="4915252"/>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43. </a:t>
            </a:r>
            <a:r>
              <a:rPr lang="vi-VN" altLang="ko-KR" sz="950">
                <a:latin typeface="Times New Roman" pitchFamily="18" charset="0"/>
                <a:ea typeface="LG Smart_H Regular" panose="020B0600000101010101" pitchFamily="34" charset="-127"/>
                <a:cs typeface="Times New Roman" pitchFamily="18" charset="0"/>
              </a:rPr>
              <a:t>So sánh phương thức điều khiển và truyền động lực của từng loại: Tốc độ vận hành của loại hình truyền động khí nén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Khoảng 1m/sec (trung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Nhanh </a:t>
            </a:r>
            <a:r>
              <a:rPr lang="en-US" altLang="ko-KR" sz="950" smtClean="0">
                <a:latin typeface="Times New Roman" pitchFamily="18" charset="0"/>
                <a:ea typeface="LG Smart_H Regular" panose="020B0600000101010101" pitchFamily="34" charset="-127"/>
                <a:cs typeface="Times New Roman" pitchFamily="18" charset="0"/>
              </a:rPr>
              <a:t>nhất</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Có khả năng 10m/sec (đại</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Chậm nhất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73132" y="1096650"/>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Là Actuator chuyển động thẳng của piston biến đổi thành chuyển động quay tròn, góc chúc góc giới hạn dưới 110</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Atuator truyền động quay kiểu đinh </a:t>
            </a:r>
            <a:r>
              <a:rPr lang="vi-VN" altLang="ko-KR" sz="950" smtClean="0">
                <a:latin typeface="Times New Roman" pitchFamily="18" charset="0"/>
                <a:ea typeface="LG Smart_H Regular" panose="020B0600000101010101" pitchFamily="34" charset="-127"/>
                <a:cs typeface="Times New Roman" pitchFamily="18" charset="0"/>
              </a:rPr>
              <a:t>ốc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Actuator truyền động quay kiểu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crack</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Actuator truyền động quay kiểu </a:t>
            </a:r>
            <a:r>
              <a:rPr lang="vi-VN" altLang="ko-KR" sz="950" smtClean="0">
                <a:latin typeface="Times New Roman" pitchFamily="18" charset="0"/>
                <a:ea typeface="LG Smart_H Regular" panose="020B0600000101010101" pitchFamily="34" charset="-127"/>
                <a:cs typeface="Times New Roman" pitchFamily="18" charset="0"/>
              </a:rPr>
              <a:t>yoke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Actuator truyền động quay kiểu rack-pinion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2" name="Rectangle 7"/>
          <p:cNvSpPr>
            <a:spLocks noChangeArrowheads="1"/>
          </p:cNvSpPr>
          <p:nvPr/>
        </p:nvSpPr>
        <p:spPr bwMode="auto">
          <a:xfrm>
            <a:off x="3473132" y="6357590"/>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Đáp án sai về ký hiệu cửa của van điều khiển hướng dưới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Cửa làm </a:t>
            </a:r>
            <a:r>
              <a:rPr lang="vi-VN" altLang="ko-KR" sz="950" smtClean="0">
                <a:latin typeface="Times New Roman" pitchFamily="18" charset="0"/>
                <a:ea typeface="LG Smart_H Regular" panose="020B0600000101010101" pitchFamily="34" charset="-127"/>
                <a:cs typeface="Times New Roman" pitchFamily="18" charset="0"/>
              </a:rPr>
              <a:t>việc:A,B</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Cửa xả: </a:t>
            </a:r>
            <a:r>
              <a:rPr lang="vi-VN" altLang="ko-KR" sz="950" smtClean="0">
                <a:latin typeface="Times New Roman" pitchFamily="18" charset="0"/>
                <a:ea typeface="LG Smart_H Regular" panose="020B0600000101010101" pitchFamily="34" charset="-127"/>
                <a:cs typeface="Times New Roman" pitchFamily="18" charset="0"/>
              </a:rPr>
              <a:t>R,S</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Cửa điều khiển : </a:t>
            </a:r>
            <a:r>
              <a:rPr lang="vi-VN" altLang="ko-KR" sz="950" smtClean="0">
                <a:latin typeface="Times New Roman" pitchFamily="18" charset="0"/>
                <a:ea typeface="LG Smart_H Regular" panose="020B0600000101010101" pitchFamily="34" charset="-127"/>
                <a:cs typeface="Times New Roman" pitchFamily="18" charset="0"/>
              </a:rPr>
              <a:t>Z,X</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Cửa cấp :P,T</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53" name="Rectangle 7"/>
          <p:cNvSpPr>
            <a:spLocks noChangeArrowheads="1"/>
          </p:cNvSpPr>
          <p:nvPr/>
        </p:nvSpPr>
        <p:spPr bwMode="auto">
          <a:xfrm>
            <a:off x="3457922" y="8015952"/>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Rơ le có thể cho dòng điện gấp hàng chục lần dòng điện nhập ở  đầu </a:t>
            </a:r>
            <a:r>
              <a:rPr lang="vi-VN" altLang="ko-KR" sz="950" smtClean="0">
                <a:latin typeface="Times New Roman" pitchFamily="18" charset="0"/>
                <a:ea typeface="LG Smart_H Regular" panose="020B0600000101010101" pitchFamily="34" charset="-127"/>
                <a:cs typeface="Times New Roman" pitchFamily="18" charset="0"/>
              </a:rPr>
              <a:t>ra?</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biến thiên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Tính năng khếch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đại.</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biến </a:t>
            </a:r>
            <a:r>
              <a:rPr lang="vi-VN" altLang="ko-KR" sz="950" smtClean="0">
                <a:latin typeface="Times New Roman" pitchFamily="18" charset="0"/>
                <a:ea typeface="LG Smart_H Regular" panose="020B0600000101010101" pitchFamily="34" charset="-127"/>
                <a:cs typeface="Times New Roman" pitchFamily="18" charset="0"/>
              </a:rPr>
              <a:t>đổi.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phân chia điện áp</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32" name="Rectangle 7"/>
          <p:cNvSpPr>
            <a:spLocks noChangeArrowheads="1"/>
          </p:cNvSpPr>
          <p:nvPr/>
        </p:nvSpPr>
        <p:spPr bwMode="auto">
          <a:xfrm>
            <a:off x="248498" y="8009418"/>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Quyết định vị trí hành trình piston, được lắp đặt ở hai đầu ống xi lanh.Được làm bằng chất liệu khác nhau tùy theo tải: hợp kim gang cho trường hợp tải trung bình; đồng thau, gang, hợp kim nhôm, kẽm, đồng thanh, … cho tải </a:t>
            </a:r>
            <a:r>
              <a:rPr lang="vi-VN" altLang="ko-KR" sz="950" smtClean="0">
                <a:latin typeface="Times New Roman" pitchFamily="18" charset="0"/>
                <a:ea typeface="LG Smart_H Regular" panose="020B0600000101010101" pitchFamily="34" charset="-127"/>
                <a:cs typeface="Times New Roman" pitchFamily="18" charset="0"/>
              </a:rPr>
              <a:t>nhỏ?</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Piston</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ống </a:t>
            </a:r>
            <a:r>
              <a:rPr lang="en-US" altLang="ko-KR" sz="950" smtClean="0">
                <a:latin typeface="Times New Roman" pitchFamily="18" charset="0"/>
                <a:ea typeface="LG Smart_H Regular" panose="020B0600000101010101" pitchFamily="34" charset="-127"/>
                <a:cs typeface="Times New Roman" pitchFamily="18" charset="0"/>
              </a:rPr>
              <a:t>xilanh</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Head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cover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Cần Piston</a:t>
            </a:r>
          </a:p>
        </p:txBody>
      </p:sp>
      <p:sp>
        <p:nvSpPr>
          <p:cNvPr id="51" name="Rectangle 7"/>
          <p:cNvSpPr>
            <a:spLocks noChangeArrowheads="1"/>
          </p:cNvSpPr>
          <p:nvPr/>
        </p:nvSpPr>
        <p:spPr bwMode="auto">
          <a:xfrm>
            <a:off x="3449538" y="499161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Tên gọi của van </a:t>
            </a:r>
            <a:r>
              <a:rPr lang="vi-VN" altLang="ko-KR" sz="950" smtClean="0">
                <a:latin typeface="Times New Roman" pitchFamily="18" charset="0"/>
                <a:ea typeface="LG Smart_H Regular" panose="020B0600000101010101" pitchFamily="34" charset="-127"/>
                <a:cs typeface="Times New Roman" pitchFamily="18" charset="0"/>
              </a:rPr>
              <a:t>bên dưới</a:t>
            </a:r>
            <a:r>
              <a:rPr lang="en-US" altLang="ko-KR" sz="950" smtClean="0">
                <a:latin typeface="Times New Roman" pitchFamily="18" charset="0"/>
                <a:ea typeface="LG Smart_H Regular" panose="020B0600000101010101" pitchFamily="34" charset="-127"/>
                <a:cs typeface="Times New Roman" pitchFamily="18" charset="0"/>
              </a:rPr>
              <a:t> là gì</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khiển tốc </a:t>
            </a:r>
            <a:r>
              <a:rPr lang="vi-VN" altLang="ko-KR" sz="950" smtClean="0">
                <a:latin typeface="Times New Roman" pitchFamily="18" charset="0"/>
                <a:ea typeface="LG Smart_H Regular" panose="020B0600000101010101" pitchFamily="34" charset="-127"/>
                <a:cs typeface="Times New Roman" pitchFamily="18" charset="0"/>
              </a:rPr>
              <a:t>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tiết </a:t>
            </a:r>
            <a:r>
              <a:rPr lang="vi-VN" altLang="ko-KR" sz="950" smtClean="0">
                <a:latin typeface="Times New Roman" pitchFamily="18" charset="0"/>
                <a:ea typeface="LG Smart_H Regular" panose="020B0600000101010101" pitchFamily="34" charset="-127"/>
                <a:cs typeface="Times New Roman" pitchFamily="18" charset="0"/>
              </a:rPr>
              <a:t>lưu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V</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an </a:t>
            </a:r>
            <a:r>
              <a:rPr lang="vi-VN" altLang="ko-KR" sz="950">
                <a:solidFill>
                  <a:srgbClr val="FF0000"/>
                </a:solidFill>
                <a:latin typeface="Times New Roman" pitchFamily="18" charset="0"/>
                <a:ea typeface="LG Smart_H Regular" panose="020B0600000101010101" pitchFamily="34" charset="-127"/>
                <a:cs typeface="Times New Roman" pitchFamily="18" charset="0"/>
              </a:rPr>
              <a:t>kiểm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tra</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đệm</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46995" y="2676470"/>
            <a:ext cx="3180502" cy="1992853"/>
            <a:chOff x="246995" y="2676470"/>
            <a:chExt cx="3180502" cy="1992853"/>
          </a:xfrm>
        </p:grpSpPr>
        <p:sp>
          <p:nvSpPr>
            <p:cNvPr id="29" name="Rectangle 7"/>
            <p:cNvSpPr>
              <a:spLocks noChangeArrowheads="1"/>
            </p:cNvSpPr>
            <p:nvPr/>
          </p:nvSpPr>
          <p:spPr bwMode="auto">
            <a:xfrm>
              <a:off x="246995" y="2676470"/>
              <a:ext cx="3180502" cy="1992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42. Dựa vào áp suất khí quyển hãy điền vào dấu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vi-VN"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Áp suất đồng hồ đo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Áp suất đồng hồ đo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Áp suất tuyệt </a:t>
              </a:r>
              <a:r>
                <a:rPr lang="vi-VN" altLang="ko-KR" sz="950" smtClean="0">
                  <a:latin typeface="Times New Roman" pitchFamily="18" charset="0"/>
                  <a:ea typeface="LG Smart_H Regular" panose="020B0600000101010101" pitchFamily="34" charset="-127"/>
                  <a:cs typeface="Times New Roman" pitchFamily="18" charset="0"/>
                </a:rPr>
                <a:t>đối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Áp suất tuyệt đối 0</a:t>
              </a:r>
            </a:p>
          </p:txBody>
        </p:sp>
        <p:pic>
          <p:nvPicPr>
            <p:cNvPr id="31" name="Picture 30"/>
            <p:cNvPicPr>
              <a:picLocks noChangeAspect="1"/>
            </p:cNvPicPr>
            <p:nvPr/>
          </p:nvPicPr>
          <p:blipFill>
            <a:blip r:embed="rId3"/>
            <a:stretch>
              <a:fillRect/>
            </a:stretch>
          </p:blipFill>
          <p:spPr>
            <a:xfrm>
              <a:off x="766933" y="2883818"/>
              <a:ext cx="2230019" cy="1080120"/>
            </a:xfrm>
            <a:prstGeom prst="rect">
              <a:avLst/>
            </a:prstGeom>
          </p:spPr>
        </p:pic>
      </p:grpSp>
      <p:sp>
        <p:nvSpPr>
          <p:cNvPr id="34" name="Rectangle 7"/>
          <p:cNvSpPr>
            <a:spLocks noChangeArrowheads="1"/>
          </p:cNvSpPr>
          <p:nvPr/>
        </p:nvSpPr>
        <p:spPr bwMode="auto">
          <a:xfrm>
            <a:off x="3433088" y="2792760"/>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a:latin typeface="Times New Roman" pitchFamily="18" charset="0"/>
                <a:ea typeface="LG Smart_H Regular" panose="020B0600000101010101" pitchFamily="34" charset="-127"/>
                <a:cs typeface="Times New Roman" pitchFamily="18" charset="0"/>
              </a:rPr>
              <a:t>Động cơ khí nén nào có tốc độ quay khoảng </a:t>
            </a:r>
            <a:r>
              <a:rPr lang="vi-VN" altLang="ko-KR" sz="950" smtClean="0">
                <a:latin typeface="Times New Roman" pitchFamily="18" charset="0"/>
                <a:ea typeface="LG Smart_H Regular" panose="020B0600000101010101" pitchFamily="34" charset="-127"/>
                <a:cs typeface="Times New Roman" pitchFamily="18" charset="0"/>
              </a:rPr>
              <a:t>10,000rpm?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Động cơ </a:t>
            </a:r>
            <a:r>
              <a:rPr lang="vi-VN" altLang="ko-KR" sz="950" smtClean="0">
                <a:latin typeface="Times New Roman" pitchFamily="18" charset="0"/>
                <a:ea typeface="LG Smart_H Regular" panose="020B0600000101010101" pitchFamily="34" charset="-127"/>
                <a:cs typeface="Times New Roman" pitchFamily="18" charset="0"/>
              </a:rPr>
              <a:t>Tuabin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Động cơ </a:t>
            </a:r>
            <a:r>
              <a:rPr lang="vi-VN" altLang="ko-KR" sz="950" smtClean="0">
                <a:latin typeface="Times New Roman" pitchFamily="18" charset="0"/>
                <a:ea typeface="LG Smart_H Regular" panose="020B0600000101010101" pitchFamily="34" charset="-127"/>
                <a:cs typeface="Times New Roman" pitchFamily="18" charset="0"/>
              </a:rPr>
              <a:t>Pistion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Động cơ bánh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răng</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Động cơ cánh gạt</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0" name="Picture 39"/>
          <p:cNvPicPr>
            <a:picLocks noChangeAspect="1"/>
          </p:cNvPicPr>
          <p:nvPr/>
        </p:nvPicPr>
        <p:blipFill>
          <a:blip r:embed="rId4"/>
          <a:stretch>
            <a:fillRect/>
          </a:stretch>
        </p:blipFill>
        <p:spPr>
          <a:xfrm>
            <a:off x="5445224" y="5214566"/>
            <a:ext cx="1018614" cy="672353"/>
          </a:xfrm>
          <a:prstGeom prst="rect">
            <a:avLst/>
          </a:prstGeom>
        </p:spPr>
      </p:pic>
    </p:spTree>
    <p:extLst>
      <p:ext uri="{BB962C8B-B14F-4D97-AF65-F5344CB8AC3E}">
        <p14:creationId xmlns:p14="http://schemas.microsoft.com/office/powerpoint/2010/main" val="248219043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a:latin typeface="Times New Roman" pitchFamily="18" charset="0"/>
                <a:cs typeface="Times New Roman" pitchFamily="18" charset="0"/>
              </a:rPr>
              <a:t>Khí nén</a:t>
            </a:r>
            <a:r>
              <a:rPr lang="en-US" altLang="ko-KR">
                <a:latin typeface="Times New Roman" pitchFamily="18" charset="0"/>
                <a:cs typeface="Times New Roman" pitchFamily="18" charset="0"/>
              </a:rPr>
              <a:t>] </a:t>
            </a:r>
            <a:endParaRPr lang="en-US" altLang="ko-KR" dirty="0">
              <a:latin typeface="Times New Roman" pitchFamily="18" charset="0"/>
              <a:cs typeface="Times New Roman" pitchFamily="18" charset="0"/>
            </a:endParaRPr>
          </a:p>
        </p:txBody>
      </p:sp>
      <p:sp>
        <p:nvSpPr>
          <p:cNvPr id="8196" name="Rectangle 17"/>
          <p:cNvSpPr>
            <a:spLocks noChangeArrowheads="1"/>
          </p:cNvSpPr>
          <p:nvPr/>
        </p:nvSpPr>
        <p:spPr bwMode="auto">
          <a:xfrm>
            <a:off x="201340"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8197" name="Rectangle 18"/>
          <p:cNvSpPr>
            <a:spLocks noChangeArrowheads="1"/>
          </p:cNvSpPr>
          <p:nvPr/>
        </p:nvSpPr>
        <p:spPr bwMode="auto">
          <a:xfrm>
            <a:off x="3391408" y="776288"/>
            <a:ext cx="329311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7" name="Rectangle 622"/>
          <p:cNvSpPr>
            <a:spLocks noChangeArrowheads="1"/>
          </p:cNvSpPr>
          <p:nvPr/>
        </p:nvSpPr>
        <p:spPr bwMode="auto">
          <a:xfrm>
            <a:off x="232792" y="1199873"/>
            <a:ext cx="312420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cs typeface="Times New Roman" pitchFamily="18" charset="0"/>
              </a:rPr>
              <a:t>51</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Không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chỉ</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không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khí</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mà</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tất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cả</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các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thể</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khí</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đều</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có</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những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yếu</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tố</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quan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trọng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Chọn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sai</a:t>
            </a:r>
            <a:r>
              <a:rPr lang="en-US" altLang="ko-KR" sz="950" dirty="0" smtClean="0">
                <a:solidFill>
                  <a:srgbClr val="000000"/>
                </a:solidFill>
                <a:latin typeface="Times New Roman" pitchFamily="18" charset="0"/>
                <a:cs typeface="Times New Roman" pitchFamily="18" charset="0"/>
              </a:rPr>
              <a:t>? </a:t>
            </a:r>
            <a:endParaRPr lang="en-US" altLang="ko-KR" sz="950" dirty="0">
              <a:solidFill>
                <a:srgbClr val="000000"/>
              </a:solidFill>
              <a:latin typeface="Times New Roman" pitchFamily="18" charset="0"/>
              <a:cs typeface="Times New Roman" pitchFamily="18" charset="0"/>
            </a:endParaRPr>
          </a:p>
          <a:p>
            <a:pPr eaLnBrk="1" hangingPunct="1"/>
            <a:endParaRPr lang="en-US" altLang="ko-KR" sz="950" smtClean="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A. </a:t>
            </a:r>
            <a:r>
              <a:rPr lang="en-US" altLang="ko-KR" sz="950" dirty="0" err="1" smtClean="0">
                <a:solidFill>
                  <a:srgbClr val="000000"/>
                </a:solidFill>
                <a:latin typeface="Times New Roman" pitchFamily="18" charset="0"/>
                <a:cs typeface="Times New Roman" pitchFamily="18" charset="0"/>
              </a:rPr>
              <a:t>Áp</a:t>
            </a:r>
            <a:r>
              <a:rPr lang="en-US" altLang="ko-KR" sz="950" dirty="0" smtClean="0">
                <a:solidFill>
                  <a:srgbClr val="000000"/>
                </a:solidFill>
                <a:latin typeface="Times New Roman" pitchFamily="18" charset="0"/>
                <a:cs typeface="Times New Roman" pitchFamily="18" charset="0"/>
              </a:rPr>
              <a:t> </a:t>
            </a:r>
            <a:r>
              <a:rPr lang="en-US" altLang="ko-KR" sz="950" err="1" smtClean="0">
                <a:solidFill>
                  <a:srgbClr val="000000"/>
                </a:solidFill>
                <a:latin typeface="Times New Roman" pitchFamily="18" charset="0"/>
                <a:cs typeface="Times New Roman" pitchFamily="18" charset="0"/>
              </a:rPr>
              <a:t>lực</a:t>
            </a:r>
            <a:r>
              <a:rPr lang="ko-KR" altLang="en-US" sz="950" smtClean="0">
                <a:solidFill>
                  <a:srgbClr val="000000"/>
                </a:solidFill>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B.</a:t>
            </a:r>
            <a:r>
              <a:rPr lang="ko-KR" altLang="en-US" sz="95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Lưu</a:t>
            </a:r>
            <a:r>
              <a:rPr lang="en-US" altLang="ko-KR" sz="950" dirty="0" smtClean="0">
                <a:solidFill>
                  <a:srgbClr val="FF0000"/>
                </a:solidFill>
                <a:latin typeface="Times New Roman" pitchFamily="18" charset="0"/>
                <a:cs typeface="Times New Roman" pitchFamily="18" charset="0"/>
              </a:rPr>
              <a:t> </a:t>
            </a:r>
            <a:r>
              <a:rPr lang="en-US" altLang="ko-KR" sz="950" err="1" smtClean="0">
                <a:solidFill>
                  <a:srgbClr val="FF0000"/>
                </a:solidFill>
                <a:latin typeface="Times New Roman" pitchFamily="18" charset="0"/>
                <a:cs typeface="Times New Roman" pitchFamily="18" charset="0"/>
              </a:rPr>
              <a:t>lượng</a:t>
            </a:r>
            <a:r>
              <a:rPr lang="ko-KR" altLang="en-US" sz="950" smtClean="0">
                <a:solidFill>
                  <a:srgbClr val="FF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C.</a:t>
            </a:r>
            <a:r>
              <a:rPr lang="ko-KR" altLang="en-US" sz="95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Thể</a:t>
            </a:r>
            <a:r>
              <a:rPr lang="en-US" altLang="ko-KR" sz="950" dirty="0" smtClean="0">
                <a:solidFill>
                  <a:srgbClr val="000000"/>
                </a:solidFill>
                <a:latin typeface="Times New Roman" pitchFamily="18" charset="0"/>
                <a:cs typeface="Times New Roman" pitchFamily="18" charset="0"/>
              </a:rPr>
              <a:t> </a:t>
            </a:r>
            <a:r>
              <a:rPr lang="en-US" altLang="ko-KR" sz="950" err="1" smtClean="0">
                <a:solidFill>
                  <a:srgbClr val="000000"/>
                </a:solidFill>
                <a:latin typeface="Times New Roman" pitchFamily="18" charset="0"/>
                <a:cs typeface="Times New Roman" pitchFamily="18" charset="0"/>
              </a:rPr>
              <a:t>tích</a:t>
            </a:r>
            <a:r>
              <a:rPr lang="ko-KR" altLang="en-US" sz="950" smtClean="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D.</a:t>
            </a:r>
            <a:r>
              <a:rPr lang="ko-KR" altLang="en-US" sz="950" smtClean="0">
                <a:solidFill>
                  <a:srgbClr val="000000"/>
                </a:solidFill>
                <a:latin typeface="Times New Roman" pitchFamily="18" charset="0"/>
                <a:cs typeface="Times New Roman" pitchFamily="18" charset="0"/>
              </a:rPr>
              <a:t> </a:t>
            </a:r>
            <a:r>
              <a:rPr lang="en-US" altLang="ko-KR" sz="950" err="1" smtClean="0">
                <a:solidFill>
                  <a:srgbClr val="000000"/>
                </a:solidFill>
                <a:latin typeface="Times New Roman" pitchFamily="18" charset="0"/>
                <a:cs typeface="Times New Roman" pitchFamily="18" charset="0"/>
              </a:rPr>
              <a:t>Nhiệt</a:t>
            </a:r>
            <a:r>
              <a:rPr lang="en-US" altLang="ko-KR" sz="950" smtClean="0">
                <a:solidFill>
                  <a:srgbClr val="000000"/>
                </a:solidFill>
                <a:latin typeface="Times New Roman" pitchFamily="18" charset="0"/>
                <a:cs typeface="Times New Roman" pitchFamily="18" charset="0"/>
              </a:rPr>
              <a:t> độ </a:t>
            </a:r>
            <a:endParaRPr lang="ko-KR" altLang="en-US" sz="950" dirty="0">
              <a:solidFill>
                <a:srgbClr val="000000"/>
              </a:solidFill>
              <a:latin typeface="Times New Roman" pitchFamily="18" charset="0"/>
              <a:cs typeface="Times New Roman" pitchFamily="18" charset="0"/>
            </a:endParaRPr>
          </a:p>
        </p:txBody>
      </p:sp>
      <p:sp>
        <p:nvSpPr>
          <p:cNvPr id="8" name="Rectangle 626"/>
          <p:cNvSpPr>
            <a:spLocks noChangeArrowheads="1"/>
          </p:cNvSpPr>
          <p:nvPr/>
        </p:nvSpPr>
        <p:spPr bwMode="auto">
          <a:xfrm>
            <a:off x="232792" y="2393811"/>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cs typeface="Times New Roman" pitchFamily="18" charset="0"/>
              </a:rPr>
              <a:t>52</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Nội</a:t>
            </a:r>
            <a:r>
              <a:rPr lang="en-US" altLang="ko-KR" sz="950" dirty="0" smtClean="0">
                <a:solidFill>
                  <a:srgbClr val="000000"/>
                </a:solidFill>
                <a:latin typeface="Times New Roman" pitchFamily="18" charset="0"/>
                <a:cs typeface="Times New Roman" pitchFamily="18" charset="0"/>
              </a:rPr>
              <a:t> dung </a:t>
            </a:r>
            <a:r>
              <a:rPr lang="en-US" altLang="ko-KR" sz="950" dirty="0" err="1" smtClean="0">
                <a:solidFill>
                  <a:srgbClr val="000000"/>
                </a:solidFill>
                <a:latin typeface="Times New Roman" pitchFamily="18" charset="0"/>
                <a:cs typeface="Times New Roman" pitchFamily="18" charset="0"/>
              </a:rPr>
              <a:t>dưới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đây</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là</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giải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thích</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về</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định</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luật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nào</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a:t>
            </a:r>
            <a:r>
              <a:rPr lang="vi-VN" altLang="ko-KR" sz="950">
                <a:solidFill>
                  <a:srgbClr val="000000"/>
                </a:solidFill>
                <a:latin typeface="Times New Roman" pitchFamily="18" charset="0"/>
                <a:cs typeface="Times New Roman" pitchFamily="18" charset="0"/>
              </a:rPr>
              <a:t>Duy trì áp suất chất khí cố định và khi nhiệt độ và thể tích thay đổi thì nhiệt độ và thể tích tỷ lệ thuận với nhau</a:t>
            </a:r>
            <a:r>
              <a:rPr lang="en-US" altLang="ko-KR" sz="95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hangingPunct="1"/>
            <a:r>
              <a:rPr lang="en-US" altLang="ko-KR" sz="95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T1/T2 </a:t>
            </a:r>
            <a:r>
              <a:rPr lang="en-US" altLang="ko-KR" sz="95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V1/V2 </a:t>
            </a:r>
            <a:r>
              <a:rPr lang="en-US" altLang="ko-KR" sz="95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cố </a:t>
            </a:r>
            <a:r>
              <a:rPr lang="en-US" altLang="ko-KR" sz="950" dirty="0" err="1" smtClean="0">
                <a:solidFill>
                  <a:srgbClr val="000000"/>
                </a:solidFill>
                <a:latin typeface="Times New Roman" pitchFamily="18" charset="0"/>
                <a:cs typeface="Times New Roman" pitchFamily="18" charset="0"/>
              </a:rPr>
              <a:t>định</a:t>
            </a:r>
            <a:r>
              <a:rPr lang="ko-KR" altLang="en-US" sz="950" dirty="0" smtClean="0">
                <a:solidFill>
                  <a:srgbClr val="000000"/>
                </a:solidFill>
                <a:latin typeface="Times New Roman" pitchFamily="18" charset="0"/>
                <a:cs typeface="Times New Roman" pitchFamily="18" charset="0"/>
              </a:rPr>
              <a:t> </a:t>
            </a:r>
            <a:endParaRPr lang="ko-KR" altLang="en-US"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A.</a:t>
            </a:r>
            <a:r>
              <a:rPr lang="ko-KR" altLang="en-US" sz="950" smtClean="0">
                <a:solidFill>
                  <a:srgbClr val="000000"/>
                </a:solidFill>
                <a:latin typeface="Times New Roman" pitchFamily="18" charset="0"/>
                <a:cs typeface="Times New Roman" pitchFamily="18" charset="0"/>
              </a:rPr>
              <a:t> </a:t>
            </a:r>
            <a:r>
              <a:rPr lang="en-US" altLang="ko-KR" sz="950" dirty="0" err="1">
                <a:solidFill>
                  <a:srgbClr val="000000"/>
                </a:solidFill>
                <a:latin typeface="Times New Roman" pitchFamily="18" charset="0"/>
                <a:cs typeface="Times New Roman" pitchFamily="18" charset="0"/>
              </a:rPr>
              <a:t>Định</a:t>
            </a:r>
            <a:r>
              <a:rPr lang="en-US" altLang="ko-KR" sz="950" dirty="0">
                <a:solidFill>
                  <a:srgbClr val="000000"/>
                </a:solidFill>
                <a:latin typeface="Times New Roman" pitchFamily="18" charset="0"/>
                <a:cs typeface="Times New Roman" pitchFamily="18" charset="0"/>
              </a:rPr>
              <a:t> </a:t>
            </a:r>
            <a:r>
              <a:rPr lang="en-US" altLang="ko-KR" sz="950" dirty="0" err="1">
                <a:solidFill>
                  <a:srgbClr val="000000"/>
                </a:solidFill>
                <a:latin typeface="Times New Roman" pitchFamily="18" charset="0"/>
                <a:cs typeface="Times New Roman" pitchFamily="18" charset="0"/>
              </a:rPr>
              <a:t>luật</a:t>
            </a:r>
            <a:r>
              <a:rPr lang="en-US" altLang="ko-KR" sz="950" dirty="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Boyle</a:t>
            </a:r>
            <a:r>
              <a:rPr lang="ko-KR" altLang="en-US" sz="950" smtClean="0">
                <a:solidFill>
                  <a:srgbClr val="000000"/>
                </a:solidFill>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B.</a:t>
            </a:r>
            <a:r>
              <a:rPr lang="ko-KR" altLang="en-US" sz="950" smtClean="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Định</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luật</a:t>
            </a:r>
            <a:r>
              <a:rPr lang="en-US" altLang="ko-KR" sz="950" dirty="0">
                <a:solidFill>
                  <a:srgbClr val="FF0000"/>
                </a:solidFill>
                <a:latin typeface="Times New Roman" pitchFamily="18" charset="0"/>
                <a:cs typeface="Times New Roman" pitchFamily="18" charset="0"/>
              </a:rPr>
              <a:t> Charles </a:t>
            </a:r>
            <a:endParaRPr lang="ko-KR" altLang="en-US" sz="950" dirty="0">
              <a:solidFill>
                <a:srgbClr val="FF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C.</a:t>
            </a:r>
            <a:r>
              <a:rPr lang="ko-KR" altLang="en-US" sz="95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Định</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luật</a:t>
            </a:r>
            <a:r>
              <a:rPr lang="en-US" altLang="ko-KR" sz="950" dirty="0" smtClean="0">
                <a:solidFill>
                  <a:srgbClr val="000000"/>
                </a:solidFill>
                <a:latin typeface="Times New Roman" pitchFamily="18" charset="0"/>
                <a:cs typeface="Times New Roman" pitchFamily="18" charset="0"/>
              </a:rPr>
              <a:t> Boyle-</a:t>
            </a:r>
            <a:r>
              <a:rPr lang="en-US" altLang="ko-KR" sz="950" dirty="0">
                <a:solidFill>
                  <a:srgbClr val="000000"/>
                </a:solidFill>
                <a:latin typeface="Times New Roman" pitchFamily="18" charset="0"/>
                <a:cs typeface="Times New Roman" pitchFamily="18" charset="0"/>
              </a:rPr>
              <a:t> </a:t>
            </a:r>
            <a:r>
              <a:rPr lang="en-US" altLang="ko-KR" sz="950">
                <a:solidFill>
                  <a:srgbClr val="000000"/>
                </a:solidFill>
                <a:latin typeface="Times New Roman" pitchFamily="18" charset="0"/>
                <a:cs typeface="Times New Roman" pitchFamily="18" charset="0"/>
              </a:rPr>
              <a:t>Charles </a:t>
            </a:r>
            <a:r>
              <a:rPr lang="ko-KR" altLang="en-US" sz="950" smtClean="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D.</a:t>
            </a:r>
            <a:r>
              <a:rPr lang="ko-KR" altLang="en-US" sz="950" smtClean="0">
                <a:solidFill>
                  <a:srgbClr val="000000"/>
                </a:solidFill>
                <a:latin typeface="Times New Roman" pitchFamily="18" charset="0"/>
                <a:cs typeface="Times New Roman" pitchFamily="18" charset="0"/>
              </a:rPr>
              <a:t> </a:t>
            </a:r>
            <a:r>
              <a:rPr lang="en-US" altLang="ko-KR" sz="950" dirty="0" err="1">
                <a:solidFill>
                  <a:srgbClr val="000000"/>
                </a:solidFill>
                <a:latin typeface="Times New Roman" pitchFamily="18" charset="0"/>
                <a:cs typeface="Times New Roman" pitchFamily="18" charset="0"/>
              </a:rPr>
              <a:t>Định</a:t>
            </a:r>
            <a:r>
              <a:rPr lang="en-US" altLang="ko-KR" sz="950" dirty="0">
                <a:solidFill>
                  <a:srgbClr val="000000"/>
                </a:solidFill>
                <a:latin typeface="Times New Roman" pitchFamily="18" charset="0"/>
                <a:cs typeface="Times New Roman" pitchFamily="18" charset="0"/>
              </a:rPr>
              <a:t> </a:t>
            </a:r>
            <a:r>
              <a:rPr lang="en-US" altLang="ko-KR" sz="950" dirty="0" err="1">
                <a:solidFill>
                  <a:srgbClr val="000000"/>
                </a:solidFill>
                <a:latin typeface="Times New Roman" pitchFamily="18" charset="0"/>
                <a:cs typeface="Times New Roman" pitchFamily="18" charset="0"/>
              </a:rPr>
              <a:t>luật</a:t>
            </a:r>
            <a:r>
              <a:rPr lang="en-US" altLang="ko-KR" sz="950" dirty="0">
                <a:solidFill>
                  <a:srgbClr val="000000"/>
                </a:solidFill>
                <a:latin typeface="Times New Roman" pitchFamily="18" charset="0"/>
                <a:cs typeface="Times New Roman" pitchFamily="18" charset="0"/>
              </a:rPr>
              <a:t> Pascal </a:t>
            </a:r>
            <a:endParaRPr lang="ko-KR" altLang="en-US" sz="950" dirty="0">
              <a:solidFill>
                <a:srgbClr val="000000"/>
              </a:solidFill>
              <a:latin typeface="Times New Roman" pitchFamily="18" charset="0"/>
              <a:cs typeface="Times New Roman" pitchFamily="18" charset="0"/>
            </a:endParaRPr>
          </a:p>
        </p:txBody>
      </p:sp>
      <p:grpSp>
        <p:nvGrpSpPr>
          <p:cNvPr id="2" name="Group 1"/>
          <p:cNvGrpSpPr/>
          <p:nvPr/>
        </p:nvGrpSpPr>
        <p:grpSpPr>
          <a:xfrm>
            <a:off x="304800" y="3748334"/>
            <a:ext cx="3124200" cy="1636714"/>
            <a:chOff x="304800" y="3748334"/>
            <a:chExt cx="3124200" cy="1636714"/>
          </a:xfrm>
        </p:grpSpPr>
        <p:grpSp>
          <p:nvGrpSpPr>
            <p:cNvPr id="9" name="Group 8"/>
            <p:cNvGrpSpPr/>
            <p:nvPr/>
          </p:nvGrpSpPr>
          <p:grpSpPr>
            <a:xfrm>
              <a:off x="304800" y="3748334"/>
              <a:ext cx="3124200" cy="1636714"/>
              <a:chOff x="304800" y="2647949"/>
              <a:chExt cx="3124200" cy="1636714"/>
            </a:xfrm>
          </p:grpSpPr>
          <p:sp>
            <p:nvSpPr>
              <p:cNvPr id="10" name="Rectangle 637"/>
              <p:cNvSpPr>
                <a:spLocks noChangeArrowheads="1"/>
              </p:cNvSpPr>
              <p:nvPr/>
            </p:nvSpPr>
            <p:spPr bwMode="auto">
              <a:xfrm>
                <a:off x="304800" y="2647949"/>
                <a:ext cx="3124200"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cs typeface="Times New Roman" pitchFamily="18" charset="0"/>
                  </a:rPr>
                  <a:t>53</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Chọn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là</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máy</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nén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khí</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pittong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đa</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tầng</a:t>
                </a:r>
                <a:r>
                  <a:rPr lang="en-US" altLang="ko-KR" sz="950" dirty="0" smtClean="0">
                    <a:solidFill>
                      <a:srgbClr val="000000"/>
                    </a:solidFill>
                    <a:latin typeface="Times New Roman" pitchFamily="18" charset="0"/>
                    <a:cs typeface="Times New Roman" pitchFamily="18" charset="0"/>
                  </a:rPr>
                  <a:t> ?</a:t>
                </a:r>
                <a:endParaRPr lang="en-US" altLang="ko-KR" sz="950" dirty="0">
                  <a:solidFill>
                    <a:srgbClr val="000000"/>
                  </a:solidFill>
                  <a:latin typeface="Times New Roman" pitchFamily="18" charset="0"/>
                  <a:cs typeface="Times New Roman" pitchFamily="18" charset="0"/>
                </a:endParaRPr>
              </a:p>
              <a:p>
                <a:pPr eaLnBrk="1" hangingPunct="1"/>
                <a:endParaRPr lang="en-US" altLang="ko-KR" sz="950" smtClean="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A.                                            B.</a:t>
                </a:r>
                <a:endParaRPr lang="en-US" altLang="ko-KR" sz="950" dirty="0">
                  <a:solidFill>
                    <a:srgbClr val="000000"/>
                  </a:solidFill>
                  <a:latin typeface="Times New Roman" pitchFamily="18" charset="0"/>
                  <a:cs typeface="Times New Roman" pitchFamily="18" charset="0"/>
                </a:endParaRPr>
              </a:p>
              <a:p>
                <a:pPr eaLnBrk="1" hangingPunct="1"/>
                <a:endParaRPr lang="en-US" altLang="ko-KR" sz="950" dirty="0">
                  <a:solidFill>
                    <a:srgbClr val="000000"/>
                  </a:solidFill>
                  <a:latin typeface="Times New Roman" pitchFamily="18" charset="0"/>
                  <a:cs typeface="Times New Roman" pitchFamily="18" charset="0"/>
                </a:endParaRPr>
              </a:p>
              <a:p>
                <a:pPr eaLnBrk="1" hangingPunct="1"/>
                <a:endParaRPr lang="en-US" altLang="ko-KR" sz="950" dirty="0">
                  <a:solidFill>
                    <a:srgbClr val="000000"/>
                  </a:solidFill>
                  <a:latin typeface="Times New Roman" pitchFamily="18" charset="0"/>
                  <a:cs typeface="Times New Roman" pitchFamily="18" charset="0"/>
                </a:endParaRPr>
              </a:p>
              <a:p>
                <a:pPr eaLnBrk="1" hangingPunct="1"/>
                <a:endParaRPr lang="en-US" altLang="ko-KR" sz="950" dirty="0">
                  <a:solidFill>
                    <a:srgbClr val="000000"/>
                  </a:solidFill>
                  <a:latin typeface="Times New Roman" pitchFamily="18" charset="0"/>
                  <a:cs typeface="Times New Roman" pitchFamily="18" charset="0"/>
                </a:endParaRPr>
              </a:p>
              <a:p>
                <a:pPr eaLnBrk="1" hangingPunct="1"/>
                <a:endParaRPr lang="en-US" altLang="ko-KR" sz="950" dirty="0">
                  <a:solidFill>
                    <a:srgbClr val="000000"/>
                  </a:solidFill>
                  <a:latin typeface="Times New Roman" pitchFamily="18" charset="0"/>
                  <a:cs typeface="Times New Roman" pitchFamily="18" charset="0"/>
                </a:endParaRPr>
              </a:p>
              <a:p>
                <a:pPr eaLnBrk="1" hangingPunct="1"/>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C</a:t>
                </a:r>
                <a:r>
                  <a:rPr lang="en-US" altLang="ko-KR" sz="950" smtClean="0">
                    <a:solidFill>
                      <a:srgbClr val="FF0000"/>
                    </a:solidFill>
                    <a:latin typeface="Times New Roman" pitchFamily="18" charset="0"/>
                    <a:cs typeface="Times New Roman" pitchFamily="18" charset="0"/>
                  </a:rPr>
                  <a:t>.                                            D.</a:t>
                </a:r>
                <a:endParaRPr lang="en-US" altLang="ko-KR" sz="950" dirty="0">
                  <a:solidFill>
                    <a:srgbClr val="FF0000"/>
                  </a:solidFill>
                  <a:latin typeface="Times New Roman" pitchFamily="18" charset="0"/>
                  <a:cs typeface="Times New Roman" pitchFamily="18" charset="0"/>
                </a:endParaRPr>
              </a:p>
            </p:txBody>
          </p:sp>
          <p:pic>
            <p:nvPicPr>
              <p:cNvPr id="11" name="Picture 638"/>
              <p:cNvPicPr>
                <a:picLocks noChangeAspect="1" noChangeArrowheads="1"/>
              </p:cNvPicPr>
              <p:nvPr/>
            </p:nvPicPr>
            <p:blipFill>
              <a:blip r:embed="rId3" cstate="print">
                <a:extLst>
                  <a:ext uri="{28A0092B-C50C-407E-A947-70E740481C1C}">
                    <a14:useLocalDpi xmlns:a14="http://schemas.microsoft.com/office/drawing/2010/main" val="0"/>
                  </a:ext>
                </a:extLst>
              </a:blip>
              <a:srcRect t="2979"/>
              <a:stretch>
                <a:fillRect/>
              </a:stretch>
            </p:blipFill>
            <p:spPr bwMode="auto">
              <a:xfrm>
                <a:off x="1889126" y="3584576"/>
                <a:ext cx="796925" cy="684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2" name="Picture 639"/>
              <p:cNvPicPr>
                <a:picLocks noChangeAspect="1" noChangeArrowheads="1"/>
              </p:cNvPicPr>
              <p:nvPr/>
            </p:nvPicPr>
            <p:blipFill>
              <a:blip r:embed="rId4">
                <a:extLst>
                  <a:ext uri="{28A0092B-C50C-407E-A947-70E740481C1C}">
                    <a14:useLocalDpi xmlns:a14="http://schemas.microsoft.com/office/drawing/2010/main" val="0"/>
                  </a:ext>
                </a:extLst>
              </a:blip>
              <a:srcRect t="3171" r="77451" b="8530"/>
              <a:stretch>
                <a:fillRect/>
              </a:stretch>
            </p:blipFill>
            <p:spPr bwMode="auto">
              <a:xfrm>
                <a:off x="592138" y="2863851"/>
                <a:ext cx="792162"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pic>
            <p:nvPicPr>
              <p:cNvPr id="13" name="Picture 640"/>
              <p:cNvPicPr>
                <a:picLocks noChangeAspect="1" noChangeArrowheads="1"/>
              </p:cNvPicPr>
              <p:nvPr/>
            </p:nvPicPr>
            <p:blipFill>
              <a:blip r:embed="rId5">
                <a:extLst>
                  <a:ext uri="{28A0092B-C50C-407E-A947-70E740481C1C}">
                    <a14:useLocalDpi xmlns:a14="http://schemas.microsoft.com/office/drawing/2010/main" val="0"/>
                  </a:ext>
                </a:extLst>
              </a:blip>
              <a:srcRect l="52217" t="12201" r="3622" b="20570"/>
              <a:stretch>
                <a:fillRect/>
              </a:stretch>
            </p:blipFill>
            <p:spPr bwMode="auto">
              <a:xfrm>
                <a:off x="549276" y="3584575"/>
                <a:ext cx="835025"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pic>
          <p:nvPicPr>
            <p:cNvPr id="14" name="Picture 641"/>
            <p:cNvPicPr>
              <a:picLocks noChangeAspect="1" noChangeArrowheads="1"/>
            </p:cNvPicPr>
            <p:nvPr/>
          </p:nvPicPr>
          <p:blipFill>
            <a:blip r:embed="rId4">
              <a:extLst>
                <a:ext uri="{28A0092B-C50C-407E-A947-70E740481C1C}">
                  <a14:useLocalDpi xmlns:a14="http://schemas.microsoft.com/office/drawing/2010/main" val="0"/>
                </a:ext>
              </a:extLst>
            </a:blip>
            <a:srcRect l="23700" t="3171" r="52600" b="8530"/>
            <a:stretch>
              <a:fillRect/>
            </a:stretch>
          </p:blipFill>
          <p:spPr bwMode="auto">
            <a:xfrm>
              <a:off x="1889126" y="3964309"/>
              <a:ext cx="796925" cy="628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grpSp>
      <p:sp>
        <p:nvSpPr>
          <p:cNvPr id="15" name="Rectangle 631"/>
          <p:cNvSpPr>
            <a:spLocks noChangeArrowheads="1"/>
          </p:cNvSpPr>
          <p:nvPr/>
        </p:nvSpPr>
        <p:spPr bwMode="auto">
          <a:xfrm>
            <a:off x="232792" y="6117322"/>
            <a:ext cx="312420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cs typeface="Times New Roman" pitchFamily="18" charset="0"/>
              </a:rPr>
              <a:t>54</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Chọn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án</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giải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thích</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đúng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về</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suất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tuyệt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đối</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 </a:t>
            </a:r>
            <a:r>
              <a:rPr lang="en-US" altLang="ko-KR" sz="950" dirty="0" err="1" smtClean="0">
                <a:solidFill>
                  <a:srgbClr val="FF0000"/>
                </a:solidFill>
                <a:latin typeface="Times New Roman" pitchFamily="18" charset="0"/>
                <a:cs typeface="Times New Roman" pitchFamily="18" charset="0"/>
              </a:rPr>
              <a:t>Áp</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suất</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không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khí</a:t>
            </a:r>
            <a:r>
              <a:rPr lang="ko-KR" altLang="en-US" sz="950" dirty="0" smtClean="0">
                <a:solidFill>
                  <a:srgbClr val="FF0000"/>
                </a:solidFill>
                <a:latin typeface="Times New Roman" pitchFamily="18" charset="0"/>
                <a:cs typeface="Times New Roman" pitchFamily="18" charset="0"/>
              </a:rPr>
              <a:t> </a:t>
            </a:r>
            <a:r>
              <a:rPr lang="en-US" altLang="ko-KR" sz="950" dirty="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Áp</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suất</a:t>
            </a:r>
            <a:r>
              <a:rPr lang="en-US" altLang="ko-KR" sz="950" dirty="0" smtClean="0">
                <a:solidFill>
                  <a:srgbClr val="FF0000"/>
                </a:solidFill>
                <a:latin typeface="Times New Roman" pitchFamily="18" charset="0"/>
                <a:cs typeface="Times New Roman" pitchFamily="18" charset="0"/>
              </a:rPr>
              <a:t> </a:t>
            </a:r>
            <a:r>
              <a:rPr lang="en-US" altLang="ko-KR" sz="950" err="1" smtClean="0">
                <a:solidFill>
                  <a:srgbClr val="FF0000"/>
                </a:solidFill>
                <a:latin typeface="Times New Roman" pitchFamily="18" charset="0"/>
                <a:cs typeface="Times New Roman" pitchFamily="18" charset="0"/>
              </a:rPr>
              <a:t>tương</a:t>
            </a:r>
            <a:r>
              <a:rPr lang="en-US" altLang="ko-KR" sz="950" smtClean="0">
                <a:solidFill>
                  <a:srgbClr val="FF0000"/>
                </a:solidFill>
                <a:latin typeface="Times New Roman" pitchFamily="18" charset="0"/>
                <a:cs typeface="Times New Roman" pitchFamily="18" charset="0"/>
              </a:rPr>
              <a:t> đối</a:t>
            </a:r>
            <a:r>
              <a:rPr lang="ko-KR" altLang="en-US" sz="950" smtClean="0">
                <a:solidFill>
                  <a:srgbClr val="FF0000"/>
                </a:solidFill>
                <a:latin typeface="Times New Roman" pitchFamily="18" charset="0"/>
                <a:cs typeface="Times New Roman" pitchFamily="18" charset="0"/>
              </a:rPr>
              <a:t>    </a:t>
            </a:r>
            <a:endParaRPr lang="en-US" altLang="ko-KR" sz="950" dirty="0" smtClean="0">
              <a:solidFill>
                <a:srgbClr val="FF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B.</a:t>
            </a:r>
            <a:r>
              <a:rPr lang="ko-KR" altLang="en-US" sz="95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suất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không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khí</a:t>
            </a:r>
            <a:r>
              <a:rPr lang="ko-KR" altLang="en-US" sz="950" dirty="0" smtClean="0">
                <a:solidFill>
                  <a:srgbClr val="000000"/>
                </a:solidFill>
                <a:latin typeface="Times New Roman" pitchFamily="18" charset="0"/>
                <a:cs typeface="Times New Roman" pitchFamily="18" charset="0"/>
              </a:rPr>
              <a:t> </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suất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tương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đối</a:t>
            </a:r>
            <a:r>
              <a:rPr lang="en-US" altLang="ko-KR" sz="950" dirty="0" smtClean="0">
                <a:solidFill>
                  <a:srgbClr val="000000"/>
                </a:solidFill>
                <a:latin typeface="Times New Roman" pitchFamily="18" charset="0"/>
                <a:cs typeface="Times New Roman" pitchFamily="18" charset="0"/>
              </a:rPr>
              <a:t> </a:t>
            </a:r>
            <a:endParaRPr lang="ko-KR" altLang="en-US"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C.</a:t>
            </a:r>
            <a:r>
              <a:rPr lang="ko-KR" altLang="en-US" sz="95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suất</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không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khí</a:t>
            </a:r>
            <a:r>
              <a:rPr lang="ko-KR" altLang="en-US" sz="950" dirty="0" smtClean="0">
                <a:solidFill>
                  <a:srgbClr val="000000"/>
                </a:solidFill>
                <a:latin typeface="Times New Roman" pitchFamily="18" charset="0"/>
                <a:cs typeface="Times New Roman" pitchFamily="18" charset="0"/>
              </a:rPr>
              <a:t> </a:t>
            </a:r>
            <a:r>
              <a:rPr lang="ko-KR" altLang="en-US"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suất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tương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đối</a:t>
            </a:r>
            <a:r>
              <a:rPr lang="en-US" altLang="ko-KR" sz="950" dirty="0" smtClean="0">
                <a:solidFill>
                  <a:srgbClr val="000000"/>
                </a:solidFill>
                <a:latin typeface="Times New Roman" pitchFamily="18" charset="0"/>
                <a:cs typeface="Times New Roman" pitchFamily="18" charset="0"/>
              </a:rPr>
              <a:t> </a:t>
            </a:r>
            <a:r>
              <a:rPr lang="ko-KR" altLang="en-US" sz="950" dirty="0" smtClean="0">
                <a:solidFill>
                  <a:srgbClr val="000000"/>
                </a:solidFill>
                <a:latin typeface="Times New Roman" pitchFamily="18" charset="0"/>
                <a:cs typeface="Times New Roman" pitchFamily="18" charset="0"/>
              </a:rPr>
              <a:t> </a:t>
            </a:r>
            <a:endParaRPr lang="en-US" altLang="ko-KR" sz="950" dirty="0" smtClean="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D.</a:t>
            </a:r>
            <a:r>
              <a:rPr lang="ko-KR" altLang="en-US" sz="95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suất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không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khí</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suất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tương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đối</a:t>
            </a:r>
            <a:endParaRPr lang="ko-KR" altLang="en-US" sz="950" dirty="0">
              <a:solidFill>
                <a:srgbClr val="000000"/>
              </a:solidFill>
              <a:latin typeface="Times New Roman" pitchFamily="18" charset="0"/>
              <a:cs typeface="Times New Roman" pitchFamily="18" charset="0"/>
            </a:endParaRPr>
          </a:p>
        </p:txBody>
      </p:sp>
      <p:sp>
        <p:nvSpPr>
          <p:cNvPr id="16" name="Rectangle 81"/>
          <p:cNvSpPr>
            <a:spLocks noChangeArrowheads="1"/>
          </p:cNvSpPr>
          <p:nvPr/>
        </p:nvSpPr>
        <p:spPr bwMode="auto">
          <a:xfrm>
            <a:off x="232792" y="7959333"/>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cs typeface="Times New Roman" pitchFamily="18" charset="0"/>
              </a:rPr>
              <a:t>55</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Chọn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không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phải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là</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ưu</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điểm</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của</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máy</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nén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khí</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trong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những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đặc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điểm</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sau</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hangingPunct="1"/>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A. </a:t>
            </a:r>
            <a:r>
              <a:rPr lang="en-US" altLang="ko-KR" sz="950" dirty="0" err="1" smtClean="0">
                <a:solidFill>
                  <a:srgbClr val="000000"/>
                </a:solidFill>
                <a:latin typeface="Times New Roman" pitchFamily="18" charset="0"/>
                <a:cs typeface="Times New Roman" pitchFamily="18" charset="0"/>
              </a:rPr>
              <a:t>Lượng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không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khí</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dồi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dào</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B. </a:t>
            </a:r>
            <a:r>
              <a:rPr lang="en-US" altLang="ko-KR" sz="950" dirty="0" err="1" smtClean="0">
                <a:solidFill>
                  <a:srgbClr val="000000"/>
                </a:solidFill>
                <a:latin typeface="Times New Roman" pitchFamily="18" charset="0"/>
                <a:cs typeface="Times New Roman" pitchFamily="18" charset="0"/>
              </a:rPr>
              <a:t>Thay</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đổi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đăch</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tính</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theo</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thay</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đổi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nhiệt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độ</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kém</a:t>
            </a:r>
            <a:r>
              <a:rPr kumimoji="0" lang="en-US" altLang="ko-KR" sz="950" dirty="0" smtClean="0">
                <a:solidFill>
                  <a:srgbClr val="000000"/>
                </a:solidFill>
                <a:latin typeface="Times New Roman" pitchFamily="18" charset="0"/>
                <a:cs typeface="Times New Roman" pitchFamily="18" charset="0"/>
              </a:rPr>
              <a:t>.</a:t>
            </a:r>
            <a:endParaRPr kumimoji="0"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C. </a:t>
            </a:r>
            <a:r>
              <a:rPr lang="en-US" altLang="ko-KR" sz="950" dirty="0" err="1" smtClean="0">
                <a:solidFill>
                  <a:srgbClr val="FF0000"/>
                </a:solidFill>
                <a:latin typeface="Times New Roman" pitchFamily="18" charset="0"/>
                <a:cs typeface="Times New Roman" pitchFamily="18" charset="0"/>
              </a:rPr>
              <a:t>Máy</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nén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khí</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sử</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dụng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phải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có</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thải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khí</a:t>
            </a:r>
            <a:r>
              <a:rPr kumimoji="0" lang="en-US" altLang="ko-KR" sz="950" dirty="0" smtClean="0">
                <a:solidFill>
                  <a:srgbClr val="FF0000"/>
                </a:solidFill>
                <a:latin typeface="Times New Roman" pitchFamily="18" charset="0"/>
                <a:cs typeface="Times New Roman" pitchFamily="18" charset="0"/>
              </a:rPr>
              <a:t>.</a:t>
            </a:r>
            <a:endParaRPr kumimoji="0" lang="en-US" altLang="ko-KR" sz="950" dirty="0">
              <a:solidFill>
                <a:srgbClr val="FF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D. </a:t>
            </a:r>
            <a:r>
              <a:rPr lang="en-US" altLang="ko-KR" sz="950" dirty="0" err="1" smtClean="0">
                <a:solidFill>
                  <a:srgbClr val="000000"/>
                </a:solidFill>
                <a:latin typeface="Times New Roman" pitchFamily="18" charset="0"/>
                <a:cs typeface="Times New Roman" pitchFamily="18" charset="0"/>
              </a:rPr>
              <a:t>Tốc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độ</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thao</a:t>
            </a:r>
            <a:r>
              <a:rPr lang="en-US" altLang="ko-KR" sz="950" dirty="0" smtClean="0">
                <a:solidFill>
                  <a:srgbClr val="000000"/>
                </a:solidFill>
                <a:latin typeface="Times New Roman" pitchFamily="18" charset="0"/>
                <a:cs typeface="Times New Roman" pitchFamily="18" charset="0"/>
              </a:rPr>
              <a:t> tac </a:t>
            </a:r>
            <a:r>
              <a:rPr lang="en-US" altLang="ko-KR" sz="950" dirty="0" err="1" smtClean="0">
                <a:solidFill>
                  <a:srgbClr val="000000"/>
                </a:solidFill>
                <a:latin typeface="Times New Roman" pitchFamily="18" charset="0"/>
                <a:cs typeface="Times New Roman" pitchFamily="18" charset="0"/>
              </a:rPr>
              <a:t>của</a:t>
            </a:r>
            <a:r>
              <a:rPr lang="en-US" altLang="ko-KR" sz="950" dirty="0" smtClean="0">
                <a:solidFill>
                  <a:srgbClr val="000000"/>
                </a:solidFill>
                <a:latin typeface="Times New Roman" pitchFamily="18" charset="0"/>
                <a:cs typeface="Times New Roman" pitchFamily="18" charset="0"/>
              </a:rPr>
              <a:t> Actuator </a:t>
            </a:r>
            <a:r>
              <a:rPr lang="en-US" altLang="ko-KR" sz="950" dirty="0" err="1" smtClean="0">
                <a:solidFill>
                  <a:srgbClr val="000000"/>
                </a:solidFill>
                <a:latin typeface="Times New Roman" pitchFamily="18" charset="0"/>
                <a:cs typeface="Times New Roman" pitchFamily="18" charset="0"/>
              </a:rPr>
              <a:t>khí</a:t>
            </a:r>
            <a:r>
              <a:rPr lang="en-US" altLang="ko-KR" sz="950" dirty="0" smtClean="0">
                <a:solidFill>
                  <a:srgbClr val="000000"/>
                </a:solidFill>
                <a:latin typeface="Times New Roman" pitchFamily="18" charset="0"/>
                <a:cs typeface="Times New Roman" pitchFamily="18" charset="0"/>
              </a:rPr>
              <a:t> </a:t>
            </a:r>
            <a:r>
              <a:rPr lang="en-US" altLang="ko-KR" sz="950" err="1" smtClean="0">
                <a:solidFill>
                  <a:srgbClr val="000000"/>
                </a:solidFill>
                <a:latin typeface="Times New Roman" pitchFamily="18" charset="0"/>
                <a:cs typeface="Times New Roman" pitchFamily="18" charset="0"/>
              </a:rPr>
              <a:t>nén</a:t>
            </a:r>
            <a:r>
              <a:rPr lang="en-US" altLang="ko-KR" sz="950" smtClean="0">
                <a:solidFill>
                  <a:srgbClr val="000000"/>
                </a:solidFill>
                <a:latin typeface="Times New Roman" pitchFamily="18" charset="0"/>
                <a:cs typeface="Times New Roman" pitchFamily="18" charset="0"/>
              </a:rPr>
              <a:t> nhanh</a:t>
            </a:r>
            <a:endParaRPr kumimoji="0" lang="en-US" altLang="ko-KR" sz="950" dirty="0">
              <a:solidFill>
                <a:srgbClr val="000000"/>
              </a:solidFill>
              <a:latin typeface="Times New Roman" pitchFamily="18" charset="0"/>
              <a:cs typeface="Times New Roman" pitchFamily="18" charset="0"/>
            </a:endParaRPr>
          </a:p>
        </p:txBody>
      </p:sp>
      <p:sp>
        <p:nvSpPr>
          <p:cNvPr id="17" name="Rectangle 248"/>
          <p:cNvSpPr>
            <a:spLocks noChangeArrowheads="1"/>
          </p:cNvSpPr>
          <p:nvPr/>
        </p:nvSpPr>
        <p:spPr bwMode="auto">
          <a:xfrm>
            <a:off x="3429000" y="1208584"/>
            <a:ext cx="325552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fontAlgn="b" hangingPunct="1"/>
            <a:r>
              <a:rPr lang="en-US" altLang="ko-KR" sz="950" smtClean="0">
                <a:solidFill>
                  <a:srgbClr val="000000"/>
                </a:solidFill>
                <a:latin typeface="Times New Roman" pitchFamily="18" charset="0"/>
                <a:cs typeface="Times New Roman" pitchFamily="18" charset="0"/>
              </a:rPr>
              <a:t>56</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Có</a:t>
            </a:r>
            <a:r>
              <a:rPr lang="en-US" altLang="ko-KR" sz="950" dirty="0" smtClean="0">
                <a:solidFill>
                  <a:srgbClr val="000000"/>
                </a:solidFill>
                <a:latin typeface="Times New Roman" pitchFamily="18" charset="0"/>
                <a:cs typeface="Times New Roman" pitchFamily="18" charset="0"/>
              </a:rPr>
              <a:t> 3 </a:t>
            </a:r>
            <a:r>
              <a:rPr lang="en-US" altLang="ko-KR" sz="950" dirty="0" err="1" smtClean="0">
                <a:solidFill>
                  <a:srgbClr val="000000"/>
                </a:solidFill>
                <a:latin typeface="Times New Roman" pitchFamily="18" charset="0"/>
                <a:cs typeface="Times New Roman" pitchFamily="18" charset="0"/>
              </a:rPr>
              <a:t>loại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cơ</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khí</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xả</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nước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tự</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động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Một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trong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số</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đó</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là</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fontAlgn="b" hangingPunct="1"/>
            <a:r>
              <a:rPr lang="en-US" altLang="ko-KR" sz="95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A. </a:t>
            </a:r>
            <a:r>
              <a:rPr lang="en-US" altLang="ko-KR" sz="950" dirty="0" smtClean="0">
                <a:solidFill>
                  <a:srgbClr val="000000"/>
                </a:solidFill>
                <a:latin typeface="Times New Roman" pitchFamily="18" charset="0"/>
                <a:cs typeface="Times New Roman" pitchFamily="18" charset="0"/>
              </a:rPr>
              <a:t>Float type</a:t>
            </a:r>
            <a:endParaRPr lang="ko-KR" altLang="en-US" sz="950" dirty="0">
              <a:solidFill>
                <a:srgbClr val="000000"/>
              </a:solidFill>
              <a:latin typeface="Times New Roman" pitchFamily="18" charset="0"/>
              <a:cs typeface="Times New Roman" pitchFamily="18" charset="0"/>
            </a:endParaRPr>
          </a:p>
          <a:p>
            <a:pPr eaLnBrk="1" fontAlgn="b" hangingPunct="1"/>
            <a:r>
              <a:rPr lang="ko-KR" altLang="en-US" sz="95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B.</a:t>
            </a:r>
            <a:r>
              <a:rPr lang="ko-KR" altLang="en-US" sz="950" smtClean="0">
                <a:solidFill>
                  <a:srgbClr val="000000"/>
                </a:solidFill>
                <a:latin typeface="Times New Roman" pitchFamily="18" charset="0"/>
                <a:cs typeface="Times New Roman" pitchFamily="18" charset="0"/>
              </a:rPr>
              <a:t> </a:t>
            </a:r>
            <a:r>
              <a:rPr lang="en-US" altLang="ko-KR" sz="950" dirty="0" smtClean="0">
                <a:solidFill>
                  <a:srgbClr val="000000"/>
                </a:solidFill>
                <a:latin typeface="Times New Roman" pitchFamily="18" charset="0"/>
                <a:cs typeface="Times New Roman" pitchFamily="18" charset="0"/>
              </a:rPr>
              <a:t>Pilot Type</a:t>
            </a:r>
            <a:r>
              <a:rPr lang="ko-KR" altLang="en-US" sz="950" dirty="0" smtClean="0">
                <a:solidFill>
                  <a:srgbClr val="000000"/>
                </a:solidFill>
                <a:latin typeface="Times New Roman" pitchFamily="18" charset="0"/>
                <a:cs typeface="Times New Roman" pitchFamily="18" charset="0"/>
              </a:rPr>
              <a:t> </a:t>
            </a:r>
            <a:endParaRPr lang="ko-KR" altLang="en-US" sz="950" dirty="0">
              <a:solidFill>
                <a:srgbClr val="000000"/>
              </a:solidFill>
              <a:latin typeface="Times New Roman" pitchFamily="18" charset="0"/>
              <a:cs typeface="Times New Roman" pitchFamily="18" charset="0"/>
            </a:endParaRPr>
          </a:p>
          <a:p>
            <a:pPr eaLnBrk="1" fontAlgn="b" hangingPunct="1"/>
            <a:r>
              <a:rPr lang="ko-KR" altLang="en-US" sz="95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C.</a:t>
            </a:r>
            <a:r>
              <a:rPr lang="ko-KR" altLang="en-US" sz="95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Solenoide</a:t>
            </a:r>
            <a:r>
              <a:rPr lang="en-US" altLang="ko-KR" sz="950" dirty="0" smtClean="0">
                <a:solidFill>
                  <a:srgbClr val="000000"/>
                </a:solidFill>
                <a:latin typeface="Times New Roman" pitchFamily="18" charset="0"/>
                <a:cs typeface="Times New Roman" pitchFamily="18" charset="0"/>
              </a:rPr>
              <a:t> type </a:t>
            </a:r>
            <a:r>
              <a:rPr lang="ko-KR" altLang="en-US" sz="950" dirty="0" smtClean="0">
                <a:solidFill>
                  <a:srgbClr val="000000"/>
                </a:solidFill>
                <a:latin typeface="Times New Roman" pitchFamily="18" charset="0"/>
                <a:cs typeface="Times New Roman" pitchFamily="18" charset="0"/>
              </a:rPr>
              <a:t> </a:t>
            </a:r>
            <a:endParaRPr lang="ko-KR" altLang="en-US" sz="950" dirty="0">
              <a:solidFill>
                <a:srgbClr val="000000"/>
              </a:solidFill>
              <a:latin typeface="Times New Roman" pitchFamily="18" charset="0"/>
              <a:cs typeface="Times New Roman" pitchFamily="18" charset="0"/>
            </a:endParaRPr>
          </a:p>
          <a:p>
            <a:pPr eaLnBrk="1" fontAlgn="b" hangingPunct="1"/>
            <a:r>
              <a:rPr lang="ko-KR" altLang="en-US" sz="950">
                <a:solidFill>
                  <a:srgbClr val="000000"/>
                </a:solidFill>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D.</a:t>
            </a:r>
            <a:r>
              <a:rPr lang="ko-KR" altLang="en-US" sz="95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Dạng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nén</a:t>
            </a:r>
            <a:r>
              <a:rPr lang="ko-KR" altLang="en-US" sz="950" dirty="0" smtClean="0">
                <a:solidFill>
                  <a:srgbClr val="FF0000"/>
                </a:solidFill>
                <a:latin typeface="Times New Roman" pitchFamily="18" charset="0"/>
                <a:cs typeface="Times New Roman" pitchFamily="18" charset="0"/>
              </a:rPr>
              <a:t> </a:t>
            </a:r>
            <a:endParaRPr lang="ko-KR" altLang="en-US" sz="950" dirty="0">
              <a:solidFill>
                <a:srgbClr val="FF0000"/>
              </a:solidFill>
              <a:latin typeface="Times New Roman" pitchFamily="18" charset="0"/>
              <a:cs typeface="Times New Roman" pitchFamily="18" charset="0"/>
            </a:endParaRPr>
          </a:p>
        </p:txBody>
      </p:sp>
      <p:grpSp>
        <p:nvGrpSpPr>
          <p:cNvPr id="18" name="Group 17"/>
          <p:cNvGrpSpPr/>
          <p:nvPr/>
        </p:nvGrpSpPr>
        <p:grpSpPr>
          <a:xfrm>
            <a:off x="3428702" y="2432720"/>
            <a:ext cx="3124200" cy="1312864"/>
            <a:chOff x="304800" y="6643688"/>
            <a:chExt cx="3124200" cy="1312864"/>
          </a:xfrm>
        </p:grpSpPr>
        <p:sp>
          <p:nvSpPr>
            <p:cNvPr id="19" name="Rectangle 46"/>
            <p:cNvSpPr>
              <a:spLocks noChangeArrowheads="1"/>
            </p:cNvSpPr>
            <p:nvPr/>
          </p:nvSpPr>
          <p:spPr bwMode="auto">
            <a:xfrm>
              <a:off x="304800" y="6643688"/>
              <a:ext cx="312420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ea typeface="돋움" pitchFamily="50" charset="-127"/>
                  <a:cs typeface="Times New Roman" pitchFamily="18" charset="0"/>
                </a:rPr>
                <a:t>57.Bên </a:t>
              </a:r>
              <a:r>
                <a:rPr lang="en-US" altLang="ko-KR" sz="950" dirty="0" err="1" smtClean="0">
                  <a:solidFill>
                    <a:srgbClr val="000000"/>
                  </a:solidFill>
                  <a:latin typeface="Times New Roman" pitchFamily="18" charset="0"/>
                  <a:ea typeface="돋움" pitchFamily="50" charset="-127"/>
                  <a:cs typeface="Times New Roman" pitchFamily="18" charset="0"/>
                </a:rPr>
                <a:t>trái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hình</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của</a:t>
              </a:r>
              <a:r>
                <a:rPr lang="ko-KR" altLang="en-US" sz="950" dirty="0" smtClean="0">
                  <a:solidFill>
                    <a:srgbClr val="000000"/>
                  </a:solidFill>
                  <a:latin typeface="Times New Roman" pitchFamily="18" charset="0"/>
                  <a:ea typeface="돋움" pitchFamily="50" charset="-127"/>
                  <a:cs typeface="Times New Roman" pitchFamily="18" charset="0"/>
                </a:rPr>
                <a:t> </a:t>
              </a:r>
              <a:r>
                <a:rPr lang="en-US" altLang="ko-KR" sz="950" dirty="0">
                  <a:solidFill>
                    <a:srgbClr val="000000"/>
                  </a:solidFill>
                  <a:latin typeface="Times New Roman" pitchFamily="18" charset="0"/>
                  <a:ea typeface="돋움" pitchFamily="50" charset="-127"/>
                  <a:cs typeface="Times New Roman" pitchFamily="18" charset="0"/>
                </a:rPr>
                <a:t>AIR </a:t>
              </a:r>
              <a:r>
                <a:rPr lang="en-US" altLang="ko-KR" sz="950" dirty="0" smtClean="0">
                  <a:solidFill>
                    <a:srgbClr val="000000"/>
                  </a:solidFill>
                  <a:latin typeface="Times New Roman" pitchFamily="18" charset="0"/>
                  <a:ea typeface="돋움" pitchFamily="50" charset="-127"/>
                  <a:cs typeface="Times New Roman" pitchFamily="18" charset="0"/>
                </a:rPr>
                <a:t>FILTER.</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dirty="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Chọn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gọi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chính</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xác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của</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phần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có</a:t>
              </a:r>
              <a:r>
                <a:rPr lang="en-US" altLang="ko-KR" sz="950" dirty="0" smtClean="0">
                  <a:solidFill>
                    <a:srgbClr val="000000"/>
                  </a:solidFill>
                  <a:latin typeface="Times New Roman" pitchFamily="18" charset="0"/>
                  <a:ea typeface="돋움" pitchFamily="50" charset="-127"/>
                  <a:cs typeface="Times New Roman" pitchFamily="18" charset="0"/>
                </a:rPr>
                <a:t> </a:t>
              </a:r>
              <a:r>
                <a:rPr lang="ko-KR" altLang="en-US" sz="950" dirty="0" smtClean="0">
                  <a:solidFill>
                    <a:srgbClr val="000000"/>
                  </a:solidFill>
                  <a:latin typeface="Times New Roman" pitchFamily="18" charset="0"/>
                  <a:ea typeface="돋움" pitchFamily="50" charset="-127"/>
                  <a:cs typeface="Times New Roman" pitchFamily="18" charset="0"/>
                </a:rPr>
                <a:t> </a:t>
              </a:r>
              <a:endParaRPr lang="ko-KR" altLang="en-US" sz="950" dirty="0">
                <a:solidFill>
                  <a:srgbClr val="000000"/>
                </a:solidFill>
                <a:latin typeface="Times New Roman" pitchFamily="18" charset="0"/>
                <a:ea typeface="돋움" pitchFamily="50" charset="-127"/>
                <a:cs typeface="Times New Roman" pitchFamily="18" charset="0"/>
              </a:endParaRPr>
            </a:p>
            <a:p>
              <a:pPr eaLnBrk="1" hangingPunct="1"/>
              <a:r>
                <a:rPr lang="ko-KR" altLang="en-US" sz="950" dirty="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mũi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chỉ</a:t>
              </a:r>
              <a:r>
                <a:rPr lang="en-US" altLang="ko-KR" sz="950" dirty="0" smtClean="0">
                  <a:solidFill>
                    <a:srgbClr val="000000"/>
                  </a:solidFill>
                  <a:latin typeface="Times New Roman" pitchFamily="18" charset="0"/>
                  <a:ea typeface="돋움" pitchFamily="50" charset="-127"/>
                  <a:cs typeface="Times New Roman" pitchFamily="18" charset="0"/>
                </a:rPr>
                <a:t>?</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dirty="0" smtClean="0">
                  <a:solidFill>
                    <a:srgbClr val="FF0000"/>
                  </a:solidFill>
                  <a:latin typeface="Times New Roman" pitchFamily="18" charset="0"/>
                  <a:ea typeface="돋움" pitchFamily="50" charset="-127"/>
                  <a:cs typeface="Times New Roman" pitchFamily="18" charset="0"/>
                </a:rPr>
                <a:t>Filter Alignment</a:t>
              </a:r>
              <a:r>
                <a:rPr lang="ko-KR" altLang="en-US" sz="950" dirty="0" smtClean="0">
                  <a:solidFill>
                    <a:srgbClr val="FF0000"/>
                  </a:solidFill>
                  <a:latin typeface="Times New Roman" pitchFamily="18" charset="0"/>
                  <a:ea typeface="돋움" pitchFamily="50" charset="-127"/>
                  <a:cs typeface="Times New Roman" pitchFamily="18" charset="0"/>
                </a:rPr>
                <a:t>          </a:t>
              </a:r>
              <a:endParaRPr lang="ko-KR" altLang="en-US" sz="950" dirty="0">
                <a:solidFill>
                  <a:srgbClr val="FF0000"/>
                </a:solidFill>
                <a:latin typeface="Times New Roman" pitchFamily="18" charset="0"/>
                <a:ea typeface="돋움" pitchFamily="50" charset="-127"/>
                <a:cs typeface="Times New Roman" pitchFamily="18" charset="0"/>
              </a:endParaRPr>
            </a:p>
            <a:p>
              <a:pPr eaLnBrk="1" hangingPunct="1"/>
              <a:r>
                <a:rPr lang="en-US" altLang="ko-KR" sz="950" smtClean="0">
                  <a:solidFill>
                    <a:srgbClr val="000000"/>
                  </a:solidFill>
                  <a:latin typeface="Times New Roman" pitchFamily="18" charset="0"/>
                  <a:ea typeface="돋움" pitchFamily="50" charset="-127"/>
                  <a:cs typeface="Times New Roman" pitchFamily="18" charset="0"/>
                </a:rPr>
                <a:t>B.</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smtClean="0">
                  <a:solidFill>
                    <a:srgbClr val="000000"/>
                  </a:solidFill>
                  <a:latin typeface="Times New Roman" pitchFamily="18" charset="0"/>
                  <a:ea typeface="돋움" pitchFamily="50" charset="-127"/>
                  <a:cs typeface="Times New Roman" pitchFamily="18" charset="0"/>
                </a:rPr>
                <a:t>Baffles</a:t>
              </a:r>
              <a:endParaRPr lang="ko-KR" altLang="en-US"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smtClean="0">
                  <a:solidFill>
                    <a:srgbClr val="000000"/>
                  </a:solidFill>
                  <a:latin typeface="Times New Roman" pitchFamily="18" charset="0"/>
                  <a:ea typeface="돋움" pitchFamily="50" charset="-127"/>
                  <a:cs typeface="Times New Roman" pitchFamily="18" charset="0"/>
                </a:rPr>
                <a:t>C.</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Bộ</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làm</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lệch</a:t>
              </a:r>
              <a:r>
                <a:rPr lang="en-US" altLang="ko-KR" sz="950" dirty="0" smtClean="0">
                  <a:solidFill>
                    <a:srgbClr val="000000"/>
                  </a:solidFill>
                  <a:latin typeface="Times New Roman" pitchFamily="18" charset="0"/>
                  <a:ea typeface="돋움" pitchFamily="50" charset="-127"/>
                  <a:cs typeface="Times New Roman" pitchFamily="18" charset="0"/>
                </a:rPr>
                <a:t> ( Deflector) </a:t>
              </a:r>
              <a:r>
                <a:rPr lang="ko-KR" altLang="en-US" sz="950" dirty="0" smtClean="0">
                  <a:solidFill>
                    <a:srgbClr val="000000"/>
                  </a:solidFill>
                  <a:latin typeface="Times New Roman" pitchFamily="18" charset="0"/>
                  <a:ea typeface="돋움" pitchFamily="50" charset="-127"/>
                  <a:cs typeface="Times New Roman" pitchFamily="18" charset="0"/>
                </a:rPr>
                <a:t>                 </a:t>
              </a:r>
              <a:endParaRPr lang="ko-KR" altLang="en-US"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smtClean="0">
                  <a:solidFill>
                    <a:srgbClr val="000000"/>
                  </a:solidFill>
                  <a:latin typeface="Times New Roman" pitchFamily="18" charset="0"/>
                  <a:ea typeface="돋움" pitchFamily="50" charset="-127"/>
                  <a:cs typeface="Times New Roman" pitchFamily="18" charset="0"/>
                </a:rPr>
                <a:t>D.</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smtClean="0">
                  <a:solidFill>
                    <a:srgbClr val="000000"/>
                  </a:solidFill>
                  <a:latin typeface="Times New Roman" pitchFamily="18" charset="0"/>
                  <a:ea typeface="돋움" pitchFamily="50" charset="-127"/>
                  <a:cs typeface="Times New Roman" pitchFamily="18" charset="0"/>
                </a:rPr>
                <a:t>Case</a:t>
              </a:r>
              <a:endParaRPr lang="ko-KR" altLang="en-US" sz="950" dirty="0">
                <a:solidFill>
                  <a:srgbClr val="000000"/>
                </a:solidFill>
                <a:latin typeface="Times New Roman" pitchFamily="18" charset="0"/>
                <a:ea typeface="돋움" pitchFamily="50" charset="-127"/>
                <a:cs typeface="Times New Roman" pitchFamily="18" charset="0"/>
              </a:endParaRPr>
            </a:p>
          </p:txBody>
        </p:sp>
        <p:grpSp>
          <p:nvGrpSpPr>
            <p:cNvPr id="20" name="Group 47"/>
            <p:cNvGrpSpPr>
              <a:grpSpLocks/>
            </p:cNvGrpSpPr>
            <p:nvPr/>
          </p:nvGrpSpPr>
          <p:grpSpPr bwMode="auto">
            <a:xfrm>
              <a:off x="2508367" y="6708777"/>
              <a:ext cx="702590" cy="1247775"/>
              <a:chOff x="590" y="4704"/>
              <a:chExt cx="812" cy="1392"/>
            </a:xfrm>
          </p:grpSpPr>
          <p:pic>
            <p:nvPicPr>
              <p:cNvPr id="21" name="Picture 48" descr="Untitled-1"/>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90" y="4704"/>
                <a:ext cx="616" cy="1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 name="Line 49"/>
              <p:cNvSpPr>
                <a:spLocks noChangeShapeType="1"/>
              </p:cNvSpPr>
              <p:nvPr/>
            </p:nvSpPr>
            <p:spPr bwMode="auto">
              <a:xfrm flipH="1">
                <a:off x="672" y="5178"/>
                <a:ext cx="528" cy="48"/>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sz="950">
                  <a:latin typeface="Times New Roman" pitchFamily="18" charset="0"/>
                  <a:cs typeface="Times New Roman" pitchFamily="18" charset="0"/>
                </a:endParaRPr>
              </a:p>
            </p:txBody>
          </p:sp>
          <p:sp>
            <p:nvSpPr>
              <p:cNvPr id="23" name="Text Box 50"/>
              <p:cNvSpPr txBox="1">
                <a:spLocks noChangeArrowheads="1"/>
              </p:cNvSpPr>
              <p:nvPr/>
            </p:nvSpPr>
            <p:spPr bwMode="auto">
              <a:xfrm>
                <a:off x="1118" y="5087"/>
                <a:ext cx="284"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b="1">
                    <a:solidFill>
                      <a:srgbClr val="000000"/>
                    </a:solidFill>
                    <a:latin typeface="Times New Roman" pitchFamily="18" charset="0"/>
                    <a:ea typeface="돋움" pitchFamily="50" charset="-127"/>
                    <a:cs typeface="Times New Roman" pitchFamily="18" charset="0"/>
                  </a:rPr>
                  <a:t>?</a:t>
                </a:r>
              </a:p>
            </p:txBody>
          </p:sp>
        </p:grpSp>
      </p:grpSp>
      <p:grpSp>
        <p:nvGrpSpPr>
          <p:cNvPr id="24" name="Group 23"/>
          <p:cNvGrpSpPr/>
          <p:nvPr/>
        </p:nvGrpSpPr>
        <p:grpSpPr>
          <a:xfrm>
            <a:off x="3419177" y="4160467"/>
            <a:ext cx="3304894" cy="1146176"/>
            <a:chOff x="295275" y="7864477"/>
            <a:chExt cx="3602043" cy="1146176"/>
          </a:xfrm>
        </p:grpSpPr>
        <p:grpSp>
          <p:nvGrpSpPr>
            <p:cNvPr id="25" name="Group 59"/>
            <p:cNvGrpSpPr>
              <a:grpSpLocks/>
            </p:cNvGrpSpPr>
            <p:nvPr/>
          </p:nvGrpSpPr>
          <p:grpSpPr bwMode="auto">
            <a:xfrm>
              <a:off x="1562103" y="7864477"/>
              <a:ext cx="2335215" cy="1146176"/>
              <a:chOff x="991" y="1692"/>
              <a:chExt cx="1471" cy="722"/>
            </a:xfrm>
          </p:grpSpPr>
          <p:pic>
            <p:nvPicPr>
              <p:cNvPr id="27" name="Picture 52"/>
              <p:cNvPicPr>
                <a:picLocks noChangeAspect="1" noChangeArrowheads="1"/>
              </p:cNvPicPr>
              <p:nvPr/>
            </p:nvPicPr>
            <p:blipFill>
              <a:blip r:embed="rId7" cstate="print">
                <a:extLst>
                  <a:ext uri="{28A0092B-C50C-407E-A947-70E740481C1C}">
                    <a14:useLocalDpi xmlns:a14="http://schemas.microsoft.com/office/drawing/2010/main" val="0"/>
                  </a:ext>
                </a:extLst>
              </a:blip>
              <a:srcRect r="65129"/>
              <a:stretch>
                <a:fillRect/>
              </a:stretch>
            </p:blipFill>
            <p:spPr bwMode="auto">
              <a:xfrm>
                <a:off x="1363" y="1798"/>
                <a:ext cx="500" cy="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8" name="Text Box 53"/>
              <p:cNvSpPr txBox="1">
                <a:spLocks noChangeArrowheads="1"/>
              </p:cNvSpPr>
              <p:nvPr/>
            </p:nvSpPr>
            <p:spPr bwMode="auto">
              <a:xfrm>
                <a:off x="991" y="2237"/>
                <a:ext cx="850"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err="1" smtClean="0">
                    <a:solidFill>
                      <a:srgbClr val="000000"/>
                    </a:solidFill>
                    <a:latin typeface="Times New Roman" pitchFamily="18" charset="0"/>
                    <a:cs typeface="Times New Roman" pitchFamily="18" charset="0"/>
                  </a:rPr>
                  <a:t>Dòng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chảy</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không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khí</a:t>
                </a:r>
                <a:endParaRPr lang="ko-KR" altLang="en-US" sz="950" dirty="0">
                  <a:solidFill>
                    <a:srgbClr val="000000"/>
                  </a:solidFill>
                  <a:latin typeface="Times New Roman" pitchFamily="18" charset="0"/>
                  <a:cs typeface="Times New Roman" pitchFamily="18" charset="0"/>
                </a:endParaRPr>
              </a:p>
            </p:txBody>
          </p:sp>
          <p:sp>
            <p:nvSpPr>
              <p:cNvPr id="29" name="Text Box 54"/>
              <p:cNvSpPr txBox="1">
                <a:spLocks noChangeArrowheads="1"/>
              </p:cNvSpPr>
              <p:nvPr/>
            </p:nvSpPr>
            <p:spPr bwMode="auto">
              <a:xfrm>
                <a:off x="1706" y="2245"/>
                <a:ext cx="317"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smtClean="0">
                    <a:solidFill>
                      <a:srgbClr val="000000"/>
                    </a:solidFill>
                    <a:latin typeface="Times New Roman" pitchFamily="18" charset="0"/>
                    <a:cs typeface="Times New Roman" pitchFamily="18" charset="0"/>
                  </a:rPr>
                  <a:t>Drain</a:t>
                </a:r>
                <a:endParaRPr lang="ko-KR" altLang="en-US" sz="950" dirty="0">
                  <a:solidFill>
                    <a:srgbClr val="000000"/>
                  </a:solidFill>
                  <a:latin typeface="Times New Roman" pitchFamily="18" charset="0"/>
                  <a:cs typeface="Times New Roman" pitchFamily="18" charset="0"/>
                </a:endParaRPr>
              </a:p>
            </p:txBody>
          </p:sp>
          <p:sp>
            <p:nvSpPr>
              <p:cNvPr id="30" name="Text Box 55"/>
              <p:cNvSpPr txBox="1">
                <a:spLocks noChangeArrowheads="1"/>
              </p:cNvSpPr>
              <p:nvPr/>
            </p:nvSpPr>
            <p:spPr bwMode="auto">
              <a:xfrm>
                <a:off x="1752" y="2016"/>
                <a:ext cx="710"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smtClean="0">
                    <a:solidFill>
                      <a:srgbClr val="000000"/>
                    </a:solidFill>
                    <a:latin typeface="Times New Roman" pitchFamily="18" charset="0"/>
                    <a:cs typeface="Times New Roman" pitchFamily="18" charset="0"/>
                  </a:rPr>
                  <a:t>Không </a:t>
                </a:r>
                <a:r>
                  <a:rPr lang="en-US" altLang="ko-KR" sz="950" err="1" smtClean="0">
                    <a:solidFill>
                      <a:srgbClr val="000000"/>
                    </a:solidFill>
                    <a:latin typeface="Times New Roman" pitchFamily="18" charset="0"/>
                    <a:cs typeface="Times New Roman" pitchFamily="18" charset="0"/>
                  </a:rPr>
                  <a:t>khí</a:t>
                </a:r>
                <a:r>
                  <a:rPr lang="en-US" altLang="ko-KR" sz="950" smtClean="0">
                    <a:solidFill>
                      <a:srgbClr val="000000"/>
                    </a:solidFill>
                    <a:latin typeface="Times New Roman" pitchFamily="18" charset="0"/>
                    <a:cs typeface="Times New Roman" pitchFamily="18" charset="0"/>
                  </a:rPr>
                  <a:t> đầu </a:t>
                </a:r>
                <a:r>
                  <a:rPr lang="en-US" altLang="ko-KR" sz="950" dirty="0" err="1" smtClean="0">
                    <a:solidFill>
                      <a:srgbClr val="000000"/>
                    </a:solidFill>
                    <a:latin typeface="Times New Roman" pitchFamily="18" charset="0"/>
                    <a:cs typeface="Times New Roman" pitchFamily="18" charset="0"/>
                  </a:rPr>
                  <a:t>ra</a:t>
                </a:r>
                <a:endParaRPr lang="ko-KR" altLang="en-US" sz="950" dirty="0">
                  <a:solidFill>
                    <a:srgbClr val="000000"/>
                  </a:solidFill>
                  <a:latin typeface="Times New Roman" pitchFamily="18" charset="0"/>
                  <a:cs typeface="Times New Roman" pitchFamily="18" charset="0"/>
                </a:endParaRPr>
              </a:p>
            </p:txBody>
          </p:sp>
          <p:sp>
            <p:nvSpPr>
              <p:cNvPr id="31" name="Text Box 56"/>
              <p:cNvSpPr txBox="1">
                <a:spLocks noChangeArrowheads="1"/>
              </p:cNvSpPr>
              <p:nvPr/>
            </p:nvSpPr>
            <p:spPr bwMode="auto">
              <a:xfrm>
                <a:off x="1117" y="1692"/>
                <a:ext cx="808"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err="1" smtClean="0">
                    <a:solidFill>
                      <a:srgbClr val="000000"/>
                    </a:solidFill>
                    <a:latin typeface="Times New Roman" pitchFamily="18" charset="0"/>
                    <a:cs typeface="Times New Roman" pitchFamily="18" charset="0"/>
                  </a:rPr>
                  <a:t>KHông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khí</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phía</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vào</a:t>
                </a:r>
                <a:endParaRPr lang="ko-KR" altLang="en-US" sz="950" dirty="0">
                  <a:solidFill>
                    <a:srgbClr val="000000"/>
                  </a:solidFill>
                  <a:latin typeface="Times New Roman" pitchFamily="18" charset="0"/>
                  <a:cs typeface="Times New Roman" pitchFamily="18" charset="0"/>
                </a:endParaRPr>
              </a:p>
            </p:txBody>
          </p:sp>
          <p:sp>
            <p:nvSpPr>
              <p:cNvPr id="32" name="Text Box 57"/>
              <p:cNvSpPr txBox="1">
                <a:spLocks noChangeArrowheads="1"/>
              </p:cNvSpPr>
              <p:nvPr/>
            </p:nvSpPr>
            <p:spPr bwMode="auto">
              <a:xfrm>
                <a:off x="1809" y="1829"/>
                <a:ext cx="591" cy="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err="1" smtClean="0">
                    <a:solidFill>
                      <a:srgbClr val="000000"/>
                    </a:solidFill>
                    <a:latin typeface="Times New Roman" pitchFamily="18" charset="0"/>
                    <a:cs typeface="Times New Roman" pitchFamily="18" charset="0"/>
                  </a:rPr>
                  <a:t>Tấm</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làm</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lạnh</a:t>
                </a:r>
                <a:endParaRPr lang="ko-KR" altLang="en-US" sz="950" dirty="0">
                  <a:solidFill>
                    <a:srgbClr val="000000"/>
                  </a:solidFill>
                  <a:latin typeface="Times New Roman" pitchFamily="18" charset="0"/>
                  <a:cs typeface="Times New Roman" pitchFamily="18" charset="0"/>
                </a:endParaRPr>
              </a:p>
            </p:txBody>
          </p:sp>
        </p:grpSp>
        <p:sp>
          <p:nvSpPr>
            <p:cNvPr id="26" name="Rectangle 58"/>
            <p:cNvSpPr>
              <a:spLocks noChangeArrowheads="1"/>
            </p:cNvSpPr>
            <p:nvPr/>
          </p:nvSpPr>
          <p:spPr bwMode="auto">
            <a:xfrm>
              <a:off x="295275" y="8021637"/>
              <a:ext cx="312420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cs typeface="Times New Roman" pitchFamily="18" charset="0"/>
                </a:rPr>
                <a:t>58</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Hình</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bên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là</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gì</a:t>
              </a:r>
              <a:r>
                <a:rPr lang="en-US" altLang="ko-KR" sz="950" dirty="0" smtClean="0">
                  <a:solidFill>
                    <a:srgbClr val="000000"/>
                  </a:solidFill>
                  <a:latin typeface="Times New Roman" pitchFamily="18" charset="0"/>
                  <a:cs typeface="Times New Roman" pitchFamily="18" charset="0"/>
                </a:rPr>
                <a:t>? </a:t>
              </a:r>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A. </a:t>
              </a:r>
              <a:r>
                <a:rPr lang="en-US" altLang="ko-KR" sz="950" dirty="0" err="1" smtClean="0">
                  <a:solidFill>
                    <a:srgbClr val="000000"/>
                  </a:solidFill>
                  <a:latin typeface="Times New Roman" pitchFamily="18" charset="0"/>
                  <a:cs typeface="Times New Roman" pitchFamily="18" charset="0"/>
                </a:rPr>
                <a:t>Máy</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làm</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lạnh</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bằng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nước</a:t>
              </a:r>
              <a:r>
                <a:rPr lang="ko-KR" altLang="en-US" sz="950" dirty="0" smtClean="0">
                  <a:solidFill>
                    <a:srgbClr val="000000"/>
                  </a:solidFill>
                  <a:latin typeface="Times New Roman" pitchFamily="18" charset="0"/>
                  <a:cs typeface="Times New Roman" pitchFamily="18" charset="0"/>
                </a:rPr>
                <a:t>   </a:t>
              </a:r>
              <a:endParaRPr lang="ko-KR" altLang="en-US"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B.</a:t>
              </a:r>
              <a:r>
                <a:rPr lang="ko-KR" altLang="en-US" sz="95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Máy</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sấy</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khí</a:t>
              </a:r>
              <a:r>
                <a:rPr lang="ko-KR" altLang="en-US" sz="950" dirty="0" smtClean="0">
                  <a:solidFill>
                    <a:srgbClr val="000000"/>
                  </a:solidFill>
                  <a:latin typeface="Times New Roman" pitchFamily="18" charset="0"/>
                  <a:cs typeface="Times New Roman" pitchFamily="18" charset="0"/>
                </a:rPr>
                <a:t>   </a:t>
              </a:r>
              <a:endParaRPr lang="ko-KR" altLang="en-US" sz="950" dirty="0">
                <a:solidFill>
                  <a:srgbClr val="000000"/>
                </a:solidFill>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C.</a:t>
              </a:r>
              <a:r>
                <a:rPr lang="ko-KR" altLang="en-US" sz="95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Máy</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làm</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lạnh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không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khí</a:t>
              </a:r>
              <a:endParaRPr lang="ko-KR" altLang="en-US" sz="950" dirty="0">
                <a:solidFill>
                  <a:srgbClr val="FF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D.</a:t>
              </a:r>
              <a:r>
                <a:rPr lang="ko-KR" altLang="en-US" sz="95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Máy</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sấy</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khô</a:t>
              </a:r>
              <a:endParaRPr lang="ko-KR" altLang="en-US" sz="950" dirty="0">
                <a:solidFill>
                  <a:srgbClr val="000000"/>
                </a:solidFill>
                <a:latin typeface="Times New Roman" pitchFamily="18" charset="0"/>
                <a:cs typeface="Times New Roman" pitchFamily="18" charset="0"/>
              </a:endParaRPr>
            </a:p>
          </p:txBody>
        </p:sp>
      </p:grpSp>
      <p:sp>
        <p:nvSpPr>
          <p:cNvPr id="33" name="Rectangle 73"/>
          <p:cNvSpPr>
            <a:spLocks noChangeArrowheads="1"/>
          </p:cNvSpPr>
          <p:nvPr/>
        </p:nvSpPr>
        <p:spPr bwMode="auto">
          <a:xfrm>
            <a:off x="3400425" y="6177136"/>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cs typeface="Times New Roman" pitchFamily="18" charset="0"/>
              </a:rPr>
              <a:t>59</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Chọn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không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phải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hạng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mục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yêu</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cầu</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chọn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máy</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sấy</a:t>
            </a:r>
            <a:r>
              <a:rPr lang="en-US" altLang="ko-KR" sz="950" dirty="0" smtClean="0">
                <a:solidFill>
                  <a:srgbClr val="000000"/>
                </a:solidFill>
                <a:latin typeface="Times New Roman" pitchFamily="18" charset="0"/>
                <a:cs typeface="Times New Roman" pitchFamily="18" charset="0"/>
              </a:rPr>
              <a:t> </a:t>
            </a:r>
          </a:p>
          <a:p>
            <a:pPr eaLnBrk="1" hangingPunct="1"/>
            <a:r>
              <a:rPr lang="en-US" altLang="ko-KR" sz="950" dirty="0" err="1" smtClean="0">
                <a:solidFill>
                  <a:srgbClr val="000000"/>
                </a:solidFill>
                <a:latin typeface="Times New Roman" pitchFamily="18" charset="0"/>
                <a:cs typeface="Times New Roman" pitchFamily="18" charset="0"/>
              </a:rPr>
              <a:t>không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khí</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A. </a:t>
            </a:r>
            <a:r>
              <a:rPr lang="en-US" altLang="ko-KR" sz="950" dirty="0" err="1" smtClean="0">
                <a:solidFill>
                  <a:srgbClr val="000000"/>
                </a:solidFill>
                <a:latin typeface="Times New Roman" pitchFamily="18" charset="0"/>
                <a:cs typeface="Times New Roman" pitchFamily="18" charset="0"/>
              </a:rPr>
              <a:t>Điểm</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ngưng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tụ</a:t>
            </a:r>
            <a:r>
              <a:rPr lang="ko-KR" altLang="en-US" sz="950" dirty="0" smtClean="0">
                <a:solidFill>
                  <a:srgbClr val="000000"/>
                </a:solidFill>
                <a:latin typeface="Times New Roman" pitchFamily="18" charset="0"/>
                <a:cs typeface="Times New Roman" pitchFamily="18" charset="0"/>
              </a:rPr>
              <a:t>   </a:t>
            </a:r>
            <a:endParaRPr lang="ko-KR" altLang="en-US" sz="950" dirty="0">
              <a:solidFill>
                <a:srgbClr val="000000"/>
              </a:solidFill>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B.</a:t>
            </a:r>
            <a:r>
              <a:rPr lang="ko-KR" altLang="en-US" sz="950" smtClean="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L</a:t>
            </a:r>
            <a:r>
              <a:rPr lang="en-US" altLang="ko-KR" sz="950" smtClean="0">
                <a:solidFill>
                  <a:srgbClr val="FF0000"/>
                </a:solidFill>
                <a:latin typeface="Times New Roman" pitchFamily="18" charset="0"/>
                <a:cs typeface="Times New Roman" pitchFamily="18" charset="0"/>
              </a:rPr>
              <a:t>ượng </a:t>
            </a:r>
            <a:r>
              <a:rPr lang="en-US" altLang="ko-KR" sz="950" dirty="0" err="1" smtClean="0">
                <a:solidFill>
                  <a:srgbClr val="FF0000"/>
                </a:solidFill>
                <a:latin typeface="Times New Roman" pitchFamily="18" charset="0"/>
                <a:cs typeface="Times New Roman" pitchFamily="18" charset="0"/>
              </a:rPr>
              <a:t>không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khí</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vào</a:t>
            </a:r>
            <a:r>
              <a:rPr lang="ko-KR" altLang="en-US" sz="950" dirty="0" smtClean="0">
                <a:solidFill>
                  <a:srgbClr val="FF0000"/>
                </a:solidFill>
                <a:latin typeface="Times New Roman" pitchFamily="18" charset="0"/>
                <a:cs typeface="Times New Roman" pitchFamily="18" charset="0"/>
              </a:rPr>
              <a:t>   </a:t>
            </a:r>
            <a:endParaRPr lang="ko-KR" altLang="en-US" sz="950" dirty="0">
              <a:solidFill>
                <a:srgbClr val="FF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C.</a:t>
            </a:r>
            <a:r>
              <a:rPr lang="ko-KR" altLang="en-US" sz="95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Nhiệt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độ</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không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khí</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vào</a:t>
            </a:r>
            <a:endParaRPr lang="ko-KR" altLang="en-US"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D.</a:t>
            </a:r>
            <a:r>
              <a:rPr lang="ko-KR" altLang="en-US" sz="95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lực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không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khí</a:t>
            </a:r>
            <a:endParaRPr lang="ko-KR" altLang="en-US" sz="950" dirty="0">
              <a:solidFill>
                <a:srgbClr val="000000"/>
              </a:solidFill>
              <a:latin typeface="Times New Roman" pitchFamily="18" charset="0"/>
              <a:cs typeface="Times New Roman" pitchFamily="18" charset="0"/>
            </a:endParaRPr>
          </a:p>
        </p:txBody>
      </p:sp>
      <p:sp>
        <p:nvSpPr>
          <p:cNvPr id="34" name="Rectangle 12"/>
          <p:cNvSpPr>
            <a:spLocks noChangeArrowheads="1"/>
          </p:cNvSpPr>
          <p:nvPr/>
        </p:nvSpPr>
        <p:spPr bwMode="auto">
          <a:xfrm>
            <a:off x="3419474" y="7977336"/>
            <a:ext cx="3265045"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solidFill>
                  <a:srgbClr val="000000"/>
                </a:solidFill>
                <a:latin typeface="Times New Roman" pitchFamily="18" charset="0"/>
                <a:cs typeface="Times New Roman" pitchFamily="18" charset="0"/>
              </a:rPr>
              <a:t>6</a:t>
            </a:r>
            <a:r>
              <a:rPr lang="en-US" altLang="ko-KR" sz="950" smtClean="0">
                <a:solidFill>
                  <a:srgbClr val="000000"/>
                </a:solidFill>
                <a:latin typeface="Times New Roman" pitchFamily="18" charset="0"/>
                <a:cs typeface="Times New Roman" pitchFamily="18" charset="0"/>
              </a:rPr>
              <a:t>0</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Chọn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không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phải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là</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ưu</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điểm</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của</a:t>
            </a:r>
            <a:r>
              <a:rPr lang="en-US" altLang="ko-KR" sz="950" dirty="0" smtClean="0">
                <a:solidFill>
                  <a:srgbClr val="000000"/>
                </a:solidFill>
                <a:latin typeface="Times New Roman" pitchFamily="18" charset="0"/>
                <a:cs typeface="Times New Roman" pitchFamily="18" charset="0"/>
              </a:rPr>
              <a:t> Plastic Tube?</a:t>
            </a:r>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 </a:t>
            </a:r>
            <a:r>
              <a:rPr lang="en-US" altLang="ko-KR" sz="950" dirty="0" err="1" smtClean="0">
                <a:solidFill>
                  <a:srgbClr val="FF0000"/>
                </a:solidFill>
                <a:latin typeface="Times New Roman" pitchFamily="18" charset="0"/>
                <a:cs typeface="Times New Roman" pitchFamily="18" charset="0"/>
              </a:rPr>
              <a:t>Tính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chịu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áp</a:t>
            </a:r>
            <a:r>
              <a:rPr lang="en-US" altLang="ko-KR" sz="950" dirty="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lực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chịu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nhiệt</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tốt</a:t>
            </a:r>
            <a:r>
              <a:rPr lang="en-US" altLang="ko-KR" sz="950" dirty="0" smtClean="0">
                <a:solidFill>
                  <a:srgbClr val="FF0000"/>
                </a:solidFill>
                <a:latin typeface="Times New Roman" pitchFamily="18" charset="0"/>
                <a:cs typeface="Times New Roman" pitchFamily="18" charset="0"/>
              </a:rPr>
              <a:t>.</a:t>
            </a:r>
            <a:endParaRPr lang="en-US" altLang="ko-KR" sz="950" dirty="0">
              <a:solidFill>
                <a:srgbClr val="FF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B. </a:t>
            </a:r>
            <a:r>
              <a:rPr lang="en-US" altLang="ko-KR" sz="950" dirty="0" smtClean="0">
                <a:solidFill>
                  <a:srgbClr val="000000"/>
                </a:solidFill>
                <a:latin typeface="Times New Roman" pitchFamily="18" charset="0"/>
                <a:cs typeface="Times New Roman" pitchFamily="18" charset="0"/>
              </a:rPr>
              <a:t>Thao </a:t>
            </a:r>
            <a:r>
              <a:rPr lang="en-US" altLang="ko-KR" sz="950" dirty="0" err="1" smtClean="0">
                <a:solidFill>
                  <a:srgbClr val="000000"/>
                </a:solidFill>
                <a:latin typeface="Times New Roman" pitchFamily="18" charset="0"/>
                <a:cs typeface="Times New Roman" pitchFamily="18" charset="0"/>
              </a:rPr>
              <a:t>tác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đường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ống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đơn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giản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và</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nhanh</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C. </a:t>
            </a:r>
            <a:r>
              <a:rPr lang="en-US" altLang="ko-KR" sz="950" dirty="0" err="1" smtClean="0">
                <a:solidFill>
                  <a:srgbClr val="000000"/>
                </a:solidFill>
                <a:latin typeface="Times New Roman" pitchFamily="18" charset="0"/>
                <a:cs typeface="Times New Roman" pitchFamily="18" charset="0"/>
              </a:rPr>
              <a:t>Giá</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cả</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đường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ống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bao</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gồm</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ống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và</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vật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liệu</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ống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phải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chăng</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D. </a:t>
            </a:r>
            <a:r>
              <a:rPr lang="en-US" altLang="ko-KR" sz="950" dirty="0" err="1" smtClean="0">
                <a:solidFill>
                  <a:srgbClr val="000000"/>
                </a:solidFill>
                <a:latin typeface="Times New Roman" pitchFamily="18" charset="0"/>
                <a:cs typeface="Times New Roman" pitchFamily="18" charset="0"/>
              </a:rPr>
              <a:t>Ống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có</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tính</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mền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dẻo</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nên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dễ</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thao</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tác</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p:txBody>
      </p:sp>
    </p:spTree>
    <p:extLst>
      <p:ext uri="{BB962C8B-B14F-4D97-AF65-F5344CB8AC3E}">
        <p14:creationId xmlns:p14="http://schemas.microsoft.com/office/powerpoint/2010/main" val="21542250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37" name="Rectangle 7"/>
          <p:cNvSpPr>
            <a:spLocks noChangeArrowheads="1"/>
          </p:cNvSpPr>
          <p:nvPr/>
        </p:nvSpPr>
        <p:spPr bwMode="auto">
          <a:xfrm>
            <a:off x="184150" y="2829198"/>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Điều gì sau đây không phải là đặc điểm của Spindle ( con quay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Đồng thời có thể chuyển động đặc biệt</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Biến hóa lượng cực nhỏ, hình thái và chỉ số chính xác</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Quay tốc độ cao khoảng 10000 rpm ( vòng/phút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Thường ở trục chính của máy và trục Tua Bin.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Đâu không phải đặc điểm của xích </a:t>
            </a:r>
            <a:r>
              <a:rPr lang="vi-VN" altLang="ko-KR" sz="950" smtClean="0">
                <a:latin typeface="Times New Roman" pitchFamily="18" charset="0"/>
                <a:ea typeface="LG Smart_H Regular" panose="020B0600000101010101" pitchFamily="34" charset="-127"/>
                <a:cs typeface="Times New Roman" pitchFamily="18" charset="0"/>
              </a:rPr>
              <a:t>Chain?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Không có sự trượt nên tốc độ được duy </a:t>
            </a:r>
            <a:r>
              <a:rPr lang="vi-VN" altLang="ko-KR" sz="950" smtClean="0">
                <a:latin typeface="Times New Roman" pitchFamily="18" charset="0"/>
                <a:ea typeface="LG Smart_H Regular" panose="020B0600000101010101" pitchFamily="34" charset="-127"/>
                <a:cs typeface="Times New Roman" pitchFamily="18" charset="0"/>
              </a:rPr>
              <a:t>trì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Độ dài xích chain có thể co </a:t>
            </a:r>
            <a:r>
              <a:rPr lang="en-US" altLang="ko-KR" sz="950" smtClean="0">
                <a:latin typeface="Times New Roman" pitchFamily="18" charset="0"/>
                <a:ea typeface="LG Smart_H Regular" panose="020B0600000101010101" pitchFamily="34" charset="-127"/>
                <a:cs typeface="Times New Roman" pitchFamily="18" charset="0"/>
              </a:rPr>
              <a:t>giãn</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Dễ bảo quản và sửa chữa, tuổi thọ </a:t>
            </a:r>
            <a:r>
              <a:rPr lang="vi-VN" altLang="ko-KR" sz="950" smtClean="0">
                <a:latin typeface="Times New Roman" pitchFamily="18" charset="0"/>
                <a:ea typeface="LG Smart_H Regular" panose="020B0600000101010101" pitchFamily="34" charset="-127"/>
                <a:cs typeface="Times New Roman" pitchFamily="18" charset="0"/>
              </a:rPr>
              <a:t>cao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Cần sức kéo khởi động nhỏ</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Đâu không phải dạng phân loại của Ball </a:t>
            </a:r>
            <a:r>
              <a:rPr lang="vi-VN" altLang="ko-KR" sz="950" smtClean="0">
                <a:latin typeface="Times New Roman" pitchFamily="18" charset="0"/>
                <a:ea typeface="LG Smart_H Regular" panose="020B0600000101010101" pitchFamily="34" charset="-127"/>
                <a:cs typeface="Times New Roman" pitchFamily="18" charset="0"/>
              </a:rPr>
              <a:t>Screw?</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Luân chuyển </a:t>
            </a:r>
            <a:r>
              <a:rPr lang="vi-VN" altLang="ko-KR" sz="950" smtClean="0">
                <a:latin typeface="Times New Roman" pitchFamily="18" charset="0"/>
                <a:ea typeface="LG Smart_H Regular" panose="020B0600000101010101" pitchFamily="34" charset="-127"/>
                <a:cs typeface="Times New Roman" pitchFamily="18" charset="0"/>
              </a:rPr>
              <a:t>ball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Hình dạng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trục</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Kiểu tải </a:t>
            </a:r>
            <a:r>
              <a:rPr lang="vi-VN" altLang="ko-KR" sz="950" smtClean="0">
                <a:latin typeface="Times New Roman" pitchFamily="18" charset="0"/>
                <a:ea typeface="LG Smart_H Regular" panose="020B0600000101010101" pitchFamily="34" charset="-127"/>
                <a:cs typeface="Times New Roman" pitchFamily="18" charset="0"/>
              </a:rPr>
              <a:t>trước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Lead &amp; Đường kính trục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17858" y="4705762"/>
            <a:ext cx="3180502"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a:t>
            </a:r>
            <a:r>
              <a:rPr lang="vi-VN" altLang="ko-KR" sz="950">
                <a:latin typeface="Times New Roman" pitchFamily="18" charset="0"/>
                <a:ea typeface="LG Smart_H Regular" panose="020B0600000101010101" pitchFamily="34" charset="-127"/>
                <a:cs typeface="Times New Roman" pitchFamily="18" charset="0"/>
              </a:rPr>
              <a:t>Thành phần của Dầu mỏ ( Dầu khoáng) </a:t>
            </a:r>
            <a:r>
              <a:rPr lang="vi-VN" altLang="ko-KR" sz="950" smtClean="0">
                <a:latin typeface="Times New Roman" pitchFamily="18" charset="0"/>
                <a:ea typeface="LG Smart_H Regular" panose="020B0600000101010101" pitchFamily="34" charset="-127"/>
                <a:cs typeface="Times New Roman" pitchFamily="18" charset="0"/>
              </a:rPr>
              <a:t>là?</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Paraffin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Naphthene</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Dầu hỗ hợp theo dầu </a:t>
            </a:r>
            <a:r>
              <a:rPr lang="vi-VN" altLang="ko-KR" sz="950" smtClean="0">
                <a:latin typeface="Times New Roman" pitchFamily="18" charset="0"/>
                <a:ea typeface="LG Smart_H Regular" panose="020B0600000101010101" pitchFamily="34" charset="-127"/>
                <a:cs typeface="Times New Roman" pitchFamily="18" charset="0"/>
              </a:rPr>
              <a:t>gốc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Tất cả các phương án trên</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47" name="Rectangle 7"/>
          <p:cNvSpPr>
            <a:spLocks noChangeArrowheads="1"/>
          </p:cNvSpPr>
          <p:nvPr/>
        </p:nvSpPr>
        <p:spPr bwMode="auto">
          <a:xfrm>
            <a:off x="3409102" y="6541318"/>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a:t>
            </a:r>
            <a:r>
              <a:rPr lang="vi-VN" altLang="ko-KR" sz="950">
                <a:latin typeface="Times New Roman" pitchFamily="18" charset="0"/>
                <a:ea typeface="LG Smart_H Regular" panose="020B0600000101010101" pitchFamily="34" charset="-127"/>
                <a:cs typeface="Times New Roman" pitchFamily="18" charset="0"/>
              </a:rPr>
              <a:t>So sánh bôi trơn Mỡ và Dầu nào đúng?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Mỡ có thể loại bỏ tạp </a:t>
            </a:r>
            <a:r>
              <a:rPr lang="vi-VN" altLang="ko-KR" sz="950" smtClean="0">
                <a:latin typeface="Times New Roman" pitchFamily="18" charset="0"/>
                <a:ea typeface="LG Smart_H Regular" panose="020B0600000101010101" pitchFamily="34" charset="-127"/>
                <a:cs typeface="Times New Roman" pitchFamily="18" charset="0"/>
              </a:rPr>
              <a:t>chất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Mỡ giới hạn tốc độ quay cao, Dầu có thể sử dụng tốc độ vòng quay cao</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Dầu và mỡ không đóng cặn dễ dàng sử </a:t>
            </a:r>
            <a:r>
              <a:rPr lang="vi-VN" altLang="ko-KR" sz="950" smtClean="0">
                <a:latin typeface="Times New Roman" pitchFamily="18" charset="0"/>
                <a:ea typeface="LG Smart_H Regular" panose="020B0600000101010101" pitchFamily="34" charset="-127"/>
                <a:cs typeface="Times New Roman" pitchFamily="18" charset="0"/>
              </a:rPr>
              <a:t>dụng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làm kín bằng mỡ và dầu đơn giản</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40" name="Rectangle 7"/>
          <p:cNvSpPr>
            <a:spLocks noChangeArrowheads="1"/>
          </p:cNvSpPr>
          <p:nvPr/>
        </p:nvSpPr>
        <p:spPr bwMode="auto">
          <a:xfrm>
            <a:off x="228600" y="616162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Cho ví dụ trong ký hiệu sau : “ </a:t>
            </a:r>
            <a:r>
              <a:rPr lang="vi-VN" altLang="ko-KR" sz="950" b="1">
                <a:latin typeface="Times New Roman" pitchFamily="18" charset="0"/>
                <a:ea typeface="LG Smart_H Regular" panose="020B0600000101010101" pitchFamily="34" charset="-127"/>
                <a:cs typeface="Times New Roman" pitchFamily="18" charset="0"/>
              </a:rPr>
              <a:t>L 2N M70×6 – 2”.</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Vậy khi xoay đinh ốc 1 vòng thì khoảng cách di chuyển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mm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mm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12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mm</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18 </a:t>
            </a:r>
            <a:r>
              <a:rPr lang="vi-VN" altLang="ko-KR" sz="950" smtClean="0">
                <a:latin typeface="Times New Roman" pitchFamily="18" charset="0"/>
                <a:ea typeface="LG Smart_H Regular" panose="020B0600000101010101" pitchFamily="34" charset="-127"/>
                <a:cs typeface="Times New Roman" pitchFamily="18" charset="0"/>
              </a:rPr>
              <a:t>mm</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2" name="Rectangle 7"/>
          <p:cNvSpPr>
            <a:spLocks noChangeArrowheads="1"/>
          </p:cNvSpPr>
          <p:nvPr/>
        </p:nvSpPr>
        <p:spPr bwMode="auto">
          <a:xfrm>
            <a:off x="163884" y="8193360"/>
            <a:ext cx="3253973"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Key nào được sử dụng rộng rãi làm thanh kéo của máy hay dụng cụ truyền động lực ô </a:t>
            </a:r>
            <a:r>
              <a:rPr lang="vi-VN" altLang="ko-KR" sz="950" smtClean="0">
                <a:latin typeface="Times New Roman" pitchFamily="18" charset="0"/>
                <a:ea typeface="LG Smart_H Regular" panose="020B0600000101010101" pitchFamily="34" charset="-127"/>
                <a:cs typeface="Times New Roman" pitchFamily="18" charset="0"/>
              </a:rPr>
              <a:t>tô?</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Sliding </a:t>
            </a:r>
            <a:r>
              <a:rPr lang="vi-VN" altLang="ko-KR" sz="950" smtClean="0">
                <a:latin typeface="Times New Roman" pitchFamily="18" charset="0"/>
                <a:ea typeface="LG Smart_H Regular" panose="020B0600000101010101" pitchFamily="34" charset="-127"/>
                <a:cs typeface="Times New Roman" pitchFamily="18" charset="0"/>
              </a:rPr>
              <a:t>key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Parallel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Split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Knuckle pin</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29" name="Rectangle 7"/>
          <p:cNvSpPr>
            <a:spLocks noChangeArrowheads="1"/>
          </p:cNvSpPr>
          <p:nvPr/>
        </p:nvSpPr>
        <p:spPr bwMode="auto">
          <a:xfrm>
            <a:off x="3422174" y="8348910"/>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Khổ giấy A0 sẽ gấp bao nhiêu lần so với khổ giấy </a:t>
            </a:r>
            <a:r>
              <a:rPr lang="vi-VN" altLang="ko-KR" sz="950" smtClean="0">
                <a:latin typeface="Times New Roman" pitchFamily="18" charset="0"/>
                <a:ea typeface="LG Smart_H Regular" panose="020B0600000101010101" pitchFamily="34" charset="-127"/>
                <a:cs typeface="Times New Roman" pitchFamily="18" charset="0"/>
              </a:rPr>
              <a:t>A4?</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2 lần</a:t>
            </a:r>
          </a:p>
          <a:p>
            <a:pPr marL="228600" indent="-228600" eaLnBrk="1" fontAlgn="base" hangingPunct="1">
              <a:spcBef>
                <a:spcPct val="0"/>
              </a:spcBef>
              <a:spcAft>
                <a:spcPct val="0"/>
              </a:spcAft>
              <a:buAutoNum type="alphaUcPeriod"/>
            </a:pPr>
            <a:r>
              <a:rPr lang="nb-NO" altLang="ko-KR" sz="950" smtClean="0">
                <a:latin typeface="Times New Roman" pitchFamily="18" charset="0"/>
                <a:ea typeface="LG Smart_H Regular" panose="020B0600000101010101" pitchFamily="34" charset="-127"/>
                <a:cs typeface="Times New Roman" pitchFamily="18" charset="0"/>
              </a:rPr>
              <a:t>4 lần</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8 lần</a:t>
            </a: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16 lần</a:t>
            </a:r>
          </a:p>
        </p:txBody>
      </p:sp>
      <p:grpSp>
        <p:nvGrpSpPr>
          <p:cNvPr id="2" name="Group 1"/>
          <p:cNvGrpSpPr/>
          <p:nvPr/>
        </p:nvGrpSpPr>
        <p:grpSpPr>
          <a:xfrm>
            <a:off x="188640" y="1208584"/>
            <a:ext cx="3180502" cy="1408078"/>
            <a:chOff x="188640" y="1208584"/>
            <a:chExt cx="3180502" cy="1408078"/>
          </a:xfrm>
        </p:grpSpPr>
        <p:sp>
          <p:nvSpPr>
            <p:cNvPr id="32" name="Rectangle 7"/>
            <p:cNvSpPr>
              <a:spLocks noChangeArrowheads="1"/>
            </p:cNvSpPr>
            <p:nvPr/>
          </p:nvSpPr>
          <p:spPr bwMode="auto">
            <a:xfrm>
              <a:off x="188640" y="1208584"/>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Tên gọi hướng của vòng bị trong hình </a:t>
              </a:r>
              <a:r>
                <a:rPr lang="vi-VN" altLang="ko-KR" sz="950" smtClean="0">
                  <a:latin typeface="Times New Roman" pitchFamily="18" charset="0"/>
                  <a:ea typeface="LG Smart_H Regular" panose="020B0600000101010101" pitchFamily="34" charset="-127"/>
                  <a:cs typeface="Times New Roman" pitchFamily="18" charset="0"/>
                </a:rPr>
                <a:t>sau?</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Radial bearing(hướng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tâm</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Thrust bearing (hướng dọc trục</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Taper bearing (Vòng bi tổng hợp </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Vòng bi Magneto(Magneto ball </a:t>
              </a:r>
              <a:r>
                <a:rPr lang="vi-VN" altLang="ko-KR" sz="950" smtClean="0">
                  <a:latin typeface="Times New Roman" pitchFamily="18" charset="0"/>
                  <a:ea typeface="LG Smart_H Regular" panose="020B0600000101010101" pitchFamily="34" charset="-127"/>
                  <a:cs typeface="Times New Roman" pitchFamily="18" charset="0"/>
                </a:rPr>
                <a:t>bearing</a:t>
              </a:r>
              <a:r>
                <a:rPr lang="en-US"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2" name="Picture 21"/>
            <p:cNvPicPr>
              <a:picLocks noChangeAspect="1"/>
            </p:cNvPicPr>
            <p:nvPr/>
          </p:nvPicPr>
          <p:blipFill>
            <a:blip r:embed="rId3"/>
            <a:stretch>
              <a:fillRect/>
            </a:stretch>
          </p:blipFill>
          <p:spPr>
            <a:xfrm>
              <a:off x="2204864" y="1400384"/>
              <a:ext cx="1059997" cy="878283"/>
            </a:xfrm>
            <a:prstGeom prst="rect">
              <a:avLst/>
            </a:prstGeom>
          </p:spPr>
        </p:pic>
      </p:grpSp>
      <p:sp>
        <p:nvSpPr>
          <p:cNvPr id="28" name="Rectangle 7"/>
          <p:cNvSpPr>
            <a:spLocks noChangeArrowheads="1"/>
          </p:cNvSpPr>
          <p:nvPr/>
        </p:nvSpPr>
        <p:spPr bwMode="auto">
          <a:xfrm>
            <a:off x="184150" y="4222931"/>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Chủng loại nào sau đây không phải Đinh ốc </a:t>
            </a:r>
            <a:r>
              <a:rPr lang="vi-VN" altLang="ko-KR" sz="950" smtClean="0">
                <a:latin typeface="Times New Roman" pitchFamily="18" charset="0"/>
                <a:ea typeface="LG Smart_H Regular" panose="020B0600000101010101" pitchFamily="34" charset="-127"/>
                <a:cs typeface="Times New Roman" pitchFamily="18" charset="0"/>
              </a:rPr>
              <a:t>nối?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Ball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Screw</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Đinh ốc </a:t>
            </a:r>
            <a:r>
              <a:rPr lang="vi-VN" altLang="ko-KR" sz="950" smtClean="0">
                <a:latin typeface="Times New Roman" pitchFamily="18" charset="0"/>
                <a:ea typeface="LG Smart_H Regular" panose="020B0600000101010101" pitchFamily="34" charset="-127"/>
                <a:cs typeface="Times New Roman" pitchFamily="18" charset="0"/>
              </a:rPr>
              <a:t>unified</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Đinh ốc </a:t>
            </a:r>
            <a:r>
              <a:rPr lang="vi-VN" altLang="ko-KR" sz="950" smtClean="0">
                <a:latin typeface="Times New Roman" pitchFamily="18" charset="0"/>
                <a:ea typeface="LG Smart_H Regular" panose="020B0600000101010101" pitchFamily="34" charset="-127"/>
                <a:cs typeface="Times New Roman" pitchFamily="18" charset="0"/>
              </a:rPr>
              <a:t>metric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Đinh ốc ống</a:t>
            </a:r>
            <a:endParaRPr lang="en-US" altLang="ko-KR" sz="950" dirty="0">
              <a:latin typeface="Times New Roman" pitchFamily="18"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27480765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188640" y="809164"/>
            <a:ext cx="3258330"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grpSp>
        <p:nvGrpSpPr>
          <p:cNvPr id="7" name="Group 6"/>
          <p:cNvGrpSpPr/>
          <p:nvPr/>
        </p:nvGrpSpPr>
        <p:grpSpPr>
          <a:xfrm>
            <a:off x="260648" y="1143775"/>
            <a:ext cx="3429000" cy="1144929"/>
            <a:chOff x="260648" y="966788"/>
            <a:chExt cx="3429000" cy="1144929"/>
          </a:xfrm>
        </p:grpSpPr>
        <p:sp>
          <p:nvSpPr>
            <p:cNvPr id="8" name="Rectangle 94"/>
            <p:cNvSpPr>
              <a:spLocks noChangeArrowheads="1"/>
            </p:cNvSpPr>
            <p:nvPr/>
          </p:nvSpPr>
          <p:spPr bwMode="auto">
            <a:xfrm>
              <a:off x="260648" y="966788"/>
              <a:ext cx="3429000" cy="11449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342900" indent="-342900">
                <a:lnSpc>
                  <a:spcPct val="120000"/>
                </a:lnSpc>
              </a:pPr>
              <a:r>
                <a:rPr lang="en-US" altLang="ko-KR" sz="950" smtClean="0">
                  <a:solidFill>
                    <a:srgbClr val="000000"/>
                  </a:solidFill>
                  <a:latin typeface="Times New Roman" pitchFamily="18" charset="0"/>
                  <a:cs typeface="Times New Roman" pitchFamily="18" charset="0"/>
                </a:rPr>
                <a:t>71.Tên </a:t>
              </a:r>
              <a:r>
                <a:rPr lang="en-US" altLang="ko-KR" sz="950">
                  <a:solidFill>
                    <a:srgbClr val="000000"/>
                  </a:solidFill>
                  <a:latin typeface="Times New Roman" pitchFamily="18" charset="0"/>
                  <a:cs typeface="Times New Roman" pitchFamily="18" charset="0"/>
                </a:rPr>
                <a:t>của Bearing trong  hình dưới đây?</a:t>
              </a:r>
            </a:p>
            <a:p>
              <a:pPr marL="342900" indent="-342900">
                <a:lnSpc>
                  <a:spcPct val="120000"/>
                </a:lnSpc>
              </a:pPr>
              <a:r>
                <a:rPr lang="en-US" altLang="ko-KR" sz="950" smtClean="0">
                  <a:solidFill>
                    <a:srgbClr val="FF0000"/>
                  </a:solidFill>
                  <a:latin typeface="Times New Roman" pitchFamily="18" charset="0"/>
                  <a:cs typeface="Times New Roman" pitchFamily="18" charset="0"/>
                </a:rPr>
                <a:t>A. </a:t>
              </a:r>
              <a:r>
                <a:rPr lang="en-US" altLang="ko-KR" sz="950">
                  <a:solidFill>
                    <a:srgbClr val="FF0000"/>
                  </a:solidFill>
                  <a:latin typeface="Times New Roman" pitchFamily="18" charset="0"/>
                  <a:cs typeface="Times New Roman" pitchFamily="18" charset="0"/>
                </a:rPr>
                <a:t>Self-aligning Ball bearing</a:t>
              </a:r>
            </a:p>
            <a:p>
              <a:pPr marL="342900" indent="-342900">
                <a:lnSpc>
                  <a:spcPct val="120000"/>
                </a:lnSpc>
              </a:pPr>
              <a:r>
                <a:rPr lang="en-US" altLang="ko-KR" sz="950" smtClean="0">
                  <a:solidFill>
                    <a:srgbClr val="000000"/>
                  </a:solidFill>
                  <a:latin typeface="Times New Roman" pitchFamily="18" charset="0"/>
                  <a:cs typeface="Times New Roman" pitchFamily="18" charset="0"/>
                </a:rPr>
                <a:t>B. </a:t>
              </a:r>
              <a:r>
                <a:rPr lang="en-US" altLang="ko-KR" sz="950">
                  <a:solidFill>
                    <a:srgbClr val="000000"/>
                  </a:solidFill>
                  <a:latin typeface="Times New Roman" pitchFamily="18" charset="0"/>
                  <a:cs typeface="Times New Roman" pitchFamily="18" charset="0"/>
                </a:rPr>
                <a:t>T</a:t>
              </a:r>
              <a:r>
                <a:rPr lang="en-US" altLang="ko-KR" sz="950" smtClean="0">
                  <a:solidFill>
                    <a:srgbClr val="000000"/>
                  </a:solidFill>
                  <a:latin typeface="Times New Roman" pitchFamily="18" charset="0"/>
                  <a:cs typeface="Times New Roman" pitchFamily="18" charset="0"/>
                </a:rPr>
                <a:t>aper </a:t>
              </a:r>
              <a:r>
                <a:rPr lang="en-US" altLang="ko-KR" sz="950">
                  <a:solidFill>
                    <a:srgbClr val="000000"/>
                  </a:solidFill>
                  <a:latin typeface="Times New Roman" pitchFamily="18" charset="0"/>
                  <a:cs typeface="Times New Roman" pitchFamily="18" charset="0"/>
                </a:rPr>
                <a:t>roller bearing</a:t>
              </a:r>
            </a:p>
            <a:p>
              <a:pPr marL="342900" indent="-342900">
                <a:lnSpc>
                  <a:spcPct val="120000"/>
                </a:lnSpc>
              </a:pPr>
              <a:r>
                <a:rPr lang="en-US" altLang="ko-KR" sz="950" smtClean="0">
                  <a:solidFill>
                    <a:srgbClr val="000000"/>
                  </a:solidFill>
                  <a:latin typeface="Times New Roman" pitchFamily="18" charset="0"/>
                  <a:cs typeface="Times New Roman" pitchFamily="18" charset="0"/>
                </a:rPr>
                <a:t>C. </a:t>
              </a:r>
              <a:r>
                <a:rPr lang="en-US" altLang="ko-KR" sz="950">
                  <a:solidFill>
                    <a:srgbClr val="000000"/>
                  </a:solidFill>
                  <a:latin typeface="Times New Roman" pitchFamily="18" charset="0"/>
                  <a:cs typeface="Times New Roman" pitchFamily="18" charset="0"/>
                </a:rPr>
                <a:t>Double Thrust</a:t>
              </a:r>
              <a:r>
                <a:rPr lang="ko-KR" altLang="en-US" sz="950">
                  <a:solidFill>
                    <a:srgbClr val="000000"/>
                  </a:solidFill>
                  <a:latin typeface="Times New Roman" pitchFamily="18" charset="0"/>
                  <a:cs typeface="Times New Roman" pitchFamily="18" charset="0"/>
                </a:rPr>
                <a:t> </a:t>
              </a:r>
              <a:r>
                <a:rPr lang="en-US" altLang="ko-KR" sz="950">
                  <a:solidFill>
                    <a:srgbClr val="000000"/>
                  </a:solidFill>
                  <a:latin typeface="Times New Roman" pitchFamily="18" charset="0"/>
                  <a:cs typeface="Times New Roman" pitchFamily="18" charset="0"/>
                </a:rPr>
                <a:t>ball bearing</a:t>
              </a:r>
            </a:p>
            <a:p>
              <a:pPr marL="342900" indent="-342900">
                <a:lnSpc>
                  <a:spcPct val="120000"/>
                </a:lnSpc>
              </a:pPr>
              <a:r>
                <a:rPr lang="en-US" altLang="ko-KR" sz="950" smtClean="0">
                  <a:solidFill>
                    <a:srgbClr val="000000"/>
                  </a:solidFill>
                  <a:latin typeface="Times New Roman" pitchFamily="18" charset="0"/>
                  <a:cs typeface="Times New Roman" pitchFamily="18" charset="0"/>
                </a:rPr>
                <a:t>D. </a:t>
              </a:r>
              <a:r>
                <a:rPr lang="en-US" altLang="ko-KR" sz="950">
                  <a:solidFill>
                    <a:srgbClr val="000000"/>
                  </a:solidFill>
                  <a:latin typeface="Times New Roman" pitchFamily="18" charset="0"/>
                  <a:cs typeface="Times New Roman" pitchFamily="18" charset="0"/>
                </a:rPr>
                <a:t>Double Self-aligning ball bearing</a:t>
              </a:r>
            </a:p>
            <a:p>
              <a:pPr marL="342900" indent="-342900">
                <a:lnSpc>
                  <a:spcPct val="120000"/>
                </a:lnSpc>
              </a:pPr>
              <a:endParaRPr lang="en-US" altLang="ko-KR" sz="950">
                <a:solidFill>
                  <a:srgbClr val="000000"/>
                </a:solidFill>
                <a:latin typeface="Times New Roman" pitchFamily="18" charset="0"/>
                <a:cs typeface="Times New Roman" pitchFamily="18" charset="0"/>
              </a:endParaRPr>
            </a:p>
          </p:txBody>
        </p:sp>
        <p:pic>
          <p:nvPicPr>
            <p:cNvPr id="9" name="Picture 18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2786" y="1076898"/>
              <a:ext cx="793814" cy="686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0226"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10" name="Rectangle 29"/>
          <p:cNvSpPr>
            <a:spLocks noChangeArrowheads="1"/>
          </p:cNvSpPr>
          <p:nvPr/>
        </p:nvSpPr>
        <p:spPr bwMode="auto">
          <a:xfrm>
            <a:off x="188640" y="2830960"/>
            <a:ext cx="3296011"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smtClean="0">
                <a:solidFill>
                  <a:srgbClr val="000000"/>
                </a:solidFill>
                <a:latin typeface="Times New Roman" pitchFamily="18" charset="0"/>
                <a:ea typeface="돋움" pitchFamily="50" charset="-127"/>
                <a:cs typeface="Times New Roman" pitchFamily="18" charset="0"/>
              </a:rPr>
              <a:t>72. Được </a:t>
            </a:r>
            <a:r>
              <a:rPr lang="en-US" altLang="ko-KR" sz="950">
                <a:solidFill>
                  <a:srgbClr val="000000"/>
                </a:solidFill>
                <a:latin typeface="Times New Roman" pitchFamily="18" charset="0"/>
                <a:ea typeface="돋움" pitchFamily="50" charset="-127"/>
                <a:cs typeface="Times New Roman" pitchFamily="18" charset="0"/>
              </a:rPr>
              <a:t>gọi là khóa chìm, trên cả trục </a:t>
            </a:r>
            <a:r>
              <a:rPr lang="en-US" altLang="ko-KR" sz="950" smtClean="0">
                <a:solidFill>
                  <a:srgbClr val="000000"/>
                </a:solidFill>
                <a:latin typeface="Times New Roman" pitchFamily="18" charset="0"/>
                <a:ea typeface="돋움" pitchFamily="50" charset="-127"/>
                <a:cs typeface="Times New Roman" pitchFamily="18" charset="0"/>
              </a:rPr>
              <a:t>và </a:t>
            </a:r>
            <a:r>
              <a:rPr lang="en-US" altLang="ko-KR" sz="950">
                <a:solidFill>
                  <a:srgbClr val="000000"/>
                </a:solidFill>
                <a:latin typeface="Times New Roman" pitchFamily="18" charset="0"/>
                <a:ea typeface="돋움" pitchFamily="50" charset="-127"/>
                <a:cs typeface="Times New Roman" pitchFamily="18" charset="0"/>
              </a:rPr>
              <a:t>mấu lồi đều được gia công rãnh khóa </a:t>
            </a:r>
            <a:r>
              <a:rPr lang="en-US" altLang="ko-KR" sz="950" smtClean="0">
                <a:solidFill>
                  <a:srgbClr val="000000"/>
                </a:solidFill>
                <a:latin typeface="Times New Roman" pitchFamily="18" charset="0"/>
                <a:ea typeface="돋움" pitchFamily="50" charset="-127"/>
                <a:cs typeface="Times New Roman" pitchFamily="18" charset="0"/>
              </a:rPr>
              <a:t>giống </a:t>
            </a:r>
            <a:r>
              <a:rPr lang="en-US" altLang="ko-KR" sz="950">
                <a:solidFill>
                  <a:srgbClr val="000000"/>
                </a:solidFill>
                <a:latin typeface="Times New Roman" pitchFamily="18" charset="0"/>
                <a:ea typeface="돋움" pitchFamily="50" charset="-127"/>
                <a:cs typeface="Times New Roman" pitchFamily="18" charset="0"/>
              </a:rPr>
              <a:t>nhau, có tiết diện hình vuông </a:t>
            </a:r>
            <a:r>
              <a:rPr lang="en-US" altLang="ko-KR" sz="950" smtClean="0">
                <a:solidFill>
                  <a:srgbClr val="000000"/>
                </a:solidFill>
                <a:latin typeface="Times New Roman" pitchFamily="18" charset="0"/>
                <a:ea typeface="돋움" pitchFamily="50" charset="-127"/>
                <a:cs typeface="Times New Roman" pitchFamily="18" charset="0"/>
              </a:rPr>
              <a:t>hoặc </a:t>
            </a:r>
            <a:r>
              <a:rPr lang="en-US" altLang="ko-KR" sz="950">
                <a:solidFill>
                  <a:srgbClr val="000000"/>
                </a:solidFill>
                <a:latin typeface="Times New Roman" pitchFamily="18" charset="0"/>
                <a:ea typeface="돋움" pitchFamily="50" charset="-127"/>
                <a:cs typeface="Times New Roman" pitchFamily="18" charset="0"/>
              </a:rPr>
              <a:t>hình chữ nhật.?</a:t>
            </a:r>
          </a:p>
          <a:p>
            <a:r>
              <a:rPr lang="en-US" altLang="ko-KR" sz="950" smtClean="0">
                <a:solidFill>
                  <a:srgbClr val="000000"/>
                </a:solidFill>
                <a:latin typeface="Times New Roman" pitchFamily="18" charset="0"/>
                <a:ea typeface="돋움" pitchFamily="50" charset="-127"/>
                <a:cs typeface="Times New Roman" pitchFamily="18" charset="0"/>
              </a:rPr>
              <a:t>A.  Round </a:t>
            </a:r>
            <a:r>
              <a:rPr lang="en-US" altLang="ko-KR" sz="950">
                <a:solidFill>
                  <a:srgbClr val="000000"/>
                </a:solidFill>
                <a:latin typeface="Times New Roman" pitchFamily="18" charset="0"/>
                <a:ea typeface="돋움" pitchFamily="50" charset="-127"/>
                <a:cs typeface="Times New Roman" pitchFamily="18" charset="0"/>
              </a:rPr>
              <a:t>key</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B. Sunk key</a:t>
            </a:r>
          </a:p>
          <a:p>
            <a:r>
              <a:rPr lang="en-US" altLang="ko-KR" sz="950" smtClean="0">
                <a:solidFill>
                  <a:srgbClr val="000000"/>
                </a:solidFill>
                <a:latin typeface="Times New Roman" pitchFamily="18" charset="0"/>
                <a:ea typeface="돋움" pitchFamily="50" charset="-127"/>
                <a:cs typeface="Times New Roman" pitchFamily="18" charset="0"/>
              </a:rPr>
              <a:t>C.  Woodruff key           D. </a:t>
            </a:r>
            <a:r>
              <a:rPr lang="en-US" altLang="ko-KR" sz="950">
                <a:solidFill>
                  <a:srgbClr val="000000"/>
                </a:solidFill>
                <a:latin typeface="Times New Roman" pitchFamily="18" charset="0"/>
                <a:ea typeface="돋움" pitchFamily="50" charset="-127"/>
                <a:cs typeface="Times New Roman" pitchFamily="18" charset="0"/>
              </a:rPr>
              <a:t>S</a:t>
            </a:r>
            <a:r>
              <a:rPr lang="en-US" altLang="ko-KR" sz="950" smtClean="0">
                <a:solidFill>
                  <a:srgbClr val="000000"/>
                </a:solidFill>
                <a:latin typeface="Times New Roman" pitchFamily="18" charset="0"/>
                <a:ea typeface="돋움" pitchFamily="50" charset="-127"/>
                <a:cs typeface="Times New Roman" pitchFamily="18" charset="0"/>
              </a:rPr>
              <a:t>liding </a:t>
            </a:r>
            <a:r>
              <a:rPr lang="en-US" altLang="ko-KR" sz="950">
                <a:solidFill>
                  <a:srgbClr val="000000"/>
                </a:solidFill>
                <a:latin typeface="Times New Roman" pitchFamily="18" charset="0"/>
                <a:ea typeface="돋움" pitchFamily="50" charset="-127"/>
                <a:cs typeface="Times New Roman" pitchFamily="18" charset="0"/>
              </a:rPr>
              <a:t>key</a:t>
            </a:r>
            <a:endParaRPr lang="ko-KR" altLang="en-US" sz="950">
              <a:solidFill>
                <a:srgbClr val="000000"/>
              </a:solidFill>
              <a:latin typeface="Times New Roman" pitchFamily="18" charset="0"/>
              <a:ea typeface="돋움" pitchFamily="50" charset="-127"/>
              <a:cs typeface="Times New Roman" pitchFamily="18" charset="0"/>
            </a:endParaRPr>
          </a:p>
        </p:txBody>
      </p:sp>
      <p:sp>
        <p:nvSpPr>
          <p:cNvPr id="11" name="Rectangle 81"/>
          <p:cNvSpPr>
            <a:spLocks noChangeArrowheads="1"/>
          </p:cNvSpPr>
          <p:nvPr/>
        </p:nvSpPr>
        <p:spPr bwMode="auto">
          <a:xfrm>
            <a:off x="3464051" y="3152800"/>
            <a:ext cx="31242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solidFill>
                  <a:srgbClr val="000000"/>
                </a:solidFill>
                <a:latin typeface="Times New Roman" pitchFamily="18" charset="0"/>
                <a:ea typeface="돋움" pitchFamily="50" charset="-127"/>
                <a:cs typeface="Times New Roman" pitchFamily="18" charset="0"/>
              </a:rPr>
              <a:t>77</a:t>
            </a:r>
            <a:r>
              <a:rPr lang="en-US" altLang="ko-KR" sz="950">
                <a:solidFill>
                  <a:srgbClr val="000000"/>
                </a:solidFill>
                <a:latin typeface="Times New Roman" pitchFamily="18" charset="0"/>
                <a:ea typeface="돋움" pitchFamily="50" charset="-127"/>
                <a:cs typeface="Times New Roman" pitchFamily="18" charset="0"/>
              </a:rPr>
              <a:t>. Kích cỡ của A3 trong giấy khổ A là bao nhiêu ?</a:t>
            </a:r>
          </a:p>
          <a:p>
            <a:endParaRPr lang="en-US" altLang="ko-KR" sz="950">
              <a:solidFill>
                <a:srgbClr val="000000"/>
              </a:solidFill>
              <a:latin typeface="Times New Roman" pitchFamily="18" charset="0"/>
              <a:ea typeface="돋움" pitchFamily="50" charset="-127"/>
              <a:cs typeface="Times New Roman" pitchFamily="18" charset="0"/>
            </a:endParaRPr>
          </a:p>
          <a:p>
            <a:r>
              <a:rPr lang="en-US" altLang="ko-KR" sz="950" smtClean="0">
                <a:solidFill>
                  <a:srgbClr val="000000"/>
                </a:solidFill>
                <a:latin typeface="Times New Roman" pitchFamily="18" charset="0"/>
                <a:ea typeface="돋움" pitchFamily="50" charset="-127"/>
                <a:cs typeface="Times New Roman" pitchFamily="18" charset="0"/>
              </a:rPr>
              <a:t>A. </a:t>
            </a:r>
            <a:r>
              <a:rPr lang="en-US" altLang="ko-KR" sz="950">
                <a:solidFill>
                  <a:srgbClr val="000000"/>
                </a:solidFill>
                <a:latin typeface="Times New Roman" pitchFamily="18" charset="0"/>
                <a:ea typeface="돋움" pitchFamily="50" charset="-127"/>
                <a:cs typeface="Times New Roman" pitchFamily="18" charset="0"/>
              </a:rPr>
              <a:t>210 * 297                  </a:t>
            </a:r>
            <a:r>
              <a:rPr lang="en-US" altLang="ko-KR" sz="950" smtClean="0">
                <a:solidFill>
                  <a:srgbClr val="000000"/>
                </a:solidFill>
                <a:latin typeface="Times New Roman" pitchFamily="18" charset="0"/>
                <a:ea typeface="돋움" pitchFamily="50" charset="-127"/>
                <a:cs typeface="Times New Roman" pitchFamily="18" charset="0"/>
              </a:rPr>
              <a:t>B. </a:t>
            </a:r>
            <a:r>
              <a:rPr lang="en-US" altLang="ko-KR" sz="950">
                <a:solidFill>
                  <a:srgbClr val="000000"/>
                </a:solidFill>
                <a:latin typeface="Times New Roman" pitchFamily="18" charset="0"/>
                <a:ea typeface="돋움" pitchFamily="50" charset="-127"/>
                <a:cs typeface="Times New Roman" pitchFamily="18" charset="0"/>
              </a:rPr>
              <a:t>841 * 1189     </a:t>
            </a:r>
          </a:p>
          <a:p>
            <a:r>
              <a:rPr lang="en-US" altLang="ko-KR" sz="950" smtClean="0">
                <a:solidFill>
                  <a:srgbClr val="000000"/>
                </a:solidFill>
                <a:latin typeface="Times New Roman" pitchFamily="18" charset="0"/>
                <a:ea typeface="돋움" pitchFamily="50" charset="-127"/>
                <a:cs typeface="Times New Roman" pitchFamily="18" charset="0"/>
              </a:rPr>
              <a:t>C. </a:t>
            </a:r>
            <a:r>
              <a:rPr lang="en-US" altLang="ko-KR" sz="950">
                <a:solidFill>
                  <a:srgbClr val="000000"/>
                </a:solidFill>
                <a:latin typeface="Times New Roman" pitchFamily="18" charset="0"/>
                <a:ea typeface="돋움" pitchFamily="50" charset="-127"/>
                <a:cs typeface="Times New Roman" pitchFamily="18" charset="0"/>
              </a:rPr>
              <a:t>420 * 594                  </a:t>
            </a:r>
            <a:r>
              <a:rPr lang="en-US" altLang="ko-KR" sz="950" smtClean="0">
                <a:solidFill>
                  <a:srgbClr val="FF0000"/>
                </a:solidFill>
                <a:latin typeface="Times New Roman" pitchFamily="18" charset="0"/>
                <a:ea typeface="돋움" pitchFamily="50" charset="-127"/>
                <a:cs typeface="Times New Roman" pitchFamily="18" charset="0"/>
              </a:rPr>
              <a:t>D. </a:t>
            </a:r>
            <a:r>
              <a:rPr lang="en-US" altLang="ko-KR" sz="950">
                <a:solidFill>
                  <a:srgbClr val="FF0000"/>
                </a:solidFill>
                <a:latin typeface="Times New Roman" pitchFamily="18" charset="0"/>
                <a:ea typeface="돋움" pitchFamily="50" charset="-127"/>
                <a:cs typeface="Times New Roman" pitchFamily="18" charset="0"/>
              </a:rPr>
              <a:t>297 * 420</a:t>
            </a:r>
          </a:p>
        </p:txBody>
      </p:sp>
      <p:sp>
        <p:nvSpPr>
          <p:cNvPr id="12" name="Rectangle 84"/>
          <p:cNvSpPr>
            <a:spLocks noChangeArrowheads="1"/>
          </p:cNvSpPr>
          <p:nvPr/>
        </p:nvSpPr>
        <p:spPr bwMode="auto">
          <a:xfrm>
            <a:off x="1717675" y="6397625"/>
            <a:ext cx="65" cy="146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endParaRPr lang="ko-KR" altLang="en-US" sz="950">
              <a:solidFill>
                <a:srgbClr val="000000"/>
              </a:solidFill>
              <a:latin typeface="Times New Roman" pitchFamily="18" charset="0"/>
              <a:ea typeface="돋움" pitchFamily="50" charset="-127"/>
              <a:cs typeface="Times New Roman" pitchFamily="18" charset="0"/>
            </a:endParaRPr>
          </a:p>
        </p:txBody>
      </p:sp>
      <p:sp>
        <p:nvSpPr>
          <p:cNvPr id="13" name="Rectangle 85"/>
          <p:cNvSpPr>
            <a:spLocks noChangeArrowheads="1"/>
          </p:cNvSpPr>
          <p:nvPr/>
        </p:nvSpPr>
        <p:spPr bwMode="auto">
          <a:xfrm>
            <a:off x="3464051" y="5025008"/>
            <a:ext cx="3124200" cy="104259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solidFill>
                  <a:srgbClr val="000000"/>
                </a:solidFill>
                <a:latin typeface="Times New Roman" pitchFamily="18" charset="0"/>
                <a:cs typeface="Times New Roman" pitchFamily="18" charset="0"/>
              </a:rPr>
              <a:t>78</a:t>
            </a:r>
            <a:r>
              <a:rPr lang="en-US" altLang="ko-KR" sz="950">
                <a:solidFill>
                  <a:srgbClr val="000000"/>
                </a:solidFill>
                <a:latin typeface="Times New Roman" pitchFamily="18" charset="0"/>
                <a:cs typeface="Times New Roman" pitchFamily="18" charset="0"/>
              </a:rPr>
              <a:t>. Mục đích của việc bôi trơn là gì?</a:t>
            </a:r>
          </a:p>
          <a:p>
            <a:pPr>
              <a:lnSpc>
                <a:spcPct val="110000"/>
              </a:lnSpc>
            </a:pPr>
            <a:endParaRPr lang="en-US" altLang="ko-KR" sz="950" smtClean="0">
              <a:solidFill>
                <a:srgbClr val="FF0000"/>
              </a:solidFill>
              <a:latin typeface="Times New Roman" pitchFamily="18" charset="0"/>
              <a:cs typeface="Times New Roman" pitchFamily="18" charset="0"/>
            </a:endParaRPr>
          </a:p>
          <a:p>
            <a:pPr>
              <a:lnSpc>
                <a:spcPct val="110000"/>
              </a:lnSpc>
            </a:pPr>
            <a:r>
              <a:rPr lang="en-US" altLang="ko-KR" sz="950" smtClean="0">
                <a:solidFill>
                  <a:srgbClr val="FF0000"/>
                </a:solidFill>
                <a:latin typeface="Times New Roman" pitchFamily="18" charset="0"/>
                <a:cs typeface="Times New Roman" pitchFamily="18" charset="0"/>
              </a:rPr>
              <a:t>A. Tác </a:t>
            </a:r>
            <a:r>
              <a:rPr lang="en-US" altLang="ko-KR" sz="950">
                <a:solidFill>
                  <a:srgbClr val="FF0000"/>
                </a:solidFill>
                <a:latin typeface="Times New Roman" pitchFamily="18" charset="0"/>
                <a:cs typeface="Times New Roman" pitchFamily="18" charset="0"/>
              </a:rPr>
              <a:t>dụng làm cứng bề mặt</a:t>
            </a:r>
            <a:r>
              <a:rPr lang="ko-KR" altLang="en-US" sz="950">
                <a:solidFill>
                  <a:srgbClr val="FF0000"/>
                </a:solidFill>
                <a:latin typeface="Times New Roman" pitchFamily="18" charset="0"/>
                <a:cs typeface="Times New Roman" pitchFamily="18" charset="0"/>
              </a:rPr>
              <a:t>         </a:t>
            </a:r>
            <a:endParaRPr lang="en-US" altLang="ko-KR" sz="950" smtClean="0">
              <a:solidFill>
                <a:srgbClr val="FF0000"/>
              </a:solidFill>
              <a:latin typeface="Times New Roman" pitchFamily="18" charset="0"/>
              <a:cs typeface="Times New Roman" pitchFamily="18" charset="0"/>
            </a:endParaRPr>
          </a:p>
          <a:p>
            <a:pPr>
              <a:lnSpc>
                <a:spcPct val="110000"/>
              </a:lnSpc>
            </a:pPr>
            <a:r>
              <a:rPr lang="en-US" altLang="ko-KR" sz="950" smtClean="0">
                <a:solidFill>
                  <a:srgbClr val="000000"/>
                </a:solidFill>
                <a:latin typeface="Times New Roman" pitchFamily="18" charset="0"/>
                <a:cs typeface="Times New Roman" pitchFamily="18" charset="0"/>
              </a:rPr>
              <a:t>B. Tác </a:t>
            </a:r>
            <a:r>
              <a:rPr lang="en-US" altLang="ko-KR" sz="950">
                <a:solidFill>
                  <a:srgbClr val="000000"/>
                </a:solidFill>
                <a:latin typeface="Times New Roman" pitchFamily="18" charset="0"/>
                <a:cs typeface="Times New Roman" pitchFamily="18" charset="0"/>
              </a:rPr>
              <a:t>dụng ngăn ngừa xâm nhập dị vật</a:t>
            </a:r>
            <a:endParaRPr lang="ko-KR" altLang="en-US" sz="950">
              <a:solidFill>
                <a:srgbClr val="000000"/>
              </a:solidFill>
              <a:latin typeface="Times New Roman" pitchFamily="18" charset="0"/>
              <a:cs typeface="Times New Roman" pitchFamily="18" charset="0"/>
            </a:endParaRPr>
          </a:p>
          <a:p>
            <a:pPr>
              <a:lnSpc>
                <a:spcPct val="110000"/>
              </a:lnSpc>
            </a:pPr>
            <a:r>
              <a:rPr lang="en-US" altLang="ko-KR" sz="950" smtClean="0">
                <a:solidFill>
                  <a:srgbClr val="000000"/>
                </a:solidFill>
                <a:latin typeface="Times New Roman" pitchFamily="18" charset="0"/>
                <a:cs typeface="Times New Roman" pitchFamily="18" charset="0"/>
              </a:rPr>
              <a:t>C.</a:t>
            </a:r>
            <a:r>
              <a:rPr lang="ko-KR" altLang="en-US" sz="950" smtClean="0">
                <a:solidFill>
                  <a:srgbClr val="000000"/>
                </a:solidFill>
                <a:latin typeface="Times New Roman" pitchFamily="18" charset="0"/>
                <a:cs typeface="Times New Roman" pitchFamily="18" charset="0"/>
              </a:rPr>
              <a:t> </a:t>
            </a:r>
            <a:r>
              <a:rPr lang="en-US" altLang="ko-KR" sz="950">
                <a:solidFill>
                  <a:srgbClr val="000000"/>
                </a:solidFill>
                <a:latin typeface="Times New Roman" pitchFamily="18" charset="0"/>
                <a:cs typeface="Times New Roman" pitchFamily="18" charset="0"/>
              </a:rPr>
              <a:t>Tác dụng làm mát phần ma sát</a:t>
            </a:r>
            <a:r>
              <a:rPr lang="ko-KR" altLang="en-US" sz="950">
                <a:solidFill>
                  <a:srgbClr val="000000"/>
                </a:solidFill>
                <a:latin typeface="Times New Roman" pitchFamily="18" charset="0"/>
                <a:cs typeface="Times New Roman" pitchFamily="18" charset="0"/>
              </a:rPr>
              <a:t>      </a:t>
            </a:r>
            <a:endParaRPr lang="en-US" altLang="ko-KR" sz="950">
              <a:solidFill>
                <a:srgbClr val="000000"/>
              </a:solidFill>
              <a:latin typeface="Times New Roman" pitchFamily="18" charset="0"/>
              <a:cs typeface="Times New Roman" pitchFamily="18" charset="0"/>
            </a:endParaRPr>
          </a:p>
          <a:p>
            <a:pPr>
              <a:lnSpc>
                <a:spcPct val="110000"/>
              </a:lnSpc>
            </a:pPr>
            <a:r>
              <a:rPr lang="en-US" altLang="ko-KR" sz="950" smtClean="0">
                <a:solidFill>
                  <a:srgbClr val="000000"/>
                </a:solidFill>
                <a:latin typeface="Times New Roman" pitchFamily="18" charset="0"/>
                <a:cs typeface="Times New Roman" pitchFamily="18" charset="0"/>
              </a:rPr>
              <a:t>D.</a:t>
            </a:r>
            <a:r>
              <a:rPr lang="ko-KR" altLang="en-US" sz="950" smtClean="0">
                <a:solidFill>
                  <a:srgbClr val="000000"/>
                </a:solidFill>
                <a:latin typeface="Times New Roman" pitchFamily="18" charset="0"/>
                <a:cs typeface="Times New Roman" pitchFamily="18" charset="0"/>
              </a:rPr>
              <a:t> </a:t>
            </a:r>
            <a:r>
              <a:rPr lang="en-US" altLang="ko-KR" sz="950">
                <a:solidFill>
                  <a:srgbClr val="000000"/>
                </a:solidFill>
                <a:latin typeface="Times New Roman" pitchFamily="18" charset="0"/>
                <a:cs typeface="Times New Roman" pitchFamily="18" charset="0"/>
              </a:rPr>
              <a:t>Tác dụng chống ăn mòn</a:t>
            </a:r>
            <a:r>
              <a:rPr lang="ko-KR" altLang="en-US" sz="950">
                <a:solidFill>
                  <a:srgbClr val="000000"/>
                </a:solidFill>
                <a:latin typeface="Times New Roman" pitchFamily="18" charset="0"/>
                <a:cs typeface="Times New Roman" pitchFamily="18" charset="0"/>
              </a:rPr>
              <a:t> </a:t>
            </a:r>
          </a:p>
        </p:txBody>
      </p:sp>
      <p:sp>
        <p:nvSpPr>
          <p:cNvPr id="15" name="Rectangle 88"/>
          <p:cNvSpPr>
            <a:spLocks noChangeArrowheads="1"/>
          </p:cNvSpPr>
          <p:nvPr/>
        </p:nvSpPr>
        <p:spPr bwMode="auto">
          <a:xfrm>
            <a:off x="3464051" y="6825208"/>
            <a:ext cx="3124200"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solidFill>
                  <a:srgbClr val="000000"/>
                </a:solidFill>
                <a:latin typeface="Times New Roman" pitchFamily="18" charset="0"/>
                <a:ea typeface="돋움" pitchFamily="50" charset="-127"/>
                <a:cs typeface="Times New Roman" pitchFamily="18" charset="0"/>
              </a:rPr>
              <a:t>79</a:t>
            </a:r>
            <a:r>
              <a:rPr lang="en-US" altLang="ko-KR" sz="950">
                <a:solidFill>
                  <a:srgbClr val="000000"/>
                </a:solidFill>
                <a:latin typeface="Times New Roman" pitchFamily="18" charset="0"/>
                <a:ea typeface="돋움" pitchFamily="50" charset="-127"/>
                <a:cs typeface="Times New Roman" pitchFamily="18" charset="0"/>
              </a:rPr>
              <a:t>. Trong các loại Ball Screw, chủng loại nào không được phân loại theo Lead và đường kính trục?</a:t>
            </a:r>
          </a:p>
          <a:p>
            <a:endParaRPr lang="en-US" altLang="ko-KR" sz="950" smtClean="0">
              <a:solidFill>
                <a:srgbClr val="000000"/>
              </a:solidFill>
              <a:latin typeface="Times New Roman" pitchFamily="18" charset="0"/>
              <a:ea typeface="돋움" pitchFamily="50" charset="-127"/>
              <a:cs typeface="Times New Roman" pitchFamily="18" charset="0"/>
            </a:endParaRPr>
          </a:p>
          <a:p>
            <a:r>
              <a:rPr lang="en-US" altLang="ko-KR" sz="950" smtClean="0">
                <a:solidFill>
                  <a:srgbClr val="000000"/>
                </a:solidFill>
                <a:latin typeface="Times New Roman" pitchFamily="18" charset="0"/>
                <a:ea typeface="돋움" pitchFamily="50" charset="-127"/>
                <a:cs typeface="Times New Roman" pitchFamily="18" charset="0"/>
              </a:rPr>
              <a:t>A. </a:t>
            </a:r>
            <a:r>
              <a:rPr lang="en-US" altLang="ko-KR" sz="950">
                <a:solidFill>
                  <a:srgbClr val="000000"/>
                </a:solidFill>
                <a:latin typeface="Times New Roman" pitchFamily="18" charset="0"/>
                <a:ea typeface="돋움" pitchFamily="50" charset="-127"/>
                <a:cs typeface="Times New Roman" pitchFamily="18" charset="0"/>
              </a:rPr>
              <a:t>Simple Lead</a:t>
            </a:r>
            <a:r>
              <a:rPr lang="ko-KR" altLang="en-US" sz="950">
                <a:solidFill>
                  <a:srgbClr val="00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B.</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Medium Lead</a:t>
            </a:r>
            <a:endParaRPr lang="ko-KR" altLang="en-US" sz="950">
              <a:solidFill>
                <a:srgbClr val="FF0000"/>
              </a:solidFill>
              <a:latin typeface="Times New Roman" pitchFamily="18" charset="0"/>
              <a:ea typeface="돋움" pitchFamily="50" charset="-127"/>
              <a:cs typeface="Times New Roman" pitchFamily="18" charset="0"/>
            </a:endParaRPr>
          </a:p>
          <a:p>
            <a:r>
              <a:rPr lang="en-US" altLang="ko-KR" sz="950" smtClean="0">
                <a:solidFill>
                  <a:srgbClr val="000000"/>
                </a:solidFill>
                <a:latin typeface="Times New Roman" pitchFamily="18" charset="0"/>
                <a:ea typeface="돋움" pitchFamily="50" charset="-127"/>
                <a:cs typeface="Times New Roman" pitchFamily="18" charset="0"/>
              </a:rPr>
              <a:t>C.</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a:solidFill>
                  <a:srgbClr val="000000"/>
                </a:solidFill>
                <a:latin typeface="Times New Roman" pitchFamily="18" charset="0"/>
                <a:ea typeface="돋움" pitchFamily="50" charset="-127"/>
                <a:cs typeface="Times New Roman" pitchFamily="18" charset="0"/>
              </a:rPr>
              <a:t>High Lead</a:t>
            </a:r>
            <a:r>
              <a:rPr lang="ko-KR" altLang="en-US"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D.</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a:solidFill>
                  <a:srgbClr val="000000"/>
                </a:solidFill>
                <a:latin typeface="Times New Roman" pitchFamily="18" charset="0"/>
                <a:ea typeface="돋움" pitchFamily="50" charset="-127"/>
                <a:cs typeface="Times New Roman" pitchFamily="18" charset="0"/>
              </a:rPr>
              <a:t>Miniature</a:t>
            </a:r>
            <a:endParaRPr lang="ko-KR" altLang="en-US" sz="950">
              <a:solidFill>
                <a:srgbClr val="000000"/>
              </a:solidFill>
              <a:latin typeface="Times New Roman" pitchFamily="18" charset="0"/>
              <a:ea typeface="돋움" pitchFamily="50" charset="-127"/>
              <a:cs typeface="Times New Roman" pitchFamily="18" charset="0"/>
            </a:endParaRPr>
          </a:p>
        </p:txBody>
      </p:sp>
      <p:sp>
        <p:nvSpPr>
          <p:cNvPr id="16" name="Rectangle 81"/>
          <p:cNvSpPr>
            <a:spLocks noChangeArrowheads="1"/>
          </p:cNvSpPr>
          <p:nvPr/>
        </p:nvSpPr>
        <p:spPr bwMode="auto">
          <a:xfrm>
            <a:off x="3484651" y="1232695"/>
            <a:ext cx="3124200"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ko-KR" sz="950" smtClean="0">
                <a:solidFill>
                  <a:srgbClr val="000000"/>
                </a:solidFill>
                <a:latin typeface="Times New Roman" pitchFamily="18" charset="0"/>
                <a:ea typeface="돋움" pitchFamily="50" charset="-127"/>
                <a:cs typeface="Times New Roman" pitchFamily="18" charset="0"/>
              </a:rPr>
              <a:t>76</a:t>
            </a:r>
            <a:r>
              <a:rPr lang="en-US" altLang="ko-KR" sz="950">
                <a:solidFill>
                  <a:srgbClr val="000000"/>
                </a:solidFill>
                <a:latin typeface="Times New Roman" pitchFamily="18" charset="0"/>
                <a:ea typeface="돋움" pitchFamily="50" charset="-127"/>
                <a:cs typeface="Times New Roman" pitchFamily="18" charset="0"/>
              </a:rPr>
              <a:t>. Cấu tạo và tên nào của ổ đĩa Harmonic không đúng?</a:t>
            </a:r>
          </a:p>
          <a:p>
            <a:pPr>
              <a:spcBef>
                <a:spcPct val="50000"/>
              </a:spcBef>
            </a:pPr>
            <a:r>
              <a:rPr lang="en-US" altLang="ko-KR" sz="950" smtClean="0">
                <a:solidFill>
                  <a:srgbClr val="000000"/>
                </a:solidFill>
                <a:latin typeface="Times New Roman" pitchFamily="18" charset="0"/>
                <a:ea typeface="돋움" pitchFamily="50" charset="-127"/>
                <a:cs typeface="Times New Roman" pitchFamily="18" charset="0"/>
              </a:rPr>
              <a:t>A</a:t>
            </a:r>
            <a:r>
              <a:rPr lang="en-US" altLang="ko-KR" sz="950">
                <a:solidFill>
                  <a:srgbClr val="000000"/>
                </a:solidFill>
                <a:latin typeface="Times New Roman" pitchFamily="18" charset="0"/>
                <a:ea typeface="돋움" pitchFamily="50" charset="-127"/>
                <a:cs typeface="Times New Roman" pitchFamily="18" charset="0"/>
              </a:rPr>
              <a:t>. Wave </a:t>
            </a:r>
            <a:r>
              <a:rPr lang="en-US" altLang="ko-KR" sz="950" smtClean="0">
                <a:solidFill>
                  <a:srgbClr val="000000"/>
                </a:solidFill>
                <a:latin typeface="Times New Roman" pitchFamily="18" charset="0"/>
                <a:ea typeface="돋움" pitchFamily="50" charset="-127"/>
                <a:cs typeface="Times New Roman" pitchFamily="18" charset="0"/>
              </a:rPr>
              <a:t>Generator = Phần </a:t>
            </a:r>
            <a:r>
              <a:rPr lang="en-US" altLang="ko-KR" sz="950">
                <a:solidFill>
                  <a:srgbClr val="000000"/>
                </a:solidFill>
                <a:latin typeface="Times New Roman" pitchFamily="18" charset="0"/>
                <a:ea typeface="돋움" pitchFamily="50" charset="-127"/>
                <a:cs typeface="Times New Roman" pitchFamily="18" charset="0"/>
              </a:rPr>
              <a:t>Input</a:t>
            </a:r>
            <a:endParaRPr lang="ko-KR" altLang="en-US" sz="950">
              <a:solidFill>
                <a:srgbClr val="000000"/>
              </a:solidFill>
              <a:latin typeface="Times New Roman" pitchFamily="18" charset="0"/>
              <a:ea typeface="돋움" pitchFamily="50" charset="-127"/>
              <a:cs typeface="Times New Roman" pitchFamily="18" charset="0"/>
            </a:endParaRPr>
          </a:p>
          <a:p>
            <a:pPr>
              <a:spcBef>
                <a:spcPct val="50000"/>
              </a:spcBef>
            </a:pPr>
            <a:r>
              <a:rPr lang="en-US" altLang="ko-KR" sz="950">
                <a:solidFill>
                  <a:srgbClr val="000000"/>
                </a:solidFill>
                <a:latin typeface="Times New Roman" pitchFamily="18" charset="0"/>
                <a:ea typeface="돋움" pitchFamily="50" charset="-127"/>
                <a:cs typeface="Times New Roman" pitchFamily="18" charset="0"/>
              </a:rPr>
              <a:t>B.</a:t>
            </a:r>
            <a:r>
              <a:rPr lang="ko-KR" altLang="en-US"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Flexspline = Phần </a:t>
            </a:r>
            <a:r>
              <a:rPr lang="en-US" altLang="ko-KR" sz="950">
                <a:solidFill>
                  <a:srgbClr val="000000"/>
                </a:solidFill>
                <a:latin typeface="Times New Roman" pitchFamily="18" charset="0"/>
                <a:ea typeface="돋움" pitchFamily="50" charset="-127"/>
                <a:cs typeface="Times New Roman" pitchFamily="18" charset="0"/>
              </a:rPr>
              <a:t>giảm tốc</a:t>
            </a:r>
            <a:endParaRPr lang="ko-KR" altLang="en-US" sz="950">
              <a:solidFill>
                <a:srgbClr val="000000"/>
              </a:solidFill>
              <a:latin typeface="Times New Roman" pitchFamily="18" charset="0"/>
              <a:ea typeface="돋움" pitchFamily="50" charset="-127"/>
              <a:cs typeface="Times New Roman" pitchFamily="18" charset="0"/>
            </a:endParaRPr>
          </a:p>
          <a:p>
            <a:pPr>
              <a:spcBef>
                <a:spcPct val="50000"/>
              </a:spcBef>
            </a:pPr>
            <a:r>
              <a:rPr lang="en-US" altLang="ko-KR" sz="950">
                <a:solidFill>
                  <a:srgbClr val="000000"/>
                </a:solidFill>
                <a:latin typeface="Times New Roman" pitchFamily="18" charset="0"/>
                <a:ea typeface="돋움" pitchFamily="50" charset="-127"/>
                <a:cs typeface="Times New Roman" pitchFamily="18" charset="0"/>
              </a:rPr>
              <a:t>C.</a:t>
            </a:r>
            <a:r>
              <a:rPr lang="ko-KR" altLang="en-US" sz="950">
                <a:solidFill>
                  <a:srgbClr val="000000"/>
                </a:solidFill>
                <a:latin typeface="Times New Roman" pitchFamily="18" charset="0"/>
                <a:ea typeface="돋움" pitchFamily="50" charset="-127"/>
                <a:cs typeface="Times New Roman" pitchFamily="18" charset="0"/>
              </a:rPr>
              <a:t> </a:t>
            </a:r>
            <a:r>
              <a:rPr lang="en-US" altLang="ko-KR" sz="950">
                <a:solidFill>
                  <a:srgbClr val="000000"/>
                </a:solidFill>
                <a:latin typeface="Times New Roman" pitchFamily="18" charset="0"/>
                <a:ea typeface="돋움" pitchFamily="50" charset="-127"/>
                <a:cs typeface="Times New Roman" pitchFamily="18" charset="0"/>
              </a:rPr>
              <a:t>Circular Spline = Phần truyền động</a:t>
            </a:r>
            <a:endParaRPr lang="ko-KR" altLang="en-US" sz="950">
              <a:solidFill>
                <a:srgbClr val="000000"/>
              </a:solidFill>
              <a:latin typeface="Times New Roman" pitchFamily="18" charset="0"/>
              <a:ea typeface="돋움" pitchFamily="50" charset="-127"/>
              <a:cs typeface="Times New Roman" pitchFamily="18" charset="0"/>
            </a:endParaRPr>
          </a:p>
          <a:p>
            <a:pPr>
              <a:spcBef>
                <a:spcPct val="50000"/>
              </a:spcBef>
            </a:pPr>
            <a:r>
              <a:rPr lang="en-US" altLang="ko-KR" sz="950">
                <a:solidFill>
                  <a:srgbClr val="FF0000"/>
                </a:solidFill>
                <a:latin typeface="Times New Roman" pitchFamily="18" charset="0"/>
                <a:ea typeface="돋움" pitchFamily="50" charset="-127"/>
                <a:cs typeface="Times New Roman" pitchFamily="18" charset="0"/>
              </a:rPr>
              <a:t>D.</a:t>
            </a:r>
            <a:r>
              <a:rPr lang="ko-KR" altLang="en-US" sz="95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Flexspline = Phần </a:t>
            </a:r>
            <a:r>
              <a:rPr lang="en-US" altLang="ko-KR" sz="950">
                <a:solidFill>
                  <a:srgbClr val="FF0000"/>
                </a:solidFill>
                <a:latin typeface="Times New Roman" pitchFamily="18" charset="0"/>
                <a:ea typeface="돋움" pitchFamily="50" charset="-127"/>
                <a:cs typeface="Times New Roman" pitchFamily="18" charset="0"/>
              </a:rPr>
              <a:t>Input</a:t>
            </a:r>
            <a:endParaRPr lang="ko-KR" altLang="en-US" sz="950">
              <a:solidFill>
                <a:srgbClr val="FF0000"/>
              </a:solidFill>
              <a:latin typeface="Times New Roman" pitchFamily="18" charset="0"/>
              <a:ea typeface="돋움" pitchFamily="50" charset="-127"/>
              <a:cs typeface="Times New Roman" pitchFamily="18" charset="0"/>
            </a:endParaRPr>
          </a:p>
        </p:txBody>
      </p:sp>
      <p:sp>
        <p:nvSpPr>
          <p:cNvPr id="17" name="Rectangle 81"/>
          <p:cNvSpPr>
            <a:spLocks noChangeArrowheads="1"/>
          </p:cNvSpPr>
          <p:nvPr/>
        </p:nvSpPr>
        <p:spPr bwMode="auto">
          <a:xfrm>
            <a:off x="188640" y="7975302"/>
            <a:ext cx="3124200" cy="1188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lang="en-US" altLang="ko-KR" sz="950" smtClean="0">
                <a:solidFill>
                  <a:srgbClr val="000000"/>
                </a:solidFill>
                <a:latin typeface="Times New Roman" pitchFamily="18" charset="0"/>
                <a:ea typeface="돋움" pitchFamily="50" charset="-127"/>
                <a:cs typeface="Times New Roman" pitchFamily="18" charset="0"/>
              </a:rPr>
              <a:t>75</a:t>
            </a:r>
            <a:r>
              <a:rPr lang="en-US" altLang="ko-KR" sz="950">
                <a:solidFill>
                  <a:srgbClr val="000000"/>
                </a:solidFill>
                <a:latin typeface="Times New Roman" pitchFamily="18" charset="0"/>
                <a:ea typeface="돋움" pitchFamily="50" charset="-127"/>
                <a:cs typeface="Times New Roman" pitchFamily="18" charset="0"/>
              </a:rPr>
              <a:t>. Câu nào sai </a:t>
            </a:r>
            <a:r>
              <a:rPr lang="en-US" altLang="ko-KR" sz="950" smtClean="0">
                <a:solidFill>
                  <a:srgbClr val="000000"/>
                </a:solidFill>
                <a:latin typeface="Times New Roman" pitchFamily="18" charset="0"/>
                <a:ea typeface="돋움" pitchFamily="50" charset="-127"/>
                <a:cs typeface="Times New Roman" pitchFamily="18" charset="0"/>
              </a:rPr>
              <a:t>nói về </a:t>
            </a:r>
            <a:r>
              <a:rPr lang="en-US" altLang="ko-KR" sz="950">
                <a:solidFill>
                  <a:srgbClr val="000000"/>
                </a:solidFill>
                <a:latin typeface="Times New Roman" pitchFamily="18" charset="0"/>
                <a:ea typeface="돋움" pitchFamily="50" charset="-127"/>
                <a:cs typeface="Times New Roman" pitchFamily="18" charset="0"/>
              </a:rPr>
              <a:t>ổ đĩa Harmonic ?</a:t>
            </a:r>
          </a:p>
          <a:p>
            <a:pPr>
              <a:spcBef>
                <a:spcPct val="50000"/>
              </a:spcBef>
            </a:pPr>
            <a:r>
              <a:rPr lang="en-US" altLang="ko-KR" sz="950">
                <a:solidFill>
                  <a:srgbClr val="000000"/>
                </a:solidFill>
                <a:latin typeface="Times New Roman" pitchFamily="18" charset="0"/>
                <a:ea typeface="돋움" pitchFamily="50" charset="-127"/>
                <a:cs typeface="Times New Roman" pitchFamily="18" charset="0"/>
              </a:rPr>
              <a:t>A. Tỉ lệ giảm tốc cao</a:t>
            </a:r>
            <a:r>
              <a:rPr lang="ko-KR" altLang="en-US" sz="950">
                <a:solidFill>
                  <a:srgbClr val="000000"/>
                </a:solidFill>
                <a:latin typeface="Times New Roman" pitchFamily="18" charset="0"/>
                <a:ea typeface="돋움" pitchFamily="50" charset="-127"/>
                <a:cs typeface="Times New Roman" pitchFamily="18" charset="0"/>
              </a:rPr>
              <a:t>          </a:t>
            </a:r>
            <a:endParaRPr lang="en-US" altLang="ko-KR" sz="950">
              <a:solidFill>
                <a:srgbClr val="000000"/>
              </a:solidFill>
              <a:latin typeface="Times New Roman" pitchFamily="18" charset="0"/>
              <a:ea typeface="돋움" pitchFamily="50" charset="-127"/>
              <a:cs typeface="Times New Roman" pitchFamily="18" charset="0"/>
            </a:endParaRPr>
          </a:p>
          <a:p>
            <a:pPr>
              <a:spcBef>
                <a:spcPct val="50000"/>
              </a:spcBef>
            </a:pPr>
            <a:r>
              <a:rPr lang="en-US" altLang="ko-KR" sz="950">
                <a:latin typeface="Times New Roman" pitchFamily="18" charset="0"/>
                <a:ea typeface="돋움" pitchFamily="50" charset="-127"/>
                <a:cs typeface="Times New Roman" pitchFamily="18" charset="0"/>
              </a:rPr>
              <a:t>B.</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Backlash nhỏ</a:t>
            </a:r>
          </a:p>
          <a:p>
            <a:pPr>
              <a:spcBef>
                <a:spcPct val="50000"/>
              </a:spcBef>
            </a:pPr>
            <a:r>
              <a:rPr lang="en-US" altLang="ko-KR" sz="950">
                <a:solidFill>
                  <a:srgbClr val="000000"/>
                </a:solidFill>
                <a:latin typeface="Times New Roman" pitchFamily="18" charset="0"/>
                <a:ea typeface="돋움" pitchFamily="50" charset="-127"/>
                <a:cs typeface="Times New Roman" pitchFamily="18" charset="0"/>
              </a:rPr>
              <a:t>C. </a:t>
            </a:r>
            <a:r>
              <a:rPr lang="en-US" altLang="ko-KR" sz="950" smtClean="0">
                <a:solidFill>
                  <a:srgbClr val="000000"/>
                </a:solidFill>
                <a:latin typeface="Times New Roman" pitchFamily="18" charset="0"/>
                <a:ea typeface="돋움" pitchFamily="50" charset="-127"/>
                <a:cs typeface="Times New Roman" pitchFamily="18" charset="0"/>
              </a:rPr>
              <a:t>Vận hành tĩnh </a:t>
            </a:r>
            <a:r>
              <a:rPr lang="ko-KR" altLang="en-US" sz="950" smtClean="0">
                <a:solidFill>
                  <a:srgbClr val="000000"/>
                </a:solidFill>
                <a:latin typeface="Times New Roman" pitchFamily="18" charset="0"/>
                <a:ea typeface="돋움" pitchFamily="50" charset="-127"/>
                <a:cs typeface="Times New Roman" pitchFamily="18" charset="0"/>
              </a:rPr>
              <a:t> </a:t>
            </a:r>
            <a:endParaRPr lang="en-US" altLang="ko-KR" sz="950">
              <a:solidFill>
                <a:srgbClr val="000000"/>
              </a:solidFill>
              <a:latin typeface="Times New Roman" pitchFamily="18" charset="0"/>
              <a:ea typeface="돋움" pitchFamily="50" charset="-127"/>
              <a:cs typeface="Times New Roman" pitchFamily="18" charset="0"/>
            </a:endParaRPr>
          </a:p>
          <a:p>
            <a:pPr>
              <a:spcBef>
                <a:spcPct val="50000"/>
              </a:spcBef>
            </a:pPr>
            <a:r>
              <a:rPr lang="en-US" altLang="ko-KR" sz="950">
                <a:solidFill>
                  <a:srgbClr val="FF0000"/>
                </a:solidFill>
                <a:latin typeface="Times New Roman" pitchFamily="18" charset="0"/>
                <a:ea typeface="돋움" pitchFamily="50" charset="-127"/>
                <a:cs typeface="Times New Roman" pitchFamily="18" charset="0"/>
              </a:rPr>
              <a:t>D.</a:t>
            </a:r>
            <a:r>
              <a:rPr lang="ko-KR" altLang="en-US" sz="950">
                <a:solidFill>
                  <a:srgbClr val="FF0000"/>
                </a:solidFill>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2</a:t>
            </a:r>
            <a:r>
              <a:rPr lang="en-US" altLang="ko-KR" sz="950" smtClean="0">
                <a:solidFill>
                  <a:srgbClr val="FF0000"/>
                </a:solidFill>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phụ kiện đồng thời được chồng lên </a:t>
            </a:r>
          </a:p>
        </p:txBody>
      </p:sp>
      <p:sp>
        <p:nvSpPr>
          <p:cNvPr id="18" name="Rectangle 81"/>
          <p:cNvSpPr>
            <a:spLocks noChangeArrowheads="1"/>
          </p:cNvSpPr>
          <p:nvPr/>
        </p:nvSpPr>
        <p:spPr bwMode="auto">
          <a:xfrm>
            <a:off x="188640" y="5935960"/>
            <a:ext cx="3223040"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50000"/>
              </a:lnSpc>
              <a:spcBef>
                <a:spcPct val="50000"/>
              </a:spcBef>
            </a:pPr>
            <a:r>
              <a:rPr lang="en-US" altLang="ko-KR" sz="950" smtClean="0">
                <a:solidFill>
                  <a:srgbClr val="000000"/>
                </a:solidFill>
                <a:latin typeface="Times New Roman" pitchFamily="18" charset="0"/>
                <a:ea typeface="돋움" pitchFamily="50" charset="-127"/>
                <a:cs typeface="Times New Roman" pitchFamily="18" charset="0"/>
              </a:rPr>
              <a:t>74</a:t>
            </a:r>
            <a:r>
              <a:rPr lang="en-US" altLang="ko-KR" sz="950">
                <a:solidFill>
                  <a:srgbClr val="000000"/>
                </a:solidFill>
                <a:latin typeface="Times New Roman" pitchFamily="18" charset="0"/>
                <a:ea typeface="돋움" pitchFamily="50" charset="-127"/>
                <a:cs typeface="Times New Roman" pitchFamily="18" charset="0"/>
              </a:rPr>
              <a:t>. Bánh răng mà có nhiều răng được gọi là Gear, bánh răng mà ít răng thì được gọi là gì?</a:t>
            </a:r>
          </a:p>
          <a:p>
            <a:pPr>
              <a:spcBef>
                <a:spcPct val="50000"/>
              </a:spcBef>
            </a:pPr>
            <a:r>
              <a:rPr lang="en-US" altLang="ko-KR" sz="950">
                <a:solidFill>
                  <a:srgbClr val="FF0000"/>
                </a:solidFill>
                <a:latin typeface="Times New Roman" pitchFamily="18" charset="0"/>
                <a:ea typeface="돋움" pitchFamily="50" charset="-127"/>
                <a:cs typeface="Times New Roman" pitchFamily="18" charset="0"/>
              </a:rPr>
              <a:t>A. Pinion</a:t>
            </a:r>
            <a:r>
              <a:rPr lang="ko-KR" altLang="en-US" sz="950">
                <a:solidFill>
                  <a:srgbClr val="FF0000"/>
                </a:solidFill>
                <a:latin typeface="Times New Roman" pitchFamily="18" charset="0"/>
                <a:ea typeface="돋움" pitchFamily="50" charset="-127"/>
                <a:cs typeface="Times New Roman" pitchFamily="18" charset="0"/>
              </a:rPr>
              <a:t>                     </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B</a:t>
            </a:r>
            <a:r>
              <a:rPr lang="en-US" altLang="ko-KR" sz="950">
                <a:solidFill>
                  <a:srgbClr val="000000"/>
                </a:solidFill>
                <a:latin typeface="Times New Roman" pitchFamily="18" charset="0"/>
                <a:ea typeface="돋움" pitchFamily="50" charset="-127"/>
                <a:cs typeface="Times New Roman" pitchFamily="18" charset="0"/>
              </a:rPr>
              <a:t>. Bánh răng truyền động</a:t>
            </a:r>
            <a:endParaRPr lang="ko-KR" altLang="en-US" sz="950">
              <a:solidFill>
                <a:srgbClr val="000000"/>
              </a:solidFill>
              <a:latin typeface="Times New Roman" pitchFamily="18" charset="0"/>
              <a:ea typeface="돋움" pitchFamily="50" charset="-127"/>
              <a:cs typeface="Times New Roman" pitchFamily="18" charset="0"/>
            </a:endParaRPr>
          </a:p>
          <a:p>
            <a:pPr>
              <a:spcBef>
                <a:spcPct val="50000"/>
              </a:spcBef>
            </a:pPr>
            <a:r>
              <a:rPr lang="en-US" altLang="ko-KR" sz="950">
                <a:solidFill>
                  <a:srgbClr val="000000"/>
                </a:solidFill>
                <a:latin typeface="Times New Roman" pitchFamily="18" charset="0"/>
                <a:ea typeface="돋움" pitchFamily="50" charset="-127"/>
                <a:cs typeface="Times New Roman" pitchFamily="18" charset="0"/>
              </a:rPr>
              <a:t>C. Rack Gear</a:t>
            </a:r>
            <a:r>
              <a:rPr lang="ko-KR" altLang="en-US" sz="950">
                <a:solidFill>
                  <a:srgbClr val="000000"/>
                </a:solidFill>
                <a:latin typeface="Times New Roman" pitchFamily="18" charset="0"/>
                <a:ea typeface="돋움" pitchFamily="50" charset="-127"/>
                <a:cs typeface="Times New Roman" pitchFamily="18" charset="0"/>
              </a:rPr>
              <a:t>                </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a:solidFill>
                  <a:srgbClr val="000000"/>
                </a:solidFill>
                <a:latin typeface="Times New Roman" pitchFamily="18" charset="0"/>
                <a:ea typeface="돋움" pitchFamily="50" charset="-127"/>
                <a:cs typeface="Times New Roman" pitchFamily="18" charset="0"/>
              </a:rPr>
              <a:t>D. Bánh răng Motor</a:t>
            </a:r>
            <a:endParaRPr lang="ko-KR" altLang="en-US" sz="950">
              <a:solidFill>
                <a:srgbClr val="000000"/>
              </a:solidFill>
              <a:latin typeface="Times New Roman" pitchFamily="18" charset="0"/>
              <a:ea typeface="돋움" pitchFamily="50" charset="-127"/>
              <a:cs typeface="Times New Roman" pitchFamily="18" charset="0"/>
            </a:endParaRPr>
          </a:p>
        </p:txBody>
      </p:sp>
      <p:grpSp>
        <p:nvGrpSpPr>
          <p:cNvPr id="19" name="Group 18"/>
          <p:cNvGrpSpPr/>
          <p:nvPr/>
        </p:nvGrpSpPr>
        <p:grpSpPr>
          <a:xfrm>
            <a:off x="188640" y="4305053"/>
            <a:ext cx="3124200" cy="764825"/>
            <a:chOff x="260560" y="2762420"/>
            <a:chExt cx="3124200" cy="764825"/>
          </a:xfrm>
        </p:grpSpPr>
        <p:sp>
          <p:nvSpPr>
            <p:cNvPr id="20" name="Rectangle 81"/>
            <p:cNvSpPr>
              <a:spLocks noChangeArrowheads="1"/>
            </p:cNvSpPr>
            <p:nvPr/>
          </p:nvSpPr>
          <p:spPr bwMode="auto">
            <a:xfrm>
              <a:off x="260560" y="2762420"/>
              <a:ext cx="3124200" cy="76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60000"/>
                </a:lnSpc>
              </a:pPr>
              <a:r>
                <a:rPr lang="en-US" altLang="ko-KR" sz="950" smtClean="0">
                  <a:solidFill>
                    <a:srgbClr val="000000"/>
                  </a:solidFill>
                  <a:latin typeface="Times New Roman" pitchFamily="18" charset="0"/>
                  <a:ea typeface="돋움" pitchFamily="50" charset="-127"/>
                  <a:cs typeface="Times New Roman" pitchFamily="18" charset="0"/>
                </a:rPr>
                <a:t>73</a:t>
              </a:r>
              <a:r>
                <a:rPr lang="en-US" altLang="ko-KR" sz="950">
                  <a:solidFill>
                    <a:srgbClr val="000000"/>
                  </a:solidFill>
                  <a:latin typeface="Times New Roman" pitchFamily="18" charset="0"/>
                  <a:ea typeface="돋움" pitchFamily="50" charset="-127"/>
                  <a:cs typeface="Times New Roman" pitchFamily="18" charset="0"/>
                </a:rPr>
                <a:t>. Hình </a:t>
              </a:r>
              <a:r>
                <a:rPr lang="en-US" altLang="ko-KR" sz="950" smtClean="0">
                  <a:solidFill>
                    <a:srgbClr val="000000"/>
                  </a:solidFill>
                  <a:latin typeface="Times New Roman" pitchFamily="18" charset="0"/>
                  <a:ea typeface="돋움" pitchFamily="50" charset="-127"/>
                  <a:cs typeface="Times New Roman" pitchFamily="18" charset="0"/>
                </a:rPr>
                <a:t>dạng của trục sau tên là </a:t>
              </a:r>
              <a:r>
                <a:rPr lang="en-US" altLang="ko-KR" sz="950">
                  <a:solidFill>
                    <a:srgbClr val="000000"/>
                  </a:solidFill>
                  <a:latin typeface="Times New Roman" pitchFamily="18" charset="0"/>
                  <a:ea typeface="돋움" pitchFamily="50" charset="-127"/>
                  <a:cs typeface="Times New Roman" pitchFamily="18" charset="0"/>
                </a:rPr>
                <a:t>gì?</a:t>
              </a:r>
            </a:p>
            <a:p>
              <a:pPr>
                <a:spcBef>
                  <a:spcPct val="50000"/>
                </a:spcBef>
              </a:pPr>
              <a:r>
                <a:rPr lang="en-US" altLang="ko-KR" sz="950">
                  <a:solidFill>
                    <a:srgbClr val="000000"/>
                  </a:solidFill>
                  <a:latin typeface="Times New Roman" pitchFamily="18" charset="0"/>
                  <a:ea typeface="돋움" pitchFamily="50" charset="-127"/>
                  <a:cs typeface="Times New Roman" pitchFamily="18" charset="0"/>
                </a:rPr>
                <a:t>A. Involute</a:t>
              </a:r>
              <a:r>
                <a:rPr lang="ko-KR" altLang="en-US" sz="950">
                  <a:solidFill>
                    <a:srgbClr val="000000"/>
                  </a:solidFill>
                  <a:latin typeface="Times New Roman" pitchFamily="18" charset="0"/>
                  <a:ea typeface="돋움" pitchFamily="50" charset="-127"/>
                  <a:cs typeface="Times New Roman" pitchFamily="18" charset="0"/>
                </a:rPr>
                <a:t>   </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B. Straight-sided spline</a:t>
              </a:r>
              <a:endParaRPr lang="ko-KR" altLang="en-US" sz="950">
                <a:solidFill>
                  <a:srgbClr val="FF0000"/>
                </a:solidFill>
                <a:latin typeface="Times New Roman" pitchFamily="18" charset="0"/>
                <a:ea typeface="돋움" pitchFamily="50" charset="-127"/>
                <a:cs typeface="Times New Roman" pitchFamily="18" charset="0"/>
              </a:endParaRPr>
            </a:p>
            <a:p>
              <a:pPr>
                <a:spcBef>
                  <a:spcPct val="50000"/>
                </a:spcBef>
              </a:pPr>
              <a:r>
                <a:rPr lang="en-US" altLang="ko-KR" sz="950">
                  <a:solidFill>
                    <a:srgbClr val="000000"/>
                  </a:solidFill>
                  <a:latin typeface="Times New Roman" pitchFamily="18" charset="0"/>
                  <a:ea typeface="돋움" pitchFamily="50" charset="-127"/>
                  <a:cs typeface="Times New Roman" pitchFamily="18" charset="0"/>
                </a:rPr>
                <a:t>C.</a:t>
              </a:r>
              <a:r>
                <a:rPr lang="ko-KR" altLang="en-US" sz="950">
                  <a:solidFill>
                    <a:srgbClr val="000000"/>
                  </a:solidFill>
                  <a:latin typeface="Times New Roman" pitchFamily="18" charset="0"/>
                  <a:ea typeface="돋움" pitchFamily="50" charset="-127"/>
                  <a:cs typeface="Times New Roman" pitchFamily="18" charset="0"/>
                </a:rPr>
                <a:t> </a:t>
              </a:r>
              <a:r>
                <a:rPr lang="en-US" altLang="ko-KR" sz="950">
                  <a:solidFill>
                    <a:srgbClr val="000000"/>
                  </a:solidFill>
                  <a:latin typeface="Times New Roman" pitchFamily="18" charset="0"/>
                  <a:ea typeface="돋움" pitchFamily="50" charset="-127"/>
                  <a:cs typeface="Times New Roman" pitchFamily="18" charset="0"/>
                </a:rPr>
                <a:t>Serrasion</a:t>
              </a:r>
              <a:r>
                <a:rPr lang="ko-KR" altLang="en-US" sz="950">
                  <a:solidFill>
                    <a:srgbClr val="000000"/>
                  </a:solidFill>
                  <a:latin typeface="Times New Roman" pitchFamily="18" charset="0"/>
                  <a:ea typeface="돋움" pitchFamily="50" charset="-127"/>
                  <a:cs typeface="Times New Roman" pitchFamily="18" charset="0"/>
                </a:rPr>
                <a:t>  </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a:solidFill>
                    <a:srgbClr val="000000"/>
                  </a:solidFill>
                  <a:latin typeface="Times New Roman" pitchFamily="18" charset="0"/>
                  <a:ea typeface="돋움" pitchFamily="50" charset="-127"/>
                  <a:cs typeface="Times New Roman" pitchFamily="18" charset="0"/>
                </a:rPr>
                <a:t>D.</a:t>
              </a:r>
              <a:r>
                <a:rPr lang="ko-KR" altLang="en-US" sz="950">
                  <a:solidFill>
                    <a:srgbClr val="000000"/>
                  </a:solidFill>
                  <a:latin typeface="Times New Roman" pitchFamily="18" charset="0"/>
                  <a:ea typeface="돋움" pitchFamily="50" charset="-127"/>
                  <a:cs typeface="Times New Roman" pitchFamily="18" charset="0"/>
                </a:rPr>
                <a:t> </a:t>
              </a:r>
              <a:r>
                <a:rPr lang="en-US" altLang="ko-KR" sz="950">
                  <a:solidFill>
                    <a:srgbClr val="000000"/>
                  </a:solidFill>
                  <a:latin typeface="Times New Roman" pitchFamily="18" charset="0"/>
                  <a:ea typeface="돋움" pitchFamily="50" charset="-127"/>
                  <a:cs typeface="Times New Roman" pitchFamily="18" charset="0"/>
                </a:rPr>
                <a:t>Involute Spline</a:t>
              </a:r>
              <a:endParaRPr lang="ko-KR" altLang="en-US" sz="950">
                <a:solidFill>
                  <a:srgbClr val="000000"/>
                </a:solidFill>
                <a:latin typeface="Times New Roman" pitchFamily="18" charset="0"/>
                <a:ea typeface="돋움" pitchFamily="50" charset="-127"/>
                <a:cs typeface="Times New Roman" pitchFamily="18" charset="0"/>
              </a:endParaRPr>
            </a:p>
          </p:txBody>
        </p:sp>
        <p:pic>
          <p:nvPicPr>
            <p:cNvPr id="21"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6781" y="2907650"/>
              <a:ext cx="68418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2" name="Rectangle 87"/>
          <p:cNvSpPr>
            <a:spLocks noChangeArrowheads="1"/>
          </p:cNvSpPr>
          <p:nvPr/>
        </p:nvSpPr>
        <p:spPr bwMode="auto">
          <a:xfrm>
            <a:off x="3464051" y="8621464"/>
            <a:ext cx="3193116"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solidFill>
                  <a:srgbClr val="000000"/>
                </a:solidFill>
                <a:latin typeface="Times New Roman" pitchFamily="18" charset="0"/>
                <a:ea typeface="돋움" pitchFamily="50" charset="-127"/>
                <a:cs typeface="Times New Roman" pitchFamily="18" charset="0"/>
              </a:rPr>
              <a:t>8</a:t>
            </a:r>
            <a:r>
              <a:rPr lang="en-US" altLang="ko-KR" sz="950" smtClean="0">
                <a:solidFill>
                  <a:srgbClr val="000000"/>
                </a:solidFill>
                <a:latin typeface="Times New Roman" pitchFamily="18" charset="0"/>
                <a:ea typeface="돋움" pitchFamily="50" charset="-127"/>
                <a:cs typeface="Times New Roman" pitchFamily="18" charset="0"/>
              </a:rPr>
              <a:t>0</a:t>
            </a:r>
            <a:r>
              <a:rPr lang="en-US" altLang="ko-KR" sz="950">
                <a:solidFill>
                  <a:srgbClr val="000000"/>
                </a:solidFill>
                <a:latin typeface="Times New Roman" pitchFamily="18" charset="0"/>
                <a:ea typeface="돋움" pitchFamily="50" charset="-127"/>
                <a:cs typeface="Times New Roman" pitchFamily="18" charset="0"/>
              </a:rPr>
              <a:t>. Loại mỡ chủ yếu được sử dụng trong Cleanroom  và có đặc tính về độ giao động thấp là?</a:t>
            </a:r>
          </a:p>
          <a:p>
            <a:endParaRPr lang="en-US" altLang="ko-KR" sz="950" smtClean="0">
              <a:solidFill>
                <a:srgbClr val="000000"/>
              </a:solidFill>
              <a:latin typeface="Times New Roman" pitchFamily="18" charset="0"/>
              <a:ea typeface="돋움" pitchFamily="50" charset="-127"/>
              <a:cs typeface="Times New Roman" pitchFamily="18" charset="0"/>
            </a:endParaRPr>
          </a:p>
          <a:p>
            <a:r>
              <a:rPr lang="en-US" altLang="ko-KR" sz="950" smtClean="0">
                <a:solidFill>
                  <a:srgbClr val="000000"/>
                </a:solidFill>
                <a:latin typeface="Times New Roman" pitchFamily="18" charset="0"/>
                <a:ea typeface="돋움" pitchFamily="50" charset="-127"/>
                <a:cs typeface="Times New Roman" pitchFamily="18" charset="0"/>
              </a:rPr>
              <a:t>A. </a:t>
            </a:r>
            <a:r>
              <a:rPr lang="en-US" altLang="ko-KR" sz="950">
                <a:solidFill>
                  <a:srgbClr val="000000"/>
                </a:solidFill>
                <a:latin typeface="Times New Roman" pitchFamily="18" charset="0"/>
                <a:ea typeface="돋움" pitchFamily="50" charset="-127"/>
                <a:cs typeface="Times New Roman" pitchFamily="18" charset="0"/>
              </a:rPr>
              <a:t>AFA         </a:t>
            </a:r>
            <a:r>
              <a:rPr lang="en-US" altLang="ko-KR" sz="950" smtClean="0">
                <a:solidFill>
                  <a:srgbClr val="000000"/>
                </a:solidFill>
                <a:latin typeface="Times New Roman" pitchFamily="18" charset="0"/>
                <a:ea typeface="돋움" pitchFamily="50" charset="-127"/>
                <a:cs typeface="Times New Roman" pitchFamily="18" charset="0"/>
              </a:rPr>
              <a:t>B. </a:t>
            </a:r>
            <a:r>
              <a:rPr lang="en-US" altLang="ko-KR" sz="950">
                <a:solidFill>
                  <a:srgbClr val="000000"/>
                </a:solidFill>
                <a:latin typeface="Times New Roman" pitchFamily="18" charset="0"/>
                <a:ea typeface="돋움" pitchFamily="50" charset="-127"/>
                <a:cs typeface="Times New Roman" pitchFamily="18" charset="0"/>
              </a:rPr>
              <a:t>AFB         </a:t>
            </a:r>
            <a:r>
              <a:rPr lang="en-US" altLang="ko-KR" sz="950" smtClean="0">
                <a:solidFill>
                  <a:srgbClr val="000000"/>
                </a:solidFill>
                <a:latin typeface="Times New Roman" pitchFamily="18" charset="0"/>
                <a:ea typeface="돋움" pitchFamily="50" charset="-127"/>
                <a:cs typeface="Times New Roman" pitchFamily="18" charset="0"/>
              </a:rPr>
              <a:t>C. </a:t>
            </a:r>
            <a:r>
              <a:rPr lang="en-US" altLang="ko-KR" sz="950">
                <a:solidFill>
                  <a:srgbClr val="000000"/>
                </a:solidFill>
                <a:latin typeface="Times New Roman" pitchFamily="18" charset="0"/>
                <a:ea typeface="돋움" pitchFamily="50" charset="-127"/>
                <a:cs typeface="Times New Roman" pitchFamily="18" charset="0"/>
              </a:rPr>
              <a:t>AFC          </a:t>
            </a:r>
            <a:r>
              <a:rPr lang="en-US" altLang="ko-KR" sz="950" smtClean="0">
                <a:solidFill>
                  <a:srgbClr val="FF0000"/>
                </a:solidFill>
                <a:latin typeface="Times New Roman" pitchFamily="18" charset="0"/>
                <a:ea typeface="돋움" pitchFamily="50" charset="-127"/>
                <a:cs typeface="Times New Roman" pitchFamily="18" charset="0"/>
              </a:rPr>
              <a:t>D. </a:t>
            </a:r>
            <a:r>
              <a:rPr lang="en-US" altLang="ko-KR" sz="950">
                <a:solidFill>
                  <a:srgbClr val="FF0000"/>
                </a:solidFill>
                <a:latin typeface="Times New Roman" pitchFamily="18" charset="0"/>
                <a:ea typeface="돋움" pitchFamily="50" charset="-127"/>
                <a:cs typeface="Times New Roman" pitchFamily="18" charset="0"/>
              </a:rPr>
              <a:t>AFE</a:t>
            </a:r>
          </a:p>
        </p:txBody>
      </p:sp>
    </p:spTree>
    <p:extLst>
      <p:ext uri="{BB962C8B-B14F-4D97-AF65-F5344CB8AC3E}">
        <p14:creationId xmlns:p14="http://schemas.microsoft.com/office/powerpoint/2010/main" val="35025104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2573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60" name="Rectangle 7"/>
          <p:cNvSpPr>
            <a:spLocks noChangeArrowheads="1"/>
          </p:cNvSpPr>
          <p:nvPr/>
        </p:nvSpPr>
        <p:spPr bwMode="auto">
          <a:xfrm>
            <a:off x="188640" y="394488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 </a:t>
            </a:r>
            <a:r>
              <a:rPr lang="vi-VN" altLang="ko-KR" sz="950">
                <a:latin typeface="Times New Roman" pitchFamily="18" charset="0"/>
                <a:ea typeface="LG Smart_H Regular" panose="020B0600000101010101" pitchFamily="34" charset="-127"/>
                <a:cs typeface="Times New Roman" pitchFamily="18" charset="0"/>
              </a:rPr>
              <a:t>Giá trị hiệu dụng  (effective value) được tính như thế </a:t>
            </a:r>
            <a:r>
              <a:rPr lang="vi-VN" altLang="ko-KR" sz="950" smtClean="0">
                <a:latin typeface="Times New Roman" pitchFamily="18" charset="0"/>
                <a:ea typeface="LG Smart_H Regular" panose="020B0600000101010101" pitchFamily="34" charset="-127"/>
                <a:cs typeface="Times New Roman" pitchFamily="18" charset="0"/>
              </a:rPr>
              <a:t>nào</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0.638 </a:t>
            </a:r>
            <a:r>
              <a:rPr lang="en-US" altLang="ko-KR" sz="950">
                <a:latin typeface="Times New Roman" pitchFamily="18" charset="0"/>
                <a:ea typeface="LG Smart_H Regular" panose="020B0600000101010101" pitchFamily="34" charset="-127"/>
                <a:cs typeface="Times New Roman" pitchFamily="18" charset="0"/>
              </a:rPr>
              <a:t>x VP_P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0.637 x </a:t>
            </a:r>
            <a:r>
              <a:rPr lang="en-US" altLang="ko-KR" sz="950" smtClean="0">
                <a:latin typeface="Times New Roman" pitchFamily="18" charset="0"/>
                <a:ea typeface="LG Smart_H Regular" panose="020B0600000101010101" pitchFamily="34" charset="-127"/>
                <a:cs typeface="Times New Roman" pitchFamily="18" charset="0"/>
              </a:rPr>
              <a:t>VP</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0.707 x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VP</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0.708 x VP_P</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116632" y="4953000"/>
            <a:ext cx="3384376"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Phóng xung điện của hạt nhân. Vậy (B) là hiện tượng 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solidFill>
                  <a:srgbClr val="FF0000"/>
                </a:solidFill>
                <a:latin typeface="Times New Roman" pitchFamily="18" charset="0"/>
                <a:ea typeface="LG Smart_H Regular" panose="020B0600000101010101" pitchFamily="34" charset="-127"/>
                <a:cs typeface="Times New Roman" pitchFamily="18" charset="0"/>
              </a:rPr>
              <a:t>Kích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thích</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(Excitation)</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en-US" altLang="ko-KR" sz="950">
                <a:latin typeface="Times New Roman" pitchFamily="18" charset="0"/>
                <a:ea typeface="LG Smart_H Regular" panose="020B0600000101010101" pitchFamily="34" charset="-127"/>
                <a:cs typeface="Times New Roman" pitchFamily="18" charset="0"/>
              </a:rPr>
              <a:t>I-ôn hóa (Ionization</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tabLst>
                <a:tab pos="228600" algn="l"/>
              </a:tabLst>
            </a:pPr>
            <a:r>
              <a:rPr lang="vi-VN" altLang="ko-KR" sz="950" smtClean="0">
                <a:latin typeface="Times New Roman" pitchFamily="18" charset="0"/>
                <a:ea typeface="LG Smart_H Regular" panose="020B0600000101010101" pitchFamily="34" charset="-127"/>
                <a:cs typeface="Times New Roman" pitchFamily="18" charset="0"/>
              </a:rPr>
              <a:t>Phóng </a:t>
            </a:r>
            <a:r>
              <a:rPr lang="vi-VN" altLang="ko-KR" sz="950">
                <a:latin typeface="Times New Roman" pitchFamily="18" charset="0"/>
                <a:ea typeface="LG Smart_H Regular" panose="020B0600000101010101" pitchFamily="34" charset="-127"/>
                <a:cs typeface="Times New Roman" pitchFamily="18" charset="0"/>
              </a:rPr>
              <a:t>xung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Lượng tử ánh sáng(Proton)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9" name="Rectangle 7"/>
          <p:cNvSpPr>
            <a:spLocks noChangeArrowheads="1"/>
          </p:cNvSpPr>
          <p:nvPr/>
        </p:nvSpPr>
        <p:spPr bwMode="auto">
          <a:xfrm>
            <a:off x="3448472" y="2685182"/>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 </a:t>
            </a:r>
            <a:r>
              <a:rPr lang="vi-VN" altLang="ko-KR" sz="950">
                <a:latin typeface="Times New Roman" pitchFamily="18" charset="0"/>
                <a:ea typeface="LG Smart_H Regular" panose="020B0600000101010101" pitchFamily="34" charset="-127"/>
                <a:cs typeface="Times New Roman" pitchFamily="18" charset="0"/>
              </a:rPr>
              <a:t>Chọn đáp án đúng cho ký </a:t>
            </a:r>
            <a:r>
              <a:rPr lang="vi-VN" altLang="ko-KR" sz="950" smtClean="0">
                <a:latin typeface="Times New Roman" pitchFamily="18" charset="0"/>
                <a:ea typeface="LG Smart_H Regular" panose="020B0600000101010101" pitchFamily="34" charset="-127"/>
                <a:cs typeface="Times New Roman" pitchFamily="18" charset="0"/>
              </a:rPr>
              <a:t>hiệu</a:t>
            </a:r>
            <a:r>
              <a:rPr lang="en-US" altLang="ko-KR" sz="950" smtClean="0">
                <a:latin typeface="Times New Roman" pitchFamily="18" charset="0"/>
                <a:ea typeface="LG Smart_H Regular" panose="020B0600000101010101" pitchFamily="34" charset="-127"/>
                <a:cs typeface="Times New Roman" pitchFamily="18" charset="0"/>
              </a:rPr>
              <a:t> hệ số cố định (hằng số điện môi)</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C</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F</a:t>
            </a: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K</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3" name="Rectangle 7"/>
          <p:cNvSpPr>
            <a:spLocks noChangeArrowheads="1"/>
          </p:cNvSpPr>
          <p:nvPr/>
        </p:nvSpPr>
        <p:spPr bwMode="auto">
          <a:xfrm>
            <a:off x="3429000" y="643177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Đâu không là đặc tính của </a:t>
            </a:r>
            <a:r>
              <a:rPr lang="vi-VN" altLang="ko-KR" sz="950" smtClean="0">
                <a:latin typeface="Times New Roman" pitchFamily="18" charset="0"/>
                <a:ea typeface="LG Smart_H Regular" panose="020B0600000101010101" pitchFamily="34" charset="-127"/>
                <a:cs typeface="Times New Roman" pitchFamily="18" charset="0"/>
              </a:rPr>
              <a:t>SSR?</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Ít ồn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Chức năng thông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thường</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Không tiếng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 tin cậy cao</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76" name="Rectangle 7"/>
          <p:cNvSpPr>
            <a:spLocks noChangeArrowheads="1"/>
          </p:cNvSpPr>
          <p:nvPr/>
        </p:nvSpPr>
        <p:spPr bwMode="auto">
          <a:xfrm>
            <a:off x="3439885" y="8155612"/>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 </a:t>
            </a:r>
            <a:r>
              <a:rPr lang="vi-VN" altLang="ko-KR" sz="950">
                <a:latin typeface="Times New Roman" pitchFamily="18" charset="0"/>
                <a:ea typeface="LG Smart_H Regular" panose="020B0600000101010101" pitchFamily="34" charset="-127"/>
                <a:cs typeface="Times New Roman" pitchFamily="18" charset="0"/>
              </a:rPr>
              <a:t>Đây là ứng dụng của cảm biến nào</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"Có loại từ tính có sử dụng nam châm, loại dao động cao tần, loại cảm biến điện dung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Cảm biến không tiếp xúc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Cảm biến </a:t>
            </a:r>
            <a:r>
              <a:rPr lang="vi-VN" altLang="ko-KR" sz="950" smtClean="0">
                <a:latin typeface="Times New Roman" pitchFamily="18" charset="0"/>
                <a:ea typeface="LG Smart_H Regular" panose="020B0600000101010101" pitchFamily="34" charset="-127"/>
                <a:cs typeface="Times New Roman" pitchFamily="18" charset="0"/>
              </a:rPr>
              <a:t>quang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Cảm biến lưu </a:t>
            </a:r>
            <a:r>
              <a:rPr lang="vi-VN" altLang="ko-KR" sz="950" smtClean="0">
                <a:latin typeface="Times New Roman" pitchFamily="18" charset="0"/>
                <a:ea typeface="LG Smart_H Regular" panose="020B0600000101010101" pitchFamily="34" charset="-127"/>
                <a:cs typeface="Times New Roman" pitchFamily="18" charset="0"/>
              </a:rPr>
              <a:t>lượng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Cảm biến áp suất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7" name="Rectangle 7"/>
          <p:cNvSpPr>
            <a:spLocks noChangeArrowheads="1"/>
          </p:cNvSpPr>
          <p:nvPr/>
        </p:nvSpPr>
        <p:spPr bwMode="auto">
          <a:xfrm>
            <a:off x="184076" y="7509718"/>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4</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Cầu giao chống rò điện </a:t>
            </a:r>
            <a:r>
              <a:rPr lang="en-US" altLang="ko-KR" sz="950" smtClean="0">
                <a:latin typeface="Times New Roman" pitchFamily="18" charset="0"/>
                <a:ea typeface="LG Smart_H Regular" panose="020B0600000101010101" pitchFamily="34" charset="-127"/>
                <a:cs typeface="Times New Roman" pitchFamily="18" charset="0"/>
              </a:rPr>
              <a:t>được viết tắt </a:t>
            </a:r>
            <a:r>
              <a:rPr lang="vi-VN" altLang="ko-KR" sz="950" smtClean="0">
                <a:latin typeface="Times New Roman" pitchFamily="18" charset="0"/>
                <a:ea typeface="LG Smart_H Regular" panose="020B0600000101010101" pitchFamily="34" charset="-127"/>
                <a:cs typeface="Times New Roman" pitchFamily="18" charset="0"/>
              </a:rPr>
              <a:t>là </a:t>
            </a:r>
            <a:r>
              <a:rPr lang="vi-VN" altLang="ko-KR" sz="950">
                <a:latin typeface="Times New Roman" pitchFamily="18" charset="0"/>
                <a:ea typeface="LG Smart_H Regular" panose="020B0600000101010101" pitchFamily="34" charset="-127"/>
                <a:cs typeface="Times New Roman" pitchFamily="18" charset="0"/>
              </a:rPr>
              <a:t>loại nào sau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MELB</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MCCB</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ELB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ELCC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9" name="Rectangle 7"/>
          <p:cNvSpPr>
            <a:spLocks noChangeArrowheads="1"/>
          </p:cNvSpPr>
          <p:nvPr/>
        </p:nvSpPr>
        <p:spPr bwMode="auto">
          <a:xfrm>
            <a:off x="188640" y="1136576"/>
            <a:ext cx="3239810" cy="2723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1</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Nhìn vào mức năng lượng điện tử trong hình vẽ. Vậy A là </a:t>
            </a:r>
            <a:r>
              <a:rPr lang="vi-VN" altLang="ko-KR" sz="950" smtClean="0">
                <a:latin typeface="Times New Roman" pitchFamily="18" charset="0"/>
                <a:ea typeface="LG Smart_H Regular" panose="020B0600000101010101" pitchFamily="34" charset="-127"/>
                <a:cs typeface="Times New Roman" pitchFamily="18" charset="0"/>
              </a:rPr>
              <a:t>gì? </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Mức Fermi(Fermi </a:t>
            </a:r>
            <a:r>
              <a:rPr lang="en-US" altLang="ko-KR" sz="950" smtClean="0">
                <a:latin typeface="Times New Roman" pitchFamily="18" charset="0"/>
                <a:ea typeface="LG Smart_H Regular" panose="020B0600000101010101" pitchFamily="34" charset="-127"/>
                <a:cs typeface="Times New Roman" pitchFamily="18" charset="0"/>
              </a:rPr>
              <a:t>level)</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Mức cơ bản(Mức nền)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Mức thoát ra = </a:t>
            </a:r>
            <a:r>
              <a:rPr lang="vi-VN" altLang="ko-KR" sz="950" smtClean="0">
                <a:latin typeface="Times New Roman" pitchFamily="18" charset="0"/>
                <a:ea typeface="LG Smart_H Regular" panose="020B0600000101010101" pitchFamily="34" charset="-127"/>
                <a:cs typeface="Times New Roman" pitchFamily="18" charset="0"/>
              </a:rPr>
              <a:t>0</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Hạt nhân nguyên tử</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8" name="Rectangle 7"/>
          <p:cNvSpPr>
            <a:spLocks noChangeArrowheads="1"/>
          </p:cNvSpPr>
          <p:nvPr/>
        </p:nvSpPr>
        <p:spPr bwMode="auto">
          <a:xfrm>
            <a:off x="162099" y="8409384"/>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Mối liên quan giữa khối lượng của hạt điện tích dương và </a:t>
            </a:r>
            <a:r>
              <a:rPr lang="vi-VN" altLang="ko-KR" sz="950" smtClean="0">
                <a:latin typeface="Times New Roman" pitchFamily="18" charset="0"/>
                <a:ea typeface="LG Smart_H Regular" panose="020B0600000101010101" pitchFamily="34" charset="-127"/>
                <a:cs typeface="Times New Roman" pitchFamily="18" charset="0"/>
              </a:rPr>
              <a:t>Electron?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Gấp </a:t>
            </a:r>
            <a:r>
              <a:rPr lang="vi-VN" altLang="ko-KR" sz="950">
                <a:solidFill>
                  <a:srgbClr val="FF0000"/>
                </a:solidFill>
                <a:latin typeface="Times New Roman" pitchFamily="18" charset="0"/>
                <a:ea typeface="LG Smart_H Regular" panose="020B0600000101010101" pitchFamily="34" charset="-127"/>
                <a:cs typeface="Times New Roman" pitchFamily="18" charset="0"/>
              </a:rPr>
              <a:t>khoảng 1840 lần hạt electron</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Gấp khoảng 1248 lần hạt electron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Gấp khoảng 1428 lần hạt electron</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Gấp khoảng 1842 lần hạt electron.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1" name="Rectangle 7"/>
          <p:cNvSpPr>
            <a:spLocks noChangeArrowheads="1"/>
          </p:cNvSpPr>
          <p:nvPr/>
        </p:nvSpPr>
        <p:spPr bwMode="auto">
          <a:xfrm>
            <a:off x="3429000" y="1175192"/>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Risk Point là gì trong chú ý khi đấu nối thiết </a:t>
            </a:r>
            <a:r>
              <a:rPr lang="vi-VN" altLang="ko-KR" sz="950" smtClean="0">
                <a:latin typeface="Times New Roman" pitchFamily="18" charset="0"/>
                <a:ea typeface="LG Smart_H Regular" panose="020B0600000101010101" pitchFamily="34" charset="-127"/>
                <a:cs typeface="Times New Roman" pitchFamily="18" charset="0"/>
              </a:rPr>
              <a:t>bị?</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Điểm </a:t>
            </a:r>
            <a:r>
              <a:rPr lang="vi-VN" altLang="ko-KR" sz="950">
                <a:latin typeface="Times New Roman" pitchFamily="18" charset="0"/>
                <a:ea typeface="LG Smart_H Regular" panose="020B0600000101010101" pitchFamily="34" charset="-127"/>
                <a:cs typeface="Times New Roman" pitchFamily="18" charset="0"/>
              </a:rPr>
              <a:t>rò </a:t>
            </a:r>
            <a:r>
              <a:rPr lang="vi-VN" altLang="ko-KR" sz="950" smtClean="0">
                <a:latin typeface="Times New Roman" pitchFamily="18" charset="0"/>
                <a:ea typeface="LG Smart_H Regular" panose="020B0600000101010101" pitchFamily="34" charset="-127"/>
                <a:cs typeface="Times New Roman" pitchFamily="18" charset="0"/>
              </a:rPr>
              <a:t>rỉ</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Trung </a:t>
            </a:r>
            <a:r>
              <a:rPr lang="vi-VN" altLang="ko-KR" sz="950" smtClean="0">
                <a:latin typeface="Times New Roman" pitchFamily="18" charset="0"/>
                <a:ea typeface="LG Smart_H Regular" panose="020B0600000101010101" pitchFamily="34" charset="-127"/>
                <a:cs typeface="Times New Roman" pitchFamily="18" charset="0"/>
              </a:rPr>
              <a:t>Điểm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Điểm an </a:t>
            </a:r>
            <a:r>
              <a:rPr lang="en-US" altLang="ko-KR" sz="950" smtClean="0">
                <a:latin typeface="Times New Roman" pitchFamily="18" charset="0"/>
                <a:ea typeface="LG Smart_H Regular" panose="020B0600000101010101" pitchFamily="34" charset="-127"/>
                <a:cs typeface="Times New Roman" pitchFamily="18" charset="0"/>
              </a:rPr>
              <a:t>toàn</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Điểm nguy hiểm</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26" name="Group 25"/>
          <p:cNvGrpSpPr/>
          <p:nvPr/>
        </p:nvGrpSpPr>
        <p:grpSpPr>
          <a:xfrm>
            <a:off x="767067" y="1509149"/>
            <a:ext cx="1797837" cy="1517420"/>
            <a:chOff x="0" y="0"/>
            <a:chExt cx="3491593" cy="2818816"/>
          </a:xfrm>
        </p:grpSpPr>
        <p:pic>
          <p:nvPicPr>
            <p:cNvPr id="27" name="Picture 26"/>
            <p:cNvPicPr>
              <a:picLocks noChangeAspect="1" noChangeArrowheads="1"/>
            </p:cNvPicPr>
            <p:nvPr/>
          </p:nvPicPr>
          <p:blipFill>
            <a:blip r:embed="rId3">
              <a:extLst>
                <a:ext uri="{28A0092B-C50C-407E-A947-70E740481C1C}">
                  <a14:useLocalDpi xmlns:a14="http://schemas.microsoft.com/office/drawing/2010/main" val="0"/>
                </a:ext>
              </a:extLst>
            </a:blip>
            <a:srcRect t="4083"/>
            <a:stretch>
              <a:fillRect/>
            </a:stretch>
          </p:blipFill>
          <p:spPr bwMode="auto">
            <a:xfrm>
              <a:off x="0" y="0"/>
              <a:ext cx="3491593" cy="28188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직사각형 18"/>
            <p:cNvSpPr>
              <a:spLocks noChangeArrowheads="1"/>
            </p:cNvSpPr>
            <p:nvPr/>
          </p:nvSpPr>
          <p:spPr bwMode="auto">
            <a:xfrm>
              <a:off x="44905" y="1319893"/>
              <a:ext cx="476250" cy="394604"/>
            </a:xfrm>
            <a:prstGeom prst="rect">
              <a:avLst/>
            </a:prstGeom>
            <a:solidFill>
              <a:schemeClr val="bg1"/>
            </a:solidFill>
            <a:ln w="9525" algn="ctr">
              <a:solidFill>
                <a:schemeClr val="tx1"/>
              </a:solidFill>
              <a:round/>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r>
                <a:rPr lang="vi-VN" altLang="ko-KR" sz="1100" b="1">
                  <a:latin typeface="Times New Roman" pitchFamily="18" charset="0"/>
                  <a:cs typeface="Times New Roman" pitchFamily="18" charset="0"/>
                </a:rPr>
                <a:t>A</a:t>
              </a:r>
              <a:endParaRPr lang="ko-KR" altLang="en-US" sz="1100" b="1">
                <a:latin typeface="Times New Roman" pitchFamily="18" charset="0"/>
                <a:cs typeface="Times New Roman" pitchFamily="18" charset="0"/>
              </a:endParaRPr>
            </a:p>
          </p:txBody>
        </p:sp>
      </p:grpSp>
      <p:grpSp>
        <p:nvGrpSpPr>
          <p:cNvPr id="29" name="Group 28"/>
          <p:cNvGrpSpPr/>
          <p:nvPr/>
        </p:nvGrpSpPr>
        <p:grpSpPr>
          <a:xfrm>
            <a:off x="764701" y="5243401"/>
            <a:ext cx="2232251" cy="1365783"/>
            <a:chOff x="0" y="0"/>
            <a:chExt cx="3738996" cy="2525856"/>
          </a:xfrm>
        </p:grpSpPr>
        <p:pic>
          <p:nvPicPr>
            <p:cNvPr id="30" name="Picture 29"/>
            <p:cNvPicPr>
              <a:picLocks noChangeAspect="1" noChangeArrowheads="1"/>
            </p:cNvPicPr>
            <p:nvPr/>
          </p:nvPicPr>
          <p:blipFill>
            <a:blip r:embed="rId4">
              <a:extLst>
                <a:ext uri="{28A0092B-C50C-407E-A947-70E740481C1C}">
                  <a14:useLocalDpi xmlns:a14="http://schemas.microsoft.com/office/drawing/2010/main" val="0"/>
                </a:ext>
              </a:extLst>
            </a:blip>
            <a:srcRect l="3677" t="6573"/>
            <a:stretch>
              <a:fillRect/>
            </a:stretch>
          </p:blipFill>
          <p:spPr bwMode="auto">
            <a:xfrm>
              <a:off x="0" y="0"/>
              <a:ext cx="3738996" cy="25258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직사각형 12"/>
            <p:cNvSpPr>
              <a:spLocks noChangeArrowheads="1"/>
            </p:cNvSpPr>
            <p:nvPr/>
          </p:nvSpPr>
          <p:spPr bwMode="auto">
            <a:xfrm>
              <a:off x="396244" y="1117364"/>
              <a:ext cx="448050" cy="366616"/>
            </a:xfrm>
            <a:prstGeom prst="rect">
              <a:avLst/>
            </a:prstGeom>
            <a:solidFill>
              <a:schemeClr val="bg1"/>
            </a:solidFill>
            <a:ln w="9525" algn="ctr">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endParaRPr lang="ko-KR" altLang="en-US" sz="1100" b="1">
                <a:latin typeface="Times New Roman" pitchFamily="18" charset="0"/>
                <a:cs typeface="Times New Roman" pitchFamily="18" charset="0"/>
              </a:endParaRPr>
            </a:p>
          </p:txBody>
        </p:sp>
        <p:sp>
          <p:nvSpPr>
            <p:cNvPr id="32" name="직사각형 13"/>
            <p:cNvSpPr>
              <a:spLocks noChangeArrowheads="1"/>
            </p:cNvSpPr>
            <p:nvPr/>
          </p:nvSpPr>
          <p:spPr bwMode="auto">
            <a:xfrm>
              <a:off x="1193224" y="412454"/>
              <a:ext cx="407843" cy="329046"/>
            </a:xfrm>
            <a:prstGeom prst="rect">
              <a:avLst/>
            </a:prstGeom>
            <a:solidFill>
              <a:schemeClr val="bg1"/>
            </a:solidFill>
            <a:ln w="9525" algn="ctr">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endParaRPr lang="ko-KR" altLang="en-US" sz="1100" b="1">
                <a:latin typeface="Times New Roman" pitchFamily="18" charset="0"/>
                <a:cs typeface="Times New Roman" pitchFamily="18" charset="0"/>
              </a:endParaRPr>
            </a:p>
          </p:txBody>
        </p:sp>
        <p:sp>
          <p:nvSpPr>
            <p:cNvPr id="33" name="직사각형 14"/>
            <p:cNvSpPr>
              <a:spLocks noChangeArrowheads="1"/>
            </p:cNvSpPr>
            <p:nvPr/>
          </p:nvSpPr>
          <p:spPr bwMode="auto">
            <a:xfrm>
              <a:off x="555048" y="66092"/>
              <a:ext cx="343765" cy="354155"/>
            </a:xfrm>
            <a:prstGeom prst="rect">
              <a:avLst/>
            </a:prstGeom>
            <a:solidFill>
              <a:schemeClr val="bg1"/>
            </a:solidFill>
            <a:ln w="9525" algn="ctr">
              <a:solidFill>
                <a:schemeClr val="tx1"/>
              </a:solidFill>
              <a:round/>
              <a:headEnd/>
              <a:tailEnd/>
            </a:ln>
          </p:spPr>
          <p:txBody>
            <a:bodyPr wrap="square"/>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eaLnBrk="1" hangingPunct="1"/>
              <a:r>
                <a:rPr lang="vi-VN" altLang="ko-KR" sz="1100" b="1">
                  <a:latin typeface="Times New Roman" pitchFamily="18" charset="0"/>
                  <a:cs typeface="Times New Roman" pitchFamily="18" charset="0"/>
                </a:rPr>
                <a:t>B</a:t>
              </a:r>
              <a:endParaRPr lang="ko-KR" altLang="en-US" sz="1100" b="1">
                <a:latin typeface="Times New Roman" pitchFamily="18" charset="0"/>
                <a:cs typeface="Times New Roman" pitchFamily="18" charset="0"/>
              </a:endParaRPr>
            </a:p>
          </p:txBody>
        </p:sp>
      </p:grpSp>
      <p:grpSp>
        <p:nvGrpSpPr>
          <p:cNvPr id="2" name="Group 1"/>
          <p:cNvGrpSpPr/>
          <p:nvPr/>
        </p:nvGrpSpPr>
        <p:grpSpPr>
          <a:xfrm>
            <a:off x="3448472" y="4647602"/>
            <a:ext cx="3239810" cy="1025478"/>
            <a:chOff x="3448472" y="4199528"/>
            <a:chExt cx="3239810" cy="1025478"/>
          </a:xfrm>
        </p:grpSpPr>
        <p:sp>
          <p:nvSpPr>
            <p:cNvPr id="70" name="Rectangle 7"/>
            <p:cNvSpPr>
              <a:spLocks noChangeArrowheads="1"/>
            </p:cNvSpPr>
            <p:nvPr/>
          </p:nvSpPr>
          <p:spPr bwMode="auto">
            <a:xfrm>
              <a:off x="3448472" y="419952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8. </a:t>
              </a:r>
              <a:r>
                <a:rPr lang="vi-VN" altLang="ko-KR" sz="950">
                  <a:latin typeface="Times New Roman" pitchFamily="18" charset="0"/>
                  <a:ea typeface="LG Smart_H Regular" panose="020B0600000101010101" pitchFamily="34" charset="-127"/>
                  <a:cs typeface="Times New Roman" pitchFamily="18" charset="0"/>
                </a:rPr>
                <a:t>Chọn đáp án đúng cho mạch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Smoothing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circuit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Timer </a:t>
              </a:r>
              <a:r>
                <a:rPr lang="en-US" altLang="ko-KR" sz="950" smtClean="0">
                  <a:latin typeface="Times New Roman" pitchFamily="18" charset="0"/>
                  <a:ea typeface="LG Smart_H Regular" panose="020B0600000101010101" pitchFamily="34" charset="-127"/>
                  <a:cs typeface="Times New Roman" pitchFamily="18" charset="0"/>
                </a:rPr>
                <a:t>circuit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Low-pass </a:t>
              </a:r>
              <a:r>
                <a:rPr lang="en-US" altLang="ko-KR" sz="950" smtClean="0">
                  <a:latin typeface="Times New Roman" pitchFamily="18" charset="0"/>
                  <a:ea typeface="LG Smart_H Regular" panose="020B0600000101010101" pitchFamily="34" charset="-127"/>
                  <a:cs typeface="Times New Roman" pitchFamily="18" charset="0"/>
                </a:rPr>
                <a:t>Filter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High-pass Filter</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34" name="Picture 3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09370" y="4448944"/>
              <a:ext cx="1815974" cy="776062"/>
            </a:xfrm>
            <a:prstGeom prst="rect">
              <a:avLst/>
            </a:prstGeom>
          </p:spPr>
        </p:pic>
      </p:grpSp>
    </p:spTree>
    <p:extLst>
      <p:ext uri="{BB962C8B-B14F-4D97-AF65-F5344CB8AC3E}">
        <p14:creationId xmlns:p14="http://schemas.microsoft.com/office/powerpoint/2010/main" val="8594007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3752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4100" name="Rectangle 4"/>
          <p:cNvSpPr>
            <a:spLocks noChangeArrowheads="1"/>
          </p:cNvSpPr>
          <p:nvPr/>
        </p:nvSpPr>
        <p:spPr bwMode="auto">
          <a:xfrm>
            <a:off x="3460960" y="776288"/>
            <a:ext cx="324383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 name="Rectangle 464"/>
          <p:cNvSpPr>
            <a:spLocks noChangeArrowheads="1"/>
          </p:cNvSpPr>
          <p:nvPr/>
        </p:nvSpPr>
        <p:spPr bwMode="auto">
          <a:xfrm>
            <a:off x="178813" y="1114073"/>
            <a:ext cx="3318537" cy="23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fontAlgn="ctr" hangingPunct="1"/>
            <a:r>
              <a:rPr lang="en-US" altLang="ko-KR" sz="950" smtClean="0">
                <a:latin typeface="Arial" pitchFamily="34" charset="0"/>
                <a:cs typeface="Arial" panose="020B0604020202020204" pitchFamily="34" charset="0"/>
              </a:rPr>
              <a:t>11</a:t>
            </a:r>
            <a:r>
              <a:rPr lang="en-US" altLang="ko-KR" sz="950" dirty="0">
                <a:latin typeface="Arial"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Chọn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đáp</a:t>
            </a:r>
            <a:r>
              <a:rPr lang="en-US" altLang="ko-KR" sz="950" dirty="0" smtClean="0">
                <a:latin typeface="Arial" panose="020B0604020202020204" pitchFamily="34" charset="0"/>
                <a:cs typeface="Arial" panose="020B0604020202020204" pitchFamily="34" charset="0"/>
              </a:rPr>
              <a:t> </a:t>
            </a:r>
            <a:r>
              <a:rPr lang="en-US" altLang="ko-KR" sz="950" err="1" smtClean="0">
                <a:latin typeface="Arial" panose="020B0604020202020204" pitchFamily="34" charset="0"/>
                <a:cs typeface="Arial" panose="020B0604020202020204" pitchFamily="34" charset="0"/>
              </a:rPr>
              <a:t>án</a:t>
            </a:r>
            <a:r>
              <a:rPr lang="en-US" altLang="ko-KR" sz="950" smtClean="0">
                <a:latin typeface="Arial" panose="020B0604020202020204" pitchFamily="34" charset="0"/>
                <a:cs typeface="Arial" panose="020B0604020202020204" pitchFamily="34" charset="0"/>
              </a:rPr>
              <a:t> nào sai </a:t>
            </a:r>
            <a:r>
              <a:rPr lang="en-US" altLang="ko-KR" sz="950" dirty="0" err="1" smtClean="0">
                <a:latin typeface="Arial" panose="020B0604020202020204" pitchFamily="34" charset="0"/>
                <a:cs typeface="Arial" panose="020B0604020202020204" pitchFamily="34" charset="0"/>
              </a:rPr>
              <a:t>với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nội</a:t>
            </a:r>
            <a:r>
              <a:rPr lang="en-US" altLang="ko-KR" sz="950" dirty="0" smtClean="0">
                <a:latin typeface="Arial" panose="020B0604020202020204" pitchFamily="34" charset="0"/>
                <a:cs typeface="Arial" panose="020B0604020202020204" pitchFamily="34" charset="0"/>
              </a:rPr>
              <a:t> dung </a:t>
            </a:r>
            <a:r>
              <a:rPr lang="en-US" altLang="ko-KR" sz="950" dirty="0" err="1" smtClean="0">
                <a:latin typeface="Arial" panose="020B0604020202020204" pitchFamily="34" charset="0"/>
                <a:cs typeface="Arial" panose="020B0604020202020204" pitchFamily="34" charset="0"/>
              </a:rPr>
              <a:t>cấu</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trúc</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nguyên</a:t>
            </a:r>
            <a:r>
              <a:rPr lang="en-US" altLang="ko-KR" sz="950" dirty="0" smtClean="0">
                <a:latin typeface="Arial" panose="020B0604020202020204" pitchFamily="34" charset="0"/>
                <a:cs typeface="Arial" panose="020B0604020202020204" pitchFamily="34" charset="0"/>
              </a:rPr>
              <a:t> </a:t>
            </a:r>
            <a:r>
              <a:rPr lang="en-US" altLang="ko-KR" sz="950" err="1" smtClean="0">
                <a:latin typeface="Arial" panose="020B0604020202020204" pitchFamily="34" charset="0"/>
                <a:cs typeface="Arial" panose="020B0604020202020204" pitchFamily="34" charset="0"/>
              </a:rPr>
              <a:t>tử</a:t>
            </a:r>
            <a:r>
              <a:rPr lang="en-US" altLang="ko-KR" sz="950" smtClean="0">
                <a:latin typeface="Arial" panose="020B0604020202020204" pitchFamily="34" charset="0"/>
                <a:cs typeface="Arial" panose="020B0604020202020204" pitchFamily="34" charset="0"/>
              </a:rPr>
              <a:t>?</a:t>
            </a:r>
            <a:endParaRPr lang="en-US" altLang="ko-KR" sz="950" dirty="0">
              <a:latin typeface="Arial" panose="020B0604020202020204" pitchFamily="34" charset="0"/>
              <a:cs typeface="Arial" panose="020B0604020202020204" pitchFamily="34" charset="0"/>
            </a:endParaRPr>
          </a:p>
        </p:txBody>
      </p:sp>
      <p:grpSp>
        <p:nvGrpSpPr>
          <p:cNvPr id="31" name="Group 523"/>
          <p:cNvGrpSpPr>
            <a:grpSpLocks/>
          </p:cNvGrpSpPr>
          <p:nvPr/>
        </p:nvGrpSpPr>
        <p:grpSpPr bwMode="auto">
          <a:xfrm>
            <a:off x="118488" y="1450181"/>
            <a:ext cx="3238500" cy="1198563"/>
            <a:chOff x="120" y="839"/>
            <a:chExt cx="2040" cy="876"/>
          </a:xfrm>
        </p:grpSpPr>
        <p:grpSp>
          <p:nvGrpSpPr>
            <p:cNvPr id="32" name="Group 521"/>
            <p:cNvGrpSpPr>
              <a:grpSpLocks/>
            </p:cNvGrpSpPr>
            <p:nvPr/>
          </p:nvGrpSpPr>
          <p:grpSpPr bwMode="auto">
            <a:xfrm>
              <a:off x="120" y="839"/>
              <a:ext cx="2040" cy="876"/>
              <a:chOff x="120" y="915"/>
              <a:chExt cx="2040" cy="876"/>
            </a:xfrm>
          </p:grpSpPr>
          <p:grpSp>
            <p:nvGrpSpPr>
              <p:cNvPr id="34" name="Group 494"/>
              <p:cNvGrpSpPr>
                <a:grpSpLocks/>
              </p:cNvGrpSpPr>
              <p:nvPr/>
            </p:nvGrpSpPr>
            <p:grpSpPr bwMode="auto">
              <a:xfrm>
                <a:off x="120" y="915"/>
                <a:ext cx="2040" cy="876"/>
                <a:chOff x="4" y="156"/>
                <a:chExt cx="513" cy="138"/>
              </a:xfrm>
            </p:grpSpPr>
            <p:sp>
              <p:nvSpPr>
                <p:cNvPr id="40" name="Rectangle 495"/>
                <p:cNvSpPr>
                  <a:spLocks noChangeArrowheads="1"/>
                </p:cNvSpPr>
                <p:nvPr/>
              </p:nvSpPr>
              <p:spPr bwMode="auto">
                <a:xfrm>
                  <a:off x="316" y="187"/>
                  <a:ext cx="201" cy="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itchFamily="34" charset="0"/>
                      <a:cs typeface="Arial" panose="020B0604020202020204" pitchFamily="34" charset="0"/>
                    </a:rPr>
                    <a:t>B.</a:t>
                  </a:r>
                  <a:endParaRPr lang="en-US" altLang="ko-KR" sz="950">
                    <a:latin typeface="Arial" panose="020B0604020202020204" pitchFamily="34" charset="0"/>
                    <a:cs typeface="Arial" panose="020B0604020202020204" pitchFamily="34" charset="0"/>
                  </a:endParaRPr>
                </a:p>
              </p:txBody>
            </p:sp>
            <p:sp>
              <p:nvSpPr>
                <p:cNvPr id="41" name="Rectangle 496"/>
                <p:cNvSpPr>
                  <a:spLocks noChangeArrowheads="1"/>
                </p:cNvSpPr>
                <p:nvPr/>
              </p:nvSpPr>
              <p:spPr bwMode="auto">
                <a:xfrm>
                  <a:off x="132" y="187"/>
                  <a:ext cx="184" cy="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itchFamily="34" charset="0"/>
                      <a:cs typeface="Arial" panose="020B0604020202020204" pitchFamily="34" charset="0"/>
                    </a:rPr>
                    <a:t>A.</a:t>
                  </a:r>
                  <a:endParaRPr lang="en-US" altLang="ko-KR" sz="950">
                    <a:latin typeface="Arial" panose="020B0604020202020204" pitchFamily="34" charset="0"/>
                    <a:cs typeface="Arial" panose="020B0604020202020204" pitchFamily="34" charset="0"/>
                  </a:endParaRPr>
                </a:p>
              </p:txBody>
            </p:sp>
            <p:sp>
              <p:nvSpPr>
                <p:cNvPr id="42" name="Rectangle 497"/>
                <p:cNvSpPr>
                  <a:spLocks noChangeArrowheads="1"/>
                </p:cNvSpPr>
                <p:nvPr/>
              </p:nvSpPr>
              <p:spPr bwMode="auto">
                <a:xfrm>
                  <a:off x="23" y="187"/>
                  <a:ext cx="109" cy="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50" dirty="0" smtClean="0">
                      <a:latin typeface="Arial" panose="020B0604020202020204" pitchFamily="34" charset="0"/>
                      <a:cs typeface="Arial" panose="020B0604020202020204" pitchFamily="34" charset="0"/>
                    </a:rPr>
                    <a:t>Proton</a:t>
                  </a:r>
                  <a:endParaRPr lang="ko-KR" altLang="en-US" sz="950" dirty="0">
                    <a:latin typeface="Arial" panose="020B0604020202020204" pitchFamily="34" charset="0"/>
                    <a:cs typeface="Arial" panose="020B0604020202020204" pitchFamily="34" charset="0"/>
                  </a:endParaRPr>
                </a:p>
              </p:txBody>
            </p:sp>
            <p:sp>
              <p:nvSpPr>
                <p:cNvPr id="43" name="Rectangle 498"/>
                <p:cNvSpPr>
                  <a:spLocks noChangeArrowheads="1"/>
                </p:cNvSpPr>
                <p:nvPr/>
              </p:nvSpPr>
              <p:spPr bwMode="auto">
                <a:xfrm>
                  <a:off x="316" y="217"/>
                  <a:ext cx="201" cy="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itchFamily="34" charset="0"/>
                      <a:cs typeface="Arial" panose="020B0604020202020204" pitchFamily="34" charset="0"/>
                    </a:rPr>
                    <a:t>C.</a:t>
                  </a:r>
                  <a:endParaRPr lang="en-US" altLang="ko-KR" sz="950">
                    <a:latin typeface="Arial" panose="020B0604020202020204" pitchFamily="34" charset="0"/>
                    <a:cs typeface="Arial" panose="020B0604020202020204" pitchFamily="34" charset="0"/>
                  </a:endParaRPr>
                </a:p>
              </p:txBody>
            </p:sp>
            <p:sp>
              <p:nvSpPr>
                <p:cNvPr id="44" name="Rectangle 499"/>
                <p:cNvSpPr>
                  <a:spLocks noChangeArrowheads="1"/>
                </p:cNvSpPr>
                <p:nvPr/>
              </p:nvSpPr>
              <p:spPr bwMode="auto">
                <a:xfrm>
                  <a:off x="132" y="217"/>
                  <a:ext cx="184" cy="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endParaRPr lang="ko-KR" altLang="ko-KR" sz="950">
                    <a:latin typeface="Arial" pitchFamily="34" charset="0"/>
                    <a:cs typeface="Arial" panose="020B0604020202020204" pitchFamily="34" charset="0"/>
                  </a:endParaRPr>
                </a:p>
              </p:txBody>
            </p:sp>
            <p:sp>
              <p:nvSpPr>
                <p:cNvPr id="45" name="Rectangle 500"/>
                <p:cNvSpPr>
                  <a:spLocks noChangeArrowheads="1"/>
                </p:cNvSpPr>
                <p:nvPr/>
              </p:nvSpPr>
              <p:spPr bwMode="auto">
                <a:xfrm>
                  <a:off x="23" y="217"/>
                  <a:ext cx="109" cy="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50" dirty="0" smtClean="0">
                      <a:latin typeface="Arial" panose="020B0604020202020204" pitchFamily="34" charset="0"/>
                      <a:cs typeface="Arial" panose="020B0604020202020204" pitchFamily="34" charset="0"/>
                    </a:rPr>
                    <a:t>Neutron</a:t>
                  </a:r>
                  <a:endParaRPr lang="ko-KR" altLang="en-US" sz="950" dirty="0">
                    <a:latin typeface="Arial" panose="020B0604020202020204" pitchFamily="34" charset="0"/>
                    <a:cs typeface="Arial" panose="020B0604020202020204" pitchFamily="34" charset="0"/>
                  </a:endParaRPr>
                </a:p>
              </p:txBody>
            </p:sp>
            <p:sp>
              <p:nvSpPr>
                <p:cNvPr id="46" name="Rectangle 501"/>
                <p:cNvSpPr>
                  <a:spLocks noChangeArrowheads="1"/>
                </p:cNvSpPr>
                <p:nvPr/>
              </p:nvSpPr>
              <p:spPr bwMode="auto">
                <a:xfrm>
                  <a:off x="132" y="248"/>
                  <a:ext cx="184" cy="4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endParaRPr lang="ko-KR" altLang="ko-KR" sz="950">
                    <a:latin typeface="Arial" pitchFamily="34" charset="0"/>
                    <a:cs typeface="Arial" panose="020B0604020202020204" pitchFamily="34" charset="0"/>
                  </a:endParaRPr>
                </a:p>
              </p:txBody>
            </p:sp>
            <p:sp>
              <p:nvSpPr>
                <p:cNvPr id="47" name="Rectangle 502"/>
                <p:cNvSpPr>
                  <a:spLocks noChangeArrowheads="1"/>
                </p:cNvSpPr>
                <p:nvPr/>
              </p:nvSpPr>
              <p:spPr bwMode="auto">
                <a:xfrm>
                  <a:off x="132" y="156"/>
                  <a:ext cx="184" cy="31"/>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50" dirty="0" err="1" smtClean="0">
                      <a:latin typeface="Arial" panose="020B0604020202020204" pitchFamily="34" charset="0"/>
                      <a:cs typeface="Arial" panose="020B0604020202020204" pitchFamily="34" charset="0"/>
                    </a:rPr>
                    <a:t>Điện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tích</a:t>
                  </a:r>
                  <a:endParaRPr lang="ko-KR" altLang="en-US" sz="950" dirty="0">
                    <a:latin typeface="Arial" panose="020B0604020202020204" pitchFamily="34" charset="0"/>
                    <a:cs typeface="Arial" panose="020B0604020202020204" pitchFamily="34" charset="0"/>
                  </a:endParaRPr>
                </a:p>
              </p:txBody>
            </p:sp>
            <p:sp>
              <p:nvSpPr>
                <p:cNvPr id="48" name="Rectangle 503"/>
                <p:cNvSpPr>
                  <a:spLocks noChangeArrowheads="1"/>
                </p:cNvSpPr>
                <p:nvPr/>
              </p:nvSpPr>
              <p:spPr bwMode="auto">
                <a:xfrm>
                  <a:off x="316" y="248"/>
                  <a:ext cx="201" cy="4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FF0000"/>
                      </a:solidFill>
                      <a:latin typeface="Arial" pitchFamily="34" charset="0"/>
                      <a:cs typeface="Arial" panose="020B0604020202020204" pitchFamily="34" charset="0"/>
                    </a:rPr>
                    <a:t>D.</a:t>
                  </a:r>
                  <a:endParaRPr lang="en-US" altLang="ko-KR" sz="950">
                    <a:solidFill>
                      <a:srgbClr val="FF0000"/>
                    </a:solidFill>
                    <a:latin typeface="Arial" panose="020B0604020202020204" pitchFamily="34" charset="0"/>
                    <a:cs typeface="Arial" panose="020B0604020202020204" pitchFamily="34" charset="0"/>
                  </a:endParaRPr>
                </a:p>
              </p:txBody>
            </p:sp>
            <p:sp>
              <p:nvSpPr>
                <p:cNvPr id="49" name="Rectangle 504"/>
                <p:cNvSpPr>
                  <a:spLocks noChangeArrowheads="1"/>
                </p:cNvSpPr>
                <p:nvPr/>
              </p:nvSpPr>
              <p:spPr bwMode="auto">
                <a:xfrm>
                  <a:off x="4" y="248"/>
                  <a:ext cx="153" cy="4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tử</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tự</a:t>
                  </a:r>
                  <a:r>
                    <a:rPr lang="en-US" altLang="ko-KR" sz="900" dirty="0" smtClean="0">
                      <a:latin typeface="Arial" panose="020B0604020202020204" pitchFamily="34" charset="0"/>
                      <a:cs typeface="Arial" panose="020B0604020202020204" pitchFamily="34" charset="0"/>
                    </a:rPr>
                    <a:t> do</a:t>
                  </a:r>
                  <a:endParaRPr lang="ko-KR" altLang="en-US" sz="900" dirty="0">
                    <a:latin typeface="Arial" panose="020B0604020202020204" pitchFamily="34" charset="0"/>
                    <a:cs typeface="Arial" panose="020B0604020202020204" pitchFamily="34" charset="0"/>
                  </a:endParaRPr>
                </a:p>
                <a:p>
                  <a:pPr algn="ctr" eaLnBrk="1" hangingPunct="1"/>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tử</a:t>
                  </a:r>
                  <a:r>
                    <a:rPr lang="en-US" altLang="ko-KR" sz="900" dirty="0" smtClean="0">
                      <a:latin typeface="Arial" panose="020B0604020202020204" pitchFamily="34" charset="0"/>
                      <a:cs typeface="Arial" panose="020B0604020202020204" pitchFamily="34" charset="0"/>
                    </a:rPr>
                    <a:t> OR </a:t>
                  </a:r>
                  <a:endParaRPr lang="ko-KR" altLang="en-US" sz="900" dirty="0">
                    <a:latin typeface="Arial" panose="020B0604020202020204" pitchFamily="34" charset="0"/>
                    <a:cs typeface="Arial" panose="020B0604020202020204" pitchFamily="34" charset="0"/>
                  </a:endParaRPr>
                </a:p>
              </p:txBody>
            </p:sp>
            <p:sp>
              <p:nvSpPr>
                <p:cNvPr id="50" name="Rectangle 505"/>
                <p:cNvSpPr>
                  <a:spLocks noChangeArrowheads="1"/>
                </p:cNvSpPr>
                <p:nvPr/>
              </p:nvSpPr>
              <p:spPr bwMode="auto">
                <a:xfrm>
                  <a:off x="316" y="156"/>
                  <a:ext cx="201" cy="31"/>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50" dirty="0" err="1" smtClean="0">
                      <a:latin typeface="Arial" panose="020B0604020202020204" pitchFamily="34" charset="0"/>
                      <a:cs typeface="Arial" panose="020B0604020202020204" pitchFamily="34" charset="0"/>
                    </a:rPr>
                    <a:t>Khối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lượng</a:t>
                  </a:r>
                  <a:endParaRPr lang="ko-KR" altLang="en-US" sz="950" dirty="0">
                    <a:latin typeface="Arial" panose="020B0604020202020204" pitchFamily="34" charset="0"/>
                    <a:cs typeface="Arial" panose="020B0604020202020204" pitchFamily="34" charset="0"/>
                  </a:endParaRPr>
                </a:p>
              </p:txBody>
            </p:sp>
            <p:sp>
              <p:nvSpPr>
                <p:cNvPr id="51" name="Rectangle 506"/>
                <p:cNvSpPr>
                  <a:spLocks noChangeArrowheads="1"/>
                </p:cNvSpPr>
                <p:nvPr/>
              </p:nvSpPr>
              <p:spPr bwMode="auto">
                <a:xfrm>
                  <a:off x="23" y="156"/>
                  <a:ext cx="109" cy="31"/>
                </a:xfrm>
                <a:prstGeom prst="rect">
                  <a:avLst/>
                </a:prstGeom>
                <a:solidFill>
                  <a:srgbClr val="CCCCFF"/>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50" dirty="0" err="1" smtClean="0">
                      <a:latin typeface="Arial" panose="020B0604020202020204" pitchFamily="34" charset="0"/>
                      <a:cs typeface="Arial" panose="020B0604020202020204" pitchFamily="34" charset="0"/>
                    </a:rPr>
                    <a:t>Hạt</a:t>
                  </a:r>
                  <a:endParaRPr lang="ko-KR" altLang="en-US" sz="950" dirty="0">
                    <a:latin typeface="Arial" panose="020B0604020202020204" pitchFamily="34" charset="0"/>
                    <a:cs typeface="Arial" panose="020B0604020202020204" pitchFamily="34" charset="0"/>
                  </a:endParaRPr>
                </a:p>
              </p:txBody>
            </p:sp>
            <p:sp>
              <p:nvSpPr>
                <p:cNvPr id="52" name="Line 507"/>
                <p:cNvSpPr>
                  <a:spLocks noChangeShapeType="1"/>
                </p:cNvSpPr>
                <p:nvPr/>
              </p:nvSpPr>
              <p:spPr bwMode="auto">
                <a:xfrm>
                  <a:off x="23" y="187"/>
                  <a:ext cx="49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53" name="Line 508"/>
                <p:cNvSpPr>
                  <a:spLocks noChangeShapeType="1"/>
                </p:cNvSpPr>
                <p:nvPr/>
              </p:nvSpPr>
              <p:spPr bwMode="auto">
                <a:xfrm>
                  <a:off x="132" y="156"/>
                  <a:ext cx="0" cy="1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54" name="Line 509"/>
                <p:cNvSpPr>
                  <a:spLocks noChangeShapeType="1"/>
                </p:cNvSpPr>
                <p:nvPr/>
              </p:nvSpPr>
              <p:spPr bwMode="auto">
                <a:xfrm>
                  <a:off x="316" y="156"/>
                  <a:ext cx="0" cy="138"/>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55" name="Line 510"/>
                <p:cNvSpPr>
                  <a:spLocks noChangeShapeType="1"/>
                </p:cNvSpPr>
                <p:nvPr/>
              </p:nvSpPr>
              <p:spPr bwMode="auto">
                <a:xfrm>
                  <a:off x="23" y="248"/>
                  <a:ext cx="49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56" name="Line 511"/>
                <p:cNvSpPr>
                  <a:spLocks noChangeShapeType="1"/>
                </p:cNvSpPr>
                <p:nvPr/>
              </p:nvSpPr>
              <p:spPr bwMode="auto">
                <a:xfrm>
                  <a:off x="23" y="217"/>
                  <a:ext cx="494" cy="0"/>
                </a:xfrm>
                <a:prstGeom prst="line">
                  <a:avLst/>
                </a:prstGeom>
                <a:noFill/>
                <a:ln w="127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57" name="Line 512"/>
                <p:cNvSpPr>
                  <a:spLocks noChangeShapeType="1"/>
                </p:cNvSpPr>
                <p:nvPr/>
              </p:nvSpPr>
              <p:spPr bwMode="auto">
                <a:xfrm>
                  <a:off x="23" y="156"/>
                  <a:ext cx="494" cy="0"/>
                </a:xfrm>
                <a:prstGeom prst="line">
                  <a:avLst/>
                </a:prstGeom>
                <a:noFill/>
                <a:ln w="12700" cap="sq">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58" name="Line 513"/>
                <p:cNvSpPr>
                  <a:spLocks noChangeShapeType="1"/>
                </p:cNvSpPr>
                <p:nvPr/>
              </p:nvSpPr>
              <p:spPr bwMode="auto">
                <a:xfrm>
                  <a:off x="23" y="156"/>
                  <a:ext cx="0" cy="138"/>
                </a:xfrm>
                <a:prstGeom prst="line">
                  <a:avLst/>
                </a:prstGeom>
                <a:noFill/>
                <a:ln w="12700" cap="sq">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59" name="Line 514"/>
                <p:cNvSpPr>
                  <a:spLocks noChangeShapeType="1"/>
                </p:cNvSpPr>
                <p:nvPr/>
              </p:nvSpPr>
              <p:spPr bwMode="auto">
                <a:xfrm>
                  <a:off x="517" y="156"/>
                  <a:ext cx="0" cy="138"/>
                </a:xfrm>
                <a:prstGeom prst="line">
                  <a:avLst/>
                </a:prstGeom>
                <a:noFill/>
                <a:ln w="12700" cap="sq">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sp>
              <p:nvSpPr>
                <p:cNvPr id="60" name="Line 515"/>
                <p:cNvSpPr>
                  <a:spLocks noChangeShapeType="1"/>
                </p:cNvSpPr>
                <p:nvPr/>
              </p:nvSpPr>
              <p:spPr bwMode="auto">
                <a:xfrm>
                  <a:off x="23" y="294"/>
                  <a:ext cx="494" cy="0"/>
                </a:xfrm>
                <a:prstGeom prst="line">
                  <a:avLst/>
                </a:prstGeom>
                <a:noFill/>
                <a:ln w="12700" cap="sq">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en-US" sz="950">
                    <a:latin typeface="Arial" pitchFamily="34" charset="0"/>
                    <a:cs typeface="Arial" panose="020B0604020202020204" pitchFamily="34" charset="0"/>
                  </a:endParaRPr>
                </a:p>
              </p:txBody>
            </p:sp>
          </p:grpSp>
          <p:pic>
            <p:nvPicPr>
              <p:cNvPr id="35" name="Picture 5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3" y="1117"/>
                <a:ext cx="589"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6" name="Picture 5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 y="1304"/>
                <a:ext cx="569"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7" name="Picture 5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 y="1548"/>
                <a:ext cx="604"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8" name="Picture 5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 y="1111"/>
                <a:ext cx="628" cy="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9" name="Picture 5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9" y="1554"/>
                <a:ext cx="628" cy="1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33" name="Picture 52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33" y="1253"/>
              <a:ext cx="258" cy="1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sp>
        <p:nvSpPr>
          <p:cNvPr id="61" name="Rectangle 568"/>
          <p:cNvSpPr>
            <a:spLocks noChangeArrowheads="1"/>
          </p:cNvSpPr>
          <p:nvPr/>
        </p:nvSpPr>
        <p:spPr bwMode="auto">
          <a:xfrm>
            <a:off x="166687" y="4764702"/>
            <a:ext cx="3262313"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anose="020B0604020202020204" pitchFamily="34" charset="0"/>
                <a:cs typeface="Arial" panose="020B0604020202020204" pitchFamily="34" charset="0"/>
              </a:rPr>
              <a:t>13</a:t>
            </a:r>
            <a:r>
              <a:rPr lang="en-US" altLang="ko-KR" sz="950" dirty="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Chọn</a:t>
            </a:r>
            <a:r>
              <a:rPr lang="en-US" altLang="ko-KR" sz="950" dirty="0" smtClean="0">
                <a:latin typeface="Arial" panose="020B0604020202020204" pitchFamily="34" charset="0"/>
                <a:cs typeface="Arial" panose="020B0604020202020204" pitchFamily="34" charset="0"/>
              </a:rPr>
              <a:t> </a:t>
            </a:r>
            <a:r>
              <a:rPr lang="en-US" altLang="ko-KR" sz="950" err="1" smtClean="0">
                <a:latin typeface="Arial" panose="020B0604020202020204" pitchFamily="34" charset="0"/>
                <a:cs typeface="Arial" panose="020B0604020202020204" pitchFamily="34" charset="0"/>
              </a:rPr>
              <a:t>giải</a:t>
            </a:r>
            <a:r>
              <a:rPr lang="en-US" altLang="ko-KR" sz="950" smtClean="0">
                <a:latin typeface="Arial" panose="020B0604020202020204" pitchFamily="34" charset="0"/>
                <a:cs typeface="Arial" panose="020B0604020202020204" pitchFamily="34" charset="0"/>
              </a:rPr>
              <a:t> thích nào sai?</a:t>
            </a:r>
            <a:endParaRPr lang="en-US" altLang="ko-KR" sz="950" dirty="0">
              <a:latin typeface="Arial" panose="020B0604020202020204" pitchFamily="34" charset="0"/>
              <a:cs typeface="Arial" panose="020B0604020202020204" pitchFamily="34" charset="0"/>
            </a:endParaRPr>
          </a:p>
          <a:p>
            <a:pPr marL="114300" indent="-114300" eaLnBrk="1" hangingPunct="1"/>
            <a:r>
              <a:rPr lang="en-US" altLang="ko-KR" sz="950" smtClean="0">
                <a:latin typeface="Arial" panose="020B0604020202020204" pitchFamily="34" charset="0"/>
                <a:cs typeface="Arial" panose="020B0604020202020204" pitchFamily="34" charset="0"/>
              </a:rPr>
              <a:t>A. </a:t>
            </a:r>
            <a:r>
              <a:rPr lang="en-US" altLang="ko-KR" sz="950" dirty="0" smtClean="0">
                <a:latin typeface="Arial" panose="020B0604020202020204" pitchFamily="34" charset="0"/>
                <a:cs typeface="Arial" panose="020B0604020202020204" pitchFamily="34" charset="0"/>
              </a:rPr>
              <a:t>Electron </a:t>
            </a:r>
            <a:r>
              <a:rPr lang="en-US" altLang="ko-KR" sz="950" dirty="0" err="1" smtClean="0">
                <a:latin typeface="Arial" panose="020B0604020202020204" pitchFamily="34" charset="0"/>
                <a:cs typeface="Arial" panose="020B0604020202020204" pitchFamily="34" charset="0"/>
              </a:rPr>
              <a:t>hóa</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trị</a:t>
            </a:r>
            <a:r>
              <a:rPr lang="en-US" altLang="ko-KR" sz="950" dirty="0" smtClean="0">
                <a:latin typeface="Arial" panose="020B0604020202020204" pitchFamily="34" charset="0"/>
                <a:cs typeface="Arial" panose="020B0604020202020204" pitchFamily="34" charset="0"/>
              </a:rPr>
              <a:t> :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các</a:t>
            </a:r>
            <a:r>
              <a:rPr lang="en-US" altLang="ko-KR" sz="950" dirty="0" smtClean="0">
                <a:latin typeface="Arial" panose="020B0604020202020204" pitchFamily="34" charset="0"/>
                <a:cs typeface="Arial" panose="020B0604020202020204" pitchFamily="34" charset="0"/>
              </a:rPr>
              <a:t> electron </a:t>
            </a:r>
            <a:r>
              <a:rPr lang="en-US" altLang="ko-KR" sz="950" dirty="0" err="1" smtClean="0">
                <a:latin typeface="Arial" panose="020B0604020202020204" pitchFamily="34" charset="0"/>
                <a:cs typeface="Arial" panose="020B0604020202020204" pitchFamily="34" charset="0"/>
              </a:rPr>
              <a:t>tồn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tại</a:t>
            </a:r>
            <a:r>
              <a:rPr lang="en-US" altLang="ko-KR" sz="950" dirty="0" smtClean="0">
                <a:latin typeface="Arial" panose="020B0604020202020204" pitchFamily="34" charset="0"/>
                <a:cs typeface="Arial" panose="020B0604020202020204" pitchFamily="34" charset="0"/>
              </a:rPr>
              <a:t> ở </a:t>
            </a:r>
            <a:r>
              <a:rPr lang="en-US" altLang="ko-KR" sz="950" dirty="0" err="1" smtClean="0">
                <a:latin typeface="Arial" panose="020B0604020202020204" pitchFamily="34" charset="0"/>
                <a:cs typeface="Arial" panose="020B0604020202020204" pitchFamily="34" charset="0"/>
              </a:rPr>
              <a:t>lớp</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ngoài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cùng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của</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nguyên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tử</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lực</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liên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kết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với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hạt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nhân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nguyên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tử</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yếu</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dễ</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rời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ra</a:t>
            </a:r>
            <a:r>
              <a:rPr lang="ko-KR" altLang="en-US" sz="950" dirty="0" smtClean="0">
                <a:latin typeface="Arial" panose="020B0604020202020204" pitchFamily="34" charset="0"/>
                <a:cs typeface="Arial" panose="020B0604020202020204" pitchFamily="34" charset="0"/>
              </a:rPr>
              <a:t> </a:t>
            </a:r>
            <a:r>
              <a:rPr lang="en-US" altLang="ko-KR" sz="950" dirty="0" smtClean="0">
                <a:latin typeface="Arial" panose="020B0604020202020204" pitchFamily="34" charset="0"/>
                <a:cs typeface="Arial" panose="020B0604020202020204" pitchFamily="34" charset="0"/>
              </a:rPr>
              <a:t>.</a:t>
            </a:r>
            <a:endParaRPr lang="en-US" altLang="ko-KR" sz="950" dirty="0">
              <a:latin typeface="Arial" panose="020B0604020202020204" pitchFamily="34" charset="0"/>
              <a:cs typeface="Arial" panose="020B0604020202020204" pitchFamily="34" charset="0"/>
            </a:endParaRPr>
          </a:p>
          <a:p>
            <a:pPr marL="114300" indent="-114300" eaLnBrk="1" hangingPunct="1"/>
            <a:r>
              <a:rPr lang="en-US" altLang="ko-KR" sz="950" smtClean="0">
                <a:latin typeface="Arial" panose="020B0604020202020204" pitchFamily="34" charset="0"/>
                <a:cs typeface="Arial" panose="020B0604020202020204" pitchFamily="34" charset="0"/>
              </a:rPr>
              <a:t>B. </a:t>
            </a:r>
            <a:r>
              <a:rPr lang="en-US" altLang="ko-KR" sz="950" dirty="0" err="1" smtClean="0">
                <a:latin typeface="Arial" panose="020B0604020202020204" pitchFamily="34" charset="0"/>
                <a:cs typeface="Arial" panose="020B0604020202020204" pitchFamily="34" charset="0"/>
              </a:rPr>
              <a:t>Vỏ</a:t>
            </a:r>
            <a:r>
              <a:rPr lang="en-US" altLang="ko-KR" sz="950" dirty="0" smtClean="0">
                <a:latin typeface="Arial" panose="020B0604020202020204" pitchFamily="34" charset="0"/>
                <a:cs typeface="Arial" panose="020B0604020202020204" pitchFamily="34" charset="0"/>
              </a:rPr>
              <a:t> electron: </a:t>
            </a:r>
            <a:r>
              <a:rPr lang="en-US" altLang="ko-KR" sz="950" dirty="0" err="1" smtClean="0">
                <a:latin typeface="Arial" panose="020B0604020202020204" pitchFamily="34" charset="0"/>
                <a:cs typeface="Arial" panose="020B0604020202020204" pitchFamily="34" charset="0"/>
              </a:rPr>
              <a:t>Vỏ</a:t>
            </a:r>
            <a:r>
              <a:rPr lang="en-US" altLang="ko-KR" sz="950" dirty="0" smtClean="0">
                <a:latin typeface="Arial" panose="020B0604020202020204" pitchFamily="34" charset="0"/>
                <a:cs typeface="Arial" panose="020B0604020202020204" pitchFamily="34" charset="0"/>
              </a:rPr>
              <a:t> Electron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lớp</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electrong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hình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thành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vòng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tròn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nhất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định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xoay</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quanh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hạt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nhân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nguyên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tử</a:t>
            </a:r>
            <a:r>
              <a:rPr lang="en-US" altLang="ko-KR" sz="950" dirty="0" smtClean="0">
                <a:latin typeface="Arial" panose="020B0604020202020204" pitchFamily="34" charset="0"/>
                <a:cs typeface="Arial" panose="020B0604020202020204" pitchFamily="34" charset="0"/>
              </a:rPr>
              <a:t>.</a:t>
            </a:r>
            <a:endParaRPr lang="en-US" altLang="ko-KR" sz="950" dirty="0">
              <a:latin typeface="Arial" panose="020B0604020202020204" pitchFamily="34" charset="0"/>
              <a:cs typeface="Arial" panose="020B0604020202020204" pitchFamily="34" charset="0"/>
            </a:endParaRPr>
          </a:p>
          <a:p>
            <a:pPr marL="114300" indent="-114300" eaLnBrk="1" hangingPunct="1"/>
            <a:r>
              <a:rPr lang="en-US" altLang="ko-KR" sz="950" smtClean="0">
                <a:solidFill>
                  <a:srgbClr val="FF0000"/>
                </a:solidFill>
                <a:latin typeface="Arial" panose="020B0604020202020204" pitchFamily="34" charset="0"/>
                <a:cs typeface="Arial" panose="020B0604020202020204" pitchFamily="34" charset="0"/>
              </a:rPr>
              <a:t>C. </a:t>
            </a:r>
            <a:r>
              <a:rPr lang="en-US" altLang="ko-KR" sz="950" dirty="0" err="1" smtClean="0">
                <a:solidFill>
                  <a:srgbClr val="FF0000"/>
                </a:solidFill>
                <a:latin typeface="Arial" panose="020B0604020202020204" pitchFamily="34" charset="0"/>
                <a:cs typeface="Arial" panose="020B0604020202020204" pitchFamily="34" charset="0"/>
              </a:rPr>
              <a:t>Các</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lớp</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vỏ</a:t>
            </a:r>
            <a:r>
              <a:rPr lang="en-US" altLang="ko-KR" sz="950" dirty="0" smtClean="0">
                <a:solidFill>
                  <a:srgbClr val="FF0000"/>
                </a:solidFill>
                <a:latin typeface="Arial" panose="020B0604020202020204" pitchFamily="34" charset="0"/>
                <a:cs typeface="Arial" panose="020B0604020202020204" pitchFamily="34" charset="0"/>
              </a:rPr>
              <a:t> electron </a:t>
            </a:r>
            <a:r>
              <a:rPr lang="en-US" altLang="ko-KR" sz="950" dirty="0" err="1" smtClean="0">
                <a:solidFill>
                  <a:srgbClr val="FF0000"/>
                </a:solidFill>
                <a:latin typeface="Arial" panose="020B0604020202020204" pitchFamily="34" charset="0"/>
                <a:cs typeface="Arial" panose="020B0604020202020204" pitchFamily="34" charset="0"/>
              </a:rPr>
              <a:t>theo</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thứ</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tự</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từ</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xa</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hạt</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nhân</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nguyên</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tử</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tới</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gần</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được</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gọi</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là</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lớp</a:t>
            </a:r>
            <a:r>
              <a:rPr lang="en-US" altLang="ko-KR" sz="950" dirty="0" smtClean="0">
                <a:solidFill>
                  <a:srgbClr val="FF0000"/>
                </a:solidFill>
                <a:latin typeface="Arial" panose="020B0604020202020204" pitchFamily="34" charset="0"/>
                <a:cs typeface="Arial" panose="020B0604020202020204" pitchFamily="34" charset="0"/>
              </a:rPr>
              <a:t> K</a:t>
            </a:r>
            <a:r>
              <a:rPr lang="ko-KR" altLang="en-US"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lớp</a:t>
            </a:r>
            <a:r>
              <a:rPr lang="en-US" altLang="ko-KR" sz="950" dirty="0" smtClean="0">
                <a:solidFill>
                  <a:srgbClr val="FF0000"/>
                </a:solidFill>
                <a:latin typeface="Arial" panose="020B0604020202020204" pitchFamily="34" charset="0"/>
                <a:cs typeface="Arial" panose="020B0604020202020204" pitchFamily="34" charset="0"/>
              </a:rPr>
              <a:t> L</a:t>
            </a:r>
            <a:r>
              <a:rPr lang="ko-KR" altLang="en-US"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lớp</a:t>
            </a:r>
            <a:r>
              <a:rPr lang="en-US" altLang="ko-KR" sz="950" dirty="0" smtClean="0">
                <a:solidFill>
                  <a:srgbClr val="FF0000"/>
                </a:solidFill>
                <a:latin typeface="Arial" panose="020B0604020202020204" pitchFamily="34" charset="0"/>
                <a:cs typeface="Arial" panose="020B0604020202020204" pitchFamily="34" charset="0"/>
              </a:rPr>
              <a:t> M</a:t>
            </a:r>
            <a:r>
              <a:rPr lang="ko-KR" altLang="en-US"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lớp</a:t>
            </a:r>
            <a:r>
              <a:rPr lang="en-US" altLang="ko-KR" sz="950" dirty="0" smtClean="0">
                <a:solidFill>
                  <a:srgbClr val="FF0000"/>
                </a:solidFill>
                <a:latin typeface="Arial" panose="020B0604020202020204" pitchFamily="34" charset="0"/>
                <a:cs typeface="Arial" panose="020B0604020202020204" pitchFamily="34" charset="0"/>
              </a:rPr>
              <a:t> N</a:t>
            </a:r>
            <a:r>
              <a:rPr lang="ko-KR" altLang="en-US" sz="950" dirty="0" smtClean="0">
                <a:solidFill>
                  <a:srgbClr val="FF0000"/>
                </a:solidFill>
                <a:latin typeface="Arial" panose="020B0604020202020204" pitchFamily="34" charset="0"/>
                <a:cs typeface="Arial" panose="020B0604020202020204" pitchFamily="34" charset="0"/>
              </a:rPr>
              <a:t>→</a:t>
            </a:r>
            <a:r>
              <a:rPr lang="en-US" altLang="ko-KR" sz="950" dirty="0" smtClean="0">
                <a:solidFill>
                  <a:srgbClr val="FF0000"/>
                </a:solidFill>
                <a:latin typeface="Arial" panose="020B0604020202020204" pitchFamily="34" charset="0"/>
                <a:cs typeface="Arial" panose="020B0604020202020204" pitchFamily="34" charset="0"/>
              </a:rPr>
              <a:t>…</a:t>
            </a:r>
            <a:endParaRPr lang="ko-KR" altLang="en-US" sz="950" dirty="0" smtClean="0">
              <a:solidFill>
                <a:srgbClr val="FF0000"/>
              </a:solidFill>
              <a:latin typeface="Arial" panose="020B0604020202020204" pitchFamily="34" charset="0"/>
              <a:cs typeface="Arial" panose="020B0604020202020204" pitchFamily="34" charset="0"/>
            </a:endParaRPr>
          </a:p>
          <a:p>
            <a:pPr marL="114300" indent="-114300" eaLnBrk="1" hangingPunct="1"/>
            <a:r>
              <a:rPr lang="en-US" altLang="ko-KR" sz="950" smtClean="0">
                <a:latin typeface="Arial" panose="020B0604020202020204" pitchFamily="34" charset="0"/>
                <a:cs typeface="Arial" panose="020B0604020202020204" pitchFamily="34" charset="0"/>
              </a:rPr>
              <a:t>D.</a:t>
            </a:r>
            <a:r>
              <a:rPr lang="ko-KR" altLang="en-US" sz="950" smtClean="0">
                <a:latin typeface="Arial" panose="020B0604020202020204" pitchFamily="34" charset="0"/>
                <a:cs typeface="Arial" panose="020B0604020202020204" pitchFamily="34" charset="0"/>
              </a:rPr>
              <a:t> </a:t>
            </a:r>
            <a:r>
              <a:rPr lang="en-US" altLang="ko-KR" sz="950" dirty="0" smtClean="0">
                <a:latin typeface="Arial" panose="020B0604020202020204" pitchFamily="34" charset="0"/>
                <a:cs typeface="Arial" panose="020B0604020202020204" pitchFamily="34" charset="0"/>
              </a:rPr>
              <a:t>Electron </a:t>
            </a:r>
            <a:r>
              <a:rPr lang="en-US" altLang="ko-KR" sz="950" dirty="0" err="1" smtClean="0">
                <a:latin typeface="Arial" panose="020B0604020202020204" pitchFamily="34" charset="0"/>
                <a:cs typeface="Arial" panose="020B0604020202020204" pitchFamily="34" charset="0"/>
              </a:rPr>
              <a:t>tự</a:t>
            </a:r>
            <a:r>
              <a:rPr lang="en-US" altLang="ko-KR" sz="950" dirty="0" smtClean="0">
                <a:latin typeface="Arial" panose="020B0604020202020204" pitchFamily="34" charset="0"/>
                <a:cs typeface="Arial" panose="020B0604020202020204" pitchFamily="34" charset="0"/>
              </a:rPr>
              <a:t> do: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các</a:t>
            </a:r>
            <a:r>
              <a:rPr lang="en-US" altLang="ko-KR" sz="950" dirty="0" smtClean="0">
                <a:latin typeface="Arial" panose="020B0604020202020204" pitchFamily="34" charset="0"/>
                <a:cs typeface="Arial" panose="020B0604020202020204" pitchFamily="34" charset="0"/>
              </a:rPr>
              <a:t> Electron ở </a:t>
            </a:r>
            <a:r>
              <a:rPr lang="en-US" altLang="ko-KR" sz="950" dirty="0" err="1" smtClean="0">
                <a:latin typeface="Arial" panose="020B0604020202020204" pitchFamily="34" charset="0"/>
                <a:cs typeface="Arial" panose="020B0604020202020204" pitchFamily="34" charset="0"/>
              </a:rPr>
              <a:t>lớp</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ngoài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cùng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của</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nguyên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tử</a:t>
            </a:r>
            <a:r>
              <a:rPr lang="en-US" altLang="ko-KR" sz="950" dirty="0" smtClean="0">
                <a:latin typeface="Arial" panose="020B0604020202020204" pitchFamily="34" charset="0"/>
                <a:cs typeface="Arial" panose="020B0604020202020204" pitchFamily="34" charset="0"/>
              </a:rPr>
              <a:t> ( electron </a:t>
            </a:r>
            <a:r>
              <a:rPr lang="en-US" altLang="ko-KR" sz="950" dirty="0" err="1" smtClean="0">
                <a:latin typeface="Arial" panose="020B0604020202020204" pitchFamily="34" charset="0"/>
                <a:cs typeface="Arial" panose="020B0604020202020204" pitchFamily="34" charset="0"/>
              </a:rPr>
              <a:t>hóa</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trị</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đã</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nhận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đủ</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năng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lượng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được</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tách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ra</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khỏi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liên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kết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nguyên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tử</a:t>
            </a:r>
            <a:endParaRPr lang="ko-KR" altLang="en-US" sz="950" dirty="0">
              <a:latin typeface="Arial" panose="020B0604020202020204" pitchFamily="34" charset="0"/>
              <a:cs typeface="Arial" panose="020B0604020202020204" pitchFamily="34" charset="0"/>
            </a:endParaRPr>
          </a:p>
        </p:txBody>
      </p:sp>
      <p:sp>
        <p:nvSpPr>
          <p:cNvPr id="62" name="Rectangle 574"/>
          <p:cNvSpPr>
            <a:spLocks noChangeArrowheads="1"/>
          </p:cNvSpPr>
          <p:nvPr/>
        </p:nvSpPr>
        <p:spPr bwMode="auto">
          <a:xfrm>
            <a:off x="156378" y="6789638"/>
            <a:ext cx="3272622"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anose="020B0604020202020204" pitchFamily="34" charset="0"/>
                <a:cs typeface="Arial" panose="020B0604020202020204" pitchFamily="34" charset="0"/>
              </a:rPr>
              <a:t>14</a:t>
            </a:r>
            <a:r>
              <a:rPr lang="en-US" altLang="ko-KR" sz="950" dirty="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Chọn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đáp</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án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không</a:t>
            </a:r>
            <a:r>
              <a:rPr lang="en-US" altLang="ko-KR" sz="950" dirty="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phải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giải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thích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về</a:t>
            </a:r>
            <a:r>
              <a:rPr lang="en-US" altLang="ko-KR" sz="950" dirty="0" smtClean="0">
                <a:latin typeface="Arial" panose="020B0604020202020204" pitchFamily="34" charset="0"/>
                <a:cs typeface="Arial" panose="020B0604020202020204" pitchFamily="34" charset="0"/>
              </a:rPr>
              <a:t> </a:t>
            </a:r>
            <a:r>
              <a:rPr lang="en-US" altLang="ko-KR" sz="950" err="1" smtClean="0">
                <a:latin typeface="Arial" panose="020B0604020202020204" pitchFamily="34" charset="0"/>
                <a:cs typeface="Arial" panose="020B0604020202020204" pitchFamily="34" charset="0"/>
              </a:rPr>
              <a:t>dòng</a:t>
            </a:r>
            <a:r>
              <a:rPr lang="en-US" altLang="ko-KR" sz="950" smtClean="0">
                <a:latin typeface="Arial" panose="020B0604020202020204" pitchFamily="34" charset="0"/>
                <a:cs typeface="Arial" panose="020B0604020202020204" pitchFamily="34" charset="0"/>
              </a:rPr>
              <a:t> điện?</a:t>
            </a:r>
            <a:endParaRPr lang="en-US" altLang="ko-KR" sz="950" dirty="0">
              <a:latin typeface="Arial" panose="020B0604020202020204" pitchFamily="34" charset="0"/>
              <a:cs typeface="Arial" panose="020B0604020202020204" pitchFamily="34" charset="0"/>
            </a:endParaRPr>
          </a:p>
          <a:p>
            <a:pPr marL="109538" indent="-109538" eaLnBrk="1" hangingPunct="1"/>
            <a:r>
              <a:rPr lang="en-US" altLang="ko-KR" sz="950" smtClean="0">
                <a:latin typeface="Arial" panose="020B0604020202020204" pitchFamily="34" charset="0"/>
                <a:cs typeface="Arial" panose="020B0604020202020204" pitchFamily="34" charset="0"/>
              </a:rPr>
              <a:t>A. </a:t>
            </a:r>
            <a:r>
              <a:rPr lang="en-US" altLang="ko-KR" sz="950" dirty="0" err="1" smtClean="0">
                <a:latin typeface="Arial" panose="020B0604020202020204" pitchFamily="34" charset="0"/>
                <a:cs typeface="Arial" panose="020B0604020202020204" pitchFamily="34" charset="0"/>
              </a:rPr>
              <a:t>Cường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độ</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dòng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điện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lượng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điện</a:t>
            </a:r>
            <a:r>
              <a:rPr lang="en-US" altLang="ko-KR" sz="950" dirty="0" smtClean="0">
                <a:latin typeface="Arial" panose="020B0604020202020204" pitchFamily="34" charset="0"/>
                <a:cs typeface="Arial" panose="020B0604020202020204" pitchFamily="34" charset="0"/>
              </a:rPr>
              <a:t> di </a:t>
            </a:r>
            <a:r>
              <a:rPr lang="en-US" altLang="ko-KR" sz="950" dirty="0" err="1" smtClean="0">
                <a:latin typeface="Arial" panose="020B0604020202020204" pitchFamily="34" charset="0"/>
                <a:cs typeface="Arial" panose="020B0604020202020204" pitchFamily="34" charset="0"/>
              </a:rPr>
              <a:t>chuyển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trong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chất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dẫn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điện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trong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vòng</a:t>
            </a:r>
            <a:r>
              <a:rPr lang="en-US" altLang="ko-KR" sz="950" dirty="0" smtClean="0">
                <a:latin typeface="Arial" panose="020B0604020202020204" pitchFamily="34" charset="0"/>
                <a:cs typeface="Arial" panose="020B0604020202020204" pitchFamily="34" charset="0"/>
              </a:rPr>
              <a:t> 1 </a:t>
            </a:r>
            <a:r>
              <a:rPr lang="en-US" altLang="ko-KR" sz="950" dirty="0" err="1" smtClean="0">
                <a:latin typeface="Arial" panose="020B0604020202020204" pitchFamily="34" charset="0"/>
                <a:cs typeface="Arial" panose="020B0604020202020204" pitchFamily="34" charset="0"/>
              </a:rPr>
              <a:t>giây</a:t>
            </a:r>
            <a:endParaRPr lang="ko-KR" altLang="en-US" sz="950" dirty="0">
              <a:latin typeface="Arial" panose="020B0604020202020204" pitchFamily="34" charset="0"/>
              <a:cs typeface="Arial" panose="020B0604020202020204" pitchFamily="34" charset="0"/>
            </a:endParaRPr>
          </a:p>
          <a:p>
            <a:pPr eaLnBrk="1" hangingPunct="1"/>
            <a:r>
              <a:rPr lang="en-US" altLang="ko-KR" sz="950" smtClean="0">
                <a:latin typeface="Arial" panose="020B0604020202020204" pitchFamily="34" charset="0"/>
                <a:cs typeface="Arial" panose="020B0604020202020204" pitchFamily="34" charset="0"/>
              </a:rPr>
              <a:t>B.</a:t>
            </a:r>
            <a:r>
              <a:rPr lang="ko-KR" altLang="en-US" sz="95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Đơn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vị</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của</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dòng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điện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Ampe</a:t>
            </a:r>
            <a:r>
              <a:rPr lang="en-US" altLang="ko-KR" sz="950" dirty="0" smtClean="0">
                <a:latin typeface="Arial" panose="020B0604020202020204" pitchFamily="34" charset="0"/>
                <a:cs typeface="Arial" panose="020B0604020202020204" pitchFamily="34" charset="0"/>
              </a:rPr>
              <a:t> [A</a:t>
            </a:r>
            <a:r>
              <a:rPr lang="en-US" altLang="ko-KR" sz="950" dirty="0">
                <a:latin typeface="Arial" panose="020B0604020202020204" pitchFamily="34" charset="0"/>
                <a:cs typeface="Arial" panose="020B0604020202020204" pitchFamily="34" charset="0"/>
              </a:rPr>
              <a:t>]</a:t>
            </a:r>
          </a:p>
          <a:p>
            <a:pPr eaLnBrk="1" hangingPunct="1"/>
            <a:r>
              <a:rPr lang="en-US" altLang="ko-KR" sz="950" smtClean="0">
                <a:latin typeface="Arial" panose="020B0604020202020204" pitchFamily="34" charset="0"/>
                <a:cs typeface="Arial" panose="020B0604020202020204" pitchFamily="34" charset="0"/>
              </a:rPr>
              <a:t>C. </a:t>
            </a:r>
            <a:r>
              <a:rPr lang="en-US" altLang="ko-KR" sz="950" dirty="0" err="1" smtClean="0">
                <a:latin typeface="Arial" panose="020B0604020202020204" pitchFamily="34" charset="0"/>
                <a:cs typeface="Arial" panose="020B0604020202020204" pitchFamily="34" charset="0"/>
              </a:rPr>
              <a:t>Công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thức</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tính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dòng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điện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I=Q/T </a:t>
            </a:r>
            <a:r>
              <a:rPr lang="en-US" altLang="ko-KR" sz="950" dirty="0">
                <a:latin typeface="Arial" panose="020B0604020202020204" pitchFamily="34" charset="0"/>
                <a:cs typeface="Arial" panose="020B0604020202020204" pitchFamily="34" charset="0"/>
              </a:rPr>
              <a:t>[A]</a:t>
            </a:r>
          </a:p>
          <a:p>
            <a:pPr marL="109538" indent="-109538" eaLnBrk="1" hangingPunct="1"/>
            <a:r>
              <a:rPr lang="en-US" altLang="ko-KR" sz="950" smtClean="0">
                <a:solidFill>
                  <a:srgbClr val="FF0000"/>
                </a:solidFill>
                <a:latin typeface="Arial" panose="020B0604020202020204" pitchFamily="34" charset="0"/>
                <a:cs typeface="Arial" panose="020B0604020202020204" pitchFamily="34" charset="0"/>
              </a:rPr>
              <a:t>D. </a:t>
            </a:r>
            <a:r>
              <a:rPr lang="en-US" altLang="ko-KR" sz="950" dirty="0" err="1" smtClean="0">
                <a:solidFill>
                  <a:srgbClr val="FF0000"/>
                </a:solidFill>
                <a:latin typeface="Arial" panose="020B0604020202020204" pitchFamily="34" charset="0"/>
                <a:cs typeface="Arial" panose="020B0604020202020204" pitchFamily="34" charset="0"/>
              </a:rPr>
              <a:t>Nếu</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trong</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vòng</a:t>
            </a:r>
            <a:r>
              <a:rPr lang="en-US" altLang="ko-KR" sz="950" dirty="0" smtClean="0">
                <a:solidFill>
                  <a:srgbClr val="FF0000"/>
                </a:solidFill>
                <a:latin typeface="Arial" panose="020B0604020202020204" pitchFamily="34" charset="0"/>
                <a:cs typeface="Arial" panose="020B0604020202020204" pitchFamily="34" charset="0"/>
              </a:rPr>
              <a:t> 1 </a:t>
            </a:r>
            <a:r>
              <a:rPr lang="en-US" altLang="ko-KR" sz="950" dirty="0" err="1" smtClean="0">
                <a:solidFill>
                  <a:srgbClr val="FF0000"/>
                </a:solidFill>
                <a:latin typeface="Arial" panose="020B0604020202020204" pitchFamily="34" charset="0"/>
                <a:cs typeface="Arial" panose="020B0604020202020204" pitchFamily="34" charset="0"/>
              </a:rPr>
              <a:t>phút</a:t>
            </a:r>
            <a:r>
              <a:rPr lang="en-US" altLang="ko-KR" sz="950" dirty="0" smtClean="0">
                <a:solidFill>
                  <a:srgbClr val="FF0000"/>
                </a:solidFill>
                <a:latin typeface="Arial" panose="020B0604020202020204" pitchFamily="34" charset="0"/>
                <a:cs typeface="Arial" panose="020B0604020202020204" pitchFamily="34" charset="0"/>
              </a:rPr>
              <a:t> di </a:t>
            </a:r>
            <a:r>
              <a:rPr lang="en-US" altLang="ko-KR" sz="950" dirty="0" err="1" smtClean="0">
                <a:solidFill>
                  <a:srgbClr val="FF0000"/>
                </a:solidFill>
                <a:latin typeface="Arial" panose="020B0604020202020204" pitchFamily="34" charset="0"/>
                <a:cs typeface="Arial" panose="020B0604020202020204" pitchFamily="34" charset="0"/>
              </a:rPr>
              <a:t>chuyển</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một</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lượng</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điện</a:t>
            </a:r>
            <a:r>
              <a:rPr lang="en-US" altLang="ko-KR" sz="950" dirty="0" smtClean="0">
                <a:solidFill>
                  <a:srgbClr val="FF0000"/>
                </a:solidFill>
                <a:latin typeface="Arial" panose="020B0604020202020204" pitchFamily="34" charset="0"/>
                <a:cs typeface="Arial" panose="020B0604020202020204" pitchFamily="34" charset="0"/>
              </a:rPr>
              <a:t> 1[C] </a:t>
            </a:r>
            <a:r>
              <a:rPr lang="en-US" altLang="ko-KR" sz="950" dirty="0" err="1" smtClean="0">
                <a:solidFill>
                  <a:srgbClr val="FF0000"/>
                </a:solidFill>
                <a:latin typeface="Arial" panose="020B0604020202020204" pitchFamily="34" charset="0"/>
                <a:cs typeface="Arial" panose="020B0604020202020204" pitchFamily="34" charset="0"/>
              </a:rPr>
              <a:t>thì</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cường</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độ</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dòng</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điện</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là</a:t>
            </a:r>
            <a:r>
              <a:rPr lang="en-US" altLang="ko-KR" sz="950" dirty="0" smtClean="0">
                <a:solidFill>
                  <a:srgbClr val="FF0000"/>
                </a:solidFill>
                <a:latin typeface="Arial" panose="020B0604020202020204" pitchFamily="34" charset="0"/>
                <a:cs typeface="Arial" panose="020B0604020202020204" pitchFamily="34" charset="0"/>
              </a:rPr>
              <a:t> 1[A].</a:t>
            </a:r>
            <a:endParaRPr lang="en-US" altLang="ko-KR" sz="950" dirty="0">
              <a:solidFill>
                <a:srgbClr val="FF0000"/>
              </a:solidFill>
              <a:latin typeface="Arial" panose="020B0604020202020204" pitchFamily="34" charset="0"/>
              <a:cs typeface="Arial" panose="020B0604020202020204" pitchFamily="34" charset="0"/>
            </a:endParaRPr>
          </a:p>
        </p:txBody>
      </p:sp>
      <p:sp>
        <p:nvSpPr>
          <p:cNvPr id="63" name="Rectangle 576"/>
          <p:cNvSpPr>
            <a:spLocks noChangeArrowheads="1"/>
          </p:cNvSpPr>
          <p:nvPr/>
        </p:nvSpPr>
        <p:spPr bwMode="auto">
          <a:xfrm>
            <a:off x="116632" y="8481392"/>
            <a:ext cx="3323416"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71450" indent="-171450" eaLnBrk="1" hangingPunct="1"/>
            <a:r>
              <a:rPr lang="en-US" altLang="ko-KR" sz="950" smtClean="0">
                <a:latin typeface="Arial" panose="020B0604020202020204" pitchFamily="34" charset="0"/>
                <a:ea typeface="돋움" pitchFamily="50" charset="-127"/>
                <a:cs typeface="Arial" panose="020B0604020202020204" pitchFamily="34" charset="0"/>
              </a:rPr>
              <a:t>15</a:t>
            </a:r>
            <a:r>
              <a:rPr lang="en-US" altLang="ko-KR" sz="950" dirty="0">
                <a:latin typeface="Arial" panose="020B0604020202020204" pitchFamily="34" charset="0"/>
                <a:ea typeface="돋움" pitchFamily="50" charset="-127"/>
                <a:cs typeface="Arial" panose="020B0604020202020204" pitchFamily="34" charset="0"/>
              </a:rPr>
              <a:t>. </a:t>
            </a:r>
            <a:r>
              <a:rPr lang="en-US" altLang="ko-KR" sz="950" dirty="0" smtClean="0">
                <a:latin typeface="Arial" panose="020B0604020202020204" pitchFamily="34" charset="0"/>
                <a:ea typeface="돋움" pitchFamily="50" charset="-127"/>
                <a:cs typeface="Arial" panose="020B0604020202020204" pitchFamily="34" charset="0"/>
              </a:rPr>
              <a:t>Ở </a:t>
            </a:r>
            <a:r>
              <a:rPr lang="en-US" altLang="ko-KR" sz="950" dirty="0" err="1" smtClean="0">
                <a:latin typeface="Arial" panose="020B0604020202020204" pitchFamily="34" charset="0"/>
                <a:ea typeface="돋움" pitchFamily="50" charset="-127"/>
                <a:cs typeface="Arial" panose="020B0604020202020204" pitchFamily="34" charset="0"/>
              </a:rPr>
              <a:t>Hàn</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Quốc</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dùng</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tần</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số</a:t>
            </a:r>
            <a:r>
              <a:rPr lang="ko-KR" altLang="en-US" sz="950" dirty="0" smtClean="0">
                <a:latin typeface="Arial" panose="020B0604020202020204" pitchFamily="34" charset="0"/>
                <a:ea typeface="돋움" pitchFamily="50" charset="-127"/>
                <a:cs typeface="Arial" panose="020B0604020202020204" pitchFamily="34" charset="0"/>
              </a:rPr>
              <a:t> </a:t>
            </a:r>
            <a:r>
              <a:rPr lang="en-US" altLang="ko-KR" sz="950" dirty="0">
                <a:latin typeface="Arial" panose="020B0604020202020204" pitchFamily="34" charset="0"/>
                <a:ea typeface="돋움" pitchFamily="50" charset="-127"/>
                <a:cs typeface="Arial" panose="020B0604020202020204" pitchFamily="34" charset="0"/>
              </a:rPr>
              <a:t>60[Hz</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nếu</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dùng</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một</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dirty="0" err="1" smtClean="0">
                <a:latin typeface="Arial" panose="020B0604020202020204" pitchFamily="34" charset="0"/>
                <a:ea typeface="돋움" pitchFamily="50" charset="-127"/>
                <a:cs typeface="Arial" panose="020B0604020202020204" pitchFamily="34" charset="0"/>
              </a:rPr>
              <a:t>pha</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err="1" smtClean="0">
                <a:latin typeface="Arial" panose="020B0604020202020204" pitchFamily="34" charset="0"/>
                <a:ea typeface="돋움" pitchFamily="50" charset="-127"/>
                <a:cs typeface="Arial" panose="020B0604020202020204" pitchFamily="34" charset="0"/>
              </a:rPr>
              <a:t>thì</a:t>
            </a:r>
            <a:r>
              <a:rPr lang="en-US" altLang="ko-KR" sz="950" smtClean="0">
                <a:latin typeface="Arial" panose="020B0604020202020204" pitchFamily="34" charset="0"/>
                <a:ea typeface="돋움" pitchFamily="50" charset="-127"/>
                <a:cs typeface="Arial" panose="020B0604020202020204" pitchFamily="34" charset="0"/>
              </a:rPr>
              <a:t> hiệu</a:t>
            </a:r>
            <a:r>
              <a:rPr lang="en-US" altLang="ko-KR" sz="950">
                <a:latin typeface="Arial" panose="020B0604020202020204" pitchFamily="34" charset="0"/>
                <a:ea typeface="돋움" pitchFamily="50" charset="-127"/>
                <a:cs typeface="Arial" panose="020B0604020202020204" pitchFamily="34" charset="0"/>
              </a:rPr>
              <a:t> </a:t>
            </a:r>
            <a:r>
              <a:rPr lang="en-US" altLang="ko-KR" sz="950" smtClean="0">
                <a:latin typeface="Arial" panose="020B0604020202020204" pitchFamily="34" charset="0"/>
                <a:ea typeface="돋움" pitchFamily="50" charset="-127"/>
                <a:cs typeface="Arial" panose="020B0604020202020204" pitchFamily="34" charset="0"/>
              </a:rPr>
              <a:t>số pha là </a:t>
            </a:r>
            <a:r>
              <a:rPr lang="en-US" altLang="ko-KR" sz="950" dirty="0" err="1" smtClean="0">
                <a:latin typeface="Arial" panose="020B0604020202020204" pitchFamily="34" charset="0"/>
                <a:ea typeface="돋움" pitchFamily="50" charset="-127"/>
                <a:cs typeface="Arial" panose="020B0604020202020204" pitchFamily="34" charset="0"/>
              </a:rPr>
              <a:t>bao</a:t>
            </a:r>
            <a:r>
              <a:rPr lang="en-US" altLang="ko-KR" sz="950" dirty="0" smtClean="0">
                <a:latin typeface="Arial" panose="020B0604020202020204" pitchFamily="34" charset="0"/>
                <a:ea typeface="돋움" pitchFamily="50" charset="-127"/>
                <a:cs typeface="Arial" panose="020B0604020202020204" pitchFamily="34" charset="0"/>
              </a:rPr>
              <a:t> </a:t>
            </a:r>
            <a:r>
              <a:rPr lang="en-US" altLang="ko-KR" sz="950" err="1" smtClean="0">
                <a:latin typeface="Arial" panose="020B0604020202020204" pitchFamily="34" charset="0"/>
                <a:ea typeface="돋움" pitchFamily="50" charset="-127"/>
                <a:cs typeface="Arial" panose="020B0604020202020204" pitchFamily="34" charset="0"/>
              </a:rPr>
              <a:t>nhiêu</a:t>
            </a:r>
            <a:r>
              <a:rPr lang="en-US" altLang="ko-KR" sz="950" smtClean="0">
                <a:latin typeface="Arial" panose="020B0604020202020204" pitchFamily="34" charset="0"/>
                <a:ea typeface="돋움" pitchFamily="50" charset="-127"/>
                <a:cs typeface="Arial" panose="020B0604020202020204" pitchFamily="34" charset="0"/>
              </a:rPr>
              <a:t>?</a:t>
            </a:r>
            <a:endParaRPr lang="en-US" altLang="ko-KR" sz="950" dirty="0">
              <a:latin typeface="Arial" panose="020B0604020202020204" pitchFamily="34" charset="0"/>
              <a:ea typeface="돋움" pitchFamily="50" charset="-127"/>
              <a:cs typeface="Arial" panose="020B0604020202020204" pitchFamily="34" charset="0"/>
            </a:endParaRPr>
          </a:p>
          <a:p>
            <a:pPr eaLnBrk="1" hangingPunct="1"/>
            <a:r>
              <a:rPr lang="en-US" altLang="ko-KR" sz="950">
                <a:latin typeface="Arial" panose="020B0604020202020204" pitchFamily="34" charset="0"/>
                <a:ea typeface="돋움" pitchFamily="50" charset="-127"/>
                <a:cs typeface="Arial" panose="020B0604020202020204" pitchFamily="34" charset="0"/>
              </a:rPr>
              <a:t> </a:t>
            </a:r>
            <a:endParaRPr lang="en-US" altLang="ko-KR" sz="950" smtClean="0">
              <a:latin typeface="Arial" panose="020B0604020202020204" pitchFamily="34" charset="0"/>
              <a:ea typeface="돋움" pitchFamily="50" charset="-127"/>
              <a:cs typeface="Arial" panose="020B0604020202020204" pitchFamily="34" charset="0"/>
            </a:endParaRPr>
          </a:p>
          <a:p>
            <a:pPr eaLnBrk="1" hangingPunct="1"/>
            <a:r>
              <a:rPr lang="en-US" altLang="ko-KR" sz="950" smtClean="0">
                <a:solidFill>
                  <a:srgbClr val="FF0000"/>
                </a:solidFill>
                <a:latin typeface="Arial" panose="020B0604020202020204" pitchFamily="34" charset="0"/>
                <a:cs typeface="Arial" panose="020B0604020202020204" pitchFamily="34" charset="0"/>
              </a:rPr>
              <a:t>A. </a:t>
            </a:r>
            <a:r>
              <a:rPr lang="en-US" altLang="ko-KR" sz="950" dirty="0">
                <a:solidFill>
                  <a:srgbClr val="FF0000"/>
                </a:solidFill>
                <a:latin typeface="Arial" panose="020B0604020202020204" pitchFamily="34" charset="0"/>
                <a:cs typeface="Arial" panose="020B0604020202020204" pitchFamily="34" charset="0"/>
              </a:rPr>
              <a:t>180</a:t>
            </a:r>
            <a:r>
              <a:rPr lang="en-US" altLang="ko-KR" sz="950">
                <a:latin typeface="Arial" panose="020B0604020202020204" pitchFamily="34" charset="0"/>
                <a:cs typeface="Arial" panose="020B0604020202020204" pitchFamily="34" charset="0"/>
              </a:rPr>
              <a:t>′  </a:t>
            </a:r>
            <a:r>
              <a:rPr lang="en-US" altLang="ko-KR" sz="950" smtClean="0">
                <a:latin typeface="Arial" panose="020B0604020202020204" pitchFamily="34" charset="0"/>
                <a:cs typeface="Arial" panose="020B0604020202020204" pitchFamily="34" charset="0"/>
              </a:rPr>
              <a:t>    B. </a:t>
            </a:r>
            <a:r>
              <a:rPr lang="en-US" altLang="ko-KR" sz="950" dirty="0">
                <a:latin typeface="Arial" panose="020B0604020202020204" pitchFamily="34" charset="0"/>
                <a:cs typeface="Arial" panose="020B0604020202020204" pitchFamily="34" charset="0"/>
              </a:rPr>
              <a:t>150</a:t>
            </a:r>
            <a:r>
              <a:rPr lang="en-US" altLang="ko-KR" sz="950">
                <a:latin typeface="Arial" panose="020B0604020202020204" pitchFamily="34" charset="0"/>
                <a:cs typeface="Arial" panose="020B0604020202020204" pitchFamily="34" charset="0"/>
              </a:rPr>
              <a:t>′  </a:t>
            </a:r>
            <a:r>
              <a:rPr lang="en-US" altLang="ko-KR" sz="950" smtClean="0">
                <a:latin typeface="Arial" panose="020B0604020202020204" pitchFamily="34" charset="0"/>
                <a:cs typeface="Arial" panose="020B0604020202020204" pitchFamily="34" charset="0"/>
              </a:rPr>
              <a:t>    C. </a:t>
            </a:r>
            <a:r>
              <a:rPr lang="en-US" altLang="ko-KR" sz="950" dirty="0">
                <a:latin typeface="Arial" panose="020B0604020202020204" pitchFamily="34" charset="0"/>
                <a:cs typeface="Arial" panose="020B0604020202020204" pitchFamily="34" charset="0"/>
              </a:rPr>
              <a:t>120</a:t>
            </a:r>
            <a:r>
              <a:rPr lang="en-US" altLang="ko-KR" sz="950">
                <a:latin typeface="Arial" panose="020B0604020202020204" pitchFamily="34" charset="0"/>
                <a:cs typeface="Arial" panose="020B0604020202020204" pitchFamily="34" charset="0"/>
              </a:rPr>
              <a:t>′  </a:t>
            </a:r>
            <a:r>
              <a:rPr lang="en-US" altLang="ko-KR" sz="950" smtClean="0">
                <a:latin typeface="Arial" panose="020B0604020202020204" pitchFamily="34" charset="0"/>
                <a:cs typeface="Arial" panose="020B0604020202020204" pitchFamily="34" charset="0"/>
              </a:rPr>
              <a:t>      D. </a:t>
            </a:r>
            <a:r>
              <a:rPr lang="en-US" altLang="ko-KR" sz="950">
                <a:latin typeface="Arial" panose="020B0604020202020204" pitchFamily="34" charset="0"/>
                <a:cs typeface="Arial" panose="020B0604020202020204" pitchFamily="34" charset="0"/>
              </a:rPr>
              <a:t>90</a:t>
            </a:r>
            <a:r>
              <a:rPr lang="en-US" altLang="ko-KR" sz="950" smtClean="0">
                <a:latin typeface="Arial" panose="020B0604020202020204" pitchFamily="34" charset="0"/>
                <a:cs typeface="Arial" panose="020B0604020202020204" pitchFamily="34" charset="0"/>
              </a:rPr>
              <a:t>′</a:t>
            </a:r>
            <a:endParaRPr lang="en-US" altLang="ko-KR" sz="950" dirty="0">
              <a:latin typeface="Arial" panose="020B0604020202020204" pitchFamily="34" charset="0"/>
              <a:cs typeface="Arial" panose="020B0604020202020204" pitchFamily="34" charset="0"/>
            </a:endParaRPr>
          </a:p>
        </p:txBody>
      </p:sp>
      <p:grpSp>
        <p:nvGrpSpPr>
          <p:cNvPr id="64" name="Group 587"/>
          <p:cNvGrpSpPr>
            <a:grpSpLocks/>
          </p:cNvGrpSpPr>
          <p:nvPr/>
        </p:nvGrpSpPr>
        <p:grpSpPr bwMode="auto">
          <a:xfrm>
            <a:off x="3625455" y="1521185"/>
            <a:ext cx="2924175" cy="1042308"/>
            <a:chOff x="2166" y="3522"/>
            <a:chExt cx="1964" cy="918"/>
          </a:xfrm>
        </p:grpSpPr>
        <p:pic>
          <p:nvPicPr>
            <p:cNvPr id="65" name="Picture 577" descr="ScreenHunter_00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66" y="3522"/>
              <a:ext cx="1964" cy="9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 name="Rectangle 578"/>
            <p:cNvSpPr>
              <a:spLocks noChangeArrowheads="1"/>
            </p:cNvSpPr>
            <p:nvPr/>
          </p:nvSpPr>
          <p:spPr bwMode="auto">
            <a:xfrm>
              <a:off x="2468" y="3787"/>
              <a:ext cx="318" cy="90"/>
            </a:xfrm>
            <a:prstGeom prst="rect">
              <a:avLst/>
            </a:prstGeom>
            <a:solidFill>
              <a:srgbClr val="FFFFFF"/>
            </a:solidFill>
            <a:ln w="9525">
              <a:solidFill>
                <a:srgbClr val="000000"/>
              </a:solidFill>
              <a:miter lim="800000"/>
              <a:headEnd/>
              <a:tailEnd/>
            </a:ln>
          </p:spPr>
          <p:txBody>
            <a:bodyPr anchor="ctr" anchorCtr="1"/>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50" smtClean="0">
                  <a:latin typeface="Arial" pitchFamily="34" charset="0"/>
                  <a:cs typeface="Arial" panose="020B0604020202020204" pitchFamily="34" charset="0"/>
                </a:rPr>
                <a:t>A.</a:t>
              </a:r>
              <a:endParaRPr lang="en-US" altLang="ko-KR" sz="950">
                <a:latin typeface="Arial" panose="020B0604020202020204" pitchFamily="34" charset="0"/>
                <a:cs typeface="Arial" panose="020B0604020202020204" pitchFamily="34" charset="0"/>
              </a:endParaRPr>
            </a:p>
          </p:txBody>
        </p:sp>
        <p:sp>
          <p:nvSpPr>
            <p:cNvPr id="67" name="Rectangle 579"/>
            <p:cNvSpPr>
              <a:spLocks noChangeArrowheads="1"/>
            </p:cNvSpPr>
            <p:nvPr/>
          </p:nvSpPr>
          <p:spPr bwMode="auto">
            <a:xfrm>
              <a:off x="2912" y="3841"/>
              <a:ext cx="318" cy="96"/>
            </a:xfrm>
            <a:prstGeom prst="rect">
              <a:avLst/>
            </a:prstGeom>
            <a:solidFill>
              <a:srgbClr val="FFFFFF"/>
            </a:solidFill>
            <a:ln w="9525">
              <a:solidFill>
                <a:srgbClr val="000000"/>
              </a:solidFill>
              <a:miter lim="800000"/>
              <a:headEnd/>
              <a:tailEnd/>
            </a:ln>
          </p:spPr>
          <p:txBody>
            <a:bodyPr anchor="ctr" anchorCtr="1"/>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itchFamily="34" charset="0"/>
                  <a:cs typeface="Arial" panose="020B0604020202020204" pitchFamily="34" charset="0"/>
                </a:rPr>
                <a:t>B.</a:t>
              </a:r>
              <a:endParaRPr lang="en-US" altLang="ko-KR" sz="950">
                <a:latin typeface="Arial" panose="020B0604020202020204" pitchFamily="34" charset="0"/>
                <a:cs typeface="Arial" panose="020B0604020202020204" pitchFamily="34" charset="0"/>
              </a:endParaRPr>
            </a:p>
          </p:txBody>
        </p:sp>
        <p:sp>
          <p:nvSpPr>
            <p:cNvPr id="68" name="Rectangle 580"/>
            <p:cNvSpPr>
              <a:spLocks noChangeArrowheads="1"/>
            </p:cNvSpPr>
            <p:nvPr/>
          </p:nvSpPr>
          <p:spPr bwMode="auto">
            <a:xfrm>
              <a:off x="3255" y="3835"/>
              <a:ext cx="318" cy="96"/>
            </a:xfrm>
            <a:prstGeom prst="rect">
              <a:avLst/>
            </a:prstGeom>
            <a:solidFill>
              <a:srgbClr val="FFFFFF"/>
            </a:solidFill>
            <a:ln w="9525">
              <a:solidFill>
                <a:srgbClr val="000000"/>
              </a:solidFill>
              <a:miter lim="800000"/>
              <a:headEnd/>
              <a:tailEnd/>
            </a:ln>
          </p:spPr>
          <p:txBody>
            <a:bodyPr anchor="ctr" anchorCtr="1"/>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FF0000"/>
                  </a:solidFill>
                  <a:latin typeface="Arial" pitchFamily="34" charset="0"/>
                  <a:cs typeface="Arial" panose="020B0604020202020204" pitchFamily="34" charset="0"/>
                </a:rPr>
                <a:t>C.</a:t>
              </a:r>
              <a:endParaRPr lang="en-US" altLang="ko-KR" sz="950">
                <a:solidFill>
                  <a:srgbClr val="FF0000"/>
                </a:solidFill>
                <a:latin typeface="Arial" panose="020B0604020202020204" pitchFamily="34" charset="0"/>
                <a:cs typeface="Arial" panose="020B0604020202020204" pitchFamily="34" charset="0"/>
              </a:endParaRPr>
            </a:p>
          </p:txBody>
        </p:sp>
        <p:sp>
          <p:nvSpPr>
            <p:cNvPr id="69" name="Rectangle 581"/>
            <p:cNvSpPr>
              <a:spLocks noChangeArrowheads="1"/>
            </p:cNvSpPr>
            <p:nvPr/>
          </p:nvSpPr>
          <p:spPr bwMode="auto">
            <a:xfrm>
              <a:off x="3536" y="4060"/>
              <a:ext cx="588" cy="129"/>
            </a:xfrm>
            <a:prstGeom prst="rect">
              <a:avLst/>
            </a:prstGeom>
            <a:solidFill>
              <a:srgbClr val="FFFFFF"/>
            </a:solidFill>
            <a:ln w="9525">
              <a:solidFill>
                <a:srgbClr val="000000"/>
              </a:solidFill>
              <a:miter lim="800000"/>
              <a:headEnd/>
              <a:tailEnd/>
            </a:ln>
          </p:spPr>
          <p:txBody>
            <a:bodyPr anchor="ctr" anchorCtr="1"/>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itchFamily="34" charset="0"/>
                  <a:cs typeface="Arial" panose="020B0604020202020204" pitchFamily="34" charset="0"/>
                </a:rPr>
                <a:t>D.</a:t>
              </a:r>
              <a:endParaRPr lang="en-US" altLang="ko-KR" sz="950">
                <a:latin typeface="Arial" panose="020B0604020202020204" pitchFamily="34" charset="0"/>
                <a:cs typeface="Arial" panose="020B0604020202020204" pitchFamily="34" charset="0"/>
              </a:endParaRPr>
            </a:p>
          </p:txBody>
        </p:sp>
        <p:sp>
          <p:nvSpPr>
            <p:cNvPr id="70" name="Rectangle 582"/>
            <p:cNvSpPr>
              <a:spLocks noChangeArrowheads="1"/>
            </p:cNvSpPr>
            <p:nvPr/>
          </p:nvSpPr>
          <p:spPr bwMode="auto">
            <a:xfrm>
              <a:off x="2498" y="4189"/>
              <a:ext cx="318" cy="84"/>
            </a:xfrm>
            <a:prstGeom prst="rect">
              <a:avLst/>
            </a:prstGeom>
            <a:solidFill>
              <a:srgbClr val="FFFFFF"/>
            </a:solidFill>
            <a:ln w="9525">
              <a:solidFill>
                <a:srgbClr val="000000"/>
              </a:solidFill>
              <a:miter lim="800000"/>
              <a:headEnd/>
              <a:tailEnd/>
            </a:ln>
          </p:spPr>
          <p:txBody>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latin typeface="Arial" pitchFamily="34" charset="0"/>
                <a:cs typeface="Arial" panose="020B0604020202020204" pitchFamily="34" charset="0"/>
              </a:endParaRPr>
            </a:p>
          </p:txBody>
        </p:sp>
      </p:grpSp>
      <p:sp>
        <p:nvSpPr>
          <p:cNvPr id="71" name="Rectangle 70"/>
          <p:cNvSpPr/>
          <p:nvPr/>
        </p:nvSpPr>
        <p:spPr>
          <a:xfrm>
            <a:off x="188548" y="3045222"/>
            <a:ext cx="3096430" cy="1115690"/>
          </a:xfrm>
          <a:prstGeom prst="rect">
            <a:avLst/>
          </a:prstGeom>
        </p:spPr>
        <p:txBody>
          <a:bodyPr wrap="square">
            <a:spAutoFit/>
          </a:bodyPr>
          <a:lstStyle/>
          <a:p>
            <a:pPr marL="109538" indent="-109538"/>
            <a:r>
              <a:rPr lang="en-US" altLang="ko-KR" sz="950" smtClean="0">
                <a:latin typeface="Arial" pitchFamily="34" charset="0"/>
                <a:ea typeface="돋움" pitchFamily="50" charset="-127"/>
                <a:cs typeface="Arial" pitchFamily="34" charset="0"/>
              </a:rPr>
              <a:t>1</a:t>
            </a:r>
            <a:r>
              <a:rPr lang="vi-VN" altLang="ko-KR" sz="950" smtClean="0">
                <a:latin typeface="Arial" pitchFamily="34" charset="0"/>
                <a:ea typeface="돋움" pitchFamily="50" charset="-127"/>
                <a:cs typeface="Arial" pitchFamily="34" charset="0"/>
              </a:rPr>
              <a:t>2</a:t>
            </a:r>
            <a:r>
              <a:rPr lang="vi-VN" altLang="ko-KR" sz="950">
                <a:latin typeface="Arial" pitchFamily="34" charset="0"/>
                <a:ea typeface="돋움" pitchFamily="50" charset="-127"/>
                <a:cs typeface="Arial" pitchFamily="34" charset="0"/>
              </a:rPr>
              <a:t>. Hiện tượng suất điện động xảy ra khi từ thông đi qua cuộn dây bị thay đổi là gì?</a:t>
            </a:r>
          </a:p>
          <a:p>
            <a:r>
              <a:rPr lang="en-US" altLang="ko-KR" sz="950">
                <a:latin typeface="Arial" pitchFamily="34" charset="0"/>
                <a:ea typeface="돋움" pitchFamily="50" charset="-127"/>
                <a:cs typeface="Arial" pitchFamily="34" charset="0"/>
              </a:rPr>
              <a:t>  </a:t>
            </a:r>
          </a:p>
          <a:p>
            <a:r>
              <a:rPr lang="vi-VN" altLang="ko-KR" sz="950">
                <a:latin typeface="Arial" pitchFamily="34" charset="0"/>
                <a:ea typeface="돋움" pitchFamily="50" charset="-127"/>
                <a:cs typeface="Arial" pitchFamily="34" charset="0"/>
              </a:rPr>
              <a:t>  </a:t>
            </a:r>
            <a:r>
              <a:rPr lang="en-US" altLang="ko-KR" sz="950" smtClean="0">
                <a:solidFill>
                  <a:srgbClr val="FF0000"/>
                </a:solidFill>
                <a:latin typeface="Arial" pitchFamily="34" charset="0"/>
                <a:ea typeface="돋움" pitchFamily="50" charset="-127"/>
                <a:cs typeface="Arial" pitchFamily="34" charset="0"/>
              </a:rPr>
              <a:t>A</a:t>
            </a:r>
            <a:r>
              <a:rPr lang="vi-VN" altLang="ko-KR" sz="950" smtClean="0">
                <a:solidFill>
                  <a:srgbClr val="FF0000"/>
                </a:solidFill>
                <a:latin typeface="Arial" pitchFamily="34" charset="0"/>
                <a:ea typeface="돋움" pitchFamily="50" charset="-127"/>
                <a:cs typeface="Arial" pitchFamily="34" charset="0"/>
              </a:rPr>
              <a:t> </a:t>
            </a:r>
            <a:r>
              <a:rPr lang="en-US" altLang="ko-KR" sz="950">
                <a:solidFill>
                  <a:srgbClr val="FF0000"/>
                </a:solidFill>
                <a:latin typeface="Arial" pitchFamily="34" charset="0"/>
                <a:ea typeface="돋움" pitchFamily="50" charset="-127"/>
                <a:cs typeface="Arial" pitchFamily="34" charset="0"/>
              </a:rPr>
              <a:t>C</a:t>
            </a:r>
            <a:r>
              <a:rPr lang="vi-VN" altLang="ko-KR" sz="950">
                <a:solidFill>
                  <a:srgbClr val="FF0000"/>
                </a:solidFill>
                <a:latin typeface="Arial" pitchFamily="34" charset="0"/>
                <a:ea typeface="돋움" pitchFamily="50" charset="-127"/>
                <a:cs typeface="Arial" pitchFamily="34" charset="0"/>
              </a:rPr>
              <a:t>ảm ứng điện từ</a:t>
            </a:r>
          </a:p>
          <a:p>
            <a:r>
              <a:rPr lang="vi-VN" altLang="ko-KR" sz="950">
                <a:latin typeface="Arial" pitchFamily="34" charset="0"/>
                <a:ea typeface="돋움" pitchFamily="50" charset="-127"/>
                <a:cs typeface="Arial" pitchFamily="34" charset="0"/>
              </a:rPr>
              <a:t>  </a:t>
            </a:r>
            <a:r>
              <a:rPr lang="en-US" altLang="ko-KR" sz="950" smtClean="0">
                <a:latin typeface="Arial" pitchFamily="34" charset="0"/>
                <a:ea typeface="돋움" pitchFamily="50" charset="-127"/>
                <a:cs typeface="Arial" pitchFamily="34" charset="0"/>
              </a:rPr>
              <a:t>B</a:t>
            </a:r>
            <a:r>
              <a:rPr lang="vi-VN" altLang="ko-KR" sz="950" smtClean="0">
                <a:latin typeface="Arial" pitchFamily="34" charset="0"/>
                <a:ea typeface="돋움" pitchFamily="50" charset="-127"/>
                <a:cs typeface="Arial" pitchFamily="34" charset="0"/>
              </a:rPr>
              <a:t> </a:t>
            </a:r>
            <a:r>
              <a:rPr lang="vi-VN" altLang="ko-KR" sz="950">
                <a:latin typeface="Arial" pitchFamily="34" charset="0"/>
                <a:ea typeface="돋움" pitchFamily="50" charset="-127"/>
                <a:cs typeface="Arial" pitchFamily="34" charset="0"/>
              </a:rPr>
              <a:t>Suất điện động cảm ứng</a:t>
            </a:r>
          </a:p>
          <a:p>
            <a:r>
              <a:rPr lang="en-US" altLang="ko-KR" sz="950">
                <a:latin typeface="Arial" pitchFamily="34" charset="0"/>
                <a:ea typeface="돋움" pitchFamily="50" charset="-127"/>
                <a:cs typeface="Arial" pitchFamily="34" charset="0"/>
              </a:rPr>
              <a:t>  </a:t>
            </a:r>
            <a:r>
              <a:rPr lang="en-US" altLang="ko-KR" sz="950" smtClean="0">
                <a:latin typeface="Arial" pitchFamily="34" charset="0"/>
                <a:ea typeface="돋움" pitchFamily="50" charset="-127"/>
                <a:cs typeface="Arial" pitchFamily="34" charset="0"/>
              </a:rPr>
              <a:t>C </a:t>
            </a:r>
            <a:r>
              <a:rPr lang="en-US" altLang="ko-KR" sz="950">
                <a:latin typeface="Arial" pitchFamily="34" charset="0"/>
                <a:ea typeface="돋움" pitchFamily="50" charset="-127"/>
                <a:cs typeface="Arial" pitchFamily="34" charset="0"/>
              </a:rPr>
              <a:t>Định luật Lenz</a:t>
            </a:r>
          </a:p>
          <a:p>
            <a:r>
              <a:rPr lang="en-US" altLang="ko-KR" sz="950">
                <a:latin typeface="Arial" pitchFamily="34" charset="0"/>
                <a:ea typeface="돋움" pitchFamily="50" charset="-127"/>
                <a:cs typeface="Arial" pitchFamily="34" charset="0"/>
              </a:rPr>
              <a:t>  </a:t>
            </a:r>
            <a:r>
              <a:rPr lang="en-US" altLang="ko-KR" sz="950" smtClean="0">
                <a:latin typeface="Arial" pitchFamily="34" charset="0"/>
                <a:ea typeface="돋움" pitchFamily="50" charset="-127"/>
                <a:cs typeface="Arial" pitchFamily="34" charset="0"/>
              </a:rPr>
              <a:t>D </a:t>
            </a:r>
            <a:r>
              <a:rPr lang="en-US" altLang="ko-KR" sz="950">
                <a:latin typeface="Arial" pitchFamily="34" charset="0"/>
                <a:ea typeface="돋움" pitchFamily="50" charset="-127"/>
                <a:cs typeface="Arial" pitchFamily="34" charset="0"/>
              </a:rPr>
              <a:t>Điện cảm</a:t>
            </a:r>
          </a:p>
        </p:txBody>
      </p:sp>
      <p:sp>
        <p:nvSpPr>
          <p:cNvPr id="72" name="직사각형 47"/>
          <p:cNvSpPr>
            <a:spLocks noChangeArrowheads="1"/>
          </p:cNvSpPr>
          <p:nvPr/>
        </p:nvSpPr>
        <p:spPr bwMode="auto">
          <a:xfrm>
            <a:off x="3384376" y="1136576"/>
            <a:ext cx="3429000"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r>
              <a:rPr lang="en-US" altLang="ko-KR" sz="950" smtClean="0">
                <a:latin typeface="Arial" panose="020B0604020202020204" pitchFamily="34" charset="0"/>
                <a:cs typeface="Arial" panose="020B0604020202020204" pitchFamily="34" charset="0"/>
              </a:rPr>
              <a:t>16</a:t>
            </a:r>
            <a:r>
              <a:rPr lang="en-US" altLang="ko-KR" sz="950">
                <a:latin typeface="Arial" panose="020B0604020202020204" pitchFamily="34" charset="0"/>
                <a:cs typeface="Arial" panose="020B0604020202020204" pitchFamily="34" charset="0"/>
              </a:rPr>
              <a:t>. Nhìn hình dưới đây và tìm giá trị hiệu </a:t>
            </a:r>
            <a:r>
              <a:rPr lang="en-US" altLang="ko-KR" sz="950" smtClean="0">
                <a:latin typeface="Arial" panose="020B0604020202020204" pitchFamily="34" charset="0"/>
                <a:cs typeface="Arial" panose="020B0604020202020204" pitchFamily="34" charset="0"/>
              </a:rPr>
              <a:t>dụng đúng vị trí?</a:t>
            </a:r>
            <a:endParaRPr lang="en-US" altLang="ko-KR" sz="950" dirty="0">
              <a:latin typeface="Arial" panose="020B0604020202020204" pitchFamily="34" charset="0"/>
              <a:cs typeface="Arial" panose="020B0604020202020204" pitchFamily="34" charset="0"/>
            </a:endParaRPr>
          </a:p>
        </p:txBody>
      </p:sp>
      <p:sp>
        <p:nvSpPr>
          <p:cNvPr id="73" name="Rectangle 74"/>
          <p:cNvSpPr>
            <a:spLocks noChangeArrowheads="1"/>
          </p:cNvSpPr>
          <p:nvPr/>
        </p:nvSpPr>
        <p:spPr bwMode="auto">
          <a:xfrm>
            <a:off x="3429000" y="5169024"/>
            <a:ext cx="3203784" cy="111569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panose="020B0604020202020204" pitchFamily="34" charset="0"/>
                <a:cs typeface="Arial" panose="020B0604020202020204" pitchFamily="34" charset="0"/>
              </a:rPr>
              <a:t>18</a:t>
            </a:r>
            <a:r>
              <a:rPr lang="en-US" altLang="ko-KR" sz="950">
                <a:latin typeface="Arial" panose="020B0604020202020204" pitchFamily="34" charset="0"/>
                <a:cs typeface="Arial" panose="020B0604020202020204" pitchFamily="34" charset="0"/>
              </a:rPr>
              <a:t>. G</a:t>
            </a:r>
            <a:r>
              <a:rPr lang="en-US" altLang="ko-KR" sz="950" smtClean="0">
                <a:latin typeface="Arial" panose="020B0604020202020204" pitchFamily="34" charset="0"/>
                <a:cs typeface="Arial" panose="020B0604020202020204" pitchFamily="34" charset="0"/>
              </a:rPr>
              <a:t>iải </a:t>
            </a:r>
            <a:r>
              <a:rPr lang="en-US" altLang="ko-KR" sz="950" err="1" smtClean="0">
                <a:latin typeface="Arial" panose="020B0604020202020204" pitchFamily="34" charset="0"/>
                <a:cs typeface="Arial" panose="020B0604020202020204" pitchFamily="34" charset="0"/>
              </a:rPr>
              <a:t>thích</a:t>
            </a:r>
            <a:r>
              <a:rPr lang="en-US" altLang="ko-KR" sz="950" smtClean="0">
                <a:latin typeface="Arial" panose="020B0604020202020204" pitchFamily="34" charset="0"/>
                <a:cs typeface="Arial" panose="020B0604020202020204" pitchFamily="34" charset="0"/>
              </a:rPr>
              <a:t> nào sai nói về </a:t>
            </a:r>
            <a:r>
              <a:rPr lang="en-US" altLang="ko-KR" sz="950" dirty="0" err="1" smtClean="0">
                <a:latin typeface="Arial" panose="020B0604020202020204" pitchFamily="34" charset="0"/>
                <a:cs typeface="Arial" panose="020B0604020202020204" pitchFamily="34" charset="0"/>
              </a:rPr>
              <a:t>chu</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kì</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và</a:t>
            </a:r>
            <a:r>
              <a:rPr lang="en-US" altLang="ko-KR" sz="950" dirty="0" smtClean="0">
                <a:latin typeface="Arial" panose="020B0604020202020204" pitchFamily="34" charset="0"/>
                <a:cs typeface="Arial" panose="020B0604020202020204" pitchFamily="34" charset="0"/>
              </a:rPr>
              <a:t> </a:t>
            </a:r>
            <a:r>
              <a:rPr lang="en-US" altLang="ko-KR" sz="950" err="1" smtClean="0">
                <a:latin typeface="Arial" panose="020B0604020202020204" pitchFamily="34" charset="0"/>
                <a:cs typeface="Arial" panose="020B0604020202020204" pitchFamily="34" charset="0"/>
              </a:rPr>
              <a:t>tần</a:t>
            </a:r>
            <a:r>
              <a:rPr lang="en-US" altLang="ko-KR" sz="950" smtClean="0">
                <a:latin typeface="Arial" panose="020B0604020202020204" pitchFamily="34" charset="0"/>
                <a:cs typeface="Arial" panose="020B0604020202020204" pitchFamily="34" charset="0"/>
              </a:rPr>
              <a:t> số?</a:t>
            </a:r>
            <a:endParaRPr lang="en-US" altLang="ko-KR" sz="950" dirty="0">
              <a:latin typeface="Arial" panose="020B0604020202020204" pitchFamily="34" charset="0"/>
              <a:cs typeface="Arial" panose="020B0604020202020204" pitchFamily="34" charset="0"/>
            </a:endParaRPr>
          </a:p>
          <a:p>
            <a:pPr marL="174625" indent="-174625" eaLnBrk="1" hangingPunct="1"/>
            <a:r>
              <a:rPr lang="en-US" altLang="ko-KR" sz="950" smtClean="0">
                <a:latin typeface="Arial" panose="020B0604020202020204" pitchFamily="34" charset="0"/>
                <a:cs typeface="Arial" panose="020B0604020202020204" pitchFamily="34" charset="0"/>
              </a:rPr>
              <a:t>A. </a:t>
            </a:r>
            <a:r>
              <a:rPr lang="en-US" altLang="ko-KR" sz="950" dirty="0" smtClean="0">
                <a:latin typeface="Arial" panose="020B0604020202020204" pitchFamily="34" charset="0"/>
                <a:cs typeface="Arial" panose="020B0604020202020204" pitchFamily="34" charset="0"/>
              </a:rPr>
              <a:t>Chu </a:t>
            </a:r>
            <a:r>
              <a:rPr lang="en-US" altLang="ko-KR" sz="950" dirty="0" err="1" smtClean="0">
                <a:latin typeface="Arial" panose="020B0604020202020204" pitchFamily="34" charset="0"/>
                <a:cs typeface="Arial" panose="020B0604020202020204" pitchFamily="34" charset="0"/>
              </a:rPr>
              <a:t>kì</a:t>
            </a:r>
            <a:r>
              <a:rPr lang="en-US" altLang="ko-KR" sz="950" dirty="0">
                <a:latin typeface="Arial" panose="020B0604020202020204" pitchFamily="34" charset="0"/>
                <a:cs typeface="Arial" panose="020B0604020202020204" pitchFamily="34" charset="0"/>
              </a:rPr>
              <a: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Chiều</a:t>
            </a:r>
            <a:r>
              <a:rPr lang="en-US" altLang="ko-KR" sz="950" dirty="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dài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thời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gian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mà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một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dạng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sóng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lặp</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lại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được</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hoàn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thành</a:t>
            </a:r>
            <a:r>
              <a:rPr lang="ko-KR" altLang="en-US" sz="950" dirty="0" smtClean="0">
                <a:latin typeface="Arial" panose="020B0604020202020204" pitchFamily="34" charset="0"/>
                <a:cs typeface="Arial" panose="020B0604020202020204" pitchFamily="34" charset="0"/>
              </a:rPr>
              <a:t> </a:t>
            </a:r>
            <a:endParaRPr lang="ko-KR" altLang="en-US" sz="950" dirty="0">
              <a:latin typeface="Arial" panose="020B0604020202020204" pitchFamily="34" charset="0"/>
              <a:cs typeface="Arial" panose="020B0604020202020204" pitchFamily="34" charset="0"/>
            </a:endParaRPr>
          </a:p>
          <a:p>
            <a:pPr marL="171450" indent="-171450" eaLnBrk="1" hangingPunct="1"/>
            <a:r>
              <a:rPr lang="en-US" altLang="ko-KR" sz="950" smtClean="0">
                <a:latin typeface="Arial" panose="020B0604020202020204" pitchFamily="34" charset="0"/>
                <a:cs typeface="Arial" panose="020B0604020202020204" pitchFamily="34" charset="0"/>
              </a:rPr>
              <a:t>B.</a:t>
            </a:r>
            <a:r>
              <a:rPr lang="ko-KR" altLang="en-US" sz="95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Tần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số</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Số</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lần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lặp</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lại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của</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một</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dạng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sóng</a:t>
            </a:r>
            <a:r>
              <a:rPr lang="en-US" altLang="ko-KR" sz="950" dirty="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được</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hoàn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thành</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trong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vòng</a:t>
            </a:r>
            <a:r>
              <a:rPr lang="en-US" altLang="ko-KR" sz="950" dirty="0" smtClean="0">
                <a:latin typeface="Arial" panose="020B0604020202020204" pitchFamily="34" charset="0"/>
                <a:cs typeface="Arial" panose="020B0604020202020204" pitchFamily="34" charset="0"/>
              </a:rPr>
              <a:t> 1 </a:t>
            </a:r>
            <a:r>
              <a:rPr lang="en-US" altLang="ko-KR" sz="950" dirty="0" err="1" smtClean="0">
                <a:latin typeface="Arial" panose="020B0604020202020204" pitchFamily="34" charset="0"/>
                <a:cs typeface="Arial" panose="020B0604020202020204" pitchFamily="34" charset="0"/>
              </a:rPr>
              <a:t>giây</a:t>
            </a:r>
            <a:endParaRPr lang="ko-KR" altLang="en-US" sz="950" dirty="0">
              <a:latin typeface="Arial" panose="020B0604020202020204" pitchFamily="34" charset="0"/>
              <a:cs typeface="Arial" panose="020B0604020202020204" pitchFamily="34" charset="0"/>
            </a:endParaRPr>
          </a:p>
          <a:p>
            <a:pPr eaLnBrk="1" hangingPunct="1"/>
            <a:r>
              <a:rPr lang="en-US" altLang="ko-KR" sz="950" smtClean="0">
                <a:latin typeface="Arial" panose="020B0604020202020204" pitchFamily="34" charset="0"/>
                <a:cs typeface="Arial" panose="020B0604020202020204" pitchFamily="34" charset="0"/>
              </a:rPr>
              <a:t>C.</a:t>
            </a:r>
            <a:r>
              <a:rPr lang="ko-KR" altLang="en-US" sz="95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Kí</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hiệu</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chu</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kì</a:t>
            </a:r>
            <a:r>
              <a:rPr lang="en-US" altLang="ko-KR" sz="950" dirty="0" smtClean="0">
                <a:latin typeface="Arial" panose="020B0604020202020204" pitchFamily="34" charset="0"/>
                <a:cs typeface="Arial" panose="020B0604020202020204" pitchFamily="34" charset="0"/>
              </a:rPr>
              <a:t> : T </a:t>
            </a:r>
            <a:r>
              <a:rPr lang="en-US" altLang="ko-KR" sz="950" dirty="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Kí</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hiệu</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tần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số</a:t>
            </a:r>
            <a:r>
              <a:rPr lang="en-US" altLang="ko-KR" sz="950" dirty="0" smtClean="0">
                <a:latin typeface="Arial" panose="020B0604020202020204" pitchFamily="34" charset="0"/>
                <a:cs typeface="Arial" panose="020B0604020202020204" pitchFamily="34" charset="0"/>
              </a:rPr>
              <a:t>: f</a:t>
            </a:r>
          </a:p>
          <a:p>
            <a:pPr eaLnBrk="1" hangingPunct="1"/>
            <a:r>
              <a:rPr lang="en-US" altLang="ko-KR" sz="950" smtClean="0">
                <a:solidFill>
                  <a:srgbClr val="FF0000"/>
                </a:solidFill>
                <a:latin typeface="Arial" panose="020B0604020202020204" pitchFamily="34" charset="0"/>
                <a:cs typeface="Arial" panose="020B0604020202020204" pitchFamily="34" charset="0"/>
              </a:rPr>
              <a:t>D.</a:t>
            </a:r>
            <a:r>
              <a:rPr lang="ko-KR" altLang="en-US" sz="95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Đơn</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err="1" smtClean="0">
                <a:solidFill>
                  <a:srgbClr val="FF0000"/>
                </a:solidFill>
                <a:latin typeface="Arial" panose="020B0604020202020204" pitchFamily="34" charset="0"/>
                <a:cs typeface="Arial" panose="020B0604020202020204" pitchFamily="34" charset="0"/>
              </a:rPr>
              <a:t>vị</a:t>
            </a:r>
            <a:r>
              <a:rPr lang="en-US" altLang="ko-KR" sz="950" smtClean="0">
                <a:solidFill>
                  <a:srgbClr val="FF0000"/>
                </a:solidFill>
                <a:latin typeface="Arial" panose="020B0604020202020204" pitchFamily="34" charset="0"/>
                <a:cs typeface="Arial" panose="020B0604020202020204" pitchFamily="34" charset="0"/>
              </a:rPr>
              <a:t> chu kỳ: </a:t>
            </a:r>
            <a:r>
              <a:rPr lang="en-US" altLang="ko-KR" sz="950" dirty="0">
                <a:solidFill>
                  <a:srgbClr val="FF0000"/>
                </a:solidFill>
                <a:latin typeface="Arial" panose="020B0604020202020204" pitchFamily="34" charset="0"/>
                <a:cs typeface="Arial" panose="020B0604020202020204" pitchFamily="34" charset="0"/>
              </a:rPr>
              <a:t>Hz  </a:t>
            </a:r>
            <a:endParaRPr lang="ko-KR" altLang="en-US" sz="950" dirty="0">
              <a:solidFill>
                <a:srgbClr val="FF0000"/>
              </a:solidFill>
              <a:latin typeface="Arial" panose="020B0604020202020204" pitchFamily="34" charset="0"/>
              <a:cs typeface="Arial" panose="020B0604020202020204" pitchFamily="34" charset="0"/>
            </a:endParaRPr>
          </a:p>
        </p:txBody>
      </p:sp>
      <p:sp>
        <p:nvSpPr>
          <p:cNvPr id="74" name="Rectangle 285"/>
          <p:cNvSpPr>
            <a:spLocks noChangeArrowheads="1"/>
          </p:cNvSpPr>
          <p:nvPr/>
        </p:nvSpPr>
        <p:spPr bwMode="auto">
          <a:xfrm>
            <a:off x="3429000" y="8526541"/>
            <a:ext cx="3275792"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Arial" panose="020B0604020202020204" pitchFamily="34" charset="0"/>
                <a:cs typeface="Arial" panose="020B0604020202020204" pitchFamily="34" charset="0"/>
              </a:rPr>
              <a:t>2</a:t>
            </a:r>
            <a:r>
              <a:rPr lang="en-US" altLang="ko-KR" sz="950" smtClean="0">
                <a:latin typeface="Arial" panose="020B0604020202020204" pitchFamily="34" charset="0"/>
                <a:cs typeface="Arial" panose="020B0604020202020204" pitchFamily="34" charset="0"/>
              </a:rPr>
              <a:t>0</a:t>
            </a:r>
            <a:r>
              <a:rPr lang="en-US" altLang="ko-KR" sz="950" dirty="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Chọn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đáp</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án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không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phải</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là</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cuộn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cảm</a:t>
            </a:r>
            <a:r>
              <a:rPr lang="en-US" altLang="ko-KR" sz="950" dirty="0" smtClean="0">
                <a:latin typeface="Arial" panose="020B0604020202020204" pitchFamily="34" charset="0"/>
                <a:cs typeface="Arial" panose="020B0604020202020204" pitchFamily="34" charset="0"/>
              </a:rPr>
              <a:t> ( coil inductor</a:t>
            </a:r>
            <a:r>
              <a:rPr lang="en-US" altLang="ko-KR" sz="950" smtClean="0">
                <a:latin typeface="Arial" panose="020B0604020202020204" pitchFamily="34" charset="0"/>
                <a:cs typeface="Arial" panose="020B0604020202020204" pitchFamily="34" charset="0"/>
              </a:rPr>
              <a:t>)? </a:t>
            </a:r>
            <a:endParaRPr lang="en-US" altLang="ko-KR" sz="950" dirty="0">
              <a:latin typeface="Arial" panose="020B0604020202020204" pitchFamily="34" charset="0"/>
              <a:cs typeface="Arial" panose="020B0604020202020204" pitchFamily="34" charset="0"/>
            </a:endParaRPr>
          </a:p>
          <a:p>
            <a:pPr eaLnBrk="1" hangingPunct="1"/>
            <a:r>
              <a:rPr lang="en-US" altLang="ko-KR" sz="950" smtClean="0">
                <a:latin typeface="Arial" panose="020B0604020202020204" pitchFamily="34" charset="0"/>
                <a:cs typeface="Arial" panose="020B0604020202020204" pitchFamily="34" charset="0"/>
              </a:rPr>
              <a:t> A. </a:t>
            </a:r>
            <a:r>
              <a:rPr lang="en-US" altLang="ko-KR" sz="950" dirty="0" err="1" smtClean="0">
                <a:latin typeface="Arial" panose="020B0604020202020204" pitchFamily="34" charset="0"/>
                <a:cs typeface="Arial" panose="020B0604020202020204" pitchFamily="34" charset="0"/>
              </a:rPr>
              <a:t>Cuộn</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cảm</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kháng</a:t>
            </a:r>
            <a:r>
              <a:rPr lang="en-US" altLang="ko-KR" sz="950" dirty="0" smtClean="0">
                <a:latin typeface="Arial" panose="020B0604020202020204" pitchFamily="34" charset="0"/>
                <a:cs typeface="Arial" panose="020B0604020202020204" pitchFamily="34" charset="0"/>
              </a:rPr>
              <a:t> (choke coil</a:t>
            </a:r>
            <a:r>
              <a:rPr lang="en-US" altLang="ko-KR" sz="950" smtClean="0">
                <a:latin typeface="Arial" panose="020B0604020202020204" pitchFamily="34" charset="0"/>
                <a:cs typeface="Arial" panose="020B0604020202020204" pitchFamily="34" charset="0"/>
              </a:rPr>
              <a:t>)</a:t>
            </a:r>
            <a:r>
              <a:rPr lang="ko-KR" altLang="en-US" sz="950" smtClean="0">
                <a:latin typeface="Arial" panose="020B0604020202020204" pitchFamily="34" charset="0"/>
                <a:cs typeface="Arial" panose="020B0604020202020204" pitchFamily="34" charset="0"/>
              </a:rPr>
              <a:t>    </a:t>
            </a:r>
            <a:r>
              <a:rPr lang="en-US" altLang="ko-KR" sz="950" smtClean="0">
                <a:latin typeface="Arial" panose="020B0604020202020204" pitchFamily="34" charset="0"/>
                <a:cs typeface="Arial" panose="020B0604020202020204" pitchFamily="34" charset="0"/>
              </a:rPr>
              <a:t>B.</a:t>
            </a:r>
            <a:r>
              <a:rPr lang="ko-KR" altLang="en-US" sz="950" smtClean="0">
                <a:latin typeface="Arial" panose="020B0604020202020204" pitchFamily="34" charset="0"/>
                <a:cs typeface="Arial" panose="020B0604020202020204" pitchFamily="34" charset="0"/>
              </a:rPr>
              <a:t> </a:t>
            </a:r>
            <a:r>
              <a:rPr lang="en-US" altLang="ko-KR" sz="950" dirty="0">
                <a:latin typeface="Arial" panose="020B0604020202020204" pitchFamily="34" charset="0"/>
                <a:cs typeface="Arial" panose="020B0604020202020204" pitchFamily="34" charset="0"/>
              </a:rPr>
              <a:t>B</a:t>
            </a:r>
            <a:r>
              <a:rPr lang="en-US" altLang="ko-KR" sz="950" smtClean="0">
                <a:latin typeface="Arial" panose="020B0604020202020204" pitchFamily="34" charset="0"/>
                <a:cs typeface="Arial" panose="020B0604020202020204" pitchFamily="34" charset="0"/>
              </a:rPr>
              <a:t>ar </a:t>
            </a:r>
            <a:r>
              <a:rPr lang="en-US" altLang="ko-KR" sz="950" dirty="0" err="1" smtClean="0">
                <a:latin typeface="Arial" panose="020B0604020202020204" pitchFamily="34" charset="0"/>
                <a:cs typeface="Arial" panose="020B0604020202020204" pitchFamily="34" charset="0"/>
              </a:rPr>
              <a:t>anten</a:t>
            </a:r>
            <a:r>
              <a:rPr lang="ko-KR" altLang="en-US" sz="950" dirty="0" smtClean="0">
                <a:latin typeface="Arial" panose="020B0604020202020204" pitchFamily="34" charset="0"/>
                <a:cs typeface="Arial" panose="020B0604020202020204" pitchFamily="34" charset="0"/>
              </a:rPr>
              <a:t>  </a:t>
            </a:r>
            <a:endParaRPr lang="en-US" altLang="ko-KR" sz="950" dirty="0" smtClean="0">
              <a:latin typeface="Arial" panose="020B0604020202020204" pitchFamily="34" charset="0"/>
              <a:cs typeface="Arial" panose="020B0604020202020204" pitchFamily="34" charset="0"/>
            </a:endParaRPr>
          </a:p>
          <a:p>
            <a:pPr eaLnBrk="1" hangingPunct="1"/>
            <a:r>
              <a:rPr lang="ko-KR" altLang="en-US" sz="950" smtClean="0">
                <a:latin typeface="Arial" panose="020B0604020202020204" pitchFamily="34" charset="0"/>
                <a:cs typeface="Arial" panose="020B0604020202020204" pitchFamily="34" charset="0"/>
              </a:rPr>
              <a:t> </a:t>
            </a:r>
            <a:r>
              <a:rPr lang="en-US" altLang="ko-KR" sz="950" smtClean="0">
                <a:latin typeface="Arial" panose="020B0604020202020204" pitchFamily="34" charset="0"/>
                <a:cs typeface="Arial" panose="020B0604020202020204" pitchFamily="34" charset="0"/>
              </a:rPr>
              <a:t>C.</a:t>
            </a:r>
            <a:r>
              <a:rPr lang="ko-KR" altLang="en-US" sz="950" smtClean="0">
                <a:latin typeface="Arial" panose="020B0604020202020204" pitchFamily="34" charset="0"/>
                <a:cs typeface="Arial" panose="020B0604020202020204" pitchFamily="34" charset="0"/>
              </a:rPr>
              <a:t> </a:t>
            </a:r>
            <a:r>
              <a:rPr lang="en-US" altLang="ko-KR" sz="950" dirty="0" smtClean="0">
                <a:latin typeface="Arial" panose="020B0604020202020204" pitchFamily="34" charset="0"/>
                <a:cs typeface="Arial" panose="020B0604020202020204" pitchFamily="34" charset="0"/>
              </a:rPr>
              <a:t>Choke </a:t>
            </a:r>
            <a:r>
              <a:rPr lang="en-US" altLang="ko-KR" sz="950" dirty="0" err="1" smtClean="0">
                <a:latin typeface="Arial" panose="020B0604020202020204" pitchFamily="34" charset="0"/>
                <a:cs typeface="Arial" panose="020B0604020202020204" pitchFamily="34" charset="0"/>
              </a:rPr>
              <a:t>dùng</a:t>
            </a:r>
            <a:r>
              <a:rPr lang="en-US" altLang="ko-KR" sz="950" dirty="0" smtClean="0">
                <a:latin typeface="Arial" panose="020B0604020202020204" pitchFamily="34" charset="0"/>
                <a:cs typeface="Arial" panose="020B0604020202020204" pitchFamily="34" charset="0"/>
              </a:rPr>
              <a:t> </a:t>
            </a:r>
            <a:r>
              <a:rPr lang="en-US" altLang="ko-KR" sz="950" dirty="0" err="1" smtClean="0">
                <a:latin typeface="Arial" panose="020B0604020202020204" pitchFamily="34" charset="0"/>
                <a:cs typeface="Arial" panose="020B0604020202020204" pitchFamily="34" charset="0"/>
              </a:rPr>
              <a:t>cho</a:t>
            </a:r>
            <a:r>
              <a:rPr lang="en-US" altLang="ko-KR" sz="950" dirty="0" smtClean="0">
                <a:latin typeface="Arial" panose="020B0604020202020204" pitchFamily="34" charset="0"/>
                <a:cs typeface="Arial" panose="020B0604020202020204" pitchFamily="34" charset="0"/>
              </a:rPr>
              <a:t> </a:t>
            </a:r>
            <a:r>
              <a:rPr lang="en-US" altLang="ko-KR" sz="950" err="1" smtClean="0">
                <a:latin typeface="Arial" panose="020B0604020202020204" pitchFamily="34" charset="0"/>
                <a:cs typeface="Arial" panose="020B0604020202020204" pitchFamily="34" charset="0"/>
              </a:rPr>
              <a:t>nguồn</a:t>
            </a:r>
            <a:r>
              <a:rPr lang="ko-KR" altLang="en-US" sz="950" smtClean="0">
                <a:latin typeface="Arial" panose="020B0604020202020204" pitchFamily="34" charset="0"/>
                <a:cs typeface="Arial" panose="020B0604020202020204" pitchFamily="34" charset="0"/>
              </a:rPr>
              <a:t>             </a:t>
            </a:r>
            <a:r>
              <a:rPr lang="en-US" altLang="ko-KR" sz="950" smtClean="0">
                <a:solidFill>
                  <a:srgbClr val="FF0000"/>
                </a:solidFill>
                <a:latin typeface="Arial" panose="020B0604020202020204" pitchFamily="34" charset="0"/>
                <a:cs typeface="Arial" panose="020B0604020202020204" pitchFamily="34" charset="0"/>
              </a:rPr>
              <a:t>D.</a:t>
            </a:r>
            <a:r>
              <a:rPr lang="ko-KR" altLang="en-US" sz="950" smtClean="0">
                <a:solidFill>
                  <a:srgbClr val="FF0000"/>
                </a:solidFill>
                <a:latin typeface="Arial" panose="020B0604020202020204" pitchFamily="34" charset="0"/>
                <a:cs typeface="Arial" panose="020B0604020202020204" pitchFamily="34" charset="0"/>
              </a:rPr>
              <a:t> </a:t>
            </a:r>
            <a:r>
              <a:rPr lang="en-US" altLang="ko-KR" sz="950" dirty="0" err="1">
                <a:solidFill>
                  <a:srgbClr val="FF0000"/>
                </a:solidFill>
                <a:latin typeface="Arial" panose="020B0604020202020204" pitchFamily="34" charset="0"/>
                <a:cs typeface="Arial" panose="020B0604020202020204" pitchFamily="34" charset="0"/>
              </a:rPr>
              <a:t>M</a:t>
            </a:r>
            <a:r>
              <a:rPr lang="en-US" altLang="ko-KR" sz="950" smtClean="0">
                <a:solidFill>
                  <a:srgbClr val="FF0000"/>
                </a:solidFill>
                <a:latin typeface="Arial" panose="020B0604020202020204" pitchFamily="34" charset="0"/>
                <a:cs typeface="Arial" panose="020B0604020202020204" pitchFamily="34" charset="0"/>
              </a:rPr>
              <a:t>áy </a:t>
            </a:r>
            <a:r>
              <a:rPr lang="en-US" altLang="ko-KR" sz="950" dirty="0" err="1" smtClean="0">
                <a:solidFill>
                  <a:srgbClr val="FF0000"/>
                </a:solidFill>
                <a:latin typeface="Arial" panose="020B0604020202020204" pitchFamily="34" charset="0"/>
                <a:cs typeface="Arial" panose="020B0604020202020204" pitchFamily="34" charset="0"/>
              </a:rPr>
              <a:t>biến</a:t>
            </a:r>
            <a:r>
              <a:rPr lang="en-US" altLang="ko-KR" sz="950" dirty="0" smtClean="0">
                <a:solidFill>
                  <a:srgbClr val="FF0000"/>
                </a:solidFill>
                <a:latin typeface="Arial" panose="020B0604020202020204" pitchFamily="34" charset="0"/>
                <a:cs typeface="Arial" panose="020B0604020202020204" pitchFamily="34" charset="0"/>
              </a:rPr>
              <a:t> </a:t>
            </a:r>
            <a:r>
              <a:rPr lang="en-US" altLang="ko-KR" sz="950" dirty="0" err="1" smtClean="0">
                <a:solidFill>
                  <a:srgbClr val="FF0000"/>
                </a:solidFill>
                <a:latin typeface="Arial" panose="020B0604020202020204" pitchFamily="34" charset="0"/>
                <a:cs typeface="Arial" panose="020B0604020202020204" pitchFamily="34" charset="0"/>
              </a:rPr>
              <a:t>thế</a:t>
            </a:r>
            <a:endParaRPr lang="ko-KR" altLang="en-US" sz="950" dirty="0">
              <a:solidFill>
                <a:srgbClr val="FF0000"/>
              </a:solidFill>
              <a:latin typeface="Arial" panose="020B0604020202020204" pitchFamily="34" charset="0"/>
              <a:cs typeface="Arial" panose="020B0604020202020204" pitchFamily="34" charset="0"/>
            </a:endParaRPr>
          </a:p>
        </p:txBody>
      </p:sp>
      <p:sp>
        <p:nvSpPr>
          <p:cNvPr id="75" name="직사각형 47"/>
          <p:cNvSpPr>
            <a:spLocks noChangeArrowheads="1"/>
          </p:cNvSpPr>
          <p:nvPr/>
        </p:nvSpPr>
        <p:spPr bwMode="auto">
          <a:xfrm>
            <a:off x="3501008" y="3416761"/>
            <a:ext cx="3203784"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r>
              <a:rPr lang="en-US" altLang="ko-KR" sz="950" smtClean="0">
                <a:solidFill>
                  <a:srgbClr val="000000"/>
                </a:solidFill>
                <a:latin typeface="Arial" pitchFamily="34" charset="0"/>
                <a:ea typeface="돋움" pitchFamily="50" charset="-127"/>
                <a:cs typeface="Arial" pitchFamily="34" charset="0"/>
              </a:rPr>
              <a:t>17. </a:t>
            </a:r>
            <a:r>
              <a:rPr lang="en-US" altLang="ko-KR" sz="950" dirty="0" err="1" smtClean="0">
                <a:solidFill>
                  <a:srgbClr val="000000"/>
                </a:solidFill>
                <a:latin typeface="Arial" pitchFamily="34" charset="0"/>
                <a:ea typeface="돋움" pitchFamily="50" charset="-127"/>
                <a:cs typeface="Arial" pitchFamily="34" charset="0"/>
              </a:rPr>
              <a:t>Cái</a:t>
            </a:r>
            <a:r>
              <a:rPr lang="en-US" altLang="ko-KR" sz="950" dirty="0" smtClean="0">
                <a:solidFill>
                  <a:srgbClr val="000000"/>
                </a:solidFill>
                <a:latin typeface="Arial" pitchFamily="34" charset="0"/>
                <a:ea typeface="돋움" pitchFamily="50" charset="-127"/>
                <a:cs typeface="Arial" pitchFamily="34" charset="0"/>
              </a:rPr>
              <a:t> </a:t>
            </a:r>
            <a:r>
              <a:rPr lang="en-US" altLang="ko-KR" sz="950" err="1" smtClean="0">
                <a:solidFill>
                  <a:srgbClr val="000000"/>
                </a:solidFill>
                <a:latin typeface="Arial" pitchFamily="34" charset="0"/>
                <a:ea typeface="돋움" pitchFamily="50" charset="-127"/>
                <a:cs typeface="Arial" pitchFamily="34" charset="0"/>
              </a:rPr>
              <a:t>nào</a:t>
            </a:r>
            <a:r>
              <a:rPr lang="en-US" altLang="ko-KR" sz="950" smtClean="0">
                <a:solidFill>
                  <a:srgbClr val="000000"/>
                </a:solidFill>
                <a:latin typeface="Arial" pitchFamily="34" charset="0"/>
                <a:ea typeface="돋움" pitchFamily="50" charset="-127"/>
                <a:cs typeface="Arial" pitchFamily="34" charset="0"/>
              </a:rPr>
              <a:t> cần off nguồn điện đi trước kho đo</a:t>
            </a:r>
            <a:r>
              <a:rPr lang="en-US" altLang="ko-KR" sz="950" smtClean="0">
                <a:solidFill>
                  <a:srgbClr val="000000"/>
                </a:solidFill>
                <a:latin typeface="Arial" pitchFamily="34" charset="0"/>
                <a:cs typeface="Arial" pitchFamily="34" charset="0"/>
              </a:rPr>
              <a:t>?</a:t>
            </a:r>
            <a:endParaRPr lang="en-US" altLang="ko-KR" sz="950" dirty="0">
              <a:solidFill>
                <a:srgbClr val="000000"/>
              </a:solidFill>
              <a:latin typeface="Arial" pitchFamily="34" charset="0"/>
              <a:ea typeface="돋움" pitchFamily="50" charset="-127"/>
              <a:cs typeface="Arial" pitchFamily="34" charset="0"/>
            </a:endParaRPr>
          </a:p>
          <a:p>
            <a:endParaRPr lang="en-US" altLang="ko-KR" sz="950" smtClean="0">
              <a:solidFill>
                <a:srgbClr val="000000"/>
              </a:solidFill>
              <a:latin typeface="Arial" pitchFamily="34" charset="0"/>
              <a:ea typeface="돋움" pitchFamily="50" charset="-127"/>
              <a:cs typeface="Arial" pitchFamily="34" charset="0"/>
            </a:endParaRPr>
          </a:p>
          <a:p>
            <a:pPr marL="228600" indent="-228600">
              <a:buAutoNum type="alphaUcPeriod"/>
            </a:pPr>
            <a:r>
              <a:rPr lang="en-US" altLang="ko-KR" sz="950" smtClean="0">
                <a:solidFill>
                  <a:srgbClr val="000000"/>
                </a:solidFill>
                <a:latin typeface="Arial" pitchFamily="34" charset="0"/>
                <a:ea typeface="돋움" pitchFamily="50" charset="-127"/>
                <a:cs typeface="Arial" pitchFamily="34" charset="0"/>
              </a:rPr>
              <a:t>Điện </a:t>
            </a:r>
            <a:r>
              <a:rPr lang="en-US" altLang="ko-KR" sz="950" dirty="0" err="1" smtClean="0">
                <a:solidFill>
                  <a:srgbClr val="000000"/>
                </a:solidFill>
                <a:latin typeface="Arial" pitchFamily="34" charset="0"/>
                <a:ea typeface="돋움" pitchFamily="50" charset="-127"/>
                <a:cs typeface="Arial" pitchFamily="34" charset="0"/>
              </a:rPr>
              <a:t>áp</a:t>
            </a:r>
            <a:r>
              <a:rPr lang="en-US" altLang="ko-KR" sz="950" dirty="0" smtClean="0">
                <a:solidFill>
                  <a:srgbClr val="000000"/>
                </a:solidFill>
                <a:latin typeface="Arial" pitchFamily="34" charset="0"/>
                <a:ea typeface="돋움" pitchFamily="50" charset="-127"/>
                <a:cs typeface="Arial" pitchFamily="34" charset="0"/>
              </a:rPr>
              <a:t> </a:t>
            </a:r>
            <a:r>
              <a:rPr lang="en-US" altLang="ko-KR" sz="950" dirty="0" err="1" smtClean="0">
                <a:solidFill>
                  <a:srgbClr val="000000"/>
                </a:solidFill>
                <a:latin typeface="Arial" pitchFamily="34" charset="0"/>
                <a:ea typeface="돋움" pitchFamily="50" charset="-127"/>
                <a:cs typeface="Arial" pitchFamily="34" charset="0"/>
              </a:rPr>
              <a:t>xoay</a:t>
            </a:r>
            <a:r>
              <a:rPr lang="en-US" altLang="ko-KR" sz="950" dirty="0" smtClean="0">
                <a:solidFill>
                  <a:srgbClr val="000000"/>
                </a:solidFill>
                <a:latin typeface="Arial" pitchFamily="34" charset="0"/>
                <a:ea typeface="돋움" pitchFamily="50" charset="-127"/>
                <a:cs typeface="Arial" pitchFamily="34" charset="0"/>
              </a:rPr>
              <a:t> </a:t>
            </a:r>
            <a:r>
              <a:rPr lang="en-US" altLang="ko-KR" sz="950" err="1" smtClean="0">
                <a:solidFill>
                  <a:srgbClr val="000000"/>
                </a:solidFill>
                <a:latin typeface="Arial" pitchFamily="34" charset="0"/>
                <a:ea typeface="돋움" pitchFamily="50" charset="-127"/>
                <a:cs typeface="Arial" pitchFamily="34" charset="0"/>
              </a:rPr>
              <a:t>chiều</a:t>
            </a:r>
            <a:r>
              <a:rPr lang="en-US" altLang="ko-KR" sz="950" smtClean="0">
                <a:solidFill>
                  <a:srgbClr val="000000"/>
                </a:solidFill>
                <a:latin typeface="Arial" pitchFamily="34" charset="0"/>
                <a:ea typeface="돋움" pitchFamily="50" charset="-127"/>
                <a:cs typeface="Arial" pitchFamily="34" charset="0"/>
              </a:rPr>
              <a:t>  </a:t>
            </a:r>
          </a:p>
          <a:p>
            <a:pPr marL="228600" indent="-228600">
              <a:buAutoNum type="alphaUcPeriod"/>
            </a:pPr>
            <a:r>
              <a:rPr lang="en-US" altLang="ko-KR" sz="950" smtClean="0">
                <a:solidFill>
                  <a:srgbClr val="000000"/>
                </a:solidFill>
                <a:latin typeface="Arial" pitchFamily="34" charset="0"/>
                <a:ea typeface="돋움" pitchFamily="50" charset="-127"/>
                <a:cs typeface="Arial" pitchFamily="34" charset="0"/>
              </a:rPr>
              <a:t>Dòng </a:t>
            </a:r>
            <a:r>
              <a:rPr lang="en-US" altLang="ko-KR" sz="950" dirty="0" err="1" smtClean="0">
                <a:solidFill>
                  <a:srgbClr val="000000"/>
                </a:solidFill>
                <a:latin typeface="Arial" pitchFamily="34" charset="0"/>
                <a:ea typeface="돋움" pitchFamily="50" charset="-127"/>
                <a:cs typeface="Arial" pitchFamily="34" charset="0"/>
              </a:rPr>
              <a:t>điện</a:t>
            </a:r>
            <a:r>
              <a:rPr lang="en-US" altLang="ko-KR" sz="950" dirty="0" smtClean="0">
                <a:solidFill>
                  <a:srgbClr val="000000"/>
                </a:solidFill>
                <a:latin typeface="Arial" pitchFamily="34" charset="0"/>
                <a:ea typeface="돋움" pitchFamily="50" charset="-127"/>
                <a:cs typeface="Arial" pitchFamily="34" charset="0"/>
              </a:rPr>
              <a:t> </a:t>
            </a:r>
            <a:r>
              <a:rPr lang="en-US" altLang="ko-KR" sz="950" dirty="0" err="1" smtClean="0">
                <a:solidFill>
                  <a:srgbClr val="000000"/>
                </a:solidFill>
                <a:latin typeface="Arial" pitchFamily="34" charset="0"/>
                <a:ea typeface="돋움" pitchFamily="50" charset="-127"/>
                <a:cs typeface="Arial" pitchFamily="34" charset="0"/>
              </a:rPr>
              <a:t>xoay</a:t>
            </a:r>
            <a:r>
              <a:rPr lang="en-US" altLang="ko-KR" sz="950" dirty="0" smtClean="0">
                <a:solidFill>
                  <a:srgbClr val="000000"/>
                </a:solidFill>
                <a:latin typeface="Arial" pitchFamily="34" charset="0"/>
                <a:ea typeface="돋움" pitchFamily="50" charset="-127"/>
                <a:cs typeface="Arial" pitchFamily="34" charset="0"/>
              </a:rPr>
              <a:t> </a:t>
            </a:r>
            <a:r>
              <a:rPr lang="en-US" altLang="ko-KR" sz="950" err="1" smtClean="0">
                <a:solidFill>
                  <a:srgbClr val="000000"/>
                </a:solidFill>
                <a:latin typeface="Arial" pitchFamily="34" charset="0"/>
                <a:ea typeface="돋움" pitchFamily="50" charset="-127"/>
                <a:cs typeface="Arial" pitchFamily="34" charset="0"/>
              </a:rPr>
              <a:t>chiều</a:t>
            </a:r>
            <a:r>
              <a:rPr lang="ko-KR" altLang="en-US" sz="950" smtClean="0">
                <a:solidFill>
                  <a:srgbClr val="000000"/>
                </a:solidFill>
                <a:latin typeface="Arial" pitchFamily="34" charset="0"/>
                <a:ea typeface="돋움" pitchFamily="50" charset="-127"/>
                <a:cs typeface="Arial" pitchFamily="34" charset="0"/>
              </a:rPr>
              <a:t>  </a:t>
            </a:r>
            <a:endParaRPr lang="en-US" altLang="ko-KR" sz="950" smtClean="0">
              <a:solidFill>
                <a:srgbClr val="000000"/>
              </a:solidFill>
              <a:latin typeface="Arial" pitchFamily="34" charset="0"/>
              <a:ea typeface="돋움" pitchFamily="50" charset="-127"/>
              <a:cs typeface="Arial" pitchFamily="34" charset="0"/>
            </a:endParaRPr>
          </a:p>
          <a:p>
            <a:r>
              <a:rPr lang="en-US" altLang="ko-KR" sz="950" smtClean="0">
                <a:solidFill>
                  <a:srgbClr val="000000"/>
                </a:solidFill>
                <a:latin typeface="Arial" pitchFamily="34" charset="0"/>
                <a:ea typeface="돋움" pitchFamily="50" charset="-127"/>
                <a:cs typeface="Arial" pitchFamily="34" charset="0"/>
              </a:rPr>
              <a:t>C.    Điện </a:t>
            </a:r>
            <a:r>
              <a:rPr lang="en-US" altLang="ko-KR" sz="950" dirty="0" err="1" smtClean="0">
                <a:solidFill>
                  <a:srgbClr val="000000"/>
                </a:solidFill>
                <a:latin typeface="Arial" pitchFamily="34" charset="0"/>
                <a:ea typeface="돋움" pitchFamily="50" charset="-127"/>
                <a:cs typeface="Arial" pitchFamily="34" charset="0"/>
              </a:rPr>
              <a:t>áp</a:t>
            </a:r>
            <a:r>
              <a:rPr lang="en-US" altLang="ko-KR" sz="950" dirty="0" smtClean="0">
                <a:solidFill>
                  <a:srgbClr val="000000"/>
                </a:solidFill>
                <a:latin typeface="Arial" pitchFamily="34" charset="0"/>
                <a:ea typeface="돋움" pitchFamily="50" charset="-127"/>
                <a:cs typeface="Arial" pitchFamily="34" charset="0"/>
              </a:rPr>
              <a:t> 1 </a:t>
            </a:r>
            <a:r>
              <a:rPr lang="en-US" altLang="ko-KR" sz="950" err="1" smtClean="0">
                <a:solidFill>
                  <a:srgbClr val="000000"/>
                </a:solidFill>
                <a:latin typeface="Arial" pitchFamily="34" charset="0"/>
                <a:ea typeface="돋움" pitchFamily="50" charset="-127"/>
                <a:cs typeface="Arial" pitchFamily="34" charset="0"/>
              </a:rPr>
              <a:t>chiều</a:t>
            </a:r>
            <a:r>
              <a:rPr lang="ko-KR" altLang="en-US" sz="950" smtClean="0">
                <a:solidFill>
                  <a:srgbClr val="000000"/>
                </a:solidFill>
                <a:latin typeface="Arial" pitchFamily="34" charset="0"/>
                <a:ea typeface="돋움" pitchFamily="50" charset="-127"/>
                <a:cs typeface="Arial" pitchFamily="34" charset="0"/>
              </a:rPr>
              <a:t>       </a:t>
            </a:r>
            <a:endParaRPr lang="en-US" altLang="ko-KR" sz="950" smtClean="0">
              <a:solidFill>
                <a:srgbClr val="000000"/>
              </a:solidFill>
              <a:latin typeface="Arial" pitchFamily="34" charset="0"/>
              <a:ea typeface="돋움" pitchFamily="50" charset="-127"/>
              <a:cs typeface="Arial" pitchFamily="34" charset="0"/>
            </a:endParaRPr>
          </a:p>
          <a:p>
            <a:r>
              <a:rPr lang="en-US" altLang="ko-KR" sz="950" smtClean="0">
                <a:solidFill>
                  <a:srgbClr val="FF0000"/>
                </a:solidFill>
                <a:latin typeface="Arial" pitchFamily="34" charset="0"/>
                <a:ea typeface="돋움" pitchFamily="50" charset="-127"/>
                <a:cs typeface="Arial" pitchFamily="34" charset="0"/>
              </a:rPr>
              <a:t>D.</a:t>
            </a:r>
            <a:r>
              <a:rPr lang="ko-KR" altLang="en-US" sz="950" smtClean="0">
                <a:solidFill>
                  <a:srgbClr val="FF0000"/>
                </a:solidFill>
                <a:latin typeface="Arial" pitchFamily="34" charset="0"/>
                <a:ea typeface="돋움" pitchFamily="50" charset="-127"/>
                <a:cs typeface="Arial" pitchFamily="34" charset="0"/>
              </a:rPr>
              <a:t>    </a:t>
            </a:r>
            <a:r>
              <a:rPr lang="en-US" altLang="ko-KR" sz="950" smtClean="0">
                <a:solidFill>
                  <a:srgbClr val="FF0000"/>
                </a:solidFill>
                <a:latin typeface="Arial" pitchFamily="34" charset="0"/>
                <a:ea typeface="돋움" pitchFamily="50" charset="-127"/>
                <a:cs typeface="Arial" pitchFamily="34" charset="0"/>
              </a:rPr>
              <a:t>Điện trở cách điện</a:t>
            </a:r>
            <a:endParaRPr lang="ko-KR" altLang="en-US" sz="950" dirty="0">
              <a:solidFill>
                <a:srgbClr val="FF0000"/>
              </a:solidFill>
              <a:latin typeface="Arial" pitchFamily="34" charset="0"/>
              <a:ea typeface="돋움" pitchFamily="50" charset="-127"/>
              <a:cs typeface="Arial" pitchFamily="34" charset="0"/>
            </a:endParaRPr>
          </a:p>
        </p:txBody>
      </p:sp>
      <p:sp>
        <p:nvSpPr>
          <p:cNvPr id="76" name="Rectangle 591"/>
          <p:cNvSpPr>
            <a:spLocks noChangeArrowheads="1"/>
          </p:cNvSpPr>
          <p:nvPr/>
        </p:nvSpPr>
        <p:spPr bwMode="auto">
          <a:xfrm>
            <a:off x="3429000" y="6866002"/>
            <a:ext cx="312420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14300" indent="-114300" eaLnBrk="1" hangingPunct="1"/>
            <a:r>
              <a:rPr lang="en-US" altLang="ko-KR" sz="950" dirty="0">
                <a:latin typeface="Times New Roman" pitchFamily="18" charset="0"/>
                <a:cs typeface="Times New Roman" pitchFamily="18" charset="0"/>
              </a:rPr>
              <a:t>19.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sẽ</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4 </a:t>
            </a:r>
            <a:r>
              <a:rPr lang="en-US" altLang="ko-KR" sz="950" dirty="0" err="1" smtClean="0">
                <a:latin typeface="Times New Roman" pitchFamily="18" charset="0"/>
                <a:cs typeface="Times New Roman" pitchFamily="18" charset="0"/>
              </a:rPr>
              <a:t>yếu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4 </a:t>
            </a:r>
            <a:r>
              <a:rPr lang="en-US" altLang="ko-KR" sz="950" dirty="0" err="1" smtClean="0">
                <a:latin typeface="Times New Roman" pitchFamily="18" charset="0"/>
                <a:cs typeface="Times New Roman" pitchFamily="18" charset="0"/>
              </a:rPr>
              <a:t>yếu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đó</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 A. Trong lượng </a:t>
            </a:r>
            <a:r>
              <a:rPr lang="en-US" altLang="ko-KR" sz="950" dirty="0" err="1" smtClean="0">
                <a:solidFill>
                  <a:srgbClr val="FF0000"/>
                </a:solidFill>
                <a:latin typeface="Times New Roman" pitchFamily="18" charset="0"/>
                <a:cs typeface="Times New Roman" pitchFamily="18" charset="0"/>
              </a:rPr>
              <a:t>của</a:t>
            </a:r>
            <a:r>
              <a:rPr lang="en-US" altLang="ko-KR" sz="950" dirty="0" smtClean="0">
                <a:solidFill>
                  <a:srgbClr val="FF0000"/>
                </a:solidFill>
                <a:latin typeface="Times New Roman" pitchFamily="18" charset="0"/>
                <a:cs typeface="Times New Roman" pitchFamily="18" charset="0"/>
              </a:rPr>
              <a:t> </a:t>
            </a:r>
            <a:r>
              <a:rPr lang="en-US" altLang="ko-KR" sz="950" err="1" smtClean="0">
                <a:solidFill>
                  <a:srgbClr val="FF0000"/>
                </a:solidFill>
                <a:latin typeface="Times New Roman" pitchFamily="18" charset="0"/>
                <a:cs typeface="Times New Roman" pitchFamily="18" charset="0"/>
              </a:rPr>
              <a:t>dây</a:t>
            </a:r>
            <a:r>
              <a:rPr lang="en-US" altLang="ko-KR" sz="950" smtClean="0">
                <a:solidFill>
                  <a:srgbClr val="FF0000"/>
                </a:solidFill>
                <a:latin typeface="Times New Roman" pitchFamily="18" charset="0"/>
                <a:cs typeface="Times New Roman" pitchFamily="18" charset="0"/>
              </a:rPr>
              <a:t> điện</a:t>
            </a:r>
            <a:r>
              <a:rPr lang="ko-KR" altLang="en-US" sz="950">
                <a:solidFill>
                  <a:srgbClr val="FF0000"/>
                </a:solidFill>
                <a:latin typeface="Times New Roman" pitchFamily="18" charset="0"/>
                <a:cs typeface="Times New Roman" pitchFamily="18" charset="0"/>
              </a:rPr>
              <a:t> </a:t>
            </a:r>
            <a:r>
              <a:rPr lang="ko-KR" altLang="en-US" sz="950" smtClean="0">
                <a:solidFill>
                  <a:srgbClr val="FF0000"/>
                </a:solidFill>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endParaRPr lang="ko-KR" altLang="en-US" sz="950" dirty="0">
              <a:latin typeface="Times New Roman" pitchFamily="18" charset="0"/>
              <a:cs typeface="Times New Roman" pitchFamily="18" charset="0"/>
            </a:endParaRPr>
          </a:p>
          <a:p>
            <a:pPr eaLnBrk="1" hangingPunct="1"/>
            <a:r>
              <a:rPr lang="ko-KR" altLang="en-US"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điện</a:t>
            </a:r>
            <a:r>
              <a:rPr lang="en-US" altLang="ko-KR" sz="950" smtClean="0">
                <a:latin typeface="Times New Roman" pitchFamily="18" charset="0"/>
                <a:cs typeface="Times New Roman" pitchFamily="18" charset="0"/>
              </a:rPr>
              <a:t> </a:t>
            </a:r>
            <a:r>
              <a:rPr lang="ko-KR" altLang="en-US" sz="95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p:txBody>
      </p:sp>
    </p:spTree>
    <p:extLst>
      <p:ext uri="{BB962C8B-B14F-4D97-AF65-F5344CB8AC3E}">
        <p14:creationId xmlns:p14="http://schemas.microsoft.com/office/powerpoint/2010/main" val="32366510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latin typeface="Times New Roman" pitchFamily="18" charset="0"/>
              <a:cs typeface="Times New Roman" pitchFamily="18" charset="0"/>
            </a:endParaRPr>
          </a:p>
          <a:p>
            <a:pPr eaLnBrk="1" fontAlgn="base" hangingPunct="1">
              <a:spcBef>
                <a:spcPct val="0"/>
              </a:spcBef>
              <a:spcAft>
                <a:spcPct val="0"/>
              </a:spcAft>
            </a:pPr>
            <a:endParaRPr lang="en-US" altLang="ko-KR" smtClean="0">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PLC :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40</a:t>
            </a:r>
            <a:endParaRPr lang="ko-KR" altLang="en-US" sz="950" b="1" dirty="0" smtClean="0">
              <a:latin typeface="Times New Roman" pitchFamily="18" charset="0"/>
              <a:cs typeface="Times New Roman" pitchFamily="18" charset="0"/>
            </a:endParaRPr>
          </a:p>
        </p:txBody>
      </p:sp>
      <p:sp>
        <p:nvSpPr>
          <p:cNvPr id="105" name="Rectangle 7"/>
          <p:cNvSpPr>
            <a:spLocks noChangeArrowheads="1"/>
          </p:cNvSpPr>
          <p:nvPr/>
        </p:nvSpPr>
        <p:spPr bwMode="auto">
          <a:xfrm>
            <a:off x="189190" y="120858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 </a:t>
            </a:r>
            <a:r>
              <a:rPr lang="vi-VN" altLang="ko-KR" sz="950">
                <a:latin typeface="Times New Roman" pitchFamily="18" charset="0"/>
                <a:ea typeface="LG Smart_H Regular" panose="020B0600000101010101" pitchFamily="34" charset="-127"/>
                <a:cs typeface="Times New Roman" pitchFamily="18" charset="0"/>
              </a:rPr>
              <a:t>Đâu không phải nội dung của bảng điều khiển </a:t>
            </a:r>
            <a:r>
              <a:rPr lang="vi-VN" altLang="ko-KR" sz="950" smtClean="0">
                <a:latin typeface="Times New Roman" pitchFamily="18" charset="0"/>
                <a:ea typeface="LG Smart_H Regular" panose="020B0600000101010101" pitchFamily="34" charset="-127"/>
                <a:cs typeface="Times New Roman" pitchFamily="18" charset="0"/>
              </a:rPr>
              <a:t>Relay?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Điều </a:t>
            </a:r>
            <a:r>
              <a:rPr lang="vi-VN" altLang="ko-KR" sz="950">
                <a:latin typeface="Times New Roman" pitchFamily="18" charset="0"/>
                <a:ea typeface="LG Smart_H Regular" panose="020B0600000101010101" pitchFamily="34" charset="-127"/>
                <a:cs typeface="Times New Roman" pitchFamily="18" charset="0"/>
              </a:rPr>
              <a:t>khiển bằng Hard </a:t>
            </a:r>
            <a:r>
              <a:rPr lang="vi-VN" altLang="ko-KR" sz="950" smtClean="0">
                <a:latin typeface="Times New Roman" pitchFamily="18" charset="0"/>
                <a:ea typeface="LG Smart_H Regular" panose="020B0600000101010101" pitchFamily="34" charset="-127"/>
                <a:cs typeface="Times New Roman" pitchFamily="18" charset="0"/>
              </a:rPr>
              <a:t>logic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Dễ bảo dưỡng và sửa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chữa</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Điều khiển có tiếp </a:t>
            </a:r>
            <a:r>
              <a:rPr lang="en-US" altLang="ko-KR" sz="950" smtClean="0">
                <a:latin typeface="Times New Roman" pitchFamily="18" charset="0"/>
                <a:ea typeface="LG Smart_H Regular" panose="020B0600000101010101" pitchFamily="34" charset="-127"/>
                <a:cs typeface="Times New Roman" pitchFamily="18" charset="0"/>
              </a:rPr>
              <a:t>xúc</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Khó mở rộng system</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6" name="Rectangle 7"/>
          <p:cNvSpPr>
            <a:spLocks noChangeArrowheads="1"/>
          </p:cNvSpPr>
          <p:nvPr/>
        </p:nvSpPr>
        <p:spPr bwMode="auto">
          <a:xfrm>
            <a:off x="174625" y="250472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22. </a:t>
            </a:r>
            <a:r>
              <a:rPr lang="vi-VN" altLang="ko-KR" sz="950">
                <a:latin typeface="Times New Roman" pitchFamily="18" charset="0"/>
                <a:ea typeface="LG Smart_H Regular" panose="020B0600000101010101" pitchFamily="34" charset="-127"/>
                <a:cs typeface="Times New Roman" pitchFamily="18" charset="0"/>
              </a:rPr>
              <a:t>Trường hợp ON nguồn điện CPU  Module 12 giờ 1 ngày: thời gian đảm bảo của tuổi thọ battery thẻ SRAM </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là </a:t>
            </a:r>
            <a:r>
              <a:rPr lang="vi-VN" altLang="ko-KR" sz="950">
                <a:latin typeface="Times New Roman" pitchFamily="18" charset="0"/>
                <a:ea typeface="LG Smart_H Regular" panose="020B0600000101010101" pitchFamily="34" charset="-127"/>
                <a:cs typeface="Times New Roman" pitchFamily="18" charset="0"/>
              </a:rPr>
              <a:t>bao </a:t>
            </a:r>
            <a:r>
              <a:rPr lang="vi-VN" altLang="ko-KR" sz="950" smtClean="0">
                <a:latin typeface="Times New Roman" pitchFamily="18" charset="0"/>
                <a:ea typeface="LG Smart_H Regular" panose="020B0600000101010101" pitchFamily="34" charset="-127"/>
                <a:cs typeface="Times New Roman" pitchFamily="18" charset="0"/>
              </a:rPr>
              <a:t>lâu?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6 tháng</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1 </a:t>
            </a:r>
            <a:r>
              <a:rPr lang="vi-VN" altLang="ko-KR" sz="950">
                <a:latin typeface="Times New Roman" pitchFamily="18" charset="0"/>
                <a:ea typeface="LG Smart_H Regular" panose="020B0600000101010101" pitchFamily="34" charset="-127"/>
                <a:cs typeface="Times New Roman" pitchFamily="18" charset="0"/>
              </a:rPr>
              <a:t>năm</a:t>
            </a: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1</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.1</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 năm</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10 năm</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7" name="Rectangle 7"/>
          <p:cNvSpPr>
            <a:spLocks noChangeArrowheads="1"/>
          </p:cNvSpPr>
          <p:nvPr/>
        </p:nvSpPr>
        <p:spPr bwMode="auto">
          <a:xfrm>
            <a:off x="201890" y="419952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 </a:t>
            </a:r>
            <a:r>
              <a:rPr lang="vi-VN" altLang="ko-KR" sz="950">
                <a:latin typeface="Times New Roman" pitchFamily="18" charset="0"/>
                <a:ea typeface="LG Smart_H Regular" panose="020B0600000101010101" pitchFamily="34" charset="-127"/>
                <a:cs typeface="Times New Roman" pitchFamily="18" charset="0"/>
              </a:rPr>
              <a:t>Module kỹ năng đặc biệt, Module kỹ năng intelligent, Module Nhập Xuất sử dụng nguồn điện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220V</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110V</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24V</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5</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V</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109" name="Rectangle 7"/>
          <p:cNvSpPr>
            <a:spLocks noChangeArrowheads="1"/>
          </p:cNvSpPr>
          <p:nvPr/>
        </p:nvSpPr>
        <p:spPr bwMode="auto">
          <a:xfrm>
            <a:off x="215483" y="8238509"/>
            <a:ext cx="3239810" cy="53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Đâu là Bit Device có thể duy trì tĩnh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X                B. Y                C. M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 L</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3449862" y="113657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Sau khi Chỉnh sửa chương trình chế độ Offline trên GX Work 2(GX Developer ). Cần thực hiện tổ hợp phím tắt nào để có thể lưu chương trình?</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en-US" altLang="ko-KR" sz="950">
                <a:latin typeface="Times New Roman" pitchFamily="18" charset="0"/>
                <a:ea typeface="LG Smart_H Regular" panose="020B0600000101010101" pitchFamily="34" charset="-127"/>
                <a:cs typeface="Times New Roman" pitchFamily="18" charset="0"/>
              </a:rPr>
              <a:t>Shift F2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B. F</a:t>
            </a:r>
            <a:r>
              <a:rPr lang="en-US" altLang="ko-KR" sz="950">
                <a:solidFill>
                  <a:srgbClr val="FF0000"/>
                </a:solidFill>
                <a:latin typeface="Times New Roman" pitchFamily="18" charset="0"/>
                <a:ea typeface="LG Smart_H Regular" panose="020B0600000101010101" pitchFamily="34" charset="-127"/>
                <a:cs typeface="Times New Roman" pitchFamily="18" charset="0"/>
              </a:rPr>
              <a:t>4</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smtClean="0">
                <a:latin typeface="Times New Roman" pitchFamily="18" charset="0"/>
                <a:ea typeface="LG Smart_H Regular" panose="020B0600000101010101" pitchFamily="34" charset="-127"/>
                <a:cs typeface="Times New Roman" pitchFamily="18" charset="0"/>
              </a:rPr>
              <a:t>F</a:t>
            </a:r>
            <a:r>
              <a:rPr lang="en-US" altLang="ko-KR" sz="950" smtClean="0">
                <a:latin typeface="Times New Roman" pitchFamily="18" charset="0"/>
                <a:ea typeface="LG Smart_H Regular" panose="020B0600000101010101" pitchFamily="34" charset="-127"/>
                <a:cs typeface="Times New Roman" pitchFamily="18" charset="0"/>
              </a:rPr>
              <a:t>2           D. </a:t>
            </a:r>
            <a:r>
              <a:rPr lang="vi-VN" altLang="ko-KR" sz="950">
                <a:latin typeface="Times New Roman" pitchFamily="18" charset="0"/>
                <a:ea typeface="LG Smart_H Regular" panose="020B0600000101010101" pitchFamily="34" charset="-127"/>
                <a:cs typeface="Times New Roman" pitchFamily="18" charset="0"/>
              </a:rPr>
              <a:t>Ctr + F4</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239932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Hãy chon đúng giải thích về </a:t>
            </a:r>
            <a:r>
              <a:rPr lang="vi-VN" altLang="ko-KR" sz="950" smtClean="0">
                <a:latin typeface="Times New Roman" pitchFamily="18" charset="0"/>
                <a:ea typeface="LG Smart_H Regular" panose="020B0600000101010101" pitchFamily="34" charset="-127"/>
                <a:cs typeface="Times New Roman" pitchFamily="18" charset="0"/>
              </a:rPr>
              <a:t>Note?</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Biểu </a:t>
            </a:r>
            <a:r>
              <a:rPr lang="vi-VN" altLang="ko-KR" sz="950">
                <a:solidFill>
                  <a:srgbClr val="FF0000"/>
                </a:solidFill>
                <a:latin typeface="Times New Roman" pitchFamily="18" charset="0"/>
                <a:ea typeface="LG Smart_H Regular" panose="020B0600000101010101" pitchFamily="34" charset="-127"/>
                <a:cs typeface="Times New Roman" pitchFamily="18" charset="0"/>
              </a:rPr>
              <a:t>thị việc viết để giải thích về 1 khối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program</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Biểu thị việc viết để giải thích về cả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Biểu thị việc viết để giải thích về 1 hàng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Biểu thị comment được viết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2" name="Rectangle 7"/>
          <p:cNvSpPr>
            <a:spLocks noChangeArrowheads="1"/>
          </p:cNvSpPr>
          <p:nvPr/>
        </p:nvSpPr>
        <p:spPr bwMode="auto">
          <a:xfrm>
            <a:off x="3419475" y="3909318"/>
            <a:ext cx="3233208"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Để phân chia đầu vào ra của Card được gắn vào khi cài đặt Parameter phải thao tác phần nào sau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Device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I/O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Assigment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PLC </a:t>
            </a:r>
            <a:r>
              <a:rPr lang="vi-VN" altLang="ko-KR" sz="950" smtClean="0">
                <a:latin typeface="Times New Roman" pitchFamily="18" charset="0"/>
                <a:ea typeface="LG Smart_H Regular" panose="020B0600000101010101" pitchFamily="34" charset="-127"/>
                <a:cs typeface="Times New Roman" pitchFamily="18" charset="0"/>
              </a:rPr>
              <a:t>RAR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PLC system</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84" name="Rectangle 7"/>
          <p:cNvSpPr>
            <a:spLocks noChangeArrowheads="1"/>
          </p:cNvSpPr>
          <p:nvPr/>
        </p:nvSpPr>
        <p:spPr bwMode="auto">
          <a:xfrm>
            <a:off x="3412872" y="790532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fr-FR" altLang="ko-KR" sz="950">
                <a:latin typeface="Times New Roman" pitchFamily="18" charset="0"/>
                <a:ea typeface="LG Smart_H Regular" panose="020B0600000101010101" pitchFamily="34" charset="-127"/>
                <a:cs typeface="Times New Roman" pitchFamily="18" charset="0"/>
              </a:rPr>
              <a:t>Chọn giải thích sai về Counter??</a:t>
            </a:r>
            <a:r>
              <a:rPr lang="vi-VN" altLang="ko-KR" sz="950" smtClean="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Counter </a:t>
            </a:r>
            <a:r>
              <a:rPr lang="vi-VN" altLang="ko-KR" sz="950">
                <a:latin typeface="Times New Roman" pitchFamily="18" charset="0"/>
                <a:ea typeface="LG Smart_H Regular" panose="020B0600000101010101" pitchFamily="34" charset="-127"/>
                <a:cs typeface="Times New Roman" pitchFamily="18" charset="0"/>
              </a:rPr>
              <a:t>sẽ Count khi tín hiệu </a:t>
            </a:r>
            <a:r>
              <a:rPr lang="vi-VN" altLang="ko-KR" sz="950" smtClean="0">
                <a:latin typeface="Times New Roman" pitchFamily="18" charset="0"/>
                <a:ea typeface="LG Smart_H Regular" panose="020B0600000101010101" pitchFamily="34" charset="-127"/>
                <a:cs typeface="Times New Roman" pitchFamily="18" charset="0"/>
              </a:rPr>
              <a:t>đầu</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vào </a:t>
            </a:r>
            <a:r>
              <a:rPr lang="vi-VN" altLang="ko-KR" sz="950">
                <a:latin typeface="Times New Roman" pitchFamily="18" charset="0"/>
                <a:ea typeface="LG Smart_H Regular" panose="020B0600000101010101" pitchFamily="34" charset="-127"/>
                <a:cs typeface="Times New Roman" pitchFamily="18" charset="0"/>
              </a:rPr>
              <a:t>tăng </a:t>
            </a:r>
            <a:r>
              <a:rPr lang="vi-VN" altLang="ko-KR" sz="950" smtClean="0">
                <a:latin typeface="Times New Roman" pitchFamily="18" charset="0"/>
                <a:ea typeface="LG Smart_H Regular" panose="020B0600000101010101" pitchFamily="34" charset="-127"/>
                <a:cs typeface="Times New Roman" pitchFamily="18" charset="0"/>
              </a:rPr>
              <a:t>lên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Sau khi Count Up thì dù có tín hiệu đầu vào Couter  vẫn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Count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Giá trị cài đặt của Counter là </a:t>
            </a:r>
            <a:r>
              <a:rPr lang="vi-VN" altLang="ko-KR" sz="950" smtClean="0">
                <a:latin typeface="Times New Roman" pitchFamily="18" charset="0"/>
                <a:ea typeface="LG Smart_H Regular" panose="020B0600000101010101" pitchFamily="34" charset="-127"/>
                <a:cs typeface="Times New Roman" pitchFamily="18" charset="0"/>
              </a:rPr>
              <a:t>K1~K32767</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Cài đặt trực tiếp K cho giá trị cài đặt</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01890" y="5622265"/>
            <a:ext cx="3239810" cy="2139047"/>
            <a:chOff x="201890" y="5062790"/>
            <a:chExt cx="3239810" cy="2139047"/>
          </a:xfrm>
        </p:grpSpPr>
        <p:sp>
          <p:nvSpPr>
            <p:cNvPr id="24" name="Rectangle 7"/>
            <p:cNvSpPr>
              <a:spLocks noChangeArrowheads="1"/>
            </p:cNvSpPr>
            <p:nvPr/>
          </p:nvSpPr>
          <p:spPr bwMode="auto">
            <a:xfrm>
              <a:off x="201890" y="5062790"/>
              <a:ext cx="323981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vi-VN" altLang="ko-KR" sz="950">
                  <a:latin typeface="Times New Roman" pitchFamily="18" charset="0"/>
                  <a:ea typeface="LG Smart_H Regular" panose="020B0600000101010101" pitchFamily="34" charset="-127"/>
                  <a:cs typeface="Times New Roman" pitchFamily="18" charset="0"/>
                </a:rPr>
                <a:t>Chọn đáp án </a:t>
              </a:r>
              <a:r>
                <a:rPr lang="vi-VN" altLang="ko-KR" sz="950" smtClean="0">
                  <a:latin typeface="Times New Roman" pitchFamily="18" charset="0"/>
                  <a:ea typeface="LG Smart_H Regular" panose="020B0600000101010101" pitchFamily="34" charset="-127"/>
                  <a:cs typeface="Times New Roman" pitchFamily="18" charset="0"/>
                </a:rPr>
                <a:t>đúng</a:t>
              </a:r>
              <a:r>
                <a:rPr lang="en-US" altLang="ko-KR" sz="950" smtClean="0">
                  <a:latin typeface="Times New Roman" pitchFamily="18" charset="0"/>
                  <a:ea typeface="LG Smart_H Regular" panose="020B0600000101010101" pitchFamily="34" charset="-127"/>
                  <a:cs typeface="Times New Roman" pitchFamily="18" charset="0"/>
                </a:rPr>
                <a:t> vào ô</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1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Scan                    </a:t>
              </a: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smtClean="0">
                  <a:latin typeface="Times New Roman" pitchFamily="18" charset="0"/>
                  <a:ea typeface="LG Smart_H Regular" panose="020B0600000101010101" pitchFamily="34" charset="-127"/>
                  <a:cs typeface="Times New Roman" pitchFamily="18" charset="0"/>
                </a:rPr>
                <a:t>Refresh </a:t>
              </a:r>
              <a:r>
                <a:rPr lang="vi-VN" altLang="ko-KR" sz="950">
                  <a:latin typeface="Times New Roman" pitchFamily="18" charset="0"/>
                  <a:ea typeface="LG Smart_H Regular" panose="020B0600000101010101" pitchFamily="34" charset="-127"/>
                  <a:cs typeface="Times New Roman" pitchFamily="18" charset="0"/>
                </a:rPr>
                <a:t>khu vực đầu </a:t>
              </a:r>
              <a:r>
                <a:rPr lang="vi-VN" altLang="ko-KR" sz="950" smtClean="0">
                  <a:latin typeface="Times New Roman" pitchFamily="18" charset="0"/>
                  <a:ea typeface="LG Smart_H Regular" panose="020B0600000101010101" pitchFamily="34" charset="-127"/>
                  <a:cs typeface="Times New Roman" pitchFamily="18" charset="0"/>
                </a:rPr>
                <a:t>vào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Xử </a:t>
              </a:r>
              <a:r>
                <a:rPr lang="en-US" altLang="ko-KR" sz="950">
                  <a:latin typeface="Times New Roman" pitchFamily="18" charset="0"/>
                  <a:ea typeface="LG Smart_H Regular" panose="020B0600000101010101" pitchFamily="34" charset="-127"/>
                  <a:cs typeface="Times New Roman" pitchFamily="18" charset="0"/>
                </a:rPr>
                <a:t>lý END  </a:t>
              </a:r>
              <a:r>
                <a:rPr lang="en-US" altLang="ko-KR" sz="950" smtClean="0">
                  <a:latin typeface="Times New Roman" pitchFamily="18" charset="0"/>
                  <a:ea typeface="LG Smart_H Regular" panose="020B0600000101010101" pitchFamily="34" charset="-127"/>
                  <a:cs typeface="Times New Roman" pitchFamily="18" charset="0"/>
                </a:rPr>
                <a:t>            D. </a:t>
              </a:r>
              <a:r>
                <a:rPr lang="vi-VN" altLang="ko-KR" sz="950" smtClean="0">
                  <a:latin typeface="Times New Roman" pitchFamily="18" charset="0"/>
                  <a:ea typeface="LG Smart_H Regular" panose="020B0600000101010101" pitchFamily="34" charset="-127"/>
                  <a:cs typeface="Times New Roman" pitchFamily="18" charset="0"/>
                </a:rPr>
                <a:t>Trạng </a:t>
              </a:r>
              <a:r>
                <a:rPr lang="vi-VN" altLang="ko-KR" sz="950">
                  <a:latin typeface="Times New Roman" pitchFamily="18" charset="0"/>
                  <a:ea typeface="LG Smart_H Regular" panose="020B0600000101010101" pitchFamily="34" charset="-127"/>
                  <a:cs typeface="Times New Roman" pitchFamily="18" charset="0"/>
                </a:rPr>
                <a:t>thái tiếp điểm Module đầu ra</a:t>
              </a:r>
            </a:p>
          </p:txBody>
        </p:sp>
        <p:grpSp>
          <p:nvGrpSpPr>
            <p:cNvPr id="21" name="Group 20"/>
            <p:cNvGrpSpPr/>
            <p:nvPr/>
          </p:nvGrpSpPr>
          <p:grpSpPr>
            <a:xfrm>
              <a:off x="279400" y="5385048"/>
              <a:ext cx="2933577" cy="1368152"/>
              <a:chOff x="0" y="0"/>
              <a:chExt cx="8761905" cy="4600000"/>
            </a:xfrm>
          </p:grpSpPr>
          <p:pic>
            <p:nvPicPr>
              <p:cNvPr id="22" name="Picture 21"/>
              <p:cNvPicPr>
                <a:picLocks noChangeAspect="1"/>
              </p:cNvPicPr>
              <p:nvPr/>
            </p:nvPicPr>
            <p:blipFill>
              <a:blip r:embed="rId3"/>
              <a:stretch>
                <a:fillRect/>
              </a:stretch>
            </p:blipFill>
            <p:spPr>
              <a:xfrm>
                <a:off x="0" y="0"/>
                <a:ext cx="8761905" cy="4600000"/>
              </a:xfrm>
              <a:prstGeom prst="rect">
                <a:avLst/>
              </a:prstGeom>
            </p:spPr>
          </p:pic>
          <p:sp>
            <p:nvSpPr>
              <p:cNvPr id="23" name="Rectangle 22"/>
              <p:cNvSpPr/>
              <p:nvPr/>
            </p:nvSpPr>
            <p:spPr>
              <a:xfrm>
                <a:off x="291352" y="2140323"/>
                <a:ext cx="593911" cy="108697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2400">
                    <a:solidFill>
                      <a:schemeClr val="tx1"/>
                    </a:solidFill>
                  </a:rPr>
                  <a:t>?</a:t>
                </a:r>
              </a:p>
            </p:txBody>
          </p:sp>
        </p:grpSp>
      </p:grpSp>
      <p:grpSp>
        <p:nvGrpSpPr>
          <p:cNvPr id="5" name="Group 4"/>
          <p:cNvGrpSpPr/>
          <p:nvPr/>
        </p:nvGrpSpPr>
        <p:grpSpPr>
          <a:xfrm>
            <a:off x="3425951" y="5628798"/>
            <a:ext cx="3239810" cy="1700466"/>
            <a:chOff x="3425951" y="4692694"/>
            <a:chExt cx="3239810" cy="1700466"/>
          </a:xfrm>
        </p:grpSpPr>
        <p:sp>
          <p:nvSpPr>
            <p:cNvPr id="183" name="Rectangle 7"/>
            <p:cNvSpPr>
              <a:spLocks noChangeArrowheads="1"/>
            </p:cNvSpPr>
            <p:nvPr/>
          </p:nvSpPr>
          <p:spPr bwMode="auto">
            <a:xfrm>
              <a:off x="3425951" y="4692694"/>
              <a:ext cx="3239810"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Tìm đáp án thích hợp để điền vào (?) sao cho giá trị của D10 là 10</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K10                 </a:t>
              </a:r>
              <a:r>
                <a:rPr lang="en-US" altLang="ko-KR" sz="950" smtClean="0">
                  <a:latin typeface="Times New Roman" pitchFamily="18" charset="0"/>
                  <a:ea typeface="LG Smart_H Regular" panose="020B0600000101010101" pitchFamily="34" charset="-127"/>
                  <a:cs typeface="Times New Roman" pitchFamily="18" charset="0"/>
                </a:rPr>
                <a:t>B</a:t>
              </a:r>
              <a:r>
                <a:rPr lang="en-US" altLang="ko-KR" sz="950">
                  <a:latin typeface="Times New Roman" pitchFamily="18" charset="0"/>
                  <a:ea typeface="LG Smart_H Regular" panose="020B0600000101010101" pitchFamily="34" charset="-127"/>
                  <a:cs typeface="Times New Roman" pitchFamily="18" charset="0"/>
                </a:rPr>
                <a:t>. H10              </a:t>
              </a:r>
              <a:r>
                <a:rPr lang="en-US" altLang="ko-KR" sz="950" smtClean="0">
                  <a:latin typeface="Times New Roman" pitchFamily="18" charset="0"/>
                  <a:ea typeface="LG Smart_H Regular" panose="020B0600000101010101" pitchFamily="34" charset="-127"/>
                  <a:cs typeface="Times New Roman" pitchFamily="18" charset="0"/>
                </a:rPr>
                <a:t>C</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D10               D</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M10</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5" name="그림 7"/>
            <p:cNvPicPr>
              <a:picLocks noChangeAspect="1"/>
            </p:cNvPicPr>
            <p:nvPr/>
          </p:nvPicPr>
          <p:blipFill>
            <a:blip r:embed="rId4"/>
            <a:stretch>
              <a:fillRect/>
            </a:stretch>
          </p:blipFill>
          <p:spPr>
            <a:xfrm>
              <a:off x="3434832" y="5097016"/>
              <a:ext cx="3217852" cy="1017815"/>
            </a:xfrm>
            <a:prstGeom prst="rect">
              <a:avLst/>
            </a:prstGeom>
          </p:spPr>
        </p:pic>
      </p:grpSp>
    </p:spTree>
    <p:extLst>
      <p:ext uri="{BB962C8B-B14F-4D97-AF65-F5344CB8AC3E}">
        <p14:creationId xmlns:p14="http://schemas.microsoft.com/office/powerpoint/2010/main" val="368940088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grpSp>
        <p:nvGrpSpPr>
          <p:cNvPr id="17" name="Group 16"/>
          <p:cNvGrpSpPr/>
          <p:nvPr/>
        </p:nvGrpSpPr>
        <p:grpSpPr>
          <a:xfrm>
            <a:off x="250515" y="971500"/>
            <a:ext cx="3178485" cy="1892826"/>
            <a:chOff x="-3319265" y="806914"/>
            <a:chExt cx="3538333" cy="1892826"/>
          </a:xfrm>
        </p:grpSpPr>
        <p:sp>
          <p:nvSpPr>
            <p:cNvPr id="18" name="Rectangle 100"/>
            <p:cNvSpPr>
              <a:spLocks noChangeArrowheads="1"/>
            </p:cNvSpPr>
            <p:nvPr/>
          </p:nvSpPr>
          <p:spPr bwMode="auto">
            <a:xfrm>
              <a:off x="-3319265" y="806914"/>
              <a:ext cx="3538333"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31 </a:t>
              </a:r>
              <a:r>
                <a:rPr lang="en-US" altLang="ko-KR" sz="900" dirty="0" err="1" smtClean="0">
                  <a:latin typeface="Times New Roman" panose="02020603050405020304" pitchFamily="18" charset="0"/>
                  <a:ea typeface="돋움" pitchFamily="50" charset="-127"/>
                  <a:cs typeface="Times New Roman" panose="02020603050405020304" pitchFamily="18" charset="0"/>
                </a:rPr>
                <a:t>N</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gôn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ngữ</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PLC nào đang được sử dụng phía dưới ? </a:t>
              </a: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(theo thứ tự từ trái qua phải)</a:t>
              </a: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a:t>
              </a: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FF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A </a:t>
              </a:r>
              <a:r>
                <a:rPr lang="en-US" altLang="ko-KR" sz="900">
                  <a:solidFill>
                    <a:srgbClr val="FF0000"/>
                  </a:solidFill>
                  <a:latin typeface="Times New Roman" panose="02020603050405020304" pitchFamily="18" charset="0"/>
                  <a:ea typeface="돋움" pitchFamily="50" charset="-127"/>
                  <a:cs typeface="Times New Roman" panose="02020603050405020304" pitchFamily="18" charset="0"/>
                </a:rPr>
                <a:t>.LD(Phương thức Ladder), IL(Phương thức Mnemonics)</a:t>
              </a:r>
            </a:p>
            <a:p>
              <a:pPr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B .IL(Phương thức Mnemonic), LD(Phương thức Ladder)</a:t>
              </a:r>
            </a:p>
            <a:p>
              <a:pPr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C. LD(Phương thức Ladder), SFC(Sequential Function Charts) </a:t>
              </a:r>
            </a:p>
            <a:p>
              <a:pPr marL="171450" indent="-171450"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D. FBD(Function Block Diagram),IL(Phương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thức Mnemonic)</a:t>
              </a:r>
              <a:endParaRPr lang="ko-KR" altLang="en-US" sz="900">
                <a:solidFill>
                  <a:srgbClr val="000000"/>
                </a:solidFill>
                <a:latin typeface="Times New Roman" panose="02020603050405020304" pitchFamily="18" charset="0"/>
                <a:ea typeface="돋움" pitchFamily="50" charset="-127"/>
                <a:cs typeface="Times New Roman" panose="02020603050405020304" pitchFamily="18" charset="0"/>
              </a:endParaRPr>
            </a:p>
          </p:txBody>
        </p:sp>
        <p:grpSp>
          <p:nvGrpSpPr>
            <p:cNvPr id="19" name="Group 18"/>
            <p:cNvGrpSpPr/>
            <p:nvPr/>
          </p:nvGrpSpPr>
          <p:grpSpPr>
            <a:xfrm>
              <a:off x="-2990849" y="1174665"/>
              <a:ext cx="2957512" cy="839167"/>
              <a:chOff x="382588" y="1349375"/>
              <a:chExt cx="2957512" cy="839167"/>
            </a:xfrm>
          </p:grpSpPr>
          <p:grpSp>
            <p:nvGrpSpPr>
              <p:cNvPr id="20" name="Group 8"/>
              <p:cNvGrpSpPr>
                <a:grpSpLocks/>
              </p:cNvGrpSpPr>
              <p:nvPr/>
            </p:nvGrpSpPr>
            <p:grpSpPr bwMode="auto">
              <a:xfrm>
                <a:off x="1196975" y="1349375"/>
                <a:ext cx="2143125" cy="838200"/>
                <a:chOff x="337" y="-2"/>
                <a:chExt cx="278" cy="88"/>
              </a:xfrm>
            </p:grpSpPr>
            <p:pic>
              <p:nvPicPr>
                <p:cNvPr id="22" name="Picture 2"/>
                <p:cNvPicPr>
                  <a:picLocks noChangeAspect="1" noChangeArrowheads="1"/>
                </p:cNvPicPr>
                <p:nvPr/>
              </p:nvPicPr>
              <p:blipFill>
                <a:blip r:embed="rId3">
                  <a:extLst>
                    <a:ext uri="{28A0092B-C50C-407E-A947-70E740481C1C}">
                      <a14:useLocalDpi xmlns:a14="http://schemas.microsoft.com/office/drawing/2010/main" val="0"/>
                    </a:ext>
                  </a:extLst>
                </a:blip>
                <a:srcRect l="75722" t="19098" r="10286" b="62326"/>
                <a:stretch>
                  <a:fillRect/>
                </a:stretch>
              </p:blipFill>
              <p:spPr bwMode="auto">
                <a:xfrm>
                  <a:off x="337" y="-2"/>
                  <a:ext cx="91" cy="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23" name="Picture 3"/>
                <p:cNvPicPr>
                  <a:picLocks noChangeAspect="1" noChangeArrowheads="1"/>
                </p:cNvPicPr>
                <p:nvPr/>
              </p:nvPicPr>
              <p:blipFill>
                <a:blip r:embed="rId4">
                  <a:extLst>
                    <a:ext uri="{28A0092B-C50C-407E-A947-70E740481C1C}">
                      <a14:useLocalDpi xmlns:a14="http://schemas.microsoft.com/office/drawing/2010/main" val="0"/>
                    </a:ext>
                  </a:extLst>
                </a:blip>
                <a:srcRect l="22397" t="19272" r="59895" b="68402"/>
                <a:stretch>
                  <a:fillRect/>
                </a:stretch>
              </p:blipFill>
              <p:spPr bwMode="auto">
                <a:xfrm>
                  <a:off x="479" y="8"/>
                  <a:ext cx="136" cy="65"/>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000000"/>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grpSp>
          <p:pic>
            <p:nvPicPr>
              <p:cNvPr id="21" name="Picture 2"/>
              <p:cNvPicPr>
                <a:picLocks noChangeAspect="1" noChangeArrowheads="1"/>
              </p:cNvPicPr>
              <p:nvPr/>
            </p:nvPicPr>
            <p:blipFill>
              <a:blip r:embed="rId3">
                <a:extLst>
                  <a:ext uri="{28A0092B-C50C-407E-A947-70E740481C1C}">
                    <a14:useLocalDpi xmlns:a14="http://schemas.microsoft.com/office/drawing/2010/main" val="0"/>
                  </a:ext>
                </a:extLst>
              </a:blip>
              <a:srcRect l="24219" t="19098" r="59325" b="62326"/>
              <a:stretch>
                <a:fillRect/>
              </a:stretch>
            </p:blipFill>
            <p:spPr bwMode="auto">
              <a:xfrm>
                <a:off x="382588" y="1350342"/>
                <a:ext cx="1123448" cy="838200"/>
              </a:xfrm>
              <a:prstGeom prst="rect">
                <a:avLst/>
              </a:prstGeom>
              <a:noFill/>
              <a:ln>
                <a:noFill/>
              </a:ln>
              <a:effectLst/>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pSp>
      </p:grpSp>
      <p:sp>
        <p:nvSpPr>
          <p:cNvPr id="25" name="Rectangle 102"/>
          <p:cNvSpPr>
            <a:spLocks noChangeArrowheads="1"/>
          </p:cNvSpPr>
          <p:nvPr/>
        </p:nvSpPr>
        <p:spPr bwMode="auto">
          <a:xfrm>
            <a:off x="188640" y="5464314"/>
            <a:ext cx="3429000"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33.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cấu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trúc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PLC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cơ</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bản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khi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kiểm</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tra</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Error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bằng</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lệnh</a:t>
            </a: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CHK,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khi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Annunciator F ON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đèn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LED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bật</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sáng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   </a:t>
            </a:r>
          </a:p>
          <a:p>
            <a:pPr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A.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ERROR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LED    </a:t>
            </a:r>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B. </a:t>
            </a:r>
            <a:r>
              <a:rPr lang="en-US" altLang="ko-KR" sz="900" dirty="0">
                <a:solidFill>
                  <a:srgbClr val="FF0000"/>
                </a:solidFill>
                <a:latin typeface="Times New Roman" panose="02020603050405020304" pitchFamily="18" charset="0"/>
                <a:ea typeface="돋움" pitchFamily="50" charset="-127"/>
                <a:cs typeface="Times New Roman" panose="02020603050405020304" pitchFamily="18" charset="0"/>
              </a:rPr>
              <a:t>USER LED   </a:t>
            </a:r>
          </a:p>
          <a:p>
            <a:pPr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C. </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BOOT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LED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D. </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BAT. ALARM LED</a:t>
            </a:r>
            <a:endPar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sp>
        <p:nvSpPr>
          <p:cNvPr id="26" name="Rectangle 107"/>
          <p:cNvSpPr>
            <a:spLocks noChangeArrowheads="1"/>
          </p:cNvSpPr>
          <p:nvPr/>
        </p:nvSpPr>
        <p:spPr bwMode="auto">
          <a:xfrm>
            <a:off x="3447970" y="992560"/>
            <a:ext cx="3429000" cy="6463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36</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giải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thích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về</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cách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thay</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Batter CPU,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sau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khi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tháo</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Battery</a:t>
            </a: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thời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gian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Back up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dựa</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vào</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Condenser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a:t>
            </a:r>
            <a:r>
              <a:rPr lang="ko-KR" altLang="en-US"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    </a:t>
            </a:r>
          </a:p>
          <a:p>
            <a:pPr eaLnBrk="1" hangingPunct="1"/>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 A.  </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3</a:t>
            </a:r>
            <a:r>
              <a:rPr lang="ko-KR" altLang="en-US" sz="900" dirty="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err="1" smtClean="0">
                <a:solidFill>
                  <a:srgbClr val="FF0000"/>
                </a:solidFill>
                <a:latin typeface="Times New Roman" panose="02020603050405020304" pitchFamily="18" charset="0"/>
                <a:ea typeface="돋움" pitchFamily="50" charset="-127"/>
                <a:cs typeface="Times New Roman" panose="02020603050405020304" pitchFamily="18" charset="0"/>
              </a:rPr>
              <a:t>phút</a:t>
            </a:r>
            <a:r>
              <a:rPr lang="ko-KR" altLang="en-US" sz="90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B. </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4</a:t>
            </a:r>
            <a:r>
              <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phút</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C. </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5</a:t>
            </a:r>
            <a:r>
              <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phút</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D .</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10</a:t>
            </a:r>
            <a:r>
              <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phút</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sp>
        <p:nvSpPr>
          <p:cNvPr id="27" name="Rectangle 44"/>
          <p:cNvSpPr>
            <a:spLocks noChangeArrowheads="1"/>
          </p:cNvSpPr>
          <p:nvPr/>
        </p:nvSpPr>
        <p:spPr bwMode="auto">
          <a:xfrm>
            <a:off x="194990" y="6688450"/>
            <a:ext cx="3124200"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34.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Cái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nào</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không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thuộc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về</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bộ</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nhớ</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Device/Program?</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A.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Program</a:t>
            </a:r>
            <a:endPar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B.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Device</a:t>
            </a:r>
            <a:endPar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C. </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File Register</a:t>
            </a:r>
            <a:endParaRPr lang="ko-KR" altLang="en-US" sz="900" dirty="0">
              <a:solidFill>
                <a:srgbClr val="FF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D.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Parameter</a:t>
            </a:r>
            <a:endPar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sp>
        <p:nvSpPr>
          <p:cNvPr id="28" name="Rectangle 44"/>
          <p:cNvSpPr>
            <a:spLocks noChangeArrowheads="1"/>
          </p:cNvSpPr>
          <p:nvPr/>
        </p:nvSpPr>
        <p:spPr bwMode="auto">
          <a:xfrm>
            <a:off x="194990" y="8193360"/>
            <a:ext cx="312420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35</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Nguồn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sử</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dụng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PLC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mấy</a:t>
            </a:r>
            <a:r>
              <a:rPr lang="ko-KR" altLang="en-US"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V?</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a:t>
            </a:r>
          </a:p>
          <a:p>
            <a:pPr eaLnBrk="1" hangingPunct="1"/>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A. </a:t>
            </a:r>
            <a:r>
              <a:rPr lang="en-US" altLang="ko-KR" sz="900">
                <a:solidFill>
                  <a:srgbClr val="FF0000"/>
                </a:solidFill>
                <a:latin typeface="Times New Roman" panose="02020603050405020304" pitchFamily="18" charset="0"/>
                <a:ea typeface="돋움" pitchFamily="50" charset="-127"/>
                <a:cs typeface="Times New Roman" panose="02020603050405020304" pitchFamily="18" charset="0"/>
              </a:rPr>
              <a:t>5V  </a:t>
            </a:r>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B.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220V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C.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24V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D. </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110V</a:t>
            </a:r>
            <a:endPar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pic>
        <p:nvPicPr>
          <p:cNvPr id="29" name="Picture 3"/>
          <p:cNvPicPr>
            <a:picLocks noChangeAspect="1" noChangeArrowheads="1"/>
          </p:cNvPicPr>
          <p:nvPr/>
        </p:nvPicPr>
        <p:blipFill>
          <a:blip r:embed="rId5">
            <a:extLst>
              <a:ext uri="{28A0092B-C50C-407E-A947-70E740481C1C}">
                <a14:useLocalDpi xmlns:a14="http://schemas.microsoft.com/office/drawing/2010/main" val="0"/>
              </a:ext>
            </a:extLst>
          </a:blip>
          <a:srcRect r="53496"/>
          <a:stretch>
            <a:fillRect/>
          </a:stretch>
        </p:blipFill>
        <p:spPr bwMode="auto">
          <a:xfrm>
            <a:off x="333103" y="3363265"/>
            <a:ext cx="14224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3"/>
          <p:cNvPicPr>
            <a:picLocks noChangeAspect="1" noChangeArrowheads="1"/>
          </p:cNvPicPr>
          <p:nvPr/>
        </p:nvPicPr>
        <p:blipFill>
          <a:blip r:embed="rId5">
            <a:extLst>
              <a:ext uri="{28A0092B-C50C-407E-A947-70E740481C1C}">
                <a14:useLocalDpi xmlns:a14="http://schemas.microsoft.com/office/drawing/2010/main" val="0"/>
              </a:ext>
            </a:extLst>
          </a:blip>
          <a:srcRect l="48299"/>
          <a:stretch>
            <a:fillRect/>
          </a:stretch>
        </p:blipFill>
        <p:spPr bwMode="auto">
          <a:xfrm>
            <a:off x="1734865" y="3375965"/>
            <a:ext cx="158115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Rectangle 101"/>
          <p:cNvSpPr>
            <a:spLocks noChangeArrowheads="1"/>
          </p:cNvSpPr>
          <p:nvPr/>
        </p:nvSpPr>
        <p:spPr bwMode="auto">
          <a:xfrm>
            <a:off x="219665" y="3220937"/>
            <a:ext cx="3143975"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32.</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Tên của 2 mạch phía dưới, từ trái qua phải? </a:t>
            </a: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A</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Mạch ưu tiên khởi động, Mạch ưu tiên dừng</a:t>
            </a:r>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B. </a:t>
            </a:r>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Mạch ưu tiên dừng, Mạch OR</a:t>
            </a:r>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solidFill>
                  <a:srgbClr val="FF0000"/>
                </a:solidFill>
                <a:latin typeface="Times New Roman" panose="02020603050405020304" pitchFamily="18" charset="0"/>
                <a:ea typeface="돋움" pitchFamily="50" charset="-127"/>
                <a:cs typeface="Times New Roman" panose="02020603050405020304" pitchFamily="18" charset="0"/>
              </a:rPr>
              <a:t>C.</a:t>
            </a:r>
            <a:r>
              <a:rPr lang="ko-KR" altLang="en-US" sz="90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FF0000"/>
                </a:solidFill>
                <a:latin typeface="Times New Roman" panose="02020603050405020304" pitchFamily="18" charset="0"/>
                <a:ea typeface="돋움" pitchFamily="50" charset="-127"/>
                <a:cs typeface="Times New Roman" panose="02020603050405020304" pitchFamily="18" charset="0"/>
              </a:rPr>
              <a:t>Mạch Interlock, Mạch OR</a:t>
            </a:r>
            <a:r>
              <a:rPr lang="ko-KR" altLang="en-US" sz="900">
                <a:solidFill>
                  <a:srgbClr val="FF0000"/>
                </a:solidFill>
                <a:latin typeface="Times New Roman" panose="02020603050405020304" pitchFamily="18" charset="0"/>
                <a:ea typeface="돋움" pitchFamily="50" charset="-127"/>
                <a:cs typeface="Times New Roman" panose="02020603050405020304" pitchFamily="18" charset="0"/>
              </a:rPr>
              <a:t> </a:t>
            </a:r>
            <a:endParaRPr lang="en-US" altLang="ko-KR" sz="900">
              <a:solidFill>
                <a:srgbClr val="FF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D. </a:t>
            </a:r>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Mạch ưu tiên khởi động. Mạch tự duy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trì</a:t>
            </a:r>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p:txBody>
      </p:sp>
      <p:grpSp>
        <p:nvGrpSpPr>
          <p:cNvPr id="37" name="Group 36"/>
          <p:cNvGrpSpPr/>
          <p:nvPr/>
        </p:nvGrpSpPr>
        <p:grpSpPr>
          <a:xfrm>
            <a:off x="3501008" y="2063095"/>
            <a:ext cx="3110805" cy="2169825"/>
            <a:chOff x="205413" y="6830229"/>
            <a:chExt cx="3398837" cy="2169825"/>
          </a:xfrm>
        </p:grpSpPr>
        <p:sp>
          <p:nvSpPr>
            <p:cNvPr id="38" name="Rectangle 103"/>
            <p:cNvSpPr>
              <a:spLocks noChangeArrowheads="1"/>
            </p:cNvSpPr>
            <p:nvPr/>
          </p:nvSpPr>
          <p:spPr bwMode="auto">
            <a:xfrm>
              <a:off x="205413" y="6830229"/>
              <a:ext cx="3398837" cy="216982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37</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Nhìn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vào</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ảnh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cho</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biết</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đây</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ảnh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giải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thích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về</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a:t>
              </a:r>
            </a:p>
            <a:p>
              <a:pPr eaLnBrk="1" hangingPunct="1"/>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A.</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Unit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đầu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vào</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a:t>
              </a:r>
            </a:p>
            <a:p>
              <a:pPr eaLnBrk="1" hangingPunct="1"/>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B .Unit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đầu</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err="1" smtClean="0">
                  <a:solidFill>
                    <a:srgbClr val="FF0000"/>
                  </a:solidFill>
                  <a:latin typeface="Times New Roman" panose="02020603050405020304" pitchFamily="18" charset="0"/>
                  <a:ea typeface="돋움" pitchFamily="50" charset="-127"/>
                  <a:cs typeface="Times New Roman" panose="02020603050405020304" pitchFamily="18" charset="0"/>
                </a:rPr>
                <a:t>ra</a:t>
              </a:r>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 </a:t>
              </a: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C. Unit </a:t>
              </a:r>
              <a:r>
                <a:rPr lang="en-US" altLang="ko-KR" sz="900" dirty="0" err="1" smtClean="0">
                  <a:latin typeface="Times New Roman" panose="02020603050405020304" pitchFamily="18" charset="0"/>
                  <a:ea typeface="돋움" pitchFamily="50" charset="-127"/>
                  <a:cs typeface="Times New Roman" panose="02020603050405020304" pitchFamily="18" charset="0"/>
                </a:rPr>
                <a:t>đặc</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thù</a:t>
              </a:r>
              <a:r>
                <a:rPr lang="en-US" altLang="ko-KR" sz="900" smtClean="0">
                  <a:latin typeface="Times New Roman" panose="02020603050405020304" pitchFamily="18" charset="0"/>
                  <a:ea typeface="돋움" pitchFamily="50" charset="-127"/>
                  <a:cs typeface="Times New Roman" panose="02020603050405020304" pitchFamily="18" charset="0"/>
                </a:rPr>
                <a:t>    </a:t>
              </a: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D.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Card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đặc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thù</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pic>
          <p:nvPicPr>
            <p:cNvPr id="39" name="Picture 318" descr="clip_image005"/>
            <p:cNvPicPr>
              <a:picLocks noChangeAspect="1" noChangeArrowheads="1"/>
            </p:cNvPicPr>
            <p:nvPr/>
          </p:nvPicPr>
          <p:blipFill>
            <a:blip r:embed="rId6">
              <a:extLst>
                <a:ext uri="{28A0092B-C50C-407E-A947-70E740481C1C}">
                  <a14:useLocalDpi xmlns:a14="http://schemas.microsoft.com/office/drawing/2010/main" val="0"/>
                </a:ext>
              </a:extLst>
            </a:blip>
            <a:srcRect b="15100"/>
            <a:stretch>
              <a:fillRect/>
            </a:stretch>
          </p:blipFill>
          <p:spPr bwMode="auto">
            <a:xfrm>
              <a:off x="480094" y="7020340"/>
              <a:ext cx="2804886" cy="1309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0" name="Rectangle 101"/>
          <p:cNvSpPr>
            <a:spLocks noChangeArrowheads="1"/>
          </p:cNvSpPr>
          <p:nvPr/>
        </p:nvSpPr>
        <p:spPr bwMode="auto">
          <a:xfrm>
            <a:off x="3384550" y="4702470"/>
            <a:ext cx="3429000" cy="5078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38</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Cái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nào</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không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phải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thuộc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chủng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loại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đầu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ra</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tại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Unit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đầu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ra</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A. Đầu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ra</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Rơ</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le </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B.</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Đầu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ra</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Transistor</a:t>
            </a:r>
            <a:r>
              <a:rPr lang="ko-KR" altLang="en-US"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C.</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Đầu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ra</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SSR</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D.</a:t>
            </a:r>
            <a:r>
              <a:rPr lang="ko-KR" altLang="en-US" sz="90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Đầu</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ra</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SCR</a:t>
            </a:r>
            <a:endParaRPr lang="ko-KR" altLang="en-US" sz="900" dirty="0">
              <a:solidFill>
                <a:srgbClr val="FF0000"/>
              </a:solidFill>
              <a:latin typeface="Times New Roman" panose="02020603050405020304" pitchFamily="18" charset="0"/>
              <a:ea typeface="돋움" pitchFamily="50" charset="-127"/>
              <a:cs typeface="Times New Roman" panose="02020603050405020304" pitchFamily="18" charset="0"/>
            </a:endParaRPr>
          </a:p>
        </p:txBody>
      </p:sp>
      <p:sp>
        <p:nvSpPr>
          <p:cNvPr id="41" name="Line 6"/>
          <p:cNvSpPr>
            <a:spLocks noChangeShapeType="1"/>
          </p:cNvSpPr>
          <p:nvPr/>
        </p:nvSpPr>
        <p:spPr bwMode="auto">
          <a:xfrm>
            <a:off x="4980401" y="5575595"/>
            <a:ext cx="176839"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Times New Roman" panose="02020603050405020304" pitchFamily="18" charset="0"/>
              <a:cs typeface="Times New Roman" panose="02020603050405020304" pitchFamily="18" charset="0"/>
            </a:endParaRPr>
          </a:p>
        </p:txBody>
      </p:sp>
      <p:sp>
        <p:nvSpPr>
          <p:cNvPr id="42" name="Line 7"/>
          <p:cNvSpPr>
            <a:spLocks noChangeShapeType="1"/>
          </p:cNvSpPr>
          <p:nvPr/>
        </p:nvSpPr>
        <p:spPr bwMode="auto">
          <a:xfrm>
            <a:off x="4980401" y="5499395"/>
            <a:ext cx="176839"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Times New Roman" panose="02020603050405020304" pitchFamily="18" charset="0"/>
              <a:cs typeface="Times New Roman" panose="02020603050405020304" pitchFamily="18" charset="0"/>
            </a:endParaRPr>
          </a:p>
        </p:txBody>
      </p:sp>
      <p:grpSp>
        <p:nvGrpSpPr>
          <p:cNvPr id="43" name="Group 42"/>
          <p:cNvGrpSpPr/>
          <p:nvPr/>
        </p:nvGrpSpPr>
        <p:grpSpPr>
          <a:xfrm>
            <a:off x="3483285" y="7502604"/>
            <a:ext cx="3330185" cy="1338828"/>
            <a:chOff x="7361365" y="2899137"/>
            <a:chExt cx="3330185" cy="1338828"/>
          </a:xfrm>
        </p:grpSpPr>
        <p:sp>
          <p:nvSpPr>
            <p:cNvPr id="44" name="Rectangle 101"/>
            <p:cNvSpPr>
              <a:spLocks noChangeArrowheads="1"/>
            </p:cNvSpPr>
            <p:nvPr/>
          </p:nvSpPr>
          <p:spPr bwMode="auto">
            <a:xfrm>
              <a:off x="7389550" y="2899137"/>
              <a:ext cx="3302000"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Times New Roman" panose="02020603050405020304" pitchFamily="18" charset="0"/>
                  <a:ea typeface="돋움" pitchFamily="50" charset="-127"/>
                  <a:cs typeface="Times New Roman" panose="02020603050405020304" pitchFamily="18" charset="0"/>
                </a:rPr>
                <a:t>4</a:t>
              </a:r>
              <a:r>
                <a:rPr lang="en-US" altLang="ko-KR" sz="900" smtClean="0">
                  <a:latin typeface="Times New Roman" panose="02020603050405020304" pitchFamily="18" charset="0"/>
                  <a:ea typeface="돋움" pitchFamily="50" charset="-127"/>
                  <a:cs typeface="Times New Roman" panose="02020603050405020304" pitchFamily="18" charset="0"/>
                </a:rPr>
                <a:t>0</a:t>
              </a:r>
              <a:r>
                <a:rPr lang="en-US" altLang="ko-KR" sz="900" dirty="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Phạm</a:t>
              </a:r>
              <a:r>
                <a:rPr lang="en-US" altLang="ko-KR" sz="900" dirty="0" smtClean="0">
                  <a:latin typeface="Times New Roman" panose="02020603050405020304" pitchFamily="18" charset="0"/>
                  <a:ea typeface="돋움" pitchFamily="50" charset="-127"/>
                  <a:cs typeface="Times New Roman" panose="02020603050405020304" pitchFamily="18" charset="0"/>
                </a:rPr>
                <a:t> vi I/O </a:t>
              </a:r>
              <a:r>
                <a:rPr lang="en-US" altLang="ko-KR" sz="900" dirty="0" err="1" smtClean="0">
                  <a:latin typeface="Times New Roman" panose="02020603050405020304" pitchFamily="18" charset="0"/>
                  <a:ea typeface="돋움" pitchFamily="50" charset="-127"/>
                  <a:cs typeface="Times New Roman" panose="02020603050405020304" pitchFamily="18" charset="0"/>
                </a:rPr>
                <a:t>của</a:t>
              </a:r>
              <a:r>
                <a:rPr lang="en-US" altLang="ko-KR" sz="900" dirty="0" smtClean="0">
                  <a:latin typeface="Times New Roman" panose="02020603050405020304" pitchFamily="18" charset="0"/>
                  <a:ea typeface="돋움" pitchFamily="50" charset="-127"/>
                  <a:cs typeface="Times New Roman" panose="02020603050405020304" pitchFamily="18" charset="0"/>
                </a:rPr>
                <a:t> Card ở </a:t>
              </a:r>
              <a:r>
                <a:rPr lang="en-US" altLang="ko-KR" sz="900" dirty="0" err="1" smtClean="0">
                  <a:latin typeface="Times New Roman" panose="02020603050405020304" pitchFamily="18" charset="0"/>
                  <a:ea typeface="돋움" pitchFamily="50" charset="-127"/>
                  <a:cs typeface="Times New Roman" panose="02020603050405020304" pitchFamily="18" charset="0"/>
                </a:rPr>
                <a:t>vị</a:t>
              </a:r>
              <a:r>
                <a:rPr lang="en-US" altLang="ko-KR" sz="900" dirty="0" smtClean="0">
                  <a:latin typeface="Times New Roman" panose="02020603050405020304" pitchFamily="18" charset="0"/>
                  <a:ea typeface="돋움" pitchFamily="50" charset="-127"/>
                  <a:cs typeface="Times New Roman" panose="02020603050405020304" pitchFamily="18" charset="0"/>
                </a:rPr>
                <a:t> </a:t>
              </a:r>
              <a:r>
                <a:rPr lang="en-US" altLang="ko-KR" sz="900" err="1" smtClean="0">
                  <a:latin typeface="Times New Roman" panose="02020603050405020304" pitchFamily="18" charset="0"/>
                  <a:ea typeface="돋움" pitchFamily="50" charset="-127"/>
                  <a:cs typeface="Times New Roman" panose="02020603050405020304" pitchFamily="18" charset="0"/>
                </a:rPr>
                <a:t>trí</a:t>
              </a:r>
              <a:r>
                <a:rPr lang="en-US" altLang="ko-KR" sz="900" smtClean="0">
                  <a:latin typeface="Times New Roman" panose="02020603050405020304" pitchFamily="18" charset="0"/>
                  <a:ea typeface="돋움" pitchFamily="50" charset="-127"/>
                  <a:cs typeface="Times New Roman" panose="02020603050405020304" pitchFamily="18" charset="0"/>
                </a:rPr>
                <a:t> (2) </a:t>
              </a:r>
              <a:r>
                <a:rPr lang="ko-KR" altLang="en-US" sz="900" smtClean="0">
                  <a:latin typeface="Times New Roman" panose="02020603050405020304" pitchFamily="18" charset="0"/>
                  <a:ea typeface="돋움" pitchFamily="50" charset="-127"/>
                  <a:cs typeface="Times New Roman" panose="02020603050405020304" pitchFamily="18" charset="0"/>
                </a:rPr>
                <a:t> </a:t>
              </a:r>
              <a:r>
                <a:rPr lang="en-US" altLang="ko-KR" sz="900" dirty="0" err="1" smtClean="0">
                  <a:latin typeface="Times New Roman" panose="02020603050405020304" pitchFamily="18" charset="0"/>
                  <a:ea typeface="돋움" pitchFamily="50" charset="-127"/>
                  <a:cs typeface="Times New Roman" panose="02020603050405020304" pitchFamily="18" charset="0"/>
                </a:rPr>
                <a:t>là</a:t>
              </a:r>
              <a:r>
                <a:rPr lang="en-US" altLang="ko-KR" sz="900" dirty="0" smtClean="0">
                  <a:latin typeface="Times New Roman" panose="02020603050405020304" pitchFamily="18" charset="0"/>
                  <a:ea typeface="돋움" pitchFamily="50" charset="-127"/>
                  <a:cs typeface="Times New Roman" panose="02020603050405020304" pitchFamily="18" charset="0"/>
                </a:rPr>
                <a:t>?</a:t>
              </a:r>
              <a:endParaRPr lang="en-US" altLang="ko-KR" sz="900" dirty="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latin typeface="Times New Roman" panose="02020603050405020304" pitchFamily="18" charset="0"/>
                  <a:ea typeface="돋움" pitchFamily="50" charset="-127"/>
                  <a:cs typeface="Times New Roman" panose="02020603050405020304" pitchFamily="18" charset="0"/>
                </a:rPr>
                <a:t>A.  </a:t>
              </a:r>
              <a:r>
                <a:rPr lang="en-US" altLang="ko-KR" sz="900">
                  <a:latin typeface="Times New Roman" panose="02020603050405020304" pitchFamily="18" charset="0"/>
                  <a:ea typeface="돋움" pitchFamily="50" charset="-127"/>
                  <a:cs typeface="Times New Roman" panose="02020603050405020304" pitchFamily="18" charset="0"/>
                </a:rPr>
                <a:t>XB0~XDF  </a:t>
              </a:r>
              <a:r>
                <a:rPr lang="en-US" altLang="ko-KR" sz="900" smtClean="0">
                  <a:latin typeface="Times New Roman" panose="02020603050405020304" pitchFamily="18" charset="0"/>
                  <a:ea typeface="돋움" pitchFamily="50" charset="-127"/>
                  <a:cs typeface="Times New Roman" panose="02020603050405020304" pitchFamily="18" charset="0"/>
                </a:rPr>
                <a:t>          B.  </a:t>
              </a:r>
              <a:r>
                <a:rPr lang="en-US" altLang="ko-KR" sz="900" dirty="0">
                  <a:latin typeface="Times New Roman" panose="02020603050405020304" pitchFamily="18" charset="0"/>
                  <a:ea typeface="돋움" pitchFamily="50" charset="-127"/>
                  <a:cs typeface="Times New Roman" panose="02020603050405020304" pitchFamily="18" charset="0"/>
                </a:rPr>
                <a:t>XCO~XCF   </a:t>
              </a: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C.  </a:t>
              </a:r>
              <a:r>
                <a:rPr lang="en-US" altLang="ko-KR" sz="900">
                  <a:latin typeface="Times New Roman" panose="02020603050405020304" pitchFamily="18" charset="0"/>
                  <a:ea typeface="돋움" pitchFamily="50" charset="-127"/>
                  <a:cs typeface="Times New Roman" panose="02020603050405020304" pitchFamily="18" charset="0"/>
                </a:rPr>
                <a:t>YBO~YDF  </a:t>
              </a:r>
              <a:r>
                <a:rPr lang="en-US" altLang="ko-KR" sz="900" smtClean="0">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D.  </a:t>
              </a:r>
              <a:r>
                <a:rPr lang="en-US" altLang="ko-KR" sz="900" dirty="0">
                  <a:solidFill>
                    <a:srgbClr val="FF0000"/>
                  </a:solidFill>
                  <a:latin typeface="Times New Roman" panose="02020603050405020304" pitchFamily="18" charset="0"/>
                  <a:ea typeface="돋움" pitchFamily="50" charset="-127"/>
                  <a:cs typeface="Times New Roman" panose="02020603050405020304" pitchFamily="18" charset="0"/>
                </a:rPr>
                <a:t>YBO~YEF</a:t>
              </a:r>
              <a:endParaRPr lang="ko-KR" altLang="en-US" sz="900" dirty="0">
                <a:solidFill>
                  <a:srgbClr val="FF0000"/>
                </a:solidFill>
                <a:latin typeface="Times New Roman" panose="02020603050405020304" pitchFamily="18" charset="0"/>
                <a:ea typeface="돋움" pitchFamily="50" charset="-127"/>
                <a:cs typeface="Times New Roman" panose="02020603050405020304" pitchFamily="18" charset="0"/>
              </a:endParaRPr>
            </a:p>
          </p:txBody>
        </p:sp>
        <p:pic>
          <p:nvPicPr>
            <p:cNvPr id="45"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61365" y="3097890"/>
              <a:ext cx="3011488" cy="785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6" name="Group 45"/>
          <p:cNvGrpSpPr/>
          <p:nvPr/>
        </p:nvGrpSpPr>
        <p:grpSpPr>
          <a:xfrm>
            <a:off x="3424651" y="5430922"/>
            <a:ext cx="3111500" cy="1754326"/>
            <a:chOff x="3424651" y="1547580"/>
            <a:chExt cx="3111500" cy="1754326"/>
          </a:xfrm>
        </p:grpSpPr>
        <p:sp>
          <p:nvSpPr>
            <p:cNvPr id="47" name="Rectangle 104"/>
            <p:cNvSpPr>
              <a:spLocks noChangeArrowheads="1"/>
            </p:cNvSpPr>
            <p:nvPr/>
          </p:nvSpPr>
          <p:spPr bwMode="auto">
            <a:xfrm>
              <a:off x="3424651" y="1547580"/>
              <a:ext cx="3111500" cy="175432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39</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Nếu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định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viết</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mạch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tự</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duy</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ở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sẽ</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gì</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a:t>
              </a: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A. CO            </a:t>
              </a:r>
              <a:r>
                <a:rPr lang="en-US" altLang="ko-KR" sz="900">
                  <a:solidFill>
                    <a:srgbClr val="FF0000"/>
                  </a:solidFill>
                  <a:latin typeface="Times New Roman" panose="02020603050405020304" pitchFamily="18" charset="0"/>
                  <a:ea typeface="돋움" pitchFamily="50" charset="-127"/>
                  <a:cs typeface="Times New Roman" panose="02020603050405020304" pitchFamily="18" charset="0"/>
                </a:rPr>
                <a:t>B.  Y40</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C.  SET T40</a:t>
              </a:r>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D.</a:t>
              </a:r>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X1</a:t>
              </a:r>
              <a:endParaRPr lang="ko-KR" altLang="en-US"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pic>
          <p:nvPicPr>
            <p:cNvPr id="48" name="Picture 4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83132" y="1820153"/>
              <a:ext cx="2828636" cy="1047896"/>
            </a:xfrm>
            <a:prstGeom prst="rect">
              <a:avLst/>
            </a:prstGeom>
          </p:spPr>
        </p:pic>
      </p:grpSp>
    </p:spTree>
    <p:extLst>
      <p:ext uri="{BB962C8B-B14F-4D97-AF65-F5344CB8AC3E}">
        <p14:creationId xmlns:p14="http://schemas.microsoft.com/office/powerpoint/2010/main" val="2160893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dirty="0">
                <a:latin typeface="Times New Roman" pitchFamily="18" charset="0"/>
                <a:cs typeface="Times New Roman" pitchFamily="18" charset="0"/>
              </a:rPr>
              <a:t>Khí nén</a:t>
            </a:r>
            <a:r>
              <a:rPr lang="en-US" altLang="ko-KR" dirty="0">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sp>
        <p:nvSpPr>
          <p:cNvPr id="25" name="Rectangle 7"/>
          <p:cNvSpPr>
            <a:spLocks noChangeArrowheads="1"/>
          </p:cNvSpPr>
          <p:nvPr/>
        </p:nvSpPr>
        <p:spPr bwMode="auto">
          <a:xfrm>
            <a:off x="206479" y="106456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a:t>
            </a:r>
            <a:r>
              <a:rPr lang="vi-VN" altLang="ko-KR" sz="950">
                <a:latin typeface="Times New Roman" pitchFamily="18" charset="0"/>
                <a:ea typeface="LG Smart_H Regular" panose="020B0600000101010101" pitchFamily="34" charset="-127"/>
                <a:cs typeface="Times New Roman" pitchFamily="18" charset="0"/>
              </a:rPr>
              <a:t>Là thiết bị được lắp sau MNK dùng để loại bỏ 63% hơi nước đầu </a:t>
            </a:r>
            <a:r>
              <a:rPr lang="vi-VN" altLang="ko-KR" sz="950" smtClean="0">
                <a:latin typeface="Times New Roman" pitchFamily="18" charset="0"/>
                <a:ea typeface="LG Smart_H Regular" panose="020B0600000101010101" pitchFamily="34" charset="-127"/>
                <a:cs typeface="Times New Roman" pitchFamily="18" charset="0"/>
              </a:rPr>
              <a:t>vào?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Máy làm lạnh.</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lọc không khí.</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Main line filter</a:t>
            </a:r>
          </a:p>
        </p:txBody>
      </p:sp>
      <p:sp>
        <p:nvSpPr>
          <p:cNvPr id="29" name="Rectangle 7"/>
          <p:cNvSpPr>
            <a:spLocks noChangeArrowheads="1"/>
          </p:cNvSpPr>
          <p:nvPr/>
        </p:nvSpPr>
        <p:spPr bwMode="auto">
          <a:xfrm>
            <a:off x="246995" y="2183706"/>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42. Máy nén hai chiều chia làm hai loại chính là diaphragm và piston theo nguyên lý mở van hút khí ở hành trình làm tăng dung tích xi lanh rồi mở van xả sau khi nén khí hút làm giảm dung tích xi lanh dựa vào diaphragm hay piston vận động hai chiều.</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Dựa vào khả năng nén của Piston sẽ chia ra nhiều cấp. Cấp nén nào có thể nén được áp suất đến 30kgf/</a:t>
            </a:r>
            <a:r>
              <a:rPr lang="vi-VN" altLang="ko-KR" sz="950" smtClean="0">
                <a:latin typeface="Times New Roman" pitchFamily="18" charset="0"/>
                <a:ea typeface="LG Smart_H Regular" panose="020B0600000101010101" pitchFamily="34" charset="-127"/>
                <a:cs typeface="Times New Roman" pitchFamily="18" charset="0"/>
              </a:rPr>
              <a:t>㎠?</a:t>
            </a:r>
            <a:endParaRPr lang="vi-VN"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nén cấp </a:t>
            </a:r>
            <a:r>
              <a:rPr lang="vi-VN" altLang="ko-KR" sz="950" smtClean="0">
                <a:latin typeface="Times New Roman" pitchFamily="18" charset="0"/>
                <a:ea typeface="LG Smart_H Regular" panose="020B0600000101010101" pitchFamily="34" charset="-127"/>
                <a:cs typeface="Times New Roman" pitchFamily="18" charset="0"/>
              </a:rPr>
              <a:t>1</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Máy nén cấp </a:t>
            </a:r>
            <a:r>
              <a:rPr lang="en-US" altLang="ko-KR" sz="950">
                <a:solidFill>
                  <a:srgbClr val="FF0000"/>
                </a:solidFill>
                <a:latin typeface="Times New Roman" pitchFamily="18" charset="0"/>
                <a:ea typeface="LG Smart_H Regular" panose="020B0600000101010101" pitchFamily="34" charset="-127"/>
                <a:cs typeface="Times New Roman" pitchFamily="18" charset="0"/>
              </a:rPr>
              <a:t>2</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nén cấp </a:t>
            </a:r>
            <a:r>
              <a:rPr lang="en-US" altLang="ko-KR" sz="950">
                <a:latin typeface="Times New Roman" pitchFamily="18" charset="0"/>
                <a:ea typeface="LG Smart_H Regular" panose="020B0600000101010101" pitchFamily="34" charset="-127"/>
                <a:cs typeface="Times New Roman" pitchFamily="18" charset="0"/>
              </a:rPr>
              <a:t>3</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nén cấp </a:t>
            </a:r>
            <a:r>
              <a:rPr lang="en-US" altLang="ko-KR" sz="950" smtClean="0">
                <a:latin typeface="Times New Roman" pitchFamily="18" charset="0"/>
                <a:ea typeface="LG Smart_H Regular" panose="020B0600000101010101" pitchFamily="34" charset="-127"/>
                <a:cs typeface="Times New Roman" pitchFamily="18" charset="0"/>
              </a:rPr>
              <a:t>4</a:t>
            </a:r>
            <a:endParaRPr lang="vi-VN" altLang="ko-KR" sz="950">
              <a:latin typeface="Times New Roman" pitchFamily="18" charset="0"/>
              <a:ea typeface="LG Smart_H Regular" panose="020B0600000101010101" pitchFamily="34" charset="-127"/>
              <a:cs typeface="Times New Roman" pitchFamily="18" charset="0"/>
            </a:endParaRPr>
          </a:p>
        </p:txBody>
      </p:sp>
      <p:sp>
        <p:nvSpPr>
          <p:cNvPr id="30" name="Rectangle 7"/>
          <p:cNvSpPr>
            <a:spLocks noChangeArrowheads="1"/>
          </p:cNvSpPr>
          <p:nvPr/>
        </p:nvSpPr>
        <p:spPr bwMode="auto">
          <a:xfrm>
            <a:off x="259544" y="5889104"/>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Là thiết bị có vai trò ổn định hóa việc cung cấp khí nén cho dù lượng tiêu thụ khí nhiều; tố thiểu hóa việc thay đổi áp suất phát sinh khi tiêu thụđồng thời loại bỏ hiện tượng rung lắc của áp suất không </a:t>
            </a:r>
            <a:r>
              <a:rPr lang="vi-VN" altLang="ko-KR" sz="950" smtClean="0">
                <a:latin typeface="Times New Roman" pitchFamily="18" charset="0"/>
                <a:ea typeface="LG Smart_H Regular" panose="020B0600000101010101" pitchFamily="34" charset="-127"/>
                <a:cs typeface="Times New Roman" pitchFamily="18" charset="0"/>
              </a:rPr>
              <a:t>khí?</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nén.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Bể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chứa</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a:t>
            </a:r>
            <a:r>
              <a:rPr lang="vi-VN" altLang="ko-KR" sz="950" smtClean="0">
                <a:latin typeface="Times New Roman" pitchFamily="18" charset="0"/>
                <a:ea typeface="LG Smart_H Regular" panose="020B0600000101010101" pitchFamily="34" charset="-127"/>
                <a:cs typeface="Times New Roman" pitchFamily="18" charset="0"/>
              </a:rPr>
              <a:t>áp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Shutter valve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8" name="Rectangle 7"/>
          <p:cNvSpPr>
            <a:spLocks noChangeArrowheads="1"/>
          </p:cNvSpPr>
          <p:nvPr/>
        </p:nvSpPr>
        <p:spPr bwMode="auto">
          <a:xfrm>
            <a:off x="232792" y="3920864"/>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43. </a:t>
            </a:r>
            <a:r>
              <a:rPr lang="vi-VN" altLang="ko-KR" sz="950">
                <a:latin typeface="Times New Roman" pitchFamily="18" charset="0"/>
                <a:ea typeface="LG Smart_H Regular" panose="020B0600000101010101" pitchFamily="34" charset="-127"/>
                <a:cs typeface="Times New Roman" pitchFamily="18" charset="0"/>
              </a:rPr>
              <a:t>Bộ lọc hơi nước được dùng trong mạch khí nén, dùng để làm sạch khí nén bằng cách loại bỏ hơi nước hay tạp chất rắn như bụi, cặn,… trong ống dẫn có trong khí nén.</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Thiết bị nào trong bộ lọc dùng để loại bỏ hơi </a:t>
            </a:r>
            <a:r>
              <a:rPr lang="vi-VN" altLang="ko-KR" sz="950" smtClean="0">
                <a:latin typeface="Times New Roman" pitchFamily="18" charset="0"/>
                <a:ea typeface="LG Smart_H Regular" panose="020B0600000101010101" pitchFamily="34" charset="-127"/>
                <a:cs typeface="Times New Roman" pitchFamily="18" charset="0"/>
              </a:rPr>
              <a:t>nước?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Deflector</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Element</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Filter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Paper filter</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73132" y="1096650"/>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Máy sấy nào có thể loại bỏ gần hết độ ẩm trong khí nén, nhiệt độ hóa sương khoảng từ 0.5~-100℃.Có thể tái sử dụng nên được sử dụng thường xuyên.Phí thiết bị và phí sửa chữa cao nhưng phí vận hành </a:t>
            </a:r>
            <a:r>
              <a:rPr lang="vi-VN" altLang="ko-KR" sz="950" smtClean="0">
                <a:latin typeface="Times New Roman" pitchFamily="18" charset="0"/>
                <a:ea typeface="LG Smart_H Regular" panose="020B0600000101010101" pitchFamily="34" charset="-127"/>
                <a:cs typeface="Times New Roman" pitchFamily="18" charset="0"/>
              </a:rPr>
              <a:t>thấp?</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ngưng </a:t>
            </a:r>
            <a:r>
              <a:rPr lang="vi-VN" altLang="ko-KR" sz="950" smtClean="0">
                <a:latin typeface="Times New Roman" pitchFamily="18" charset="0"/>
                <a:ea typeface="LG Smart_H Regular" panose="020B0600000101010101" pitchFamily="34" charset="-127"/>
                <a:cs typeface="Times New Roman" pitchFamily="18" charset="0"/>
              </a:rPr>
              <a:t>tụ</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Máy sấy kiểu hấp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thụ</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đông </a:t>
            </a:r>
            <a:r>
              <a:rPr lang="vi-VN" altLang="ko-KR" sz="950" smtClean="0">
                <a:latin typeface="Times New Roman" pitchFamily="18" charset="0"/>
                <a:ea typeface="LG Smart_H Regular" panose="020B0600000101010101" pitchFamily="34" charset="-127"/>
                <a:cs typeface="Times New Roman" pitchFamily="18" charset="0"/>
              </a:rPr>
              <a:t>lạnh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không làm nóng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2" name="Rectangle 7"/>
          <p:cNvSpPr>
            <a:spLocks noChangeArrowheads="1"/>
          </p:cNvSpPr>
          <p:nvPr/>
        </p:nvSpPr>
        <p:spPr bwMode="auto">
          <a:xfrm>
            <a:off x="3473132" y="6357590"/>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Van có tính năng xả nhanh không khí , khí nén từ actuator sau đó tăng tốc độ của xylanh lên được gọi là van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Van xả cấp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tốc</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tiết lưu </a:t>
            </a:r>
            <a:r>
              <a:rPr lang="vi-VN" altLang="ko-KR" sz="950" smtClean="0">
                <a:latin typeface="Times New Roman" pitchFamily="18" charset="0"/>
                <a:ea typeface="LG Smart_H Regular" panose="020B0600000101010101" pitchFamily="34" charset="-127"/>
                <a:cs typeface="Times New Roman" pitchFamily="18" charset="0"/>
              </a:rPr>
              <a:t>xả</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a:t>
            </a:r>
            <a:r>
              <a:rPr lang="vi-VN" altLang="ko-KR" sz="950" smtClean="0">
                <a:latin typeface="Times New Roman" pitchFamily="18" charset="0"/>
                <a:ea typeface="LG Smart_H Regular" panose="020B0600000101010101" pitchFamily="34" charset="-127"/>
                <a:cs typeface="Times New Roman" pitchFamily="18" charset="0"/>
              </a:rPr>
              <a:t>đệm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khiển tốc độ</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3" name="Rectangle 7"/>
          <p:cNvSpPr>
            <a:spLocks noChangeArrowheads="1"/>
          </p:cNvSpPr>
          <p:nvPr/>
        </p:nvSpPr>
        <p:spPr bwMode="auto">
          <a:xfrm>
            <a:off x="3457922" y="801595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Đâu là giải thích đúng về </a:t>
            </a:r>
            <a:r>
              <a:rPr lang="vi-VN" altLang="ko-KR" sz="950" smtClean="0">
                <a:latin typeface="Times New Roman" pitchFamily="18" charset="0"/>
                <a:ea typeface="LG Smart_H Regular" panose="020B0600000101010101" pitchFamily="34" charset="-127"/>
                <a:cs typeface="Times New Roman" pitchFamily="18" charset="0"/>
              </a:rPr>
              <a:t>Relay?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Nhiều tiếp điểm đầu </a:t>
            </a:r>
            <a:r>
              <a:rPr lang="vi-VN" altLang="ko-KR" sz="950" smtClean="0">
                <a:latin typeface="Times New Roman" pitchFamily="18" charset="0"/>
                <a:ea typeface="LG Smart_H Regular" panose="020B0600000101010101" pitchFamily="34" charset="-127"/>
                <a:cs typeface="Times New Roman" pitchFamily="18" charset="0"/>
              </a:rPr>
              <a:t>vào.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Không thể duy trì trạng </a:t>
            </a:r>
            <a:r>
              <a:rPr lang="vi-VN" altLang="ko-KR" sz="950" smtClean="0">
                <a:latin typeface="Times New Roman" pitchFamily="18" charset="0"/>
                <a:ea typeface="LG Smart_H Regular" panose="020B0600000101010101" pitchFamily="34" charset="-127"/>
                <a:cs typeface="Times New Roman" pitchFamily="18" charset="0"/>
              </a:rPr>
              <a:t>thái.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Có thể xử lí tín hiệu của các tính chất khác nhau</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truyền tải tín hiệu kém.</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248498" y="7473280"/>
            <a:ext cx="3180502" cy="1872208"/>
            <a:chOff x="248498" y="7473280"/>
            <a:chExt cx="3180502" cy="1872208"/>
          </a:xfrm>
        </p:grpSpPr>
        <p:sp>
          <p:nvSpPr>
            <p:cNvPr id="32" name="Rectangle 7"/>
            <p:cNvSpPr>
              <a:spLocks noChangeArrowheads="1"/>
            </p:cNvSpPr>
            <p:nvPr/>
          </p:nvSpPr>
          <p:spPr bwMode="auto">
            <a:xfrm>
              <a:off x="248498" y="7473280"/>
              <a:ext cx="3180502"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Đâu là giải thích đúng về định luật Charles?</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 </a:t>
              </a: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 </a:t>
              </a:r>
              <a:r>
                <a:rPr lang="en-US" altLang="ko-KR" sz="950" smtClean="0">
                  <a:latin typeface="Times New Roman" pitchFamily="18" charset="0"/>
                  <a:ea typeface="LG Smart_H Regular" panose="020B0600000101010101" pitchFamily="34" charset="-127"/>
                  <a:cs typeface="Times New Roman" pitchFamily="18" charset="0"/>
                </a:rPr>
                <a:t>                                           D. </a:t>
              </a:r>
            </a:p>
          </p:txBody>
        </p:sp>
        <p:pic>
          <p:nvPicPr>
            <p:cNvPr id="33" name="Picture 32"/>
            <p:cNvPicPr>
              <a:picLocks noChangeAspect="1"/>
            </p:cNvPicPr>
            <p:nvPr/>
          </p:nvPicPr>
          <p:blipFill>
            <a:blip r:embed="rId3"/>
            <a:stretch>
              <a:fillRect/>
            </a:stretch>
          </p:blipFill>
          <p:spPr>
            <a:xfrm>
              <a:off x="2029287" y="8553400"/>
              <a:ext cx="967665" cy="792088"/>
            </a:xfrm>
            <a:prstGeom prst="rect">
              <a:avLst/>
            </a:prstGeom>
          </p:spPr>
        </p:pic>
        <p:pic>
          <p:nvPicPr>
            <p:cNvPr id="35"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2696" y="8526367"/>
              <a:ext cx="969168" cy="819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1164" y="7662271"/>
              <a:ext cx="937614" cy="8191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 name="Picture 36"/>
            <p:cNvPicPr>
              <a:picLocks noChangeAspect="1"/>
            </p:cNvPicPr>
            <p:nvPr/>
          </p:nvPicPr>
          <p:blipFill>
            <a:blip r:embed="rId6"/>
            <a:stretch>
              <a:fillRect/>
            </a:stretch>
          </p:blipFill>
          <p:spPr>
            <a:xfrm>
              <a:off x="560085" y="7744524"/>
              <a:ext cx="1068715" cy="808876"/>
            </a:xfrm>
            <a:prstGeom prst="rect">
              <a:avLst/>
            </a:prstGeom>
          </p:spPr>
        </p:pic>
      </p:grpSp>
      <p:grpSp>
        <p:nvGrpSpPr>
          <p:cNvPr id="3" name="Group 2"/>
          <p:cNvGrpSpPr/>
          <p:nvPr/>
        </p:nvGrpSpPr>
        <p:grpSpPr>
          <a:xfrm>
            <a:off x="3468850" y="2864768"/>
            <a:ext cx="3180502" cy="1309745"/>
            <a:chOff x="3468850" y="2864768"/>
            <a:chExt cx="3180502" cy="1309745"/>
          </a:xfrm>
        </p:grpSpPr>
        <p:sp>
          <p:nvSpPr>
            <p:cNvPr id="50" name="Rectangle 7"/>
            <p:cNvSpPr>
              <a:spLocks noChangeArrowheads="1"/>
            </p:cNvSpPr>
            <p:nvPr/>
          </p:nvSpPr>
          <p:spPr bwMode="auto">
            <a:xfrm>
              <a:off x="3468850" y="286476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a:latin typeface="Times New Roman" pitchFamily="18" charset="0"/>
                  <a:ea typeface="LG Smart_H Regular" panose="020B0600000101010101" pitchFamily="34" charset="-127"/>
                  <a:cs typeface="Times New Roman" pitchFamily="18" charset="0"/>
                </a:rPr>
                <a:t>Phân loại theo phương thức lắp ráp, Tải chuyển động theo đường thẳng. Hình nào là kiểu foot hướng trục (trục trong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D.</a:t>
              </a:r>
            </a:p>
          </p:txBody>
        </p:sp>
        <p:pic>
          <p:nvPicPr>
            <p:cNvPr id="38" name="Picture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301208" y="3724962"/>
              <a:ext cx="747936" cy="43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9" name="Picture 3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76949" y="3710736"/>
              <a:ext cx="701470" cy="463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4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60616" y="3282478"/>
              <a:ext cx="734445" cy="4463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4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19992" y="3296816"/>
              <a:ext cx="815384" cy="413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8" name="Group 7"/>
          <p:cNvGrpSpPr/>
          <p:nvPr/>
        </p:nvGrpSpPr>
        <p:grpSpPr>
          <a:xfrm>
            <a:off x="3449538" y="4991616"/>
            <a:ext cx="3180502" cy="969496"/>
            <a:chOff x="3449538" y="4304928"/>
            <a:chExt cx="3180502" cy="969496"/>
          </a:xfrm>
        </p:grpSpPr>
        <p:sp>
          <p:nvSpPr>
            <p:cNvPr id="51" name="Rectangle 7"/>
            <p:cNvSpPr>
              <a:spLocks noChangeArrowheads="1"/>
            </p:cNvSpPr>
            <p:nvPr/>
          </p:nvSpPr>
          <p:spPr bwMode="auto">
            <a:xfrm>
              <a:off x="3449538" y="4304928"/>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Chọn đáp án đúng với hình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Van tiết lưu</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a:t>
              </a:r>
              <a:r>
                <a:rPr lang="vi-VN" altLang="ko-KR" sz="950" smtClean="0">
                  <a:latin typeface="Times New Roman" pitchFamily="18" charset="0"/>
                  <a:ea typeface="LG Smart_H Regular" panose="020B0600000101010101" pitchFamily="34" charset="-127"/>
                  <a:cs typeface="Times New Roman" pitchFamily="18" charset="0"/>
                </a:rPr>
                <a:t>an </a:t>
              </a:r>
              <a:r>
                <a:rPr lang="vi-VN" altLang="ko-KR" sz="950">
                  <a:latin typeface="Times New Roman" pitchFamily="18" charset="0"/>
                  <a:ea typeface="LG Smart_H Regular" panose="020B0600000101010101" pitchFamily="34" charset="-127"/>
                  <a:cs typeface="Times New Roman" pitchFamily="18" charset="0"/>
                </a:rPr>
                <a:t>kiểm </a:t>
              </a:r>
              <a:r>
                <a:rPr lang="vi-VN" altLang="ko-KR" sz="950" smtClean="0">
                  <a:latin typeface="Times New Roman" pitchFamily="18" charset="0"/>
                  <a:ea typeface="LG Smart_H Regular" panose="020B0600000101010101" pitchFamily="34" charset="-127"/>
                  <a:cs typeface="Times New Roman" pitchFamily="18" charset="0"/>
                </a:rPr>
                <a:t>tra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Van </a:t>
              </a:r>
              <a:r>
                <a:rPr lang="vi-VN" altLang="ko-KR" sz="950">
                  <a:latin typeface="Times New Roman" pitchFamily="18" charset="0"/>
                  <a:ea typeface="LG Smart_H Regular" panose="020B0600000101010101" pitchFamily="34" charset="-127"/>
                  <a:cs typeface="Times New Roman" pitchFamily="18" charset="0"/>
                </a:rPr>
                <a:t>điều khiển tốc 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Van xả cấp tốc</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8" name="Picture 47"/>
            <p:cNvPicPr>
              <a:picLocks noChangeAspect="1"/>
            </p:cNvPicPr>
            <p:nvPr/>
          </p:nvPicPr>
          <p:blipFill>
            <a:blip r:embed="rId11"/>
            <a:stretch>
              <a:fillRect/>
            </a:stretch>
          </p:blipFill>
          <p:spPr>
            <a:xfrm>
              <a:off x="5068069" y="4542214"/>
              <a:ext cx="981075" cy="672352"/>
            </a:xfrm>
            <a:prstGeom prst="rect">
              <a:avLst/>
            </a:prstGeom>
          </p:spPr>
        </p:pic>
      </p:grpSp>
    </p:spTree>
    <p:extLst>
      <p:ext uri="{BB962C8B-B14F-4D97-AF65-F5344CB8AC3E}">
        <p14:creationId xmlns:p14="http://schemas.microsoft.com/office/powerpoint/2010/main" val="399697264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a:latin typeface="Times New Roman" pitchFamily="18" charset="0"/>
                <a:cs typeface="Times New Roman" pitchFamily="18" charset="0"/>
              </a:rPr>
              <a:t>Khí nén</a:t>
            </a:r>
            <a:r>
              <a:rPr lang="en-US" altLang="ko-KR">
                <a:latin typeface="Times New Roman" pitchFamily="18" charset="0"/>
                <a:cs typeface="Times New Roman" pitchFamily="18" charset="0"/>
              </a:rPr>
              <a:t>] </a:t>
            </a:r>
            <a:endParaRPr lang="en-US" altLang="ko-KR" dirty="0">
              <a:latin typeface="Times New Roman" pitchFamily="18" charset="0"/>
              <a:cs typeface="Times New Roman" pitchFamily="18" charset="0"/>
            </a:endParaRPr>
          </a:p>
        </p:txBody>
      </p:sp>
      <p:sp>
        <p:nvSpPr>
          <p:cNvPr id="8196" name="Rectangle 17"/>
          <p:cNvSpPr>
            <a:spLocks noChangeArrowheads="1"/>
          </p:cNvSpPr>
          <p:nvPr/>
        </p:nvSpPr>
        <p:spPr bwMode="auto">
          <a:xfrm>
            <a:off x="214040"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8197" name="Rectangle 18"/>
          <p:cNvSpPr>
            <a:spLocks noChangeArrowheads="1"/>
          </p:cNvSpPr>
          <p:nvPr/>
        </p:nvSpPr>
        <p:spPr bwMode="auto">
          <a:xfrm>
            <a:off x="3404108" y="776288"/>
            <a:ext cx="329311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7" name="Rectangle 604"/>
          <p:cNvSpPr>
            <a:spLocks noChangeArrowheads="1"/>
          </p:cNvSpPr>
          <p:nvPr/>
        </p:nvSpPr>
        <p:spPr bwMode="auto">
          <a:xfrm>
            <a:off x="260648" y="989013"/>
            <a:ext cx="3124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800" smtClean="0">
                <a:latin typeface="Arial" panose="020B0604020202020204" pitchFamily="34" charset="0"/>
                <a:cs typeface="Arial" panose="020B0604020202020204" pitchFamily="34" charset="0"/>
              </a:rPr>
              <a:t>51</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phải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nhược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điểm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kĩ</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thuật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ko-KR"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solidFill>
                  <a:srgbClr val="FF0000"/>
                </a:solidFill>
                <a:latin typeface="Arial" panose="020B0604020202020204" pitchFamily="34" charset="0"/>
                <a:cs typeface="Arial" panose="020B0604020202020204" pitchFamily="34" charset="0"/>
              </a:rPr>
              <a:t>A. </a:t>
            </a:r>
            <a:r>
              <a:rPr lang="en-US" altLang="ko-KR" sz="800" dirty="0" err="1">
                <a:solidFill>
                  <a:srgbClr val="FF0000"/>
                </a:solidFill>
                <a:latin typeface="Arial" panose="020B0604020202020204" pitchFamily="34" charset="0"/>
                <a:cs typeface="Arial" panose="020B0604020202020204" pitchFamily="34" charset="0"/>
              </a:rPr>
              <a:t>Có</a:t>
            </a:r>
            <a:r>
              <a:rPr lang="en-US" altLang="ko-KR" sz="800" dirty="0">
                <a:solidFill>
                  <a:srgbClr val="FF0000"/>
                </a:solidFill>
                <a:latin typeface="Arial" panose="020B0604020202020204" pitchFamily="34" charset="0"/>
                <a:cs typeface="Arial" panose="020B0604020202020204" pitchFamily="34" charset="0"/>
              </a:rPr>
              <a:t> </a:t>
            </a:r>
            <a:r>
              <a:rPr lang="en-US" altLang="ko-KR" sz="800" dirty="0" err="1">
                <a:solidFill>
                  <a:srgbClr val="FF0000"/>
                </a:solidFill>
                <a:latin typeface="Arial" panose="020B0604020202020204" pitchFamily="34" charset="0"/>
                <a:cs typeface="Arial" panose="020B0604020202020204" pitchFamily="34" charset="0"/>
              </a:rPr>
              <a:t>thể</a:t>
            </a:r>
            <a:r>
              <a:rPr lang="en-US" altLang="ko-KR" sz="800" dirty="0">
                <a:solidFill>
                  <a:srgbClr val="FF0000"/>
                </a:solidFill>
                <a:latin typeface="Arial" panose="020B0604020202020204" pitchFamily="34" charset="0"/>
                <a:cs typeface="Arial" panose="020B0604020202020204" pitchFamily="34" charset="0"/>
              </a:rPr>
              <a:t> </a:t>
            </a:r>
            <a:r>
              <a:rPr lang="en-US" altLang="ko-KR" sz="800" dirty="0" err="1">
                <a:solidFill>
                  <a:srgbClr val="FF0000"/>
                </a:solidFill>
                <a:latin typeface="Arial" panose="020B0604020202020204" pitchFamily="34" charset="0"/>
                <a:cs typeface="Arial" panose="020B0604020202020204" pitchFamily="34" charset="0"/>
              </a:rPr>
              <a:t>nhận</a:t>
            </a:r>
            <a:r>
              <a:rPr lang="en-US" altLang="ko-KR" sz="800" dirty="0">
                <a:solidFill>
                  <a:srgbClr val="FF0000"/>
                </a:solidFill>
                <a:latin typeface="Arial" panose="020B0604020202020204" pitchFamily="34" charset="0"/>
                <a:cs typeface="Arial" panose="020B0604020202020204" pitchFamily="34" charset="0"/>
              </a:rPr>
              <a:t> </a:t>
            </a:r>
            <a:r>
              <a:rPr lang="en-US" altLang="ko-KR" sz="800" dirty="0" err="1">
                <a:solidFill>
                  <a:srgbClr val="FF0000"/>
                </a:solidFill>
                <a:latin typeface="Arial" panose="020B0604020202020204" pitchFamily="34" charset="0"/>
                <a:cs typeface="Arial" panose="020B0604020202020204" pitchFamily="34" charset="0"/>
              </a:rPr>
              <a:t>được</a:t>
            </a:r>
            <a:r>
              <a:rPr lang="en-US" altLang="ko-KR" sz="800" dirty="0">
                <a:solidFill>
                  <a:srgbClr val="FF0000"/>
                </a:solidFill>
                <a:latin typeface="Arial" panose="020B0604020202020204" pitchFamily="34" charset="0"/>
                <a:cs typeface="Arial" panose="020B0604020202020204" pitchFamily="34" charset="0"/>
              </a:rPr>
              <a:t> </a:t>
            </a:r>
            <a:r>
              <a:rPr lang="en-US" altLang="ko-KR" sz="800" dirty="0" err="1">
                <a:solidFill>
                  <a:srgbClr val="FF0000"/>
                </a:solidFill>
                <a:latin typeface="Arial" panose="020B0604020202020204" pitchFamily="34" charset="0"/>
                <a:cs typeface="Arial" panose="020B0604020202020204" pitchFamily="34" charset="0"/>
              </a:rPr>
              <a:t>khí</a:t>
            </a:r>
            <a:r>
              <a:rPr lang="en-US" altLang="ko-KR" sz="800" dirty="0">
                <a:solidFill>
                  <a:srgbClr val="FF0000"/>
                </a:solidFill>
                <a:latin typeface="Arial" panose="020B0604020202020204" pitchFamily="34" charset="0"/>
                <a:cs typeface="Arial" panose="020B0604020202020204" pitchFamily="34" charset="0"/>
              </a:rPr>
              <a:t> </a:t>
            </a:r>
            <a:r>
              <a:rPr lang="en-US" altLang="ko-KR" sz="800" dirty="0" err="1">
                <a:solidFill>
                  <a:srgbClr val="FF0000"/>
                </a:solidFill>
                <a:latin typeface="Arial" panose="020B0604020202020204" pitchFamily="34" charset="0"/>
                <a:cs typeface="Arial" panose="020B0604020202020204" pitchFamily="34" charset="0"/>
              </a:rPr>
              <a:t>nén</a:t>
            </a:r>
            <a:r>
              <a:rPr lang="en-US" altLang="ko-KR" sz="800" dirty="0">
                <a:solidFill>
                  <a:srgbClr val="FF0000"/>
                </a:solidFill>
                <a:latin typeface="Arial" panose="020B0604020202020204" pitchFamily="34" charset="0"/>
                <a:cs typeface="Arial" panose="020B0604020202020204" pitchFamily="34" charset="0"/>
              </a:rPr>
              <a:t> </a:t>
            </a:r>
            <a:r>
              <a:rPr lang="en-US" altLang="ko-KR" sz="800" dirty="0" err="1">
                <a:solidFill>
                  <a:srgbClr val="FF0000"/>
                </a:solidFill>
                <a:latin typeface="Arial" panose="020B0604020202020204" pitchFamily="34" charset="0"/>
                <a:cs typeface="Arial" panose="020B0604020202020204" pitchFamily="34" charset="0"/>
              </a:rPr>
              <a:t>là</a:t>
            </a:r>
            <a:r>
              <a:rPr lang="en-US" altLang="ko-KR" sz="800" dirty="0">
                <a:solidFill>
                  <a:srgbClr val="FF0000"/>
                </a:solidFill>
                <a:latin typeface="Arial" panose="020B0604020202020204" pitchFamily="34" charset="0"/>
                <a:cs typeface="Arial" panose="020B0604020202020204" pitchFamily="34" charset="0"/>
              </a:rPr>
              <a:t> </a:t>
            </a:r>
            <a:r>
              <a:rPr lang="en-US" altLang="ko-KR" sz="800" dirty="0" err="1">
                <a:solidFill>
                  <a:srgbClr val="FF0000"/>
                </a:solidFill>
                <a:latin typeface="Arial" panose="020B0604020202020204" pitchFamily="34" charset="0"/>
                <a:cs typeface="Arial" panose="020B0604020202020204" pitchFamily="34" charset="0"/>
              </a:rPr>
              <a:t>nguồn</a:t>
            </a:r>
            <a:r>
              <a:rPr lang="en-US" altLang="ko-KR" sz="800" dirty="0">
                <a:solidFill>
                  <a:srgbClr val="FF0000"/>
                </a:solidFill>
                <a:latin typeface="Arial" panose="020B0604020202020204" pitchFamily="34" charset="0"/>
                <a:cs typeface="Arial" panose="020B0604020202020204" pitchFamily="34" charset="0"/>
              </a:rPr>
              <a:t> </a:t>
            </a:r>
            <a:r>
              <a:rPr lang="en-US" altLang="ko-KR" sz="800" dirty="0" err="1">
                <a:solidFill>
                  <a:srgbClr val="FF0000"/>
                </a:solidFill>
                <a:latin typeface="Arial" panose="020B0604020202020204" pitchFamily="34" charset="0"/>
                <a:cs typeface="Arial" panose="020B0604020202020204" pitchFamily="34" charset="0"/>
              </a:rPr>
              <a:t>một</a:t>
            </a:r>
            <a:r>
              <a:rPr lang="en-US" altLang="ko-KR" sz="800" dirty="0">
                <a:solidFill>
                  <a:srgbClr val="FF0000"/>
                </a:solidFill>
                <a:latin typeface="Arial" panose="020B0604020202020204" pitchFamily="34" charset="0"/>
                <a:cs typeface="Arial" panose="020B0604020202020204" pitchFamily="34" charset="0"/>
              </a:rPr>
              <a:t> </a:t>
            </a:r>
            <a:r>
              <a:rPr lang="en-US" altLang="ko-KR" sz="800" dirty="0" err="1">
                <a:solidFill>
                  <a:srgbClr val="FF0000"/>
                </a:solidFill>
                <a:latin typeface="Arial" panose="020B0604020202020204" pitchFamily="34" charset="0"/>
                <a:cs typeface="Arial" panose="020B0604020202020204" pitchFamily="34" charset="0"/>
              </a:rPr>
              <a:t>cách</a:t>
            </a:r>
            <a:r>
              <a:rPr lang="en-US" altLang="ko-KR" sz="800" dirty="0">
                <a:solidFill>
                  <a:srgbClr val="FF0000"/>
                </a:solidFill>
                <a:latin typeface="Arial" panose="020B0604020202020204" pitchFamily="34" charset="0"/>
                <a:cs typeface="Arial" panose="020B0604020202020204" pitchFamily="34" charset="0"/>
              </a:rPr>
              <a:t> </a:t>
            </a:r>
            <a:r>
              <a:rPr lang="en-US" altLang="ko-KR" sz="800" dirty="0" err="1">
                <a:solidFill>
                  <a:srgbClr val="FF0000"/>
                </a:solidFill>
                <a:latin typeface="Arial" panose="020B0604020202020204" pitchFamily="34" charset="0"/>
                <a:cs typeface="Arial" panose="020B0604020202020204" pitchFamily="34" charset="0"/>
              </a:rPr>
              <a:t>đơn</a:t>
            </a:r>
            <a:r>
              <a:rPr lang="en-US" altLang="ko-KR" sz="800" dirty="0">
                <a:solidFill>
                  <a:srgbClr val="FF0000"/>
                </a:solidFill>
                <a:latin typeface="Arial" panose="020B0604020202020204" pitchFamily="34" charset="0"/>
                <a:cs typeface="Arial" panose="020B0604020202020204" pitchFamily="34" charset="0"/>
              </a:rPr>
              <a:t> </a:t>
            </a:r>
            <a:r>
              <a:rPr lang="en-US" altLang="ko-KR" sz="800" dirty="0" err="1">
                <a:solidFill>
                  <a:srgbClr val="FF0000"/>
                </a:solidFill>
                <a:latin typeface="Arial" panose="020B0604020202020204" pitchFamily="34" charset="0"/>
                <a:cs typeface="Arial" panose="020B0604020202020204" pitchFamily="34" charset="0"/>
              </a:rPr>
              <a:t>giản</a:t>
            </a:r>
            <a:r>
              <a:rPr lang="en-US" altLang="ko-KR" sz="800" dirty="0">
                <a:solidFill>
                  <a:srgbClr val="FF0000"/>
                </a:solidFill>
                <a:latin typeface="Arial" panose="020B0604020202020204" pitchFamily="34" charset="0"/>
                <a:cs typeface="Arial" panose="020B0604020202020204" pitchFamily="34" charset="0"/>
              </a:rPr>
              <a:t>.</a:t>
            </a:r>
          </a:p>
          <a:p>
            <a:pPr eaLnBrk="1" hangingPunct="1"/>
            <a:r>
              <a:rPr lang="en-US" altLang="ko-KR" sz="800" smtClean="0">
                <a:latin typeface="Arial" panose="020B0604020202020204" pitchFamily="34" charset="0"/>
                <a:cs typeface="Arial" panose="020B0604020202020204" pitchFamily="34" charset="0"/>
              </a:rPr>
              <a:t>B. </a:t>
            </a:r>
            <a:r>
              <a:rPr lang="en-US" altLang="ko-KR" sz="800" dirty="0" err="1" smtClean="0">
                <a:latin typeface="Arial" panose="020B0604020202020204" pitchFamily="34" charset="0"/>
                <a:cs typeface="Arial" panose="020B0604020202020204" pitchFamily="34" charset="0"/>
              </a:rPr>
              <a:t>Khó</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điều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khiển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được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tốc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độ</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chính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xác</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C.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nhận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được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lớn</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D. </a:t>
            </a:r>
            <a:r>
              <a:rPr lang="en-US" altLang="ko-KR" sz="800" dirty="0" err="1" smtClean="0">
                <a:latin typeface="Arial" panose="020B0604020202020204" pitchFamily="34" charset="0"/>
                <a:cs typeface="Arial" panose="020B0604020202020204" pitchFamily="34" charset="0"/>
              </a:rPr>
              <a:t>Hiệu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năng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kém</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p:txBody>
      </p:sp>
      <p:sp>
        <p:nvSpPr>
          <p:cNvPr id="8" name="Rectangle 605"/>
          <p:cNvSpPr>
            <a:spLocks noChangeArrowheads="1"/>
          </p:cNvSpPr>
          <p:nvPr/>
        </p:nvSpPr>
        <p:spPr bwMode="auto">
          <a:xfrm>
            <a:off x="260648" y="2537827"/>
            <a:ext cx="3124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800" smtClean="0">
                <a:latin typeface="Arial" panose="020B0604020202020204" pitchFamily="34" charset="0"/>
                <a:cs typeface="Arial" panose="020B0604020202020204" pitchFamily="34" charset="0"/>
              </a:rPr>
              <a:t>52</a:t>
            </a:r>
            <a:r>
              <a:rPr lang="en-US" altLang="ko-KR" sz="80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Không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được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cấu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trúc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bởi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nhiều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thành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phần</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eaLnBrk="1" hangingPunct="1"/>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Liệt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kê</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các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thành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phần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theo</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thứ</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tự</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từ</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thành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phần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tích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lớn</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solidFill>
                  <a:srgbClr val="FF0000"/>
                </a:solidFill>
                <a:latin typeface="Arial" panose="020B0604020202020204" pitchFamily="34" charset="0"/>
                <a:cs typeface="Arial" panose="020B0604020202020204" pitchFamily="34" charset="0"/>
              </a:rPr>
              <a:t>A. </a:t>
            </a:r>
            <a:r>
              <a:rPr lang="en-US" altLang="ko-KR" sz="800" dirty="0" smtClean="0">
                <a:solidFill>
                  <a:srgbClr val="FF0000"/>
                </a:solidFill>
                <a:latin typeface="Arial" panose="020B0604020202020204" pitchFamily="34" charset="0"/>
                <a:cs typeface="Arial" panose="020B0604020202020204" pitchFamily="34" charset="0"/>
              </a:rPr>
              <a:t>N2-O2-Ar-CO2-H2</a:t>
            </a:r>
            <a:endParaRPr lang="ko-KR" altLang="en-US" sz="800" dirty="0">
              <a:solidFill>
                <a:srgbClr val="FF0000"/>
              </a:solidFill>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B.</a:t>
            </a:r>
            <a:r>
              <a:rPr lang="ko-KR" altLang="en-US" sz="800" smtClean="0">
                <a:latin typeface="Arial" panose="020B0604020202020204" pitchFamily="34" charset="0"/>
                <a:cs typeface="Arial" panose="020B0604020202020204" pitchFamily="34" charset="0"/>
              </a:rPr>
              <a:t> </a:t>
            </a:r>
            <a:r>
              <a:rPr lang="en-US" altLang="ko-KR" sz="800" dirty="0" smtClean="0">
                <a:latin typeface="Arial" panose="020B0604020202020204" pitchFamily="34" charset="0"/>
                <a:cs typeface="Arial" panose="020B0604020202020204" pitchFamily="34" charset="0"/>
              </a:rPr>
              <a:t>N2-Ar-O2-CO2-H2</a:t>
            </a:r>
            <a:endParaRPr lang="ko-KR" altLang="en-US"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C.</a:t>
            </a:r>
            <a:r>
              <a:rPr lang="ko-KR" altLang="en-US" sz="800" smtClean="0">
                <a:latin typeface="Arial" panose="020B0604020202020204" pitchFamily="34" charset="0"/>
                <a:cs typeface="Arial" panose="020B0604020202020204" pitchFamily="34" charset="0"/>
              </a:rPr>
              <a:t> </a:t>
            </a:r>
            <a:r>
              <a:rPr lang="en-US" altLang="ko-KR" sz="800" dirty="0" smtClean="0">
                <a:latin typeface="Arial" panose="020B0604020202020204" pitchFamily="34" charset="0"/>
                <a:cs typeface="Arial" panose="020B0604020202020204" pitchFamily="34" charset="0"/>
              </a:rPr>
              <a:t>O2-N2-Ar-H2-CO2</a:t>
            </a:r>
            <a:endParaRPr lang="ko-KR" altLang="en-US"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D.</a:t>
            </a:r>
            <a:r>
              <a:rPr lang="ko-KR" altLang="en-US" sz="800" smtClean="0">
                <a:latin typeface="Arial" panose="020B0604020202020204" pitchFamily="34" charset="0"/>
                <a:cs typeface="Arial" panose="020B0604020202020204" pitchFamily="34" charset="0"/>
              </a:rPr>
              <a:t> </a:t>
            </a:r>
            <a:r>
              <a:rPr lang="en-US" altLang="ko-KR" sz="800" dirty="0" smtClean="0">
                <a:latin typeface="Arial" panose="020B0604020202020204" pitchFamily="34" charset="0"/>
                <a:cs typeface="Arial" panose="020B0604020202020204" pitchFamily="34" charset="0"/>
              </a:rPr>
              <a:t>O2-Ar-N2-H2-CO2</a:t>
            </a:r>
            <a:endParaRPr lang="ko-KR" altLang="en-US" sz="800" dirty="0">
              <a:latin typeface="Arial" panose="020B0604020202020204" pitchFamily="34" charset="0"/>
              <a:cs typeface="Arial" panose="020B0604020202020204" pitchFamily="34" charset="0"/>
            </a:endParaRPr>
          </a:p>
        </p:txBody>
      </p:sp>
      <p:sp>
        <p:nvSpPr>
          <p:cNvPr id="9" name="Rectangle 607"/>
          <p:cNvSpPr>
            <a:spLocks noChangeArrowheads="1"/>
          </p:cNvSpPr>
          <p:nvPr/>
        </p:nvSpPr>
        <p:spPr bwMode="auto">
          <a:xfrm>
            <a:off x="260648" y="4173106"/>
            <a:ext cx="3200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800" smtClean="0">
                <a:latin typeface="Arial" panose="020B0604020202020204" pitchFamily="34" charset="0"/>
                <a:cs typeface="Arial" panose="020B0604020202020204" pitchFamily="34" charset="0"/>
              </a:rPr>
              <a:t>53</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phải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đặc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điểm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A.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năng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lượng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bị</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lại</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B. </a:t>
            </a:r>
            <a:r>
              <a:rPr lang="en-US" altLang="ko-KR" sz="800" dirty="0" err="1" smtClean="0">
                <a:latin typeface="Arial" panose="020B0604020202020204" pitchFamily="34" charset="0"/>
                <a:cs typeface="Arial" panose="020B0604020202020204" pitchFamily="34" charset="0"/>
              </a:rPr>
              <a:t>Tốc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độ</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nhanh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hơn</a:t>
            </a:r>
            <a:r>
              <a:rPr lang="en-US" altLang="ko-KR" sz="800" dirty="0" smtClean="0">
                <a:latin typeface="Arial" panose="020B0604020202020204" pitchFamily="34" charset="0"/>
                <a:cs typeface="Arial" panose="020B0604020202020204" pitchFamily="34" charset="0"/>
              </a:rPr>
              <a:t> so </a:t>
            </a:r>
            <a:r>
              <a:rPr lang="en-US" altLang="ko-KR" sz="800" dirty="0" err="1" smtClean="0">
                <a:latin typeface="Arial" panose="020B0604020202020204" pitchFamily="34" charset="0"/>
                <a:cs typeface="Arial" panose="020B0604020202020204" pitchFamily="34" charset="0"/>
              </a:rPr>
              <a:t>với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thủy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solidFill>
                  <a:srgbClr val="FF0000"/>
                </a:solidFill>
                <a:latin typeface="Arial" panose="020B0604020202020204" pitchFamily="34" charset="0"/>
                <a:cs typeface="Arial" panose="020B0604020202020204" pitchFamily="34" charset="0"/>
              </a:rPr>
              <a:t>C. </a:t>
            </a:r>
            <a:r>
              <a:rPr lang="en-US" altLang="ko-KR" sz="800" dirty="0" err="1" smtClean="0">
                <a:solidFill>
                  <a:srgbClr val="FF0000"/>
                </a:solidFill>
                <a:latin typeface="Arial" panose="020B0604020202020204" pitchFamily="34" charset="0"/>
                <a:cs typeface="Arial" panose="020B0604020202020204" pitchFamily="34" charset="0"/>
              </a:rPr>
              <a:t>Nếu</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nhận</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được</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nhiệt</a:t>
            </a:r>
            <a:r>
              <a:rPr lang="en-US" altLang="ko-KR" sz="800" dirty="0" smtClean="0">
                <a:solidFill>
                  <a:srgbClr val="FF0000"/>
                </a:solidFill>
                <a:latin typeface="Arial" panose="020B0604020202020204" pitchFamily="34" charset="0"/>
                <a:cs typeface="Arial" panose="020B0604020202020204" pitchFamily="34" charset="0"/>
              </a:rPr>
              <a:t> ở </a:t>
            </a:r>
            <a:r>
              <a:rPr lang="en-US" altLang="ko-KR" sz="800" dirty="0" err="1" smtClean="0">
                <a:solidFill>
                  <a:srgbClr val="FF0000"/>
                </a:solidFill>
                <a:latin typeface="Arial" panose="020B0604020202020204" pitchFamily="34" charset="0"/>
                <a:cs typeface="Arial" panose="020B0604020202020204" pitchFamily="34" charset="0"/>
              </a:rPr>
              <a:t>áp</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lực</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nhất</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định</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thể</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tích</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sẽ</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thu</a:t>
            </a:r>
            <a:r>
              <a:rPr lang="en-US" altLang="ko-KR" sz="800" dirty="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nhỏ</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lại</a:t>
            </a:r>
            <a:r>
              <a:rPr lang="en-US" altLang="ko-KR" sz="800" dirty="0" smtClean="0">
                <a:solidFill>
                  <a:srgbClr val="FF0000"/>
                </a:solidFill>
                <a:latin typeface="Arial" panose="020B0604020202020204" pitchFamily="34" charset="0"/>
                <a:cs typeface="Arial" panose="020B0604020202020204" pitchFamily="34" charset="0"/>
              </a:rPr>
              <a:t>.</a:t>
            </a:r>
            <a:endParaRPr lang="en-US" altLang="ko-KR" sz="800" dirty="0">
              <a:solidFill>
                <a:srgbClr val="FF0000"/>
              </a:solidFill>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D.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an </a:t>
            </a:r>
            <a:r>
              <a:rPr lang="en-US" altLang="ko-KR" sz="800" dirty="0" err="1" smtClean="0">
                <a:latin typeface="Arial" panose="020B0604020202020204" pitchFamily="34" charset="0"/>
                <a:cs typeface="Arial" panose="020B0604020202020204" pitchFamily="34" charset="0"/>
              </a:rPr>
              <a:t>toàn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hơn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các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năng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lượng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khác</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p:txBody>
      </p:sp>
      <p:sp>
        <p:nvSpPr>
          <p:cNvPr id="10" name="Rectangle 635"/>
          <p:cNvSpPr>
            <a:spLocks noChangeArrowheads="1"/>
          </p:cNvSpPr>
          <p:nvPr/>
        </p:nvSpPr>
        <p:spPr bwMode="auto">
          <a:xfrm>
            <a:off x="260648" y="6312441"/>
            <a:ext cx="3124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800" smtClean="0">
                <a:latin typeface="Arial" panose="020B0604020202020204" pitchFamily="34" charset="0"/>
                <a:cs typeface="Arial" panose="020B0604020202020204" pitchFamily="34" charset="0"/>
              </a:rPr>
              <a:t>54</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Trong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các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loại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được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phân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loại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theo</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xả</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xả</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10~16Kgf</a:t>
            </a:r>
            <a:r>
              <a:rPr lang="en-US" altLang="ko-KR" sz="800" dirty="0">
                <a:latin typeface="Arial" panose="020B0604020202020204" pitchFamily="34" charset="0"/>
                <a:cs typeface="Arial" panose="020B0604020202020204" pitchFamily="34" charset="0"/>
              </a:rPr>
              <a:t>/</a:t>
            </a:r>
            <a:r>
              <a:rPr lang="en-US" altLang="ko-KR" sz="800" dirty="0" smtClean="0">
                <a:latin typeface="Arial" panose="020B0604020202020204" pitchFamily="34" charset="0"/>
                <a:cs typeface="Arial" panose="020B0604020202020204" pitchFamily="34" charset="0"/>
              </a:rPr>
              <a:t>㎠</a:t>
            </a:r>
            <a:r>
              <a:rPr lang="ko-KR" altLang="en-US"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loại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nào</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   A.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err="1" smtClean="0">
                <a:latin typeface="Arial" panose="020B0604020202020204" pitchFamily="34" charset="0"/>
                <a:cs typeface="Arial" panose="020B0604020202020204" pitchFamily="34" charset="0"/>
              </a:rPr>
              <a:t>thấp</a:t>
            </a:r>
            <a:r>
              <a:rPr lang="ko-KR" altLang="en-US" sz="800" smtClean="0">
                <a:latin typeface="Arial" panose="020B0604020202020204" pitchFamily="34" charset="0"/>
                <a:cs typeface="Arial" panose="020B0604020202020204" pitchFamily="34" charset="0"/>
              </a:rPr>
              <a:t>     </a:t>
            </a:r>
            <a:r>
              <a:rPr lang="en-US" altLang="ko-KR" sz="800" smtClean="0">
                <a:solidFill>
                  <a:srgbClr val="FF0000"/>
                </a:solidFill>
                <a:latin typeface="Arial" panose="020B0604020202020204" pitchFamily="34" charset="0"/>
                <a:cs typeface="Arial" panose="020B0604020202020204" pitchFamily="34" charset="0"/>
              </a:rPr>
              <a:t>B.</a:t>
            </a:r>
            <a:r>
              <a:rPr lang="ko-KR" altLang="en-US" sz="80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Áp</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lực</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trung</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bình</a:t>
            </a:r>
            <a:r>
              <a:rPr lang="ko-KR" altLang="en-US" sz="800" dirty="0" smtClean="0">
                <a:solidFill>
                  <a:srgbClr val="FF0000"/>
                </a:solidFill>
                <a:latin typeface="Arial" panose="020B0604020202020204" pitchFamily="34" charset="0"/>
                <a:cs typeface="Arial" panose="020B0604020202020204" pitchFamily="34" charset="0"/>
              </a:rPr>
              <a:t>   </a:t>
            </a:r>
            <a:endParaRPr lang="en-US" altLang="ko-KR" sz="800" dirty="0" smtClean="0">
              <a:solidFill>
                <a:srgbClr val="FF0000"/>
              </a:solidFill>
              <a:latin typeface="Arial" panose="020B0604020202020204" pitchFamily="34" charset="0"/>
              <a:cs typeface="Arial" panose="020B0604020202020204" pitchFamily="34" charset="0"/>
            </a:endParaRPr>
          </a:p>
          <a:p>
            <a:pPr eaLnBrk="1" hangingPunct="1"/>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C.</a:t>
            </a:r>
            <a:r>
              <a:rPr lang="ko-KR" altLang="en-US" sz="80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err="1" smtClean="0">
                <a:latin typeface="Arial" panose="020B0604020202020204" pitchFamily="34" charset="0"/>
                <a:cs typeface="Arial" panose="020B0604020202020204" pitchFamily="34" charset="0"/>
              </a:rPr>
              <a:t>cao</a:t>
            </a:r>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D.</a:t>
            </a:r>
            <a:r>
              <a:rPr lang="ko-KR" altLang="en-US" sz="80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endParaRPr lang="ko-KR" altLang="en-US" sz="800" dirty="0">
              <a:latin typeface="Arial" panose="020B0604020202020204" pitchFamily="34" charset="0"/>
              <a:cs typeface="Arial" panose="020B0604020202020204" pitchFamily="34" charset="0"/>
            </a:endParaRPr>
          </a:p>
        </p:txBody>
      </p:sp>
      <p:sp>
        <p:nvSpPr>
          <p:cNvPr id="11" name="Rectangle 76"/>
          <p:cNvSpPr>
            <a:spLocks noChangeArrowheads="1"/>
          </p:cNvSpPr>
          <p:nvPr/>
        </p:nvSpPr>
        <p:spPr bwMode="auto">
          <a:xfrm>
            <a:off x="3401144" y="2617269"/>
            <a:ext cx="3296076" cy="535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lnSpc>
                <a:spcPct val="120000"/>
              </a:lnSpc>
            </a:pPr>
            <a:r>
              <a:rPr lang="en-US" altLang="ko-KR" sz="800" smtClean="0">
                <a:latin typeface="Arial" panose="020B0604020202020204" pitchFamily="34" charset="0"/>
                <a:cs typeface="Arial" panose="020B0604020202020204" pitchFamily="34" charset="0"/>
              </a:rPr>
              <a:t>57</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phải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yếu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tố</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tank </a:t>
            </a:r>
            <a:r>
              <a:rPr lang="en-US" altLang="ko-KR" sz="800" dirty="0" err="1" smtClean="0">
                <a:latin typeface="Arial" panose="020B0604020202020204" pitchFamily="34" charset="0"/>
                <a:cs typeface="Arial" panose="020B0604020202020204" pitchFamily="34" charset="0"/>
              </a:rPr>
              <a:t>chứa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lnSpc>
                <a:spcPct val="120000"/>
              </a:lnSpc>
            </a:pPr>
            <a:r>
              <a:rPr lang="en-US" altLang="ko-KR" sz="800" smtClean="0">
                <a:latin typeface="Arial" panose="020B0604020202020204" pitchFamily="34" charset="0"/>
                <a:cs typeface="Arial" panose="020B0604020202020204" pitchFamily="34" charset="0"/>
              </a:rPr>
              <a:t>A. </a:t>
            </a:r>
            <a:r>
              <a:rPr lang="en-US" altLang="ko-KR" sz="800" dirty="0" err="1" smtClean="0">
                <a:latin typeface="Arial" panose="020B0604020202020204" pitchFamily="34" charset="0"/>
                <a:cs typeface="Arial" panose="020B0604020202020204" pitchFamily="34" charset="0"/>
              </a:rPr>
              <a:t>Thể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tích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cung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cấp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err="1" smtClean="0">
                <a:latin typeface="Arial" panose="020B0604020202020204" pitchFamily="34" charset="0"/>
                <a:cs typeface="Arial" panose="020B0604020202020204" pitchFamily="34" charset="0"/>
              </a:rPr>
              <a:t>nén</a:t>
            </a:r>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B.</a:t>
            </a:r>
            <a:r>
              <a:rPr lang="ko-KR" altLang="en-US" sz="80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tỷ</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lệ</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ko-KR" altLang="en-US" sz="800" dirty="0" smtClean="0">
                <a:latin typeface="Arial" panose="020B0604020202020204" pitchFamily="34" charset="0"/>
                <a:cs typeface="Arial" panose="020B0604020202020204" pitchFamily="34" charset="0"/>
              </a:rPr>
              <a:t>      </a:t>
            </a:r>
            <a:endParaRPr lang="ko-KR" altLang="en-US" sz="800" dirty="0">
              <a:latin typeface="Arial" panose="020B0604020202020204" pitchFamily="34" charset="0"/>
              <a:cs typeface="Arial" panose="020B0604020202020204" pitchFamily="34" charset="0"/>
            </a:endParaRPr>
          </a:p>
          <a:p>
            <a:pPr eaLnBrk="1" hangingPunct="1">
              <a:lnSpc>
                <a:spcPct val="120000"/>
              </a:lnSpc>
            </a:pPr>
            <a:r>
              <a:rPr lang="en-US" altLang="ko-KR" sz="800" smtClean="0">
                <a:solidFill>
                  <a:srgbClr val="FF0000"/>
                </a:solidFill>
                <a:latin typeface="Arial" panose="020B0604020202020204" pitchFamily="34" charset="0"/>
                <a:cs typeface="Arial" panose="020B0604020202020204" pitchFamily="34" charset="0"/>
              </a:rPr>
              <a:t>C.</a:t>
            </a:r>
            <a:r>
              <a:rPr lang="ko-KR" altLang="en-US" sz="80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Lưu</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lượng</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của</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máy</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err="1" smtClean="0">
                <a:solidFill>
                  <a:srgbClr val="FF0000"/>
                </a:solidFill>
                <a:latin typeface="Arial" panose="020B0604020202020204" pitchFamily="34" charset="0"/>
                <a:cs typeface="Arial" panose="020B0604020202020204" pitchFamily="34" charset="0"/>
              </a:rPr>
              <a:t>nén</a:t>
            </a:r>
            <a:r>
              <a:rPr lang="ko-KR" altLang="en-US" sz="800" smtClean="0">
                <a:solidFill>
                  <a:srgbClr val="FF0000"/>
                </a:solidFill>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D.</a:t>
            </a:r>
            <a:r>
              <a:rPr lang="ko-KR" altLang="en-US" sz="80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Số</a:t>
            </a:r>
            <a:r>
              <a:rPr lang="en-US" altLang="ko-KR" sz="800" dirty="0" smtClean="0">
                <a:latin typeface="Arial" panose="020B0604020202020204" pitchFamily="34" charset="0"/>
                <a:cs typeface="Arial" panose="020B0604020202020204" pitchFamily="34" charset="0"/>
              </a:rPr>
              <a:t> Switching </a:t>
            </a:r>
            <a:r>
              <a:rPr lang="en-US" altLang="ko-KR" sz="800" dirty="0" err="1" smtClean="0">
                <a:latin typeface="Arial" panose="020B0604020202020204" pitchFamily="34" charset="0"/>
                <a:cs typeface="Arial" panose="020B0604020202020204" pitchFamily="34" charset="0"/>
              </a:rPr>
              <a:t>mỗi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giờ</a:t>
            </a:r>
            <a:endParaRPr lang="ko-KR" altLang="en-US" sz="800" dirty="0">
              <a:latin typeface="Arial" panose="020B0604020202020204" pitchFamily="34" charset="0"/>
              <a:cs typeface="Arial" panose="020B0604020202020204" pitchFamily="34" charset="0"/>
            </a:endParaRPr>
          </a:p>
        </p:txBody>
      </p:sp>
      <p:sp>
        <p:nvSpPr>
          <p:cNvPr id="12" name="Text Box 241"/>
          <p:cNvSpPr txBox="1">
            <a:spLocks noChangeArrowheads="1"/>
          </p:cNvSpPr>
          <p:nvPr/>
        </p:nvSpPr>
        <p:spPr bwMode="auto">
          <a:xfrm>
            <a:off x="3401144" y="3669050"/>
            <a:ext cx="3124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fontAlgn="b" hangingPunct="1"/>
            <a:r>
              <a:rPr lang="en-US" altLang="ko-KR" sz="800" smtClean="0">
                <a:latin typeface="Arial" panose="020B0604020202020204" pitchFamily="34" charset="0"/>
                <a:cs typeface="Arial" panose="020B0604020202020204" pitchFamily="34" charset="0"/>
              </a:rPr>
              <a:t>58</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Dưới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đây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giải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thích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về</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vật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chất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nhiễm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nào</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eaLnBrk="1" fontAlgn="b" hangingPunct="1"/>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giảm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tuổi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thọ</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móc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gây</a:t>
            </a:r>
            <a:r>
              <a:rPr lang="en-US" altLang="ko-KR" sz="800" dirty="0" smtClean="0">
                <a:latin typeface="Arial" panose="020B0604020202020204" pitchFamily="34" charset="0"/>
                <a:cs typeface="Arial" panose="020B0604020202020204" pitchFamily="34" charset="0"/>
              </a:rPr>
              <a:t> ô </a:t>
            </a:r>
            <a:r>
              <a:rPr lang="en-US" altLang="ko-KR" sz="800" dirty="0" err="1" smtClean="0">
                <a:latin typeface="Arial" panose="020B0604020202020204" pitchFamily="34" charset="0"/>
                <a:cs typeface="Arial" panose="020B0604020202020204" pitchFamily="34" charset="0"/>
              </a:rPr>
              <a:t>nhiễm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thay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đổi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vô</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cùng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nhỏ</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về</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diện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tích</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lưu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lượng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chảy</a:t>
            </a:r>
            <a:r>
              <a:rPr lang="en-US" altLang="ko-KR" sz="800" dirty="0" smtClean="0">
                <a:latin typeface="Arial" panose="020B0604020202020204" pitchFamily="34" charset="0"/>
                <a:cs typeface="Arial" panose="020B0604020202020204" pitchFamily="34" charset="0"/>
              </a:rPr>
              <a:t> qua, </a:t>
            </a:r>
            <a:r>
              <a:rPr lang="en-US" altLang="ko-KR" sz="800" dirty="0" err="1" smtClean="0">
                <a:latin typeface="Arial" panose="020B0604020202020204" pitchFamily="34" charset="0"/>
                <a:cs typeface="Arial" panose="020B0604020202020204" pitchFamily="34" charset="0"/>
              </a:rPr>
              <a:t>phồng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phần</a:t>
            </a:r>
            <a:r>
              <a:rPr lang="en-US" altLang="ko-KR" sz="800" dirty="0" smtClean="0">
                <a:latin typeface="Arial" panose="020B0604020202020204" pitchFamily="34" charset="0"/>
                <a:cs typeface="Arial" panose="020B0604020202020204" pitchFamily="34" charset="0"/>
              </a:rPr>
              <a:t> valve </a:t>
            </a:r>
            <a:r>
              <a:rPr lang="en-US" altLang="ko-KR" sz="800" dirty="0" err="1" smtClean="0">
                <a:latin typeface="Arial" panose="020B0604020202020204" pitchFamily="34" charset="0"/>
                <a:cs typeface="Arial" panose="020B0604020202020204" pitchFamily="34" charset="0"/>
              </a:rPr>
              <a:t>bằng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cao</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su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bám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chặt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vào</a:t>
            </a:r>
            <a:r>
              <a:rPr lang="en-US" altLang="ko-KR" sz="800" dirty="0" smtClean="0">
                <a:latin typeface="Arial" panose="020B0604020202020204" pitchFamily="34" charset="0"/>
                <a:cs typeface="Arial" panose="020B0604020202020204" pitchFamily="34" charset="0"/>
              </a:rPr>
              <a:t> spool</a:t>
            </a:r>
            <a:endParaRPr lang="ko-KR" altLang="en-US" sz="800" dirty="0">
              <a:latin typeface="Arial" panose="020B0604020202020204" pitchFamily="34" charset="0"/>
              <a:cs typeface="Arial" panose="020B0604020202020204" pitchFamily="34" charset="0"/>
            </a:endParaRPr>
          </a:p>
          <a:p>
            <a:pPr eaLnBrk="1" fontAlgn="b" hangingPunct="1"/>
            <a:r>
              <a:rPr lang="en-US" altLang="ko-KR" sz="800" smtClean="0">
                <a:latin typeface="Arial" panose="020B0604020202020204" pitchFamily="34" charset="0"/>
                <a:cs typeface="Arial" panose="020B0604020202020204" pitchFamily="34" charset="0"/>
              </a:rPr>
              <a:t>A.</a:t>
            </a:r>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Carbon</a:t>
            </a:r>
            <a:r>
              <a:rPr lang="ko-KR" altLang="en-US" sz="800" smtClean="0">
                <a:latin typeface="Arial" panose="020B0604020202020204" pitchFamily="34" charset="0"/>
                <a:cs typeface="Arial" panose="020B0604020202020204" pitchFamily="34" charset="0"/>
              </a:rPr>
              <a:t>       </a:t>
            </a:r>
            <a:r>
              <a:rPr lang="en-US" altLang="ko-KR" sz="800" smtClean="0">
                <a:solidFill>
                  <a:srgbClr val="FF0000"/>
                </a:solidFill>
                <a:latin typeface="Arial" panose="020B0604020202020204" pitchFamily="34" charset="0"/>
                <a:cs typeface="Arial" panose="020B0604020202020204" pitchFamily="34" charset="0"/>
              </a:rPr>
              <a:t>B.</a:t>
            </a:r>
            <a:r>
              <a:rPr lang="ko-KR" altLang="en-US" sz="800" smtClean="0">
                <a:solidFill>
                  <a:srgbClr val="FF0000"/>
                </a:solidFill>
                <a:latin typeface="Arial" panose="020B0604020202020204" pitchFamily="34" charset="0"/>
                <a:cs typeface="Arial" panose="020B0604020202020204" pitchFamily="34" charset="0"/>
              </a:rPr>
              <a:t> </a:t>
            </a:r>
            <a:r>
              <a:rPr lang="en-US" altLang="ko-KR" sz="800" err="1">
                <a:solidFill>
                  <a:srgbClr val="FF0000"/>
                </a:solidFill>
                <a:latin typeface="Arial" panose="020B0604020202020204" pitchFamily="34" charset="0"/>
                <a:cs typeface="Arial" panose="020B0604020202020204" pitchFamily="34" charset="0"/>
              </a:rPr>
              <a:t>D</a:t>
            </a:r>
            <a:r>
              <a:rPr lang="en-US" altLang="ko-KR" sz="800" smtClean="0">
                <a:solidFill>
                  <a:srgbClr val="FF0000"/>
                </a:solidFill>
                <a:latin typeface="Arial" panose="020B0604020202020204" pitchFamily="34" charset="0"/>
                <a:cs typeface="Arial" panose="020B0604020202020204" pitchFamily="34" charset="0"/>
              </a:rPr>
              <a:t>ầu</a:t>
            </a:r>
            <a:r>
              <a:rPr lang="ko-KR" altLang="en-US" sz="800" smtClean="0">
                <a:solidFill>
                  <a:srgbClr val="FF0000"/>
                </a:solidFill>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C.</a:t>
            </a:r>
            <a:r>
              <a:rPr lang="ko-KR" altLang="en-US" sz="800" smtClean="0">
                <a:latin typeface="Arial" panose="020B0604020202020204" pitchFamily="34" charset="0"/>
                <a:cs typeface="Arial" panose="020B0604020202020204" pitchFamily="34" charset="0"/>
              </a:rPr>
              <a:t> </a:t>
            </a:r>
            <a:r>
              <a:rPr lang="en-US" altLang="ko-KR" sz="800" err="1">
                <a:latin typeface="Arial" panose="020B0604020202020204" pitchFamily="34" charset="0"/>
                <a:cs typeface="Arial" panose="020B0604020202020204" pitchFamily="34" charset="0"/>
              </a:rPr>
              <a:t>N</a:t>
            </a:r>
            <a:r>
              <a:rPr lang="en-US" altLang="ko-KR" sz="800" smtClean="0">
                <a:latin typeface="Arial" panose="020B0604020202020204" pitchFamily="34" charset="0"/>
                <a:cs typeface="Arial" panose="020B0604020202020204" pitchFamily="34" charset="0"/>
              </a:rPr>
              <a:t>ước</a:t>
            </a:r>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D.</a:t>
            </a:r>
            <a:r>
              <a:rPr lang="ko-KR" altLang="en-US" sz="800" smtClean="0">
                <a:latin typeface="Arial" panose="020B0604020202020204" pitchFamily="34" charset="0"/>
                <a:cs typeface="Arial" panose="020B0604020202020204" pitchFamily="34" charset="0"/>
              </a:rPr>
              <a:t> </a:t>
            </a:r>
            <a:r>
              <a:rPr lang="en-US" altLang="ko-KR" sz="800" dirty="0" err="1">
                <a:latin typeface="Arial" panose="020B0604020202020204" pitchFamily="34" charset="0"/>
                <a:cs typeface="Arial" panose="020B0604020202020204" pitchFamily="34" charset="0"/>
              </a:rPr>
              <a:t>B</a:t>
            </a:r>
            <a:r>
              <a:rPr lang="en-US" altLang="ko-KR" sz="800" smtClean="0">
                <a:latin typeface="Arial" panose="020B0604020202020204" pitchFamily="34" charset="0"/>
                <a:cs typeface="Arial" panose="020B0604020202020204" pitchFamily="34" charset="0"/>
              </a:rPr>
              <a:t>ụi </a:t>
            </a:r>
            <a:endParaRPr lang="ko-KR" altLang="en-US" sz="800" dirty="0">
              <a:latin typeface="Arial" panose="020B0604020202020204" pitchFamily="34" charset="0"/>
              <a:cs typeface="Arial" panose="020B0604020202020204" pitchFamily="34" charset="0"/>
            </a:endParaRPr>
          </a:p>
        </p:txBody>
      </p:sp>
      <p:grpSp>
        <p:nvGrpSpPr>
          <p:cNvPr id="13" name="Group 12"/>
          <p:cNvGrpSpPr/>
          <p:nvPr/>
        </p:nvGrpSpPr>
        <p:grpSpPr>
          <a:xfrm>
            <a:off x="3401144" y="4925705"/>
            <a:ext cx="3124200" cy="1323439"/>
            <a:chOff x="304800" y="7631114"/>
            <a:chExt cx="3124200" cy="1323439"/>
          </a:xfrm>
        </p:grpSpPr>
        <p:sp>
          <p:nvSpPr>
            <p:cNvPr id="14" name="Rectangle 615"/>
            <p:cNvSpPr>
              <a:spLocks noChangeArrowheads="1"/>
            </p:cNvSpPr>
            <p:nvPr/>
          </p:nvSpPr>
          <p:spPr bwMode="auto">
            <a:xfrm>
              <a:off x="304800" y="7631114"/>
              <a:ext cx="31242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800" smtClean="0">
                  <a:latin typeface="Arial" panose="020B0604020202020204" pitchFamily="34" charset="0"/>
                  <a:cs typeface="Arial" panose="020B0604020202020204" pitchFamily="34" charset="0"/>
                </a:rPr>
                <a:t>59</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Dưới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đây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cấu</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trúc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cơ</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bản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hệ</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thống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 </a:t>
              </a:r>
              <a:endParaRPr lang="en-US" altLang="ko-KR" sz="800" dirty="0">
                <a:latin typeface="Arial" panose="020B0604020202020204" pitchFamily="34" charset="0"/>
                <a:cs typeface="Arial" panose="020B0604020202020204" pitchFamily="34" charset="0"/>
              </a:endParaRPr>
            </a:p>
            <a:p>
              <a:pPr eaLnBrk="1" hangingPunct="1"/>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tên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gọi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của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phần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trống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  </a:t>
              </a:r>
              <a:endParaRPr lang="en-US" altLang="ko-KR" sz="800" dirty="0">
                <a:latin typeface="Arial" panose="020B0604020202020204" pitchFamily="34" charset="0"/>
                <a:cs typeface="Arial" panose="020B0604020202020204" pitchFamily="34" charset="0"/>
              </a:endParaRPr>
            </a:p>
            <a:p>
              <a:pPr eaLnBrk="1" hangingPunct="1"/>
              <a:endParaRPr lang="en-US" altLang="ko-KR" sz="800" dirty="0">
                <a:latin typeface="Arial" panose="020B0604020202020204" pitchFamily="34" charset="0"/>
                <a:cs typeface="Arial" panose="020B0604020202020204" pitchFamily="34" charset="0"/>
              </a:endParaRPr>
            </a:p>
            <a:p>
              <a:pPr eaLnBrk="1" hangingPunct="1"/>
              <a:endParaRPr lang="en-US" altLang="ko-KR" sz="800" dirty="0">
                <a:latin typeface="Arial" panose="020B0604020202020204" pitchFamily="34" charset="0"/>
                <a:cs typeface="Arial" panose="020B0604020202020204" pitchFamily="34" charset="0"/>
              </a:endParaRPr>
            </a:p>
            <a:p>
              <a:pPr eaLnBrk="1" hangingPunct="1"/>
              <a:endParaRPr lang="en-US" altLang="ko-KR" sz="800" dirty="0">
                <a:latin typeface="Arial" panose="020B0604020202020204" pitchFamily="34" charset="0"/>
                <a:cs typeface="Arial" panose="020B0604020202020204" pitchFamily="34" charset="0"/>
              </a:endParaRPr>
            </a:p>
            <a:p>
              <a:pPr eaLnBrk="1" hangingPunct="1"/>
              <a:endParaRPr lang="en-US" altLang="ko-KR" sz="800" dirty="0">
                <a:latin typeface="Arial" panose="020B0604020202020204" pitchFamily="34" charset="0"/>
                <a:cs typeface="Arial" panose="020B0604020202020204" pitchFamily="34" charset="0"/>
              </a:endParaRPr>
            </a:p>
            <a:p>
              <a:pPr eaLnBrk="1" hangingPunct="1"/>
              <a:endParaRPr lang="en-US" altLang="ko-KR" sz="800" dirty="0">
                <a:latin typeface="Arial" panose="020B0604020202020204" pitchFamily="34" charset="0"/>
                <a:cs typeface="Arial" panose="020B0604020202020204" pitchFamily="34" charset="0"/>
              </a:endParaRPr>
            </a:p>
            <a:p>
              <a:pPr eaLnBrk="1" hangingPunct="1"/>
              <a:endParaRPr lang="en-US" altLang="ko-KR" sz="800" smtClean="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A.  Phần </a:t>
              </a:r>
              <a:r>
                <a:rPr lang="en-US" altLang="ko-KR" sz="800" dirty="0" err="1" smtClean="0">
                  <a:latin typeface="Arial" panose="020B0604020202020204" pitchFamily="34" charset="0"/>
                  <a:cs typeface="Arial" panose="020B0604020202020204" pitchFamily="34" charset="0"/>
                </a:rPr>
                <a:t>phát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sinh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err="1" smtClean="0">
                  <a:latin typeface="Arial" panose="020B0604020202020204" pitchFamily="34" charset="0"/>
                  <a:cs typeface="Arial" panose="020B0604020202020204" pitchFamily="34" charset="0"/>
                </a:rPr>
                <a:t>khí</a:t>
              </a:r>
              <a:r>
                <a:rPr lang="en-US" altLang="ko-KR" sz="800" smtClean="0">
                  <a:latin typeface="Arial" panose="020B0604020202020204" pitchFamily="34" charset="0"/>
                  <a:cs typeface="Arial" panose="020B0604020202020204" pitchFamily="34" charset="0"/>
                </a:rPr>
                <a:t>          </a:t>
              </a:r>
              <a:r>
                <a:rPr lang="ko-KR" altLang="en-US" sz="800" smtClean="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B.</a:t>
              </a:r>
              <a:r>
                <a:rPr lang="ko-KR" altLang="en-US" sz="800" smtClean="0">
                  <a:latin typeface="Arial" panose="020B0604020202020204" pitchFamily="34" charset="0"/>
                  <a:cs typeface="Arial" panose="020B0604020202020204" pitchFamily="34" charset="0"/>
                </a:rPr>
                <a:t> </a:t>
              </a:r>
              <a:r>
                <a:rPr lang="en-US" altLang="ko-KR" sz="800" dirty="0">
                  <a:latin typeface="Arial" panose="020B0604020202020204" pitchFamily="34" charset="0"/>
                  <a:cs typeface="Arial" panose="020B0604020202020204" pitchFamily="34" charset="0"/>
                </a:rPr>
                <a:t>FRL </a:t>
              </a:r>
            </a:p>
            <a:p>
              <a:pPr eaLnBrk="1" hangingPunct="1"/>
              <a:r>
                <a:rPr lang="en-US" altLang="ko-KR" sz="800" smtClean="0">
                  <a:latin typeface="Arial" panose="020B0604020202020204" pitchFamily="34" charset="0"/>
                  <a:cs typeface="Arial" panose="020B0604020202020204" pitchFamily="34" charset="0"/>
                </a:rPr>
                <a:t>C.  </a:t>
              </a:r>
              <a:r>
                <a:rPr lang="en-US" altLang="ko-KR" sz="800" dirty="0" err="1" smtClean="0">
                  <a:latin typeface="Arial" panose="020B0604020202020204" pitchFamily="34" charset="0"/>
                  <a:cs typeface="Arial" panose="020B0604020202020204" pitchFamily="34" charset="0"/>
                </a:rPr>
                <a:t>Phần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truyền</a:t>
              </a:r>
              <a:r>
                <a:rPr lang="en-US" altLang="ko-KR" sz="800" dirty="0" smtClean="0">
                  <a:latin typeface="Arial" panose="020B0604020202020204" pitchFamily="34" charset="0"/>
                  <a:cs typeface="Arial" panose="020B0604020202020204" pitchFamily="34" charset="0"/>
                </a:rPr>
                <a:t> </a:t>
              </a:r>
              <a:r>
                <a:rPr lang="en-US" altLang="ko-KR" sz="800" err="1" smtClean="0">
                  <a:latin typeface="Arial" panose="020B0604020202020204" pitchFamily="34" charset="0"/>
                  <a:cs typeface="Arial" panose="020B0604020202020204" pitchFamily="34" charset="0"/>
                </a:rPr>
                <a:t>động</a:t>
              </a:r>
              <a:r>
                <a:rPr lang="en-US" altLang="ko-KR" sz="800" smtClean="0">
                  <a:latin typeface="Arial" panose="020B0604020202020204" pitchFamily="34" charset="0"/>
                  <a:cs typeface="Arial" panose="020B0604020202020204" pitchFamily="34" charset="0"/>
                </a:rPr>
                <a:t>                                 </a:t>
              </a:r>
              <a:r>
                <a:rPr lang="ko-KR" altLang="en-US" sz="800" smtClean="0">
                  <a:latin typeface="Arial" panose="020B0604020202020204" pitchFamily="34" charset="0"/>
                  <a:cs typeface="Arial" panose="020B0604020202020204" pitchFamily="34" charset="0"/>
                </a:rPr>
                <a:t>  </a:t>
              </a:r>
              <a:r>
                <a:rPr lang="en-US" altLang="ko-KR" sz="800" smtClean="0">
                  <a:solidFill>
                    <a:srgbClr val="FF0000"/>
                  </a:solidFill>
                  <a:latin typeface="Arial" panose="020B0604020202020204" pitchFamily="34" charset="0"/>
                  <a:cs typeface="Arial" panose="020B0604020202020204" pitchFamily="34" charset="0"/>
                </a:rPr>
                <a:t>D.</a:t>
              </a:r>
              <a:r>
                <a:rPr lang="ko-KR" altLang="en-US" sz="80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Phần</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điều</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khiển</a:t>
              </a:r>
              <a:endParaRPr lang="ko-KR" altLang="en-US" sz="800" dirty="0">
                <a:solidFill>
                  <a:srgbClr val="FF0000"/>
                </a:solidFill>
                <a:latin typeface="Arial" panose="020B0604020202020204" pitchFamily="34" charset="0"/>
                <a:cs typeface="Arial" panose="020B0604020202020204" pitchFamily="34" charset="0"/>
              </a:endParaRPr>
            </a:p>
          </p:txBody>
        </p:sp>
        <p:pic>
          <p:nvPicPr>
            <p:cNvPr id="15" name="Picture 617" descr="Untitled-1"/>
            <p:cNvPicPr>
              <a:picLocks noChangeAspect="1" noChangeArrowheads="1"/>
            </p:cNvPicPr>
            <p:nvPr/>
          </p:nvPicPr>
          <p:blipFill>
            <a:blip r:embed="rId3">
              <a:extLst>
                <a:ext uri="{28A0092B-C50C-407E-A947-70E740481C1C}">
                  <a14:useLocalDpi xmlns:a14="http://schemas.microsoft.com/office/drawing/2010/main" val="0"/>
                </a:ext>
              </a:extLst>
            </a:blip>
            <a:srcRect t="1369"/>
            <a:stretch>
              <a:fillRect/>
            </a:stretch>
          </p:blipFill>
          <p:spPr bwMode="auto">
            <a:xfrm>
              <a:off x="692151" y="7943849"/>
              <a:ext cx="1797050" cy="668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618"/>
            <p:cNvSpPr>
              <a:spLocks noChangeArrowheads="1"/>
            </p:cNvSpPr>
            <p:nvPr/>
          </p:nvSpPr>
          <p:spPr bwMode="auto">
            <a:xfrm>
              <a:off x="1744053" y="8369523"/>
              <a:ext cx="315208" cy="145599"/>
            </a:xfrm>
            <a:prstGeom prst="rect">
              <a:avLst/>
            </a:prstGeom>
            <a:solidFill>
              <a:schemeClr val="bg1"/>
            </a:solidFill>
            <a:ln w="9525" cap="rnd">
              <a:solidFill>
                <a:schemeClr val="tx1"/>
              </a:solidFill>
              <a:prstDash val="sysDot"/>
              <a:miter lim="800000"/>
              <a:headEnd/>
              <a:tailEnd/>
            </a:ln>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800">
                  <a:latin typeface="Arial" panose="020B0604020202020204" pitchFamily="34" charset="0"/>
                  <a:cs typeface="Arial" panose="020B0604020202020204" pitchFamily="34" charset="0"/>
                </a:rPr>
                <a:t>?</a:t>
              </a:r>
            </a:p>
          </p:txBody>
        </p:sp>
      </p:grpSp>
      <p:sp>
        <p:nvSpPr>
          <p:cNvPr id="17" name="Rectangle 604"/>
          <p:cNvSpPr>
            <a:spLocks noChangeArrowheads="1"/>
          </p:cNvSpPr>
          <p:nvPr/>
        </p:nvSpPr>
        <p:spPr bwMode="auto">
          <a:xfrm>
            <a:off x="260648" y="7836222"/>
            <a:ext cx="3135314"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0" indent="0" eaLnBrk="1" hangingPunct="1"/>
            <a:r>
              <a:rPr lang="en-US" altLang="ko-KR" sz="800" smtClean="0">
                <a:latin typeface="Arial" panose="020B0604020202020204" pitchFamily="34" charset="0"/>
                <a:cs typeface="Arial" panose="020B0604020202020204" pitchFamily="34" charset="0"/>
              </a:rPr>
              <a:t>5</a:t>
            </a:r>
            <a:r>
              <a:rPr lang="vi-VN" altLang="ko-KR" sz="800" smtClean="0">
                <a:latin typeface="Arial" panose="020B0604020202020204" pitchFamily="34" charset="0"/>
                <a:cs typeface="Arial" panose="020B0604020202020204" pitchFamily="34" charset="0"/>
              </a:rPr>
              <a:t>5</a:t>
            </a:r>
            <a:r>
              <a:rPr lang="vi-VN" altLang="ko-KR" sz="800">
                <a:latin typeface="Arial" panose="020B0604020202020204" pitchFamily="34" charset="0"/>
                <a:cs typeface="Arial" panose="020B0604020202020204" pitchFamily="34" charset="0"/>
              </a:rPr>
              <a:t>. Dưới đây là giải thích về cái gì </a:t>
            </a:r>
            <a:r>
              <a:rPr lang="vi-VN" altLang="ko-KR" sz="800" smtClean="0">
                <a:latin typeface="Arial" panose="020B0604020202020204" pitchFamily="34" charset="0"/>
                <a:cs typeface="Arial" panose="020B0604020202020204" pitchFamily="34" charset="0"/>
              </a:rPr>
              <a:t>?</a:t>
            </a:r>
            <a:endParaRPr lang="en-US" altLang="ko-KR" sz="800" smtClean="0">
              <a:latin typeface="Arial" panose="020B0604020202020204" pitchFamily="34" charset="0"/>
              <a:cs typeface="Arial" panose="020B0604020202020204" pitchFamily="34" charset="0"/>
            </a:endParaRPr>
          </a:p>
          <a:p>
            <a:pPr marL="0" indent="0" eaLnBrk="1" hangingPunct="1"/>
            <a:r>
              <a:rPr lang="vi-VN" altLang="ko-KR" sz="800" smtClean="0">
                <a:latin typeface="Arial" panose="020B0604020202020204" pitchFamily="34" charset="0"/>
                <a:cs typeface="Arial" panose="020B0604020202020204" pitchFamily="34" charset="0"/>
              </a:rPr>
              <a:t>‘</a:t>
            </a:r>
            <a:r>
              <a:rPr lang="vi-VN" altLang="ko-KR" sz="800">
                <a:latin typeface="Arial" panose="020B0604020202020204" pitchFamily="34" charset="0"/>
                <a:cs typeface="Arial" panose="020B0604020202020204" pitchFamily="34" charset="0"/>
              </a:rPr>
              <a:t>Do chỉ vận </a:t>
            </a:r>
            <a:r>
              <a:rPr lang="vi-VN" altLang="ko-KR" sz="800" smtClean="0">
                <a:latin typeface="Arial" panose="020B0604020202020204" pitchFamily="34" charset="0"/>
                <a:cs typeface="Arial" panose="020B0604020202020204" pitchFamily="34" charset="0"/>
              </a:rPr>
              <a:t>động</a:t>
            </a:r>
            <a:r>
              <a:rPr lang="en-US" altLang="ko-KR" sz="800" smtClean="0">
                <a:latin typeface="Arial" panose="020B0604020202020204" pitchFamily="34" charset="0"/>
                <a:cs typeface="Arial" panose="020B0604020202020204" pitchFamily="34" charset="0"/>
              </a:rPr>
              <a:t> </a:t>
            </a:r>
            <a:r>
              <a:rPr lang="vi-VN" altLang="ko-KR" sz="800" smtClean="0">
                <a:latin typeface="Arial" panose="020B0604020202020204" pitchFamily="34" charset="0"/>
                <a:cs typeface="Arial" panose="020B0604020202020204" pitchFamily="34" charset="0"/>
              </a:rPr>
              <a:t>quay </a:t>
            </a:r>
            <a:r>
              <a:rPr lang="vi-VN" altLang="ko-KR" sz="800">
                <a:latin typeface="Arial" panose="020B0604020202020204" pitchFamily="34" charset="0"/>
                <a:cs typeface="Arial" panose="020B0604020202020204" pitchFamily="34" charset="0"/>
              </a:rPr>
              <a:t>nên ít rung và có thể quay với tốc độ </a:t>
            </a:r>
            <a:r>
              <a:rPr lang="vi-VN" altLang="ko-KR" sz="800" smtClean="0">
                <a:latin typeface="Arial" panose="020B0604020202020204" pitchFamily="34" charset="0"/>
                <a:cs typeface="Arial" panose="020B0604020202020204" pitchFamily="34" charset="0"/>
              </a:rPr>
              <a:t>cao,</a:t>
            </a:r>
            <a:r>
              <a:rPr lang="en-US" altLang="ko-KR" sz="800" smtClean="0">
                <a:latin typeface="Arial" panose="020B0604020202020204" pitchFamily="34" charset="0"/>
                <a:cs typeface="Arial" panose="020B0604020202020204" pitchFamily="34" charset="0"/>
              </a:rPr>
              <a:t> </a:t>
            </a:r>
            <a:r>
              <a:rPr lang="vi-VN" altLang="ko-KR" sz="800" smtClean="0">
                <a:latin typeface="Arial" panose="020B0604020202020204" pitchFamily="34" charset="0"/>
                <a:cs typeface="Arial" panose="020B0604020202020204" pitchFamily="34" charset="0"/>
              </a:rPr>
              <a:t>khi </a:t>
            </a:r>
            <a:r>
              <a:rPr lang="vi-VN" altLang="ko-KR" sz="800">
                <a:latin typeface="Arial" panose="020B0604020202020204" pitchFamily="34" charset="0"/>
                <a:cs typeface="Arial" panose="020B0604020202020204" pitchFamily="34" charset="0"/>
              </a:rPr>
              <a:t>xả không bị xung động do áp lực không khí. Và do không có valve hút xả cùng với máy nén hai chiều nên ít bị hỏng, không cần phải làm trơn phần nén nên có thể không cần cấp mỡ, phù hợp với những nơi cần lưu lượng nhiều </a:t>
            </a:r>
            <a:r>
              <a:rPr lang="vi-VN" altLang="ko-KR" sz="800" smtClean="0">
                <a:latin typeface="Arial" panose="020B0604020202020204" pitchFamily="34" charset="0"/>
                <a:cs typeface="Arial" panose="020B0604020202020204" pitchFamily="34" charset="0"/>
              </a:rPr>
              <a:t>.’</a:t>
            </a:r>
            <a:endParaRPr lang="en-US" altLang="ko-KR" sz="800" smtClean="0">
              <a:latin typeface="Arial" panose="020B0604020202020204" pitchFamily="34" charset="0"/>
              <a:cs typeface="Arial" panose="020B0604020202020204" pitchFamily="34" charset="0"/>
            </a:endParaRPr>
          </a:p>
          <a:p>
            <a:pPr marL="0" indent="0" eaLnBrk="1" hangingPunct="1"/>
            <a:r>
              <a:rPr lang="en-US" altLang="ko-KR" sz="800" smtClean="0">
                <a:latin typeface="Arial" panose="020B0604020202020204" pitchFamily="34" charset="0"/>
                <a:cs typeface="Arial" panose="020B0604020202020204" pitchFamily="34" charset="0"/>
              </a:rPr>
              <a:t>       A.  </a:t>
            </a:r>
            <a:r>
              <a:rPr lang="vi-VN" altLang="ko-KR" sz="800" smtClean="0">
                <a:latin typeface="Arial" panose="020B0604020202020204" pitchFamily="34" charset="0"/>
                <a:cs typeface="Arial" panose="020B0604020202020204" pitchFamily="34" charset="0"/>
              </a:rPr>
              <a:t>Máy </a:t>
            </a:r>
            <a:r>
              <a:rPr lang="vi-VN" altLang="ko-KR" sz="800">
                <a:latin typeface="Arial" panose="020B0604020202020204" pitchFamily="34" charset="0"/>
                <a:cs typeface="Arial" panose="020B0604020202020204" pitchFamily="34" charset="0"/>
              </a:rPr>
              <a:t>nén dạng </a:t>
            </a:r>
            <a:r>
              <a:rPr lang="vi-VN" altLang="ko-KR" sz="800" smtClean="0">
                <a:latin typeface="Arial" panose="020B0604020202020204" pitchFamily="34" charset="0"/>
                <a:cs typeface="Arial" panose="020B0604020202020204" pitchFamily="34" charset="0"/>
              </a:rPr>
              <a:t>Screw</a:t>
            </a:r>
            <a:r>
              <a:rPr lang="en-US" altLang="ko-KR" sz="80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               </a:t>
            </a:r>
            <a:r>
              <a:rPr lang="vi-VN" altLang="ko-KR" sz="800" smtClean="0">
                <a:latin typeface="Arial" panose="020B0604020202020204" pitchFamily="34" charset="0"/>
                <a:cs typeface="Arial" panose="020B0604020202020204" pitchFamily="34" charset="0"/>
              </a:rPr>
              <a:t>B</a:t>
            </a:r>
            <a:r>
              <a:rPr lang="vi-VN" altLang="ko-KR" sz="800">
                <a:latin typeface="Arial" panose="020B0604020202020204" pitchFamily="34" charset="0"/>
                <a:cs typeface="Arial" panose="020B0604020202020204" pitchFamily="34" charset="0"/>
              </a:rPr>
              <a:t>. Máy nén khí cánh </a:t>
            </a:r>
            <a:r>
              <a:rPr lang="vi-VN" altLang="ko-KR" sz="800" smtClean="0">
                <a:latin typeface="Arial" panose="020B0604020202020204" pitchFamily="34" charset="0"/>
                <a:cs typeface="Arial" panose="020B0604020202020204" pitchFamily="34" charset="0"/>
              </a:rPr>
              <a:t>quạt</a:t>
            </a:r>
            <a:endParaRPr lang="en-US" altLang="ko-KR" sz="800" smtClean="0">
              <a:latin typeface="Arial" panose="020B0604020202020204" pitchFamily="34" charset="0"/>
              <a:cs typeface="Arial" panose="020B0604020202020204" pitchFamily="34" charset="0"/>
            </a:endParaRPr>
          </a:p>
          <a:p>
            <a:pPr marL="0" indent="0" eaLnBrk="1" hangingPunct="1"/>
            <a:r>
              <a:rPr lang="en-US" altLang="ko-KR" sz="800" smtClean="0">
                <a:latin typeface="Arial" panose="020B0604020202020204" pitchFamily="34" charset="0"/>
                <a:cs typeface="Arial" panose="020B0604020202020204" pitchFamily="34" charset="0"/>
              </a:rPr>
              <a:t>       </a:t>
            </a:r>
            <a:r>
              <a:rPr lang="vi-VN" altLang="ko-KR" sz="800" smtClean="0">
                <a:latin typeface="Arial" panose="020B0604020202020204" pitchFamily="34" charset="0"/>
                <a:cs typeface="Arial" panose="020B0604020202020204" pitchFamily="34" charset="0"/>
              </a:rPr>
              <a:t>C.</a:t>
            </a:r>
            <a:r>
              <a:rPr lang="en-US" altLang="ko-KR" sz="800" smtClean="0">
                <a:latin typeface="Arial" panose="020B0604020202020204" pitchFamily="34" charset="0"/>
                <a:cs typeface="Arial" panose="020B0604020202020204" pitchFamily="34" charset="0"/>
              </a:rPr>
              <a:t> </a:t>
            </a:r>
            <a:r>
              <a:rPr lang="vi-VN" altLang="ko-KR" sz="800" smtClean="0">
                <a:latin typeface="Arial" panose="020B0604020202020204" pitchFamily="34" charset="0"/>
                <a:cs typeface="Arial" panose="020B0604020202020204" pitchFamily="34" charset="0"/>
              </a:rPr>
              <a:t> </a:t>
            </a:r>
            <a:r>
              <a:rPr lang="vi-VN" altLang="ko-KR" sz="800">
                <a:latin typeface="Arial" panose="020B0604020202020204" pitchFamily="34" charset="0"/>
                <a:cs typeface="Arial" panose="020B0604020202020204" pitchFamily="34" charset="0"/>
              </a:rPr>
              <a:t>Root </a:t>
            </a:r>
            <a:r>
              <a:rPr lang="vi-VN" altLang="ko-KR" sz="800" smtClean="0">
                <a:latin typeface="Arial" panose="020B0604020202020204" pitchFamily="34" charset="0"/>
                <a:cs typeface="Arial" panose="020B0604020202020204" pitchFamily="34" charset="0"/>
              </a:rPr>
              <a:t>Blower</a:t>
            </a:r>
            <a:r>
              <a:rPr lang="en-US" altLang="ko-KR" sz="800">
                <a:latin typeface="Arial" panose="020B0604020202020204" pitchFamily="34" charset="0"/>
                <a:cs typeface="Arial" panose="020B0604020202020204" pitchFamily="34" charset="0"/>
              </a:rPr>
              <a:t> </a:t>
            </a:r>
            <a:r>
              <a:rPr lang="en-US" altLang="ko-KR" sz="800" smtClean="0">
                <a:latin typeface="Arial" panose="020B0604020202020204" pitchFamily="34" charset="0"/>
                <a:cs typeface="Arial" panose="020B0604020202020204" pitchFamily="34" charset="0"/>
              </a:rPr>
              <a:t>                             </a:t>
            </a:r>
            <a:r>
              <a:rPr lang="vi-VN" altLang="ko-KR" sz="800" smtClean="0">
                <a:solidFill>
                  <a:srgbClr val="FF0000"/>
                </a:solidFill>
                <a:latin typeface="Arial" panose="020B0604020202020204" pitchFamily="34" charset="0"/>
                <a:cs typeface="Arial" panose="020B0604020202020204" pitchFamily="34" charset="0"/>
              </a:rPr>
              <a:t>D</a:t>
            </a:r>
            <a:r>
              <a:rPr lang="vi-VN" altLang="ko-KR" sz="800">
                <a:solidFill>
                  <a:srgbClr val="FF0000"/>
                </a:solidFill>
                <a:latin typeface="Arial" panose="020B0604020202020204" pitchFamily="34" charset="0"/>
                <a:cs typeface="Arial" panose="020B0604020202020204" pitchFamily="34" charset="0"/>
              </a:rPr>
              <a:t>. Máy nén khí Turbo </a:t>
            </a:r>
            <a:endParaRPr lang="en-US" altLang="ko-KR" sz="800" dirty="0">
              <a:solidFill>
                <a:srgbClr val="FF0000"/>
              </a:solidFill>
              <a:latin typeface="Arial" panose="020B0604020202020204" pitchFamily="34" charset="0"/>
              <a:cs typeface="Arial" panose="020B0604020202020204" pitchFamily="34" charset="0"/>
            </a:endParaRPr>
          </a:p>
        </p:txBody>
      </p:sp>
      <p:sp>
        <p:nvSpPr>
          <p:cNvPr id="18" name="Rectangle 71"/>
          <p:cNvSpPr>
            <a:spLocks noChangeArrowheads="1"/>
          </p:cNvSpPr>
          <p:nvPr/>
        </p:nvSpPr>
        <p:spPr bwMode="auto">
          <a:xfrm>
            <a:off x="3401144" y="1064568"/>
            <a:ext cx="3124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800" smtClean="0">
                <a:latin typeface="Arial" panose="020B0604020202020204" pitchFamily="34" charset="0"/>
                <a:cs typeface="Arial" panose="020B0604020202020204" pitchFamily="34" charset="0"/>
              </a:rPr>
              <a:t>56</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đúng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với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giải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thích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về</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A.  </a:t>
            </a:r>
            <a:r>
              <a:rPr lang="en-US" altLang="ko-KR" sz="800" dirty="0" err="1" smtClean="0">
                <a:latin typeface="Arial" panose="020B0604020202020204" pitchFamily="34" charset="0"/>
                <a:cs typeface="Arial" panose="020B0604020202020204" pitchFamily="34" charset="0"/>
              </a:rPr>
              <a:t>Có</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hai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chiều</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B.  Có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err="1" smtClean="0">
                <a:latin typeface="Arial" panose="020B0604020202020204" pitchFamily="34" charset="0"/>
                <a:cs typeface="Arial" panose="020B0604020202020204" pitchFamily="34" charset="0"/>
              </a:rPr>
              <a:t>khí</a:t>
            </a:r>
            <a:r>
              <a:rPr lang="en-US" altLang="ko-KR" sz="800" smtClean="0">
                <a:latin typeface="Arial" panose="020B0604020202020204" pitchFamily="34" charset="0"/>
                <a:cs typeface="Arial" panose="020B0604020202020204" pitchFamily="34" charset="0"/>
              </a:rPr>
              <a:t> trục vít.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solidFill>
                  <a:srgbClr val="FF0000"/>
                </a:solidFill>
                <a:latin typeface="Arial" panose="020B0604020202020204" pitchFamily="34" charset="0"/>
                <a:cs typeface="Arial" panose="020B0604020202020204" pitchFamily="34" charset="0"/>
              </a:rPr>
              <a:t>C.  </a:t>
            </a:r>
            <a:r>
              <a:rPr lang="en-US" altLang="ko-KR" sz="800" dirty="0" err="1" smtClean="0">
                <a:solidFill>
                  <a:srgbClr val="FF0000"/>
                </a:solidFill>
                <a:latin typeface="Arial" panose="020B0604020202020204" pitchFamily="34" charset="0"/>
                <a:cs typeface="Arial" panose="020B0604020202020204" pitchFamily="34" charset="0"/>
              </a:rPr>
              <a:t>Có</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máy</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nén</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err="1" smtClean="0">
                <a:solidFill>
                  <a:srgbClr val="FF0000"/>
                </a:solidFill>
                <a:latin typeface="Arial" panose="020B0604020202020204" pitchFamily="34" charset="0"/>
                <a:cs typeface="Arial" panose="020B0604020202020204" pitchFamily="34" charset="0"/>
              </a:rPr>
              <a:t>khí</a:t>
            </a:r>
            <a:r>
              <a:rPr lang="en-US" altLang="ko-KR" sz="800" smtClean="0">
                <a:solidFill>
                  <a:srgbClr val="FF0000"/>
                </a:solidFill>
                <a:latin typeface="Arial" panose="020B0604020202020204" pitchFamily="34" charset="0"/>
                <a:cs typeface="Arial" panose="020B0604020202020204" pitchFamily="34" charset="0"/>
              </a:rPr>
              <a:t> trung </a:t>
            </a:r>
            <a:r>
              <a:rPr lang="en-US" altLang="ko-KR" sz="800" dirty="0" err="1" smtClean="0">
                <a:solidFill>
                  <a:srgbClr val="FF0000"/>
                </a:solidFill>
                <a:latin typeface="Arial" panose="020B0604020202020204" pitchFamily="34" charset="0"/>
                <a:cs typeface="Arial" panose="020B0604020202020204" pitchFamily="34" charset="0"/>
              </a:rPr>
              <a:t>tâm</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smtClean="0">
                <a:latin typeface="Arial" panose="020B0604020202020204" pitchFamily="34" charset="0"/>
                <a:cs typeface="Arial" panose="020B0604020202020204" pitchFamily="34" charset="0"/>
              </a:rPr>
              <a:t>.</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D.  </a:t>
            </a:r>
            <a:r>
              <a:rPr lang="en-US" altLang="ko-KR" sz="800" err="1" smtClean="0">
                <a:latin typeface="Arial" panose="020B0604020202020204" pitchFamily="34" charset="0"/>
                <a:cs typeface="Arial" panose="020B0604020202020204" pitchFamily="34" charset="0"/>
              </a:rPr>
              <a:t>Có</a:t>
            </a:r>
            <a:r>
              <a:rPr lang="en-US" altLang="ko-KR" sz="800" smtClean="0">
                <a:latin typeface="Arial" panose="020B0604020202020204" pitchFamily="34" charset="0"/>
                <a:cs typeface="Arial" panose="020B0604020202020204" pitchFamily="34" charset="0"/>
              </a:rPr>
              <a:t> máy nén khí kiểu quay.</a:t>
            </a:r>
            <a:endParaRPr lang="en-US" altLang="ko-KR" sz="800" dirty="0">
              <a:latin typeface="Arial" panose="020B0604020202020204" pitchFamily="34" charset="0"/>
              <a:cs typeface="Arial" panose="020B0604020202020204" pitchFamily="34" charset="0"/>
            </a:endParaRPr>
          </a:p>
        </p:txBody>
      </p:sp>
      <p:sp>
        <p:nvSpPr>
          <p:cNvPr id="19" name="Rectangle 82"/>
          <p:cNvSpPr>
            <a:spLocks noChangeArrowheads="1"/>
          </p:cNvSpPr>
          <p:nvPr/>
        </p:nvSpPr>
        <p:spPr bwMode="auto">
          <a:xfrm>
            <a:off x="3429000" y="7569095"/>
            <a:ext cx="3268220"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74625" indent="-174625" eaLnBrk="1" hangingPunct="1"/>
            <a:r>
              <a:rPr lang="en-US" altLang="ko-KR" sz="800" dirty="0">
                <a:latin typeface="Arial" panose="020B0604020202020204" pitchFamily="34" charset="0"/>
                <a:cs typeface="Arial" panose="020B0604020202020204" pitchFamily="34" charset="0"/>
              </a:rPr>
              <a:t>6</a:t>
            </a:r>
            <a:r>
              <a:rPr lang="en-US" altLang="ko-KR" sz="800" smtClean="0">
                <a:latin typeface="Arial" panose="020B0604020202020204" pitchFamily="34" charset="0"/>
                <a:cs typeface="Arial" panose="020B0604020202020204" pitchFamily="34" charset="0"/>
              </a:rPr>
              <a:t>0</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đáp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phải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hạng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mục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chú</a:t>
            </a:r>
            <a:r>
              <a:rPr lang="en-US" altLang="ko-KR" sz="800" dirty="0" smtClean="0">
                <a:latin typeface="Arial" panose="020B0604020202020204" pitchFamily="34" charset="0"/>
                <a:cs typeface="Arial" panose="020B0604020202020204" pitchFamily="34" charset="0"/>
              </a:rPr>
              <a:t> ý </a:t>
            </a:r>
            <a:r>
              <a:rPr lang="en-US" altLang="ko-KR" sz="800" dirty="0" err="1" smtClean="0">
                <a:latin typeface="Arial" panose="020B0604020202020204" pitchFamily="34" charset="0"/>
                <a:cs typeface="Arial" panose="020B0604020202020204" pitchFamily="34" charset="0"/>
              </a:rPr>
              <a:t>khi</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nơi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lắp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đặt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nén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marL="174625" indent="-174625" eaLnBrk="1" hangingPunct="1"/>
            <a:r>
              <a:rPr lang="en-US" altLang="ko-KR" sz="800" smtClean="0">
                <a:latin typeface="Arial" panose="020B0604020202020204" pitchFamily="34" charset="0"/>
                <a:cs typeface="Arial" panose="020B0604020202020204" pitchFamily="34" charset="0"/>
              </a:rPr>
              <a:t>A. </a:t>
            </a:r>
            <a:r>
              <a:rPr lang="en-US" altLang="ko-KR" sz="800" dirty="0" err="1" smtClean="0">
                <a:latin typeface="Arial" panose="020B0604020202020204" pitchFamily="34" charset="0"/>
                <a:cs typeface="Arial" panose="020B0604020202020204" pitchFamily="34" charset="0"/>
              </a:rPr>
              <a:t>Lắp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đặt</a:t>
            </a:r>
            <a:r>
              <a:rPr lang="en-US" altLang="ko-KR" sz="800" dirty="0" smtClean="0">
                <a:latin typeface="Arial" panose="020B0604020202020204" pitchFamily="34" charset="0"/>
                <a:cs typeface="Arial" panose="020B0604020202020204" pitchFamily="34" charset="0"/>
              </a:rPr>
              <a:t> ở </a:t>
            </a:r>
            <a:r>
              <a:rPr lang="en-US" altLang="ko-KR" sz="800" dirty="0" err="1" smtClean="0">
                <a:latin typeface="Arial" panose="020B0604020202020204" pitchFamily="34" charset="0"/>
                <a:cs typeface="Arial" panose="020B0604020202020204" pitchFamily="34" charset="0"/>
              </a:rPr>
              <a:t>nới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có</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nhiệt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độ</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và</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độ</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ẩm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thấp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làm</a:t>
            </a:r>
            <a:r>
              <a:rPr lang="en-US" altLang="ko-KR" sz="800" dirty="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phát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sinh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ít</a:t>
            </a:r>
            <a:r>
              <a:rPr lang="en-US" altLang="ko-KR" sz="800" dirty="0" smtClean="0">
                <a:latin typeface="Arial" panose="020B0604020202020204" pitchFamily="34" charset="0"/>
                <a:cs typeface="Arial" panose="020B0604020202020204" pitchFamily="34" charset="0"/>
              </a:rPr>
              <a:t> drain. </a:t>
            </a:r>
            <a:endParaRPr lang="en-US" altLang="ko-KR" sz="800" dirty="0">
              <a:latin typeface="Arial" panose="020B0604020202020204" pitchFamily="34" charset="0"/>
              <a:cs typeface="Arial" panose="020B0604020202020204" pitchFamily="34" charset="0"/>
            </a:endParaRPr>
          </a:p>
          <a:p>
            <a:pPr eaLnBrk="1" hangingPunct="1"/>
            <a:r>
              <a:rPr lang="en-US" altLang="ko-KR" sz="800" smtClean="0">
                <a:latin typeface="Arial" panose="020B0604020202020204" pitchFamily="34" charset="0"/>
                <a:cs typeface="Arial" panose="020B0604020202020204" pitchFamily="34" charset="0"/>
              </a:rPr>
              <a:t>B. </a:t>
            </a:r>
            <a:r>
              <a:rPr lang="en-US" altLang="ko-KR" sz="800" dirty="0" err="1" smtClean="0">
                <a:latin typeface="Arial" panose="020B0604020202020204" pitchFamily="34" charset="0"/>
                <a:cs typeface="Arial" panose="020B0604020202020204" pitchFamily="34" charset="0"/>
              </a:rPr>
              <a:t>Chọn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lắp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đặt</a:t>
            </a:r>
            <a:r>
              <a:rPr lang="en-US" altLang="ko-KR" sz="800" dirty="0" smtClean="0">
                <a:latin typeface="Arial" panose="020B0604020202020204" pitchFamily="34" charset="0"/>
                <a:cs typeface="Arial" panose="020B0604020202020204" pitchFamily="34" charset="0"/>
              </a:rPr>
              <a:t> ở </a:t>
            </a:r>
            <a:r>
              <a:rPr lang="en-US" altLang="ko-KR" sz="800" dirty="0" err="1" smtClean="0">
                <a:latin typeface="Arial" panose="020B0604020202020204" pitchFamily="34" charset="0"/>
                <a:cs typeface="Arial" panose="020B0604020202020204" pitchFamily="34" charset="0"/>
              </a:rPr>
              <a:t>nơi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có</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ít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khí</a:t>
            </a:r>
            <a:r>
              <a:rPr lang="en-US" altLang="ko-KR" sz="800" dirty="0" smtClean="0">
                <a:latin typeface="Arial" panose="020B0604020202020204" pitchFamily="34" charset="0"/>
                <a:cs typeface="Arial" panose="020B0604020202020204" pitchFamily="34" charset="0"/>
              </a:rPr>
              <a:t> gas </a:t>
            </a:r>
            <a:r>
              <a:rPr lang="en-US" altLang="ko-KR" sz="800" dirty="0" err="1" smtClean="0">
                <a:latin typeface="Arial" panose="020B0604020202020204" pitchFamily="34" charset="0"/>
                <a:cs typeface="Arial" panose="020B0604020202020204" pitchFamily="34" charset="0"/>
              </a:rPr>
              <a:t>độc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hại</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ít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vật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chất</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có</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hại</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a:p>
            <a:pPr marL="174625" indent="-174625" eaLnBrk="1" hangingPunct="1"/>
            <a:r>
              <a:rPr lang="en-US" altLang="ko-KR" sz="800" smtClean="0">
                <a:solidFill>
                  <a:srgbClr val="FF0000"/>
                </a:solidFill>
                <a:latin typeface="Arial" panose="020B0604020202020204" pitchFamily="34" charset="0"/>
                <a:cs typeface="Arial" panose="020B0604020202020204" pitchFamily="34" charset="0"/>
              </a:rPr>
              <a:t>C. </a:t>
            </a:r>
            <a:r>
              <a:rPr lang="en-US" altLang="ko-KR" sz="800" dirty="0" err="1" smtClean="0">
                <a:solidFill>
                  <a:srgbClr val="FF0000"/>
                </a:solidFill>
                <a:latin typeface="Arial" panose="020B0604020202020204" pitchFamily="34" charset="0"/>
                <a:cs typeface="Arial" panose="020B0604020202020204" pitchFamily="34" charset="0"/>
              </a:rPr>
              <a:t>Nếu</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nhiệt</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độ</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của</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không</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khí</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hút</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vào</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lên</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trên</a:t>
            </a:r>
            <a:r>
              <a:rPr lang="en-US" altLang="ko-KR" sz="800" dirty="0" smtClean="0">
                <a:solidFill>
                  <a:srgbClr val="FF0000"/>
                </a:solidFill>
                <a:latin typeface="Arial" panose="020B0604020202020204" pitchFamily="34" charset="0"/>
                <a:cs typeface="Arial" panose="020B0604020202020204" pitchFamily="34" charset="0"/>
              </a:rPr>
              <a:t> </a:t>
            </a:r>
            <a:r>
              <a:rPr lang="ko-KR" altLang="en-US" sz="800" dirty="0" smtClean="0">
                <a:solidFill>
                  <a:srgbClr val="FF0000"/>
                </a:solidFill>
                <a:latin typeface="Arial" panose="020B0604020202020204" pitchFamily="34" charset="0"/>
                <a:cs typeface="Arial" panose="020B0604020202020204" pitchFamily="34" charset="0"/>
              </a:rPr>
              <a:t> </a:t>
            </a:r>
            <a:r>
              <a:rPr lang="en-US" altLang="ko-KR" sz="800" dirty="0">
                <a:solidFill>
                  <a:srgbClr val="FF0000"/>
                </a:solidFill>
                <a:latin typeface="Arial" panose="020B0604020202020204" pitchFamily="34" charset="0"/>
                <a:cs typeface="Arial" panose="020B0604020202020204" pitchFamily="34" charset="0"/>
              </a:rPr>
              <a:t>50</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hiệu</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suất</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của</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máy</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nén</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sẽ</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giảm</a:t>
            </a:r>
            <a:r>
              <a:rPr lang="en-US" altLang="ko-KR" sz="800" dirty="0" smtClean="0">
                <a:solidFill>
                  <a:srgbClr val="FF0000"/>
                </a:solidFill>
                <a:latin typeface="Arial" panose="020B0604020202020204" pitchFamily="34" charset="0"/>
                <a:cs typeface="Arial" panose="020B0604020202020204" pitchFamily="34" charset="0"/>
              </a:rPr>
              <a:t> </a:t>
            </a:r>
            <a:r>
              <a:rPr lang="en-US" altLang="ko-KR" sz="800" dirty="0" err="1" smtClean="0">
                <a:solidFill>
                  <a:srgbClr val="FF0000"/>
                </a:solidFill>
                <a:latin typeface="Arial" panose="020B0604020202020204" pitchFamily="34" charset="0"/>
                <a:cs typeface="Arial" panose="020B0604020202020204" pitchFamily="34" charset="0"/>
              </a:rPr>
              <a:t>đi</a:t>
            </a:r>
            <a:r>
              <a:rPr lang="en-US" altLang="ko-KR" sz="800" dirty="0" smtClean="0">
                <a:solidFill>
                  <a:srgbClr val="FF0000"/>
                </a:solidFill>
                <a:latin typeface="Arial" panose="020B0604020202020204" pitchFamily="34" charset="0"/>
                <a:cs typeface="Arial" panose="020B0604020202020204" pitchFamily="34" charset="0"/>
              </a:rPr>
              <a:t> </a:t>
            </a:r>
            <a:r>
              <a:rPr lang="ko-KR" altLang="en-US" sz="800" dirty="0" smtClean="0">
                <a:solidFill>
                  <a:srgbClr val="FF0000"/>
                </a:solidFill>
                <a:latin typeface="Arial" panose="020B0604020202020204" pitchFamily="34" charset="0"/>
                <a:cs typeface="Arial" panose="020B0604020202020204" pitchFamily="34" charset="0"/>
              </a:rPr>
              <a:t> </a:t>
            </a:r>
            <a:r>
              <a:rPr lang="en-US" altLang="ko-KR" sz="800" dirty="0">
                <a:solidFill>
                  <a:srgbClr val="FF0000"/>
                </a:solidFill>
                <a:latin typeface="Arial" panose="020B0604020202020204" pitchFamily="34" charset="0"/>
                <a:cs typeface="Arial" panose="020B0604020202020204" pitchFamily="34" charset="0"/>
              </a:rPr>
              <a:t>30~40% </a:t>
            </a:r>
            <a:r>
              <a:rPr lang="en-US" altLang="ko-KR" sz="800" dirty="0" smtClean="0">
                <a:solidFill>
                  <a:srgbClr val="FF0000"/>
                </a:solidFill>
                <a:latin typeface="Arial" panose="020B0604020202020204" pitchFamily="34" charset="0"/>
                <a:cs typeface="Arial" panose="020B0604020202020204" pitchFamily="34" charset="0"/>
              </a:rPr>
              <a:t>.</a:t>
            </a:r>
            <a:endParaRPr lang="en-US" altLang="ko-KR" sz="800" dirty="0">
              <a:solidFill>
                <a:srgbClr val="FF0000"/>
              </a:solidFill>
              <a:latin typeface="Arial" panose="020B0604020202020204" pitchFamily="34" charset="0"/>
              <a:cs typeface="Arial" panose="020B0604020202020204" pitchFamily="34" charset="0"/>
            </a:endParaRPr>
          </a:p>
          <a:p>
            <a:pPr marL="174625" indent="-174625" eaLnBrk="1" hangingPunct="1"/>
            <a:r>
              <a:rPr lang="en-US" altLang="ko-KR" sz="800" smtClean="0">
                <a:latin typeface="Arial" panose="020B0604020202020204" pitchFamily="34" charset="0"/>
                <a:cs typeface="Arial" panose="020B0604020202020204" pitchFamily="34" charset="0"/>
              </a:rPr>
              <a:t>D.  </a:t>
            </a:r>
            <a:r>
              <a:rPr lang="en-US" altLang="ko-KR" sz="800" dirty="0" err="1" smtClean="0">
                <a:latin typeface="Arial" panose="020B0604020202020204" pitchFamily="34" charset="0"/>
                <a:cs typeface="Arial" panose="020B0604020202020204" pitchFamily="34" charset="0"/>
              </a:rPr>
              <a:t>Không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được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máy</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dính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nước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mưa</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tránh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ánh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sáng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trực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tiếp</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cân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nhắc</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cả</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tường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cách</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âm</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để</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ngăn</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tiếng</a:t>
            </a:r>
            <a:r>
              <a:rPr lang="en-US" altLang="ko-KR" sz="800" dirty="0" smtClean="0">
                <a:latin typeface="Arial" panose="020B0604020202020204" pitchFamily="34" charset="0"/>
                <a:cs typeface="Arial" panose="020B0604020202020204" pitchFamily="34" charset="0"/>
              </a:rPr>
              <a:t> </a:t>
            </a:r>
            <a:r>
              <a:rPr lang="en-US" altLang="ko-KR" sz="800" dirty="0" err="1" smtClean="0">
                <a:latin typeface="Arial" panose="020B0604020202020204" pitchFamily="34" charset="0"/>
                <a:cs typeface="Arial" panose="020B0604020202020204" pitchFamily="34" charset="0"/>
              </a:rPr>
              <a:t>ồn</a:t>
            </a:r>
            <a:r>
              <a:rPr lang="en-US" altLang="ko-KR" sz="800" dirty="0" smtClean="0">
                <a:latin typeface="Arial" panose="020B0604020202020204" pitchFamily="34" charset="0"/>
                <a:cs typeface="Arial" panose="020B0604020202020204" pitchFamily="34" charset="0"/>
              </a:rPr>
              <a:t> .</a:t>
            </a:r>
            <a:endParaRPr lang="en-US" altLang="ko-KR"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083111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32" name="Rectangle 7"/>
          <p:cNvSpPr>
            <a:spLocks noChangeArrowheads="1"/>
          </p:cNvSpPr>
          <p:nvPr/>
        </p:nvSpPr>
        <p:spPr bwMode="auto">
          <a:xfrm>
            <a:off x="188640" y="1208584"/>
            <a:ext cx="3180502"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Thông thường hay sử dụng loại trục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Trục </a:t>
            </a:r>
            <a:r>
              <a:rPr lang="en-US" altLang="ko-KR" sz="950" smtClean="0">
                <a:latin typeface="Times New Roman" pitchFamily="18" charset="0"/>
                <a:ea typeface="LG Smart_H Regular" panose="020B0600000101010101" pitchFamily="34" charset="-127"/>
                <a:cs typeface="Times New Roman" pitchFamily="18" charset="0"/>
              </a:rPr>
              <a:t>rỗng</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Trục </a:t>
            </a:r>
            <a:r>
              <a:rPr lang="en-US" altLang="ko-KR" sz="950" smtClean="0">
                <a:latin typeface="Times New Roman" pitchFamily="18" charset="0"/>
                <a:ea typeface="LG Smart_H Regular" panose="020B0600000101010101" pitchFamily="34" charset="-127"/>
                <a:cs typeface="Times New Roman" pitchFamily="18" charset="0"/>
              </a:rPr>
              <a:t>cạnh</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Trục linh </a:t>
            </a:r>
            <a:r>
              <a:rPr lang="en-US" altLang="ko-KR" sz="950" smtClean="0">
                <a:latin typeface="Times New Roman" pitchFamily="18" charset="0"/>
                <a:ea typeface="LG Smart_H Regular" panose="020B0600000101010101" pitchFamily="34" charset="-127"/>
                <a:cs typeface="Times New Roman" pitchFamily="18" charset="0"/>
              </a:rPr>
              <a:t>hoạt</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Trục đặc</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37" name="Rectangle 7"/>
          <p:cNvSpPr>
            <a:spLocks noChangeArrowheads="1"/>
          </p:cNvSpPr>
          <p:nvPr/>
        </p:nvSpPr>
        <p:spPr bwMode="auto">
          <a:xfrm>
            <a:off x="184150" y="2608613"/>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Phân loại về hướng tải trọng. Vậy khi trục chịu tác động của tải trọng theo hướng dọc trục </a:t>
            </a:r>
            <a:r>
              <a:rPr lang="vi-VN" altLang="ko-KR" sz="950" smtClean="0">
                <a:latin typeface="Times New Roman" pitchFamily="18" charset="0"/>
                <a:ea typeface="LG Smart_H Regular" panose="020B0600000101010101" pitchFamily="34" charset="-127"/>
                <a:cs typeface="Times New Roman" pitchFamily="18" charset="0"/>
              </a:rPr>
              <a:t>là?</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Thrust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bearing</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Radial </a:t>
            </a:r>
            <a:r>
              <a:rPr lang="en-US" altLang="ko-KR" sz="950" smtClean="0">
                <a:latin typeface="Times New Roman" pitchFamily="18" charset="0"/>
                <a:ea typeface="LG Smart_H Regular" panose="020B0600000101010101" pitchFamily="34" charset="-127"/>
                <a:cs typeface="Times New Roman" pitchFamily="18" charset="0"/>
              </a:rPr>
              <a:t>bearing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Tapper </a:t>
            </a:r>
            <a:r>
              <a:rPr lang="vi-VN" altLang="ko-KR" sz="950" smtClean="0">
                <a:latin typeface="Times New Roman" pitchFamily="18" charset="0"/>
                <a:ea typeface="LG Smart_H Regular" panose="020B0600000101010101" pitchFamily="34" charset="-127"/>
                <a:cs typeface="Times New Roman" pitchFamily="18" charset="0"/>
              </a:rPr>
              <a:t>bearing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Flexible bearing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Đâu không phải đặc điểm của máy giảm </a:t>
            </a:r>
            <a:r>
              <a:rPr lang="vi-VN" altLang="ko-KR" sz="950" smtClean="0">
                <a:latin typeface="Times New Roman" pitchFamily="18" charset="0"/>
                <a:ea typeface="LG Smart_H Regular" panose="020B0600000101010101" pitchFamily="34" charset="-127"/>
                <a:cs typeface="Times New Roman" pitchFamily="18" charset="0"/>
              </a:rPr>
              <a:t>tốc?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Hình dạng nhỏ nhưng truyền được lực </a:t>
            </a:r>
            <a:r>
              <a:rPr lang="vi-VN" altLang="ko-KR" sz="950" smtClean="0">
                <a:latin typeface="Times New Roman" pitchFamily="18" charset="0"/>
                <a:ea typeface="LG Smart_H Regular" panose="020B0600000101010101" pitchFamily="34" charset="-127"/>
                <a:cs typeface="Times New Roman" pitchFamily="18" charset="0"/>
              </a:rPr>
              <a:t>lớn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Có cấu tạo </a:t>
            </a:r>
            <a:r>
              <a:rPr lang="en-US" altLang="ko-KR" sz="950" smtClean="0">
                <a:latin typeface="Times New Roman" pitchFamily="18" charset="0"/>
                <a:ea typeface="LG Smart_H Regular" panose="020B0600000101010101" pitchFamily="34" charset="-127"/>
                <a:cs typeface="Times New Roman" pitchFamily="18" charset="0"/>
              </a:rPr>
              <a:t>trong</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Tỷ lệ gia tốc cố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định</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Tỷ lệ giảm tốc được chọn lọc một cách rộng rãi</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Chọn đáp án sai khi nói về Timming </a:t>
            </a:r>
            <a:r>
              <a:rPr lang="vi-VN" altLang="ko-KR" sz="950" smtClean="0">
                <a:latin typeface="Times New Roman" pitchFamily="18" charset="0"/>
                <a:ea typeface="LG Smart_H Regular" panose="020B0600000101010101" pitchFamily="34" charset="-127"/>
                <a:cs typeface="Times New Roman" pitchFamily="18" charset="0"/>
              </a:rPr>
              <a:t>Belt?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Chạy êm ở cả tốc độ cao và </a:t>
            </a:r>
            <a:r>
              <a:rPr lang="vi-VN" altLang="ko-KR" sz="950" smtClean="0">
                <a:latin typeface="Times New Roman" pitchFamily="18" charset="0"/>
                <a:ea typeface="LG Smart_H Regular" panose="020B0600000101010101" pitchFamily="34" charset="-127"/>
                <a:cs typeface="Times New Roman" pitchFamily="18" charset="0"/>
              </a:rPr>
              <a:t>thấp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So với bánh răng thì gây tiếng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ồn</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Nhẹ, tốc độ tăng tốc </a:t>
            </a:r>
            <a:r>
              <a:rPr lang="vi-VN" altLang="ko-KR" sz="950" smtClean="0">
                <a:latin typeface="Times New Roman" pitchFamily="18" charset="0"/>
                <a:ea typeface="LG Smart_H Regular" panose="020B0600000101010101" pitchFamily="34" charset="-127"/>
                <a:cs typeface="Times New Roman" pitchFamily="18" charset="0"/>
              </a:rPr>
              <a:t>cao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Chỉ dùng cho ròng rọc có đường kính nhỏ</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17858" y="4428872"/>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a:t>
            </a:r>
            <a:r>
              <a:rPr lang="vi-VN" altLang="ko-KR" sz="950">
                <a:latin typeface="Times New Roman" pitchFamily="18" charset="0"/>
                <a:ea typeface="LG Smart_H Regular" panose="020B0600000101010101" pitchFamily="34" charset="-127"/>
                <a:cs typeface="Times New Roman" pitchFamily="18" charset="0"/>
              </a:rPr>
              <a:t>Trong đặc tính của phương thức dẫn động.</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 "Được áp dụng rộng rãi trên hướng song song, hướng chéo, hướng nghiêng mà cần sự giảm tối đa của ma sát"</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Nội dung được nhắc tới là phương thức dẫn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Linear </a:t>
            </a:r>
            <a:r>
              <a:rPr lang="vi-VN" altLang="ko-KR" sz="950" smtClean="0">
                <a:latin typeface="Times New Roman" pitchFamily="18" charset="0"/>
                <a:ea typeface="LG Smart_H Regular" panose="020B0600000101010101" pitchFamily="34" charset="-127"/>
                <a:cs typeface="Times New Roman" pitchFamily="18" charset="0"/>
              </a:rPr>
              <a:t>Bush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Ball </a:t>
            </a:r>
            <a:r>
              <a:rPr lang="en-US" altLang="ko-KR" sz="950" smtClean="0">
                <a:latin typeface="Times New Roman" pitchFamily="18" charset="0"/>
                <a:ea typeface="LG Smart_H Regular" panose="020B0600000101010101" pitchFamily="34" charset="-127"/>
                <a:cs typeface="Times New Roman" pitchFamily="18" charset="0"/>
              </a:rPr>
              <a:t>Screw</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LM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Guide</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Ball Spline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7" name="Rectangle 7"/>
          <p:cNvSpPr>
            <a:spLocks noChangeArrowheads="1"/>
          </p:cNvSpPr>
          <p:nvPr/>
        </p:nvSpPr>
        <p:spPr bwMode="auto">
          <a:xfrm>
            <a:off x="3409102" y="8193360"/>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Tác dụng nào của bôi trơn có đặc điểm "Tính chất vô cùng quan trọng khi tải trọng rung và tải trọng va chạm tác động nhiều</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Phân tán áp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lực</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nb-NO" altLang="ko-KR" sz="950">
                <a:latin typeface="Times New Roman" pitchFamily="18" charset="0"/>
                <a:ea typeface="LG Smart_H Regular" panose="020B0600000101010101" pitchFamily="34" charset="-127"/>
                <a:cs typeface="Times New Roman" pitchFamily="18" charset="0"/>
              </a:rPr>
              <a:t>Làm </a:t>
            </a:r>
            <a:r>
              <a:rPr lang="nb-NO" altLang="ko-KR" sz="950" smtClean="0">
                <a:latin typeface="Times New Roman" pitchFamily="18" charset="0"/>
                <a:ea typeface="LG Smart_H Regular" panose="020B0600000101010101" pitchFamily="34" charset="-127"/>
                <a:cs typeface="Times New Roman" pitchFamily="18" charset="0"/>
              </a:rPr>
              <a:t>kín</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Làm </a:t>
            </a:r>
            <a:r>
              <a:rPr lang="en-US" altLang="ko-KR" sz="950" smtClean="0">
                <a:latin typeface="Times New Roman" pitchFamily="18" charset="0"/>
                <a:ea typeface="LG Smart_H Regular" panose="020B0600000101010101" pitchFamily="34" charset="-127"/>
                <a:cs typeface="Times New Roman" pitchFamily="18" charset="0"/>
              </a:rPr>
              <a:t>mát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Giảm ma sát</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40" name="Rectangle 7"/>
          <p:cNvSpPr>
            <a:spLocks noChangeArrowheads="1"/>
          </p:cNvSpPr>
          <p:nvPr/>
        </p:nvSpPr>
        <p:spPr bwMode="auto">
          <a:xfrm>
            <a:off x="228600" y="6161628"/>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Đâu </a:t>
            </a:r>
            <a:r>
              <a:rPr lang="vi-VN" altLang="ko-KR" sz="950" b="1">
                <a:latin typeface="Times New Roman" pitchFamily="18" charset="0"/>
                <a:ea typeface="LG Smart_H Regular" panose="020B0600000101010101" pitchFamily="34" charset="-127"/>
                <a:cs typeface="Times New Roman" pitchFamily="18" charset="0"/>
              </a:rPr>
              <a:t>không phải </a:t>
            </a:r>
            <a:r>
              <a:rPr lang="vi-VN" altLang="ko-KR" sz="950">
                <a:latin typeface="Times New Roman" pitchFamily="18" charset="0"/>
                <a:ea typeface="LG Smart_H Regular" panose="020B0600000101010101" pitchFamily="34" charset="-127"/>
                <a:cs typeface="Times New Roman" pitchFamily="18" charset="0"/>
              </a:rPr>
              <a:t>cách đọc của Đinh </a:t>
            </a:r>
            <a:r>
              <a:rPr lang="vi-VN" altLang="ko-KR" sz="950" smtClean="0">
                <a:latin typeface="Times New Roman" pitchFamily="18" charset="0"/>
                <a:ea typeface="LG Smart_H Regular" panose="020B0600000101010101" pitchFamily="34" charset="-127"/>
                <a:cs typeface="Times New Roman" pitchFamily="18" charset="0"/>
              </a:rPr>
              <a:t>ốc?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Hướng </a:t>
            </a:r>
            <a:r>
              <a:rPr lang="vi-VN" altLang="ko-KR" sz="950" smtClean="0">
                <a:latin typeface="Times New Roman" pitchFamily="18" charset="0"/>
                <a:ea typeface="LG Smart_H Regular" panose="020B0600000101010101" pitchFamily="34" charset="-127"/>
                <a:cs typeface="Times New Roman" pitchFamily="18" charset="0"/>
              </a:rPr>
              <a:t>xoắn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Số xoắn đinh </a:t>
            </a:r>
            <a:r>
              <a:rPr lang="vi-VN" altLang="ko-KR" sz="950" smtClean="0">
                <a:latin typeface="Times New Roman" pitchFamily="18" charset="0"/>
                <a:ea typeface="LG Smart_H Regular" panose="020B0600000101010101" pitchFamily="34" charset="-127"/>
                <a:cs typeface="Times New Roman" pitchFamily="18" charset="0"/>
              </a:rPr>
              <a:t>ốc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Lắp ghép đinh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ốc</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Tên đinh ốc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2" name="Rectangle 7"/>
          <p:cNvSpPr>
            <a:spLocks noChangeArrowheads="1"/>
          </p:cNvSpPr>
          <p:nvPr/>
        </p:nvSpPr>
        <p:spPr bwMode="auto">
          <a:xfrm>
            <a:off x="163884" y="8193360"/>
            <a:ext cx="3253973"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Key là đối tượng dùng để cố định trục với gear, ròng </a:t>
            </a:r>
            <a:r>
              <a:rPr lang="vi-VN" altLang="ko-KR" sz="950" smtClean="0">
                <a:latin typeface="Times New Roman" pitchFamily="18" charset="0"/>
                <a:ea typeface="LG Smart_H Regular" panose="020B0600000101010101" pitchFamily="34" charset="-127"/>
                <a:cs typeface="Times New Roman" pitchFamily="18" charset="0"/>
              </a:rPr>
              <a:t>rọc</a:t>
            </a:r>
            <a:r>
              <a:rPr lang="en-US" altLang="ko-KR" sz="950" smtClean="0">
                <a:latin typeface="Times New Roman" pitchFamily="18" charset="0"/>
                <a:ea typeface="LG Smart_H Regular" panose="020B0600000101010101" pitchFamily="34" charset="-127"/>
                <a:cs typeface="Times New Roman" pitchFamily="18" charset="0"/>
              </a:rPr>
              <a:t>..</a:t>
            </a:r>
            <a:r>
              <a:rPr lang="vi-VN" altLang="ko-KR" sz="950" smtClean="0">
                <a:latin typeface="Times New Roman" pitchFamily="18" charset="0"/>
                <a:ea typeface="LG Smart_H Regular" panose="020B0600000101010101" pitchFamily="34" charset="-127"/>
                <a:cs typeface="Times New Roman" pitchFamily="18" charset="0"/>
              </a:rPr>
              <a:t>.</a:t>
            </a:r>
            <a:endParaRPr lang="vi-VN"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Vậy người ta hay sử dụng loại </a:t>
            </a:r>
            <a:r>
              <a:rPr lang="en-US" altLang="ko-KR" sz="950" smtClean="0">
                <a:latin typeface="Times New Roman" pitchFamily="18" charset="0"/>
                <a:ea typeface="LG Smart_H Regular" panose="020B0600000101010101" pitchFamily="34" charset="-127"/>
                <a:cs typeface="Times New Roman" pitchFamily="18" charset="0"/>
              </a:rPr>
              <a:t>mã </a:t>
            </a:r>
            <a:r>
              <a:rPr lang="vi-VN" altLang="ko-KR" sz="950" smtClean="0">
                <a:latin typeface="Times New Roman" pitchFamily="18" charset="0"/>
                <a:ea typeface="LG Smart_H Regular" panose="020B0600000101010101" pitchFamily="34" charset="-127"/>
                <a:cs typeface="Times New Roman" pitchFamily="18" charset="0"/>
              </a:rPr>
              <a:t>thép </a:t>
            </a:r>
            <a:r>
              <a:rPr lang="vi-VN" altLang="ko-KR" sz="950">
                <a:latin typeface="Times New Roman" pitchFamily="18" charset="0"/>
                <a:ea typeface="LG Smart_H Regular" panose="020B0600000101010101" pitchFamily="34" charset="-127"/>
                <a:cs typeface="Times New Roman" pitchFamily="18" charset="0"/>
              </a:rPr>
              <a:t>nào để </a:t>
            </a:r>
            <a:r>
              <a:rPr lang="en-US" altLang="ko-KR" sz="950" smtClean="0">
                <a:latin typeface="Times New Roman" pitchFamily="18" charset="0"/>
                <a:ea typeface="LG Smart_H Regular" panose="020B0600000101010101" pitchFamily="34" charset="-127"/>
                <a:cs typeface="Times New Roman" pitchFamily="18" charset="0"/>
              </a:rPr>
              <a:t>gia công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SM45A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SF55B</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SM45C</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SF55D</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04048" y="4376936"/>
            <a:ext cx="3180502" cy="1375067"/>
            <a:chOff x="204048" y="4376936"/>
            <a:chExt cx="3180502" cy="1375067"/>
          </a:xfrm>
        </p:grpSpPr>
        <p:sp>
          <p:nvSpPr>
            <p:cNvPr id="38" name="Rectangle 7"/>
            <p:cNvSpPr>
              <a:spLocks noChangeArrowheads="1"/>
            </p:cNvSpPr>
            <p:nvPr/>
          </p:nvSpPr>
          <p:spPr bwMode="auto">
            <a:xfrm>
              <a:off x="204048" y="4376936"/>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Khi ghép cặp đôi của vòng bi. Vậy hình nào sau đây mục đích được ghép để chịu tải trọng lớn của một bên </a:t>
              </a:r>
              <a:r>
                <a:rPr lang="vi-VN" altLang="ko-KR" sz="950" smtClean="0">
                  <a:latin typeface="Times New Roman" pitchFamily="18" charset="0"/>
                  <a:ea typeface="LG Smart_H Regular" panose="020B0600000101010101" pitchFamily="34" charset="-127"/>
                  <a:cs typeface="Times New Roman" pitchFamily="18" charset="0"/>
                </a:rPr>
                <a:t>trục?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C.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a:t>
              </a:r>
            </a:p>
          </p:txBody>
        </p:sp>
        <p:pic>
          <p:nvPicPr>
            <p:cNvPr id="24" name="Picture 23"/>
            <p:cNvPicPr>
              <a:picLocks noChangeAspect="1"/>
            </p:cNvPicPr>
            <p:nvPr/>
          </p:nvPicPr>
          <p:blipFill>
            <a:blip r:embed="rId3"/>
            <a:stretch>
              <a:fillRect/>
            </a:stretch>
          </p:blipFill>
          <p:spPr>
            <a:xfrm>
              <a:off x="547583" y="4749809"/>
              <a:ext cx="937201" cy="491223"/>
            </a:xfrm>
            <a:prstGeom prst="rect">
              <a:avLst/>
            </a:prstGeom>
          </p:spPr>
        </p:pic>
        <p:pic>
          <p:nvPicPr>
            <p:cNvPr id="25" name="Picture 24"/>
            <p:cNvPicPr>
              <a:picLocks noChangeAspect="1"/>
            </p:cNvPicPr>
            <p:nvPr/>
          </p:nvPicPr>
          <p:blipFill>
            <a:blip r:embed="rId4"/>
            <a:stretch>
              <a:fillRect/>
            </a:stretch>
          </p:blipFill>
          <p:spPr>
            <a:xfrm>
              <a:off x="2022664" y="4776155"/>
              <a:ext cx="974288" cy="464877"/>
            </a:xfrm>
            <a:prstGeom prst="rect">
              <a:avLst/>
            </a:prstGeom>
          </p:spPr>
        </p:pic>
        <p:pic>
          <p:nvPicPr>
            <p:cNvPr id="26" name="Picture 25"/>
            <p:cNvPicPr>
              <a:picLocks noChangeAspect="1"/>
            </p:cNvPicPr>
            <p:nvPr/>
          </p:nvPicPr>
          <p:blipFill>
            <a:blip r:embed="rId5"/>
            <a:stretch>
              <a:fillRect/>
            </a:stretch>
          </p:blipFill>
          <p:spPr>
            <a:xfrm>
              <a:off x="548680" y="5278676"/>
              <a:ext cx="936104" cy="427899"/>
            </a:xfrm>
            <a:prstGeom prst="rect">
              <a:avLst/>
            </a:prstGeom>
          </p:spPr>
        </p:pic>
        <p:pic>
          <p:nvPicPr>
            <p:cNvPr id="27" name="Picture 26"/>
            <p:cNvPicPr>
              <a:picLocks noChangeAspect="1"/>
            </p:cNvPicPr>
            <p:nvPr/>
          </p:nvPicPr>
          <p:blipFill>
            <a:blip r:embed="rId6"/>
            <a:stretch>
              <a:fillRect/>
            </a:stretch>
          </p:blipFill>
          <p:spPr>
            <a:xfrm>
              <a:off x="2094594" y="5281842"/>
              <a:ext cx="921408" cy="470161"/>
            </a:xfrm>
            <a:prstGeom prst="rect">
              <a:avLst/>
            </a:prstGeom>
          </p:spPr>
        </p:pic>
      </p:grpSp>
      <p:sp>
        <p:nvSpPr>
          <p:cNvPr id="29" name="Rectangle 7"/>
          <p:cNvSpPr>
            <a:spLocks noChangeArrowheads="1"/>
          </p:cNvSpPr>
          <p:nvPr/>
        </p:nvSpPr>
        <p:spPr bwMode="auto">
          <a:xfrm>
            <a:off x="3409102" y="6393160"/>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a:t>
            </a:r>
            <a:r>
              <a:rPr lang="vi-VN" altLang="ko-KR" sz="950">
                <a:latin typeface="Times New Roman" pitchFamily="18" charset="0"/>
                <a:ea typeface="LG Smart_H Regular" panose="020B0600000101010101" pitchFamily="34" charset="-127"/>
                <a:cs typeface="Times New Roman" pitchFamily="18" charset="0"/>
              </a:rPr>
              <a:t>Ý nào không đúng khi nói về tác dụng của bôi </a:t>
            </a:r>
            <a:r>
              <a:rPr lang="vi-VN" altLang="ko-KR" sz="950" smtClean="0">
                <a:latin typeface="Times New Roman" pitchFamily="18" charset="0"/>
                <a:ea typeface="LG Smart_H Regular" panose="020B0600000101010101" pitchFamily="34" charset="-127"/>
                <a:cs typeface="Times New Roman" pitchFamily="18" charset="0"/>
              </a:rPr>
              <a:t>trơn?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Làm </a:t>
            </a:r>
            <a:r>
              <a:rPr lang="vi-VN" altLang="ko-KR" sz="950" smtClean="0">
                <a:latin typeface="Times New Roman" pitchFamily="18" charset="0"/>
                <a:ea typeface="LG Smart_H Regular" panose="020B0600000101010101" pitchFamily="34" charset="-127"/>
                <a:cs typeface="Times New Roman" pitchFamily="18" charset="0"/>
              </a:rPr>
              <a:t>kín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nb-NO" altLang="ko-KR" sz="950">
                <a:latin typeface="Times New Roman" pitchFamily="18" charset="0"/>
                <a:ea typeface="LG Smart_H Regular" panose="020B0600000101010101" pitchFamily="34" charset="-127"/>
                <a:cs typeface="Times New Roman" pitchFamily="18" charset="0"/>
              </a:rPr>
              <a:t>Chống ôxi hóa</a:t>
            </a:r>
            <a:endParaRPr lang="nb-NO"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Làm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lạnh</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Làm sạch</a:t>
            </a:r>
            <a:endParaRPr lang="en-US" altLang="ko-KR" sz="950" smtClean="0">
              <a:latin typeface="Times New Roman" pitchFamily="18"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76629314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188640" y="809164"/>
            <a:ext cx="3258330"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sp>
        <p:nvSpPr>
          <p:cNvPr id="7" name="Rectangle 35"/>
          <p:cNvSpPr>
            <a:spLocks noChangeArrowheads="1"/>
          </p:cNvSpPr>
          <p:nvPr/>
        </p:nvSpPr>
        <p:spPr bwMode="auto">
          <a:xfrm>
            <a:off x="188640" y="1293366"/>
            <a:ext cx="3240360" cy="1061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00" smtClean="0">
                <a:latin typeface="Arial" pitchFamily="34" charset="0"/>
                <a:ea typeface="돋움" pitchFamily="50" charset="-127"/>
                <a:cs typeface="Arial" pitchFamily="34" charset="0"/>
              </a:rPr>
              <a:t>71</a:t>
            </a:r>
            <a:r>
              <a:rPr lang="en-US" altLang="ko-KR" sz="900">
                <a:latin typeface="Arial" pitchFamily="34" charset="0"/>
                <a:ea typeface="돋움" pitchFamily="50" charset="-127"/>
                <a:cs typeface="Arial" pitchFamily="34" charset="0"/>
              </a:rPr>
              <a:t>. Chọn đáp án không phải là giải thích về cơ khí?</a:t>
            </a:r>
          </a:p>
          <a:p>
            <a:endParaRPr lang="en-US" altLang="ko-KR" sz="900" smtClean="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A. </a:t>
            </a:r>
            <a:r>
              <a:rPr lang="en-US" altLang="ko-KR" sz="900">
                <a:latin typeface="Arial" pitchFamily="34" charset="0"/>
                <a:ea typeface="돋움" pitchFamily="50" charset="-127"/>
                <a:cs typeface="Arial" pitchFamily="34" charset="0"/>
              </a:rPr>
              <a:t>Được gọi là bộ môn nghiên cứu về chuyển động bất thường của máy móc.</a:t>
            </a:r>
          </a:p>
          <a:p>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Được gọi là chuyển động học của máy móc.</a:t>
            </a:r>
          </a:p>
          <a:p>
            <a:r>
              <a:rPr lang="en-US" altLang="ko-KR" sz="900" smtClean="0">
                <a:latin typeface="Arial" pitchFamily="34" charset="0"/>
                <a:ea typeface="돋움" pitchFamily="50" charset="-127"/>
                <a:cs typeface="Arial" pitchFamily="34" charset="0"/>
              </a:rPr>
              <a:t>C. </a:t>
            </a:r>
            <a:r>
              <a:rPr lang="en-US" altLang="ko-KR" sz="900">
                <a:latin typeface="Arial" pitchFamily="34" charset="0"/>
                <a:ea typeface="돋움" pitchFamily="50" charset="-127"/>
                <a:cs typeface="Arial" pitchFamily="34" charset="0"/>
              </a:rPr>
              <a:t>Gọi thành phần máy móc là các thành phần cơ khí.</a:t>
            </a:r>
          </a:p>
          <a:p>
            <a:r>
              <a:rPr lang="en-US" altLang="ko-KR" sz="900" smtClean="0">
                <a:solidFill>
                  <a:srgbClr val="FF0000"/>
                </a:solidFill>
                <a:latin typeface="Arial" pitchFamily="34" charset="0"/>
                <a:ea typeface="돋움" pitchFamily="50" charset="-127"/>
                <a:cs typeface="Arial" pitchFamily="34" charset="0"/>
              </a:rPr>
              <a:t>D. </a:t>
            </a:r>
            <a:r>
              <a:rPr lang="en-US" altLang="ko-KR" sz="900">
                <a:solidFill>
                  <a:srgbClr val="FF0000"/>
                </a:solidFill>
                <a:latin typeface="Arial" pitchFamily="34" charset="0"/>
                <a:ea typeface="돋움" pitchFamily="50" charset="-127"/>
                <a:cs typeface="Arial" pitchFamily="34" charset="0"/>
              </a:rPr>
              <a:t>Nhận cung cấp năng lượng </a:t>
            </a:r>
            <a:r>
              <a:rPr lang="en-US" altLang="ko-KR" sz="900" smtClean="0">
                <a:solidFill>
                  <a:srgbClr val="FF0000"/>
                </a:solidFill>
                <a:latin typeface="Arial" pitchFamily="34" charset="0"/>
                <a:ea typeface="돋움" pitchFamily="50" charset="-127"/>
                <a:cs typeface="Arial" pitchFamily="34" charset="0"/>
              </a:rPr>
              <a:t>và </a:t>
            </a:r>
            <a:r>
              <a:rPr lang="en-US" altLang="ko-KR" sz="900">
                <a:solidFill>
                  <a:srgbClr val="FF0000"/>
                </a:solidFill>
                <a:latin typeface="Arial" pitchFamily="34" charset="0"/>
                <a:ea typeface="돋움" pitchFamily="50" charset="-127"/>
                <a:cs typeface="Arial" pitchFamily="34" charset="0"/>
              </a:rPr>
              <a:t>làm công </a:t>
            </a:r>
            <a:r>
              <a:rPr lang="en-US" altLang="ko-KR" sz="900" smtClean="0">
                <a:solidFill>
                  <a:srgbClr val="FF0000"/>
                </a:solidFill>
                <a:latin typeface="Arial" pitchFamily="34" charset="0"/>
                <a:ea typeface="돋움" pitchFamily="50" charset="-127"/>
                <a:cs typeface="Arial" pitchFamily="34" charset="0"/>
              </a:rPr>
              <a:t>việc </a:t>
            </a:r>
            <a:r>
              <a:rPr lang="en-US" altLang="ko-KR" sz="900">
                <a:solidFill>
                  <a:srgbClr val="FF0000"/>
                </a:solidFill>
                <a:latin typeface="Arial" pitchFamily="34" charset="0"/>
                <a:ea typeface="돋움" pitchFamily="50" charset="-127"/>
                <a:cs typeface="Arial" pitchFamily="34" charset="0"/>
              </a:rPr>
              <a:t>hiệu quả</a:t>
            </a:r>
            <a:r>
              <a:rPr lang="en-US" altLang="ko-KR" sz="900">
                <a:latin typeface="Arial" pitchFamily="34" charset="0"/>
                <a:ea typeface="돋움" pitchFamily="50" charset="-127"/>
                <a:cs typeface="Arial" pitchFamily="34" charset="0"/>
              </a:rPr>
              <a:t>.</a:t>
            </a:r>
          </a:p>
        </p:txBody>
      </p:sp>
      <p:sp>
        <p:nvSpPr>
          <p:cNvPr id="8" name="Rectangle 36"/>
          <p:cNvSpPr>
            <a:spLocks noChangeArrowheads="1"/>
          </p:cNvSpPr>
          <p:nvPr/>
        </p:nvSpPr>
        <p:spPr bwMode="auto">
          <a:xfrm>
            <a:off x="188639" y="3082533"/>
            <a:ext cx="3240361" cy="7848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00" smtClean="0">
                <a:latin typeface="Arial" pitchFamily="34" charset="0"/>
                <a:ea typeface="돋움" pitchFamily="50" charset="-127"/>
                <a:cs typeface="Arial" pitchFamily="34" charset="0"/>
              </a:rPr>
              <a:t>72</a:t>
            </a:r>
            <a:r>
              <a:rPr lang="en-US" altLang="ko-KR" sz="900">
                <a:latin typeface="Arial" pitchFamily="34" charset="0"/>
                <a:ea typeface="돋움" pitchFamily="50" charset="-127"/>
                <a:cs typeface="Arial" pitchFamily="34" charset="0"/>
              </a:rPr>
              <a:t>. Chọn đáp án không phải phân loại theo hình dạng mặt cắt</a:t>
            </a:r>
            <a:r>
              <a:rPr lang="ko-KR" altLang="en-US" sz="90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a:t>
            </a:r>
          </a:p>
          <a:p>
            <a:r>
              <a:rPr lang="en-US" altLang="ko-KR" sz="900" smtClean="0">
                <a:solidFill>
                  <a:srgbClr val="FF0000"/>
                </a:solidFill>
                <a:latin typeface="Arial" pitchFamily="34" charset="0"/>
                <a:ea typeface="돋움" pitchFamily="50" charset="-127"/>
                <a:cs typeface="Arial" pitchFamily="34" charset="0"/>
              </a:rPr>
              <a:t> </a:t>
            </a:r>
          </a:p>
          <a:p>
            <a:r>
              <a:rPr lang="en-US" altLang="ko-KR" sz="900" smtClean="0">
                <a:solidFill>
                  <a:srgbClr val="FF0000"/>
                </a:solidFill>
                <a:latin typeface="Arial" pitchFamily="34" charset="0"/>
                <a:ea typeface="돋움" pitchFamily="50" charset="-127"/>
                <a:cs typeface="Arial" pitchFamily="34" charset="0"/>
              </a:rPr>
              <a:t> A. </a:t>
            </a:r>
            <a:r>
              <a:rPr lang="en-US" altLang="ko-KR" sz="900">
                <a:solidFill>
                  <a:srgbClr val="FF0000"/>
                </a:solidFill>
                <a:latin typeface="Arial" pitchFamily="34" charset="0"/>
                <a:ea typeface="돋움" pitchFamily="50" charset="-127"/>
                <a:cs typeface="Arial" pitchFamily="34" charset="0"/>
              </a:rPr>
              <a:t>Trục </a:t>
            </a:r>
            <a:r>
              <a:rPr lang="en-US" altLang="ko-KR" sz="900" smtClean="0">
                <a:solidFill>
                  <a:srgbClr val="FF0000"/>
                </a:solidFill>
                <a:latin typeface="Arial" pitchFamily="34" charset="0"/>
                <a:ea typeface="돋움" pitchFamily="50" charset="-127"/>
                <a:cs typeface="Arial" pitchFamily="34" charset="0"/>
              </a:rPr>
              <a:t>thẳng</a:t>
            </a:r>
            <a:r>
              <a:rPr lang="ko-KR" altLang="en-US" sz="900" smtClean="0">
                <a:solidFill>
                  <a:srgbClr val="FF0000"/>
                </a:solidFill>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B.</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Trục </a:t>
            </a:r>
            <a:r>
              <a:rPr lang="en-US" altLang="ko-KR" sz="900" smtClean="0">
                <a:latin typeface="Arial" pitchFamily="34" charset="0"/>
                <a:ea typeface="돋움" pitchFamily="50" charset="-127"/>
                <a:cs typeface="Arial" pitchFamily="34" charset="0"/>
              </a:rPr>
              <a:t>đặc</a:t>
            </a:r>
            <a:endParaRPr lang="ko-KR" altLang="en-US"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 C.</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Trục </a:t>
            </a:r>
            <a:r>
              <a:rPr lang="en-US" altLang="ko-KR" sz="900">
                <a:latin typeface="Arial" pitchFamily="34" charset="0"/>
                <a:ea typeface="돋움" pitchFamily="50" charset="-127"/>
                <a:cs typeface="Arial" pitchFamily="34" charset="0"/>
              </a:rPr>
              <a:t>rỗng   </a:t>
            </a:r>
            <a:r>
              <a:rPr lang="ko-KR" altLang="en-US" sz="900">
                <a:latin typeface="Arial" pitchFamily="34" charset="0"/>
                <a:ea typeface="돋움" pitchFamily="50" charset="-127"/>
                <a:cs typeface="Arial" pitchFamily="34" charset="0"/>
              </a:rPr>
              <a:t>        </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D.</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Trục </a:t>
            </a:r>
            <a:r>
              <a:rPr lang="en-US" altLang="ko-KR" sz="900" smtClean="0">
                <a:latin typeface="Arial" pitchFamily="34" charset="0"/>
                <a:ea typeface="돋움" pitchFamily="50" charset="-127"/>
                <a:cs typeface="Arial" pitchFamily="34" charset="0"/>
              </a:rPr>
              <a:t>cạnh</a:t>
            </a:r>
            <a:endParaRPr lang="ko-KR" altLang="en-US" sz="900">
              <a:latin typeface="Arial" pitchFamily="34" charset="0"/>
              <a:ea typeface="돋움" pitchFamily="50" charset="-127"/>
              <a:cs typeface="Arial" pitchFamily="34" charset="0"/>
            </a:endParaRPr>
          </a:p>
        </p:txBody>
      </p:sp>
      <p:grpSp>
        <p:nvGrpSpPr>
          <p:cNvPr id="9" name="Group 8"/>
          <p:cNvGrpSpPr/>
          <p:nvPr/>
        </p:nvGrpSpPr>
        <p:grpSpPr>
          <a:xfrm>
            <a:off x="260648" y="4616767"/>
            <a:ext cx="3116262" cy="1200329"/>
            <a:chOff x="260648" y="2482850"/>
            <a:chExt cx="3116262" cy="1200329"/>
          </a:xfrm>
        </p:grpSpPr>
        <p:sp>
          <p:nvSpPr>
            <p:cNvPr id="10" name="Rectangle 37"/>
            <p:cNvSpPr>
              <a:spLocks noChangeArrowheads="1"/>
            </p:cNvSpPr>
            <p:nvPr/>
          </p:nvSpPr>
          <p:spPr bwMode="auto">
            <a:xfrm>
              <a:off x="260648" y="2482850"/>
              <a:ext cx="3116262" cy="12003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73.Loại </a:t>
              </a:r>
              <a:r>
                <a:rPr lang="en-US" altLang="ko-KR" sz="900">
                  <a:latin typeface="Arial" pitchFamily="34" charset="0"/>
                  <a:ea typeface="돋움" pitchFamily="50" charset="-127"/>
                  <a:cs typeface="Arial" pitchFamily="34" charset="0"/>
                </a:rPr>
                <a:t>Bearing ở hình sau là?</a:t>
              </a:r>
            </a:p>
            <a:p>
              <a:endParaRPr lang="en-US" altLang="ko-KR" sz="900">
                <a:latin typeface="Arial" pitchFamily="34" charset="0"/>
                <a:ea typeface="돋움" pitchFamily="50" charset="-127"/>
                <a:cs typeface="Arial" pitchFamily="34" charset="0"/>
              </a:endParaRPr>
            </a:p>
            <a:p>
              <a:pPr marL="228600" indent="-228600">
                <a:buAutoNum type="alphaUcPeriod"/>
              </a:pPr>
              <a:r>
                <a:rPr lang="en-US" altLang="ko-KR" sz="900" smtClean="0">
                  <a:latin typeface="Arial" pitchFamily="34" charset="0"/>
                  <a:ea typeface="돋움" pitchFamily="50" charset="-127"/>
                  <a:cs typeface="Arial" pitchFamily="34" charset="0"/>
                </a:rPr>
                <a:t>Vòng </a:t>
              </a:r>
              <a:r>
                <a:rPr lang="en-US" altLang="ko-KR" sz="900">
                  <a:latin typeface="Arial" pitchFamily="34" charset="0"/>
                  <a:ea typeface="돋움" pitchFamily="50" charset="-127"/>
                  <a:cs typeface="Arial" pitchFamily="34" charset="0"/>
                </a:rPr>
                <a:t>bi </a:t>
              </a:r>
              <a:r>
                <a:rPr lang="en-US" altLang="ko-KR" sz="900" smtClean="0">
                  <a:latin typeface="Arial" pitchFamily="34" charset="0"/>
                  <a:ea typeface="돋움" pitchFamily="50" charset="-127"/>
                  <a:cs typeface="Arial" pitchFamily="34" charset="0"/>
                </a:rPr>
                <a:t>Magneto</a:t>
              </a:r>
            </a:p>
            <a:p>
              <a:pPr marL="228600" indent="-228600">
                <a:buAutoNum type="alphaUcPeriod"/>
              </a:pPr>
              <a:r>
                <a:rPr lang="en-US" altLang="ko-KR" sz="900" smtClean="0">
                  <a:solidFill>
                    <a:srgbClr val="FF0000"/>
                  </a:solidFill>
                  <a:latin typeface="Arial" pitchFamily="34" charset="0"/>
                  <a:ea typeface="돋움" pitchFamily="50" charset="-127"/>
                  <a:cs typeface="Arial" pitchFamily="34" charset="0"/>
                </a:rPr>
                <a:t>Vòng </a:t>
              </a:r>
              <a:r>
                <a:rPr lang="en-US" altLang="ko-KR" sz="900">
                  <a:solidFill>
                    <a:srgbClr val="FF0000"/>
                  </a:solidFill>
                  <a:latin typeface="Arial" pitchFamily="34" charset="0"/>
                  <a:ea typeface="돋움" pitchFamily="50" charset="-127"/>
                  <a:cs typeface="Arial" pitchFamily="34" charset="0"/>
                </a:rPr>
                <a:t>bi </a:t>
              </a:r>
              <a:r>
                <a:rPr lang="en-US" altLang="ko-KR" sz="900" smtClean="0">
                  <a:solidFill>
                    <a:srgbClr val="FF0000"/>
                  </a:solidFill>
                  <a:latin typeface="Arial" pitchFamily="34" charset="0"/>
                  <a:ea typeface="돋움" pitchFamily="50" charset="-127"/>
                  <a:cs typeface="Arial" pitchFamily="34" charset="0"/>
                </a:rPr>
                <a:t>đỡ chặn tiếp xúc</a:t>
              </a:r>
            </a:p>
            <a:p>
              <a:r>
                <a:rPr lang="en-US" altLang="ko-KR" sz="900" smtClean="0">
                  <a:solidFill>
                    <a:srgbClr val="FF0000"/>
                  </a:solidFill>
                  <a:latin typeface="Arial" pitchFamily="34" charset="0"/>
                  <a:ea typeface="돋움" pitchFamily="50" charset="-127"/>
                  <a:cs typeface="Arial" pitchFamily="34" charset="0"/>
                </a:rPr>
                <a:t>( </a:t>
              </a:r>
              <a:r>
                <a:rPr lang="en-US" altLang="ko-KR" sz="900">
                  <a:solidFill>
                    <a:srgbClr val="FF0000"/>
                  </a:solidFill>
                  <a:latin typeface="Arial" pitchFamily="34" charset="0"/>
                  <a:ea typeface="돋움" pitchFamily="50" charset="-127"/>
                  <a:cs typeface="Arial" pitchFamily="34" charset="0"/>
                </a:rPr>
                <a:t>Angular </a:t>
              </a:r>
              <a:r>
                <a:rPr lang="en-US" altLang="ko-KR" sz="900">
                  <a:latin typeface="Arial" pitchFamily="34" charset="0"/>
                  <a:ea typeface="돋움" pitchFamily="50" charset="-127"/>
                  <a:cs typeface="Arial" pitchFamily="34" charset="0"/>
                </a:rPr>
                <a:t>balll bearing </a:t>
              </a:r>
              <a:r>
                <a:rPr lang="en-US" altLang="ko-KR" sz="900" smtClean="0">
                  <a:latin typeface="Arial" pitchFamily="34" charset="0"/>
                  <a:ea typeface="돋움" pitchFamily="50" charset="-127"/>
                  <a:cs typeface="Arial" pitchFamily="34" charset="0"/>
                </a:rPr>
                <a:t>)</a:t>
              </a:r>
              <a:endParaRPr lang="ko-KR" altLang="en-US"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C.</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Vòng vi chặn (Thrust ball </a:t>
              </a:r>
              <a:r>
                <a:rPr lang="en-US" altLang="ko-KR" sz="900" smtClean="0">
                  <a:latin typeface="Arial" pitchFamily="34" charset="0"/>
                  <a:ea typeface="돋움" pitchFamily="50" charset="-127"/>
                  <a:cs typeface="Arial" pitchFamily="34" charset="0"/>
                </a:rPr>
                <a:t>bearing)</a:t>
              </a:r>
              <a:endParaRPr lang="ko-KR" altLang="en-US"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D.</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Vòng </a:t>
              </a:r>
              <a:r>
                <a:rPr lang="en-US" altLang="ko-KR" sz="900">
                  <a:latin typeface="Arial" pitchFamily="34" charset="0"/>
                  <a:ea typeface="돋움" pitchFamily="50" charset="-127"/>
                  <a:cs typeface="Arial" pitchFamily="34" charset="0"/>
                </a:rPr>
                <a:t>bi cầu rãnh </a:t>
              </a:r>
              <a:r>
                <a:rPr lang="en-US" altLang="ko-KR" sz="900" smtClean="0">
                  <a:latin typeface="Arial" pitchFamily="34" charset="0"/>
                  <a:ea typeface="돋움" pitchFamily="50" charset="-127"/>
                  <a:cs typeface="Arial" pitchFamily="34" charset="0"/>
                </a:rPr>
                <a:t>sâu</a:t>
              </a:r>
            </a:p>
            <a:p>
              <a:r>
                <a:rPr lang="en-US"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Deep </a:t>
              </a:r>
              <a:r>
                <a:rPr lang="en-US" altLang="ko-KR" sz="900" smtClean="0">
                  <a:latin typeface="Arial" pitchFamily="34" charset="0"/>
                  <a:ea typeface="돋움" pitchFamily="50" charset="-127"/>
                  <a:cs typeface="Arial" pitchFamily="34" charset="0"/>
                </a:rPr>
                <a:t>Groove ball </a:t>
              </a:r>
              <a:r>
                <a:rPr lang="en-US" altLang="ko-KR" sz="900">
                  <a:latin typeface="Arial" pitchFamily="34" charset="0"/>
                  <a:ea typeface="돋움" pitchFamily="50" charset="-127"/>
                  <a:cs typeface="Arial" pitchFamily="34" charset="0"/>
                </a:rPr>
                <a:t>bearing </a:t>
              </a:r>
              <a:r>
                <a:rPr lang="en-US" altLang="ko-KR" sz="900" smtClean="0">
                  <a:latin typeface="Arial" pitchFamily="34" charset="0"/>
                  <a:ea typeface="돋움" pitchFamily="50" charset="-127"/>
                  <a:cs typeface="Arial" pitchFamily="34" charset="0"/>
                </a:rPr>
                <a:t>)</a:t>
              </a:r>
              <a:endParaRPr lang="ko-KR" altLang="en-US" sz="900">
                <a:latin typeface="Arial" pitchFamily="34" charset="0"/>
                <a:ea typeface="돋움" pitchFamily="50" charset="-127"/>
                <a:cs typeface="Arial" pitchFamily="34" charset="0"/>
              </a:endParaRPr>
            </a:p>
          </p:txBody>
        </p:sp>
        <p:pic>
          <p:nvPicPr>
            <p:cNvPr id="11" name="Picture 3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75706" y="2729836"/>
              <a:ext cx="693738"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12" name="Rectangle 39"/>
          <p:cNvSpPr>
            <a:spLocks noChangeArrowheads="1"/>
          </p:cNvSpPr>
          <p:nvPr/>
        </p:nvSpPr>
        <p:spPr bwMode="auto">
          <a:xfrm>
            <a:off x="188640" y="6533401"/>
            <a:ext cx="31242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74</a:t>
            </a:r>
            <a:r>
              <a:rPr lang="en-US" altLang="ko-KR" sz="900">
                <a:latin typeface="Arial" pitchFamily="34" charset="0"/>
                <a:ea typeface="돋움" pitchFamily="50" charset="-127"/>
                <a:cs typeface="Arial" pitchFamily="34" charset="0"/>
              </a:rPr>
              <a:t>. Chọn đáp án không phải là </a:t>
            </a:r>
            <a:r>
              <a:rPr lang="en-US" altLang="ko-KR" sz="900" smtClean="0">
                <a:latin typeface="Arial" pitchFamily="34" charset="0"/>
                <a:ea typeface="돋움" pitchFamily="50" charset="-127"/>
                <a:cs typeface="Arial" pitchFamily="34" charset="0"/>
              </a:rPr>
              <a:t>Flexible </a:t>
            </a:r>
            <a:r>
              <a:rPr lang="en-US" altLang="ko-KR" sz="900">
                <a:latin typeface="Arial" pitchFamily="34" charset="0"/>
                <a:ea typeface="돋움" pitchFamily="50" charset="-127"/>
                <a:cs typeface="Arial" pitchFamily="34" charset="0"/>
              </a:rPr>
              <a:t>Coupling? </a:t>
            </a:r>
          </a:p>
          <a:p>
            <a:r>
              <a:rPr lang="en-US" altLang="ko-KR" sz="900" smtClean="0">
                <a:latin typeface="Arial" pitchFamily="34" charset="0"/>
                <a:ea typeface="돋움" pitchFamily="50" charset="-127"/>
                <a:cs typeface="Arial" pitchFamily="34" charset="0"/>
              </a:rPr>
              <a:t> </a:t>
            </a:r>
          </a:p>
          <a:p>
            <a:r>
              <a:rPr lang="en-US" altLang="ko-KR" sz="900" smtClean="0">
                <a:latin typeface="Arial" pitchFamily="34" charset="0"/>
                <a:ea typeface="돋움" pitchFamily="50" charset="-127"/>
                <a:cs typeface="Arial" pitchFamily="34" charset="0"/>
              </a:rPr>
              <a:t>A. Gear coupling </a:t>
            </a:r>
            <a:r>
              <a:rPr lang="ko-KR" altLang="en-US" sz="900" smtClean="0">
                <a:latin typeface="Arial" pitchFamily="34" charset="0"/>
                <a:ea typeface="돋움" pitchFamily="50" charset="-127"/>
                <a:cs typeface="Arial" pitchFamily="34" charset="0"/>
              </a:rPr>
              <a:t>    </a:t>
            </a:r>
            <a:r>
              <a:rPr lang="en-US" altLang="ko-KR" sz="900" smtClean="0">
                <a:solidFill>
                  <a:srgbClr val="FF0000"/>
                </a:solidFill>
                <a:latin typeface="Arial" pitchFamily="34" charset="0"/>
                <a:ea typeface="돋움" pitchFamily="50" charset="-127"/>
                <a:cs typeface="Arial" pitchFamily="34" charset="0"/>
              </a:rPr>
              <a:t>B.</a:t>
            </a:r>
            <a:r>
              <a:rPr lang="ko-KR" altLang="en-US" sz="900" smtClean="0">
                <a:solidFill>
                  <a:srgbClr val="FF0000"/>
                </a:solidFill>
                <a:latin typeface="Arial" pitchFamily="34" charset="0"/>
                <a:ea typeface="돋움" pitchFamily="50" charset="-127"/>
                <a:cs typeface="Arial" pitchFamily="34" charset="0"/>
              </a:rPr>
              <a:t> </a:t>
            </a:r>
            <a:r>
              <a:rPr lang="en-US" altLang="ko-KR" sz="900">
                <a:solidFill>
                  <a:srgbClr val="FF0000"/>
                </a:solidFill>
                <a:latin typeface="Arial" pitchFamily="34" charset="0"/>
                <a:ea typeface="돋움" pitchFamily="50" charset="-127"/>
                <a:cs typeface="Arial" pitchFamily="34" charset="0"/>
              </a:rPr>
              <a:t>M</a:t>
            </a:r>
            <a:r>
              <a:rPr lang="en-US" altLang="ko-KR" sz="900" smtClean="0">
                <a:solidFill>
                  <a:srgbClr val="FF0000"/>
                </a:solidFill>
                <a:latin typeface="Arial" pitchFamily="34" charset="0"/>
                <a:ea typeface="돋움" pitchFamily="50" charset="-127"/>
                <a:cs typeface="Arial" pitchFamily="34" charset="0"/>
              </a:rPr>
              <a:t>uff </a:t>
            </a:r>
            <a:r>
              <a:rPr lang="en-US" altLang="ko-KR" sz="900">
                <a:solidFill>
                  <a:srgbClr val="FF0000"/>
                </a:solidFill>
                <a:latin typeface="Arial" pitchFamily="34" charset="0"/>
                <a:ea typeface="돋움" pitchFamily="50" charset="-127"/>
                <a:cs typeface="Arial" pitchFamily="34" charset="0"/>
              </a:rPr>
              <a:t>coupling</a:t>
            </a:r>
            <a:r>
              <a:rPr lang="ko-KR" altLang="en-US" sz="900">
                <a:solidFill>
                  <a:srgbClr val="FF0000"/>
                </a:solidFill>
                <a:latin typeface="Arial" pitchFamily="34" charset="0"/>
                <a:ea typeface="돋움" pitchFamily="50" charset="-127"/>
                <a:cs typeface="Arial" pitchFamily="34" charset="0"/>
              </a:rPr>
              <a:t>  </a:t>
            </a:r>
            <a:endParaRPr lang="en-US" altLang="ko-KR" sz="900">
              <a:solidFill>
                <a:srgbClr val="FF0000"/>
              </a:solidFill>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 C.</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Chain coupling</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D.</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Cao su coupling</a:t>
            </a:r>
            <a:endParaRPr lang="ko-KR" altLang="en-US" sz="900">
              <a:latin typeface="Arial" pitchFamily="34" charset="0"/>
              <a:ea typeface="돋움" pitchFamily="50" charset="-127"/>
              <a:cs typeface="Arial" pitchFamily="34" charset="0"/>
            </a:endParaRPr>
          </a:p>
        </p:txBody>
      </p:sp>
      <p:grpSp>
        <p:nvGrpSpPr>
          <p:cNvPr id="13" name="Group 12"/>
          <p:cNvGrpSpPr/>
          <p:nvPr/>
        </p:nvGrpSpPr>
        <p:grpSpPr>
          <a:xfrm>
            <a:off x="260648" y="8120955"/>
            <a:ext cx="3124200" cy="1152525"/>
            <a:chOff x="325438" y="4139575"/>
            <a:chExt cx="3124200" cy="1152525"/>
          </a:xfrm>
        </p:grpSpPr>
        <p:sp>
          <p:nvSpPr>
            <p:cNvPr id="15" name="Rectangle 40"/>
            <p:cNvSpPr>
              <a:spLocks noChangeArrowheads="1"/>
            </p:cNvSpPr>
            <p:nvPr/>
          </p:nvSpPr>
          <p:spPr bwMode="auto">
            <a:xfrm>
              <a:off x="325438" y="4139575"/>
              <a:ext cx="31242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75</a:t>
              </a:r>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Tên </a:t>
              </a:r>
              <a:r>
                <a:rPr lang="en-US" altLang="ko-KR" sz="900">
                  <a:latin typeface="Arial" pitchFamily="34" charset="0"/>
                  <a:ea typeface="돋움" pitchFamily="50" charset="-127"/>
                  <a:cs typeface="Arial" pitchFamily="34" charset="0"/>
                </a:rPr>
                <a:t>của </a:t>
              </a:r>
              <a:r>
                <a:rPr lang="en-US" altLang="ko-KR" sz="900" smtClean="0">
                  <a:latin typeface="Arial" pitchFamily="34" charset="0"/>
                  <a:ea typeface="돋움" pitchFamily="50" charset="-127"/>
                  <a:cs typeface="Arial" pitchFamily="34" charset="0"/>
                </a:rPr>
                <a:t> chỗ</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dưới đây có ý nghĩa gì </a:t>
              </a:r>
              <a:r>
                <a:rPr lang="en-US" altLang="ko-KR" sz="900" smtClean="0">
                  <a:latin typeface="Arial" pitchFamily="34" charset="0"/>
                  <a:ea typeface="돋움" pitchFamily="50" charset="-127"/>
                  <a:cs typeface="Arial" pitchFamily="34" charset="0"/>
                </a:rPr>
                <a:t>?</a:t>
              </a:r>
              <a:endParaRPr lang="en-US" altLang="ko-KR" sz="900">
                <a:latin typeface="Arial" pitchFamily="34" charset="0"/>
                <a:ea typeface="돋움" pitchFamily="50" charset="-127"/>
                <a:cs typeface="Arial" pitchFamily="34" charset="0"/>
              </a:endParaRPr>
            </a:p>
            <a:p>
              <a:endParaRPr lang="en-US" altLang="ko-KR" sz="900">
                <a:latin typeface="Arial" pitchFamily="34" charset="0"/>
                <a:ea typeface="돋움" pitchFamily="50" charset="-127"/>
                <a:cs typeface="Arial" pitchFamily="34" charset="0"/>
              </a:endParaRP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A. </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Hướng </a:t>
              </a:r>
              <a:r>
                <a:rPr lang="en-US" altLang="ko-KR" sz="900" smtClean="0">
                  <a:latin typeface="Arial" pitchFamily="34" charset="0"/>
                  <a:ea typeface="돋움" pitchFamily="50" charset="-127"/>
                  <a:cs typeface="Arial" pitchFamily="34" charset="0"/>
                </a:rPr>
                <a:t>xoắn </a:t>
              </a:r>
              <a:r>
                <a:rPr lang="en-US" altLang="ko-KR" sz="900">
                  <a:latin typeface="Arial" pitchFamily="34" charset="0"/>
                  <a:ea typeface="돋움" pitchFamily="50" charset="-127"/>
                  <a:cs typeface="Arial" pitchFamily="34" charset="0"/>
                </a:rPr>
                <a:t>của </a:t>
              </a:r>
              <a:r>
                <a:rPr lang="en-US" altLang="ko-KR" sz="900" smtClean="0">
                  <a:latin typeface="Arial" pitchFamily="34" charset="0"/>
                  <a:ea typeface="돋움" pitchFamily="50" charset="-127"/>
                  <a:cs typeface="Arial" pitchFamily="34" charset="0"/>
                </a:rPr>
                <a:t>ốc</a:t>
              </a:r>
              <a:endParaRPr lang="ko-KR" altLang="en-US" sz="900">
                <a:latin typeface="Arial" pitchFamily="34" charset="0"/>
                <a:ea typeface="돋움" pitchFamily="50" charset="-127"/>
                <a:cs typeface="Arial" pitchFamily="34" charset="0"/>
              </a:endParaRPr>
            </a:p>
            <a:p>
              <a:r>
                <a:rPr lang="ko-KR" altLang="en-US"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B.</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Số </a:t>
              </a:r>
              <a:r>
                <a:rPr lang="en-US" altLang="ko-KR" sz="900" smtClean="0">
                  <a:latin typeface="Arial" pitchFamily="34" charset="0"/>
                  <a:ea typeface="돋움" pitchFamily="50" charset="-127"/>
                  <a:cs typeface="Arial" pitchFamily="34" charset="0"/>
                </a:rPr>
                <a:t>xoắn của ốc</a:t>
              </a:r>
              <a:endParaRPr lang="ko-KR" altLang="en-US" sz="900">
                <a:latin typeface="Arial" pitchFamily="34" charset="0"/>
                <a:ea typeface="돋움" pitchFamily="50" charset="-127"/>
                <a:cs typeface="Arial" pitchFamily="34" charset="0"/>
              </a:endParaRPr>
            </a:p>
            <a:p>
              <a:r>
                <a:rPr lang="ko-KR" altLang="en-US" sz="900">
                  <a:latin typeface="Arial" pitchFamily="34" charset="0"/>
                  <a:ea typeface="돋움" pitchFamily="50" charset="-127"/>
                  <a:cs typeface="Arial" pitchFamily="34" charset="0"/>
                </a:rPr>
                <a:t>                                               </a:t>
              </a:r>
              <a:r>
                <a:rPr lang="en-US" altLang="ko-KR" sz="900" smtClean="0">
                  <a:solidFill>
                    <a:srgbClr val="FF0000"/>
                  </a:solidFill>
                  <a:latin typeface="Arial" pitchFamily="34" charset="0"/>
                  <a:ea typeface="돋움" pitchFamily="50" charset="-127"/>
                  <a:cs typeface="Arial" pitchFamily="34" charset="0"/>
                </a:rPr>
                <a:t>C.</a:t>
              </a:r>
              <a:r>
                <a:rPr lang="ko-KR" altLang="en-US" sz="900" smtClean="0">
                  <a:solidFill>
                    <a:srgbClr val="FF0000"/>
                  </a:solidFill>
                  <a:latin typeface="Arial" pitchFamily="34" charset="0"/>
                  <a:ea typeface="돋움" pitchFamily="50" charset="-127"/>
                  <a:cs typeface="Arial" pitchFamily="34" charset="0"/>
                </a:rPr>
                <a:t>  </a:t>
              </a:r>
              <a:r>
                <a:rPr lang="en-US" altLang="ko-KR" sz="900" smtClean="0">
                  <a:solidFill>
                    <a:srgbClr val="FF0000"/>
                  </a:solidFill>
                  <a:latin typeface="Arial" pitchFamily="34" charset="0"/>
                  <a:ea typeface="돋움" pitchFamily="50" charset="-127"/>
                  <a:cs typeface="Arial" pitchFamily="34" charset="0"/>
                </a:rPr>
                <a:t>Cấp chính xác </a:t>
              </a:r>
              <a:r>
                <a:rPr lang="en-US" altLang="ko-KR" sz="900">
                  <a:solidFill>
                    <a:srgbClr val="FF0000"/>
                  </a:solidFill>
                  <a:latin typeface="Arial" pitchFamily="34" charset="0"/>
                  <a:ea typeface="돋움" pitchFamily="50" charset="-127"/>
                  <a:cs typeface="Arial" pitchFamily="34" charset="0"/>
                </a:rPr>
                <a:t>của ốc</a:t>
              </a:r>
              <a:r>
                <a:rPr lang="ko-KR" altLang="en-US" sz="900">
                  <a:solidFill>
                    <a:srgbClr val="FF0000"/>
                  </a:solidFill>
                  <a:latin typeface="Arial" pitchFamily="34" charset="0"/>
                  <a:ea typeface="돋움" pitchFamily="50" charset="-127"/>
                  <a:cs typeface="Arial" pitchFamily="34" charset="0"/>
                </a:rPr>
                <a:t> </a:t>
              </a:r>
            </a:p>
            <a:p>
              <a:r>
                <a:rPr lang="ko-KR" altLang="en-US"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D.</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Tên gọi của ốc</a:t>
              </a:r>
              <a:endParaRPr lang="ko-KR" altLang="en-US" sz="900">
                <a:latin typeface="Arial" pitchFamily="34" charset="0"/>
                <a:ea typeface="돋움" pitchFamily="50" charset="-127"/>
                <a:cs typeface="Arial" pitchFamily="34" charset="0"/>
              </a:endParaRPr>
            </a:p>
          </p:txBody>
        </p:sp>
        <p:grpSp>
          <p:nvGrpSpPr>
            <p:cNvPr id="16" name="Group 41"/>
            <p:cNvGrpSpPr>
              <a:grpSpLocks/>
            </p:cNvGrpSpPr>
            <p:nvPr/>
          </p:nvGrpSpPr>
          <p:grpSpPr bwMode="auto">
            <a:xfrm>
              <a:off x="396875" y="4355475"/>
              <a:ext cx="1146175" cy="936625"/>
              <a:chOff x="255" y="3122"/>
              <a:chExt cx="1497" cy="801"/>
            </a:xfrm>
          </p:grpSpPr>
          <p:grpSp>
            <p:nvGrpSpPr>
              <p:cNvPr id="17" name="Group 42"/>
              <p:cNvGrpSpPr>
                <a:grpSpLocks/>
              </p:cNvGrpSpPr>
              <p:nvPr/>
            </p:nvGrpSpPr>
            <p:grpSpPr bwMode="auto">
              <a:xfrm>
                <a:off x="255" y="3122"/>
                <a:ext cx="1497" cy="801"/>
                <a:chOff x="255" y="2963"/>
                <a:chExt cx="1497" cy="801"/>
              </a:xfrm>
            </p:grpSpPr>
            <p:pic>
              <p:nvPicPr>
                <p:cNvPr id="19" name="Picture 43" descr="ScreenHunter_001"/>
                <p:cNvPicPr>
                  <a:picLocks noChangeAspect="1" noChangeArrowheads="1"/>
                </p:cNvPicPr>
                <p:nvPr/>
              </p:nvPicPr>
              <p:blipFill>
                <a:blip r:embed="rId4" cstate="print">
                  <a:extLst>
                    <a:ext uri="{28A0092B-C50C-407E-A947-70E740481C1C}">
                      <a14:useLocalDpi xmlns:a14="http://schemas.microsoft.com/office/drawing/2010/main" val="0"/>
                    </a:ext>
                  </a:extLst>
                </a:blip>
                <a:srcRect t="6425"/>
                <a:stretch>
                  <a:fillRect/>
                </a:stretch>
              </p:blipFill>
              <p:spPr bwMode="auto">
                <a:xfrm>
                  <a:off x="255" y="2963"/>
                  <a:ext cx="1352" cy="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Rectangle 44"/>
                <p:cNvSpPr>
                  <a:spLocks noChangeArrowheads="1"/>
                </p:cNvSpPr>
                <p:nvPr/>
              </p:nvSpPr>
              <p:spPr bwMode="auto">
                <a:xfrm>
                  <a:off x="1162" y="2963"/>
                  <a:ext cx="590" cy="61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sz="900">
                    <a:latin typeface="Arial" pitchFamily="34" charset="0"/>
                    <a:cs typeface="Arial" pitchFamily="34" charset="0"/>
                  </a:endParaRPr>
                </a:p>
              </p:txBody>
            </p:sp>
          </p:grpSp>
          <p:sp>
            <p:nvSpPr>
              <p:cNvPr id="18" name="Text Box 45"/>
              <p:cNvSpPr txBox="1">
                <a:spLocks noChangeArrowheads="1"/>
              </p:cNvSpPr>
              <p:nvPr/>
            </p:nvSpPr>
            <p:spPr bwMode="auto">
              <a:xfrm>
                <a:off x="1114" y="3516"/>
                <a:ext cx="425" cy="1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r>
                  <a:rPr lang="en-US" altLang="ko-KR" sz="900" smtClean="0">
                    <a:latin typeface="Arial" pitchFamily="34" charset="0"/>
                    <a:cs typeface="Arial" pitchFamily="34" charset="0"/>
                  </a:rPr>
                  <a:t>(?)</a:t>
                </a:r>
                <a:endParaRPr lang="en-US" altLang="ko-KR" sz="900">
                  <a:latin typeface="Arial" pitchFamily="34" charset="0"/>
                  <a:cs typeface="Arial" pitchFamily="34" charset="0"/>
                </a:endParaRPr>
              </a:p>
            </p:txBody>
          </p:sp>
        </p:grpSp>
      </p:grpSp>
      <p:sp>
        <p:nvSpPr>
          <p:cNvPr id="21" name="Rectangle 46"/>
          <p:cNvSpPr>
            <a:spLocks noChangeArrowheads="1"/>
          </p:cNvSpPr>
          <p:nvPr/>
        </p:nvSpPr>
        <p:spPr bwMode="auto">
          <a:xfrm>
            <a:off x="3437277" y="1145399"/>
            <a:ext cx="3151187" cy="7848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76</a:t>
            </a:r>
            <a:r>
              <a:rPr lang="en-US" altLang="ko-KR" sz="900">
                <a:latin typeface="Arial" pitchFamily="34" charset="0"/>
                <a:ea typeface="돋움" pitchFamily="50" charset="-127"/>
                <a:cs typeface="Arial" pitchFamily="34" charset="0"/>
              </a:rPr>
              <a:t>. Chọn đáp án không phải là yếu </a:t>
            </a:r>
            <a:r>
              <a:rPr lang="en-US" altLang="ko-KR" sz="900" smtClean="0">
                <a:latin typeface="Arial" pitchFamily="34" charset="0"/>
                <a:ea typeface="돋움" pitchFamily="50" charset="-127"/>
                <a:cs typeface="Arial" pitchFamily="34" charset="0"/>
              </a:rPr>
              <a:t>tố </a:t>
            </a:r>
            <a:r>
              <a:rPr lang="en-US" altLang="ko-KR" sz="900">
                <a:latin typeface="Arial" pitchFamily="34" charset="0"/>
                <a:ea typeface="돋움" pitchFamily="50" charset="-127"/>
                <a:cs typeface="Arial" pitchFamily="34" charset="0"/>
              </a:rPr>
              <a:t>chống lỏng ốc?</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A. </a:t>
            </a:r>
            <a:r>
              <a:rPr lang="en-US" altLang="ko-KR" sz="900">
                <a:latin typeface="Arial" pitchFamily="34" charset="0"/>
                <a:ea typeface="돋움" pitchFamily="50" charset="-127"/>
                <a:cs typeface="Arial" pitchFamily="34" charset="0"/>
              </a:rPr>
              <a:t>Sử dụng Spring washer.</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Sử dụng W</a:t>
            </a:r>
            <a:r>
              <a:rPr lang="en-US" altLang="ko-KR" sz="900" smtClean="0">
                <a:latin typeface="Arial" pitchFamily="34" charset="0"/>
                <a:ea typeface="돋움" pitchFamily="50" charset="-127"/>
                <a:cs typeface="Arial" pitchFamily="34" charset="0"/>
              </a:rPr>
              <a:t>asher </a:t>
            </a:r>
            <a:r>
              <a:rPr lang="en-US" altLang="ko-KR" sz="900">
                <a:latin typeface="Arial" pitchFamily="34" charset="0"/>
                <a:ea typeface="돋움" pitchFamily="50" charset="-127"/>
                <a:cs typeface="Arial" pitchFamily="34" charset="0"/>
              </a:rPr>
              <a:t>hãm có răng.</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 Sử </a:t>
            </a:r>
            <a:r>
              <a:rPr lang="en-US" altLang="ko-KR" sz="900">
                <a:latin typeface="Arial" pitchFamily="34" charset="0"/>
                <a:ea typeface="돋움" pitchFamily="50" charset="-127"/>
                <a:cs typeface="Arial" pitchFamily="34" charset="0"/>
              </a:rPr>
              <a:t>dụng Lock </a:t>
            </a:r>
            <a:r>
              <a:rPr lang="en-US" altLang="ko-KR" sz="900" smtClean="0">
                <a:latin typeface="Arial" pitchFamily="34" charset="0"/>
                <a:ea typeface="돋움" pitchFamily="50" charset="-127"/>
                <a:cs typeface="Arial" pitchFamily="34" charset="0"/>
              </a:rPr>
              <a:t>Nut ( đai ốc khóa )</a:t>
            </a:r>
            <a:endParaRPr lang="en-US" altLang="ko-KR" sz="900">
              <a:latin typeface="Arial" pitchFamily="34" charset="0"/>
              <a:ea typeface="돋움" pitchFamily="50" charset="-127"/>
              <a:cs typeface="Arial" pitchFamily="34" charset="0"/>
            </a:endParaRPr>
          </a:p>
          <a:p>
            <a:r>
              <a:rPr lang="en-US" altLang="ko-KR" sz="900">
                <a:latin typeface="Arial" pitchFamily="34" charset="0"/>
                <a:ea typeface="돋움" pitchFamily="50" charset="-127"/>
                <a:cs typeface="Arial" pitchFamily="34" charset="0"/>
              </a:rPr>
              <a:t> </a:t>
            </a:r>
            <a:r>
              <a:rPr lang="en-US" altLang="ko-KR" sz="900" smtClean="0">
                <a:solidFill>
                  <a:srgbClr val="FF0000"/>
                </a:solidFill>
                <a:latin typeface="Arial" pitchFamily="34" charset="0"/>
                <a:ea typeface="돋움" pitchFamily="50" charset="-127"/>
                <a:cs typeface="Arial" pitchFamily="34" charset="0"/>
              </a:rPr>
              <a:t>D. Sử </a:t>
            </a:r>
            <a:r>
              <a:rPr lang="en-US" altLang="ko-KR" sz="900">
                <a:solidFill>
                  <a:srgbClr val="FF0000"/>
                </a:solidFill>
                <a:latin typeface="Arial" pitchFamily="34" charset="0"/>
                <a:ea typeface="돋움" pitchFamily="50" charset="-127"/>
                <a:cs typeface="Arial" pitchFamily="34" charset="0"/>
              </a:rPr>
              <a:t>dụng W</a:t>
            </a:r>
            <a:r>
              <a:rPr lang="en-US" altLang="ko-KR" sz="900" smtClean="0">
                <a:solidFill>
                  <a:srgbClr val="FF0000"/>
                </a:solidFill>
                <a:latin typeface="Arial" pitchFamily="34" charset="0"/>
                <a:ea typeface="돋움" pitchFamily="50" charset="-127"/>
                <a:cs typeface="Arial" pitchFamily="34" charset="0"/>
              </a:rPr>
              <a:t>asher </a:t>
            </a:r>
            <a:r>
              <a:rPr lang="en-US" altLang="ko-KR" sz="900">
                <a:solidFill>
                  <a:srgbClr val="FF0000"/>
                </a:solidFill>
                <a:latin typeface="Arial" pitchFamily="34" charset="0"/>
                <a:ea typeface="돋움" pitchFamily="50" charset="-127"/>
                <a:cs typeface="Arial" pitchFamily="34" charset="0"/>
              </a:rPr>
              <a:t>bảo hiểm ( </a:t>
            </a:r>
            <a:r>
              <a:rPr lang="en-US" altLang="ko-KR" sz="900" smtClean="0">
                <a:solidFill>
                  <a:srgbClr val="FF0000"/>
                </a:solidFill>
                <a:latin typeface="Arial" pitchFamily="34" charset="0"/>
                <a:ea typeface="돋움" pitchFamily="50" charset="-127"/>
                <a:cs typeface="Arial" pitchFamily="34" charset="0"/>
              </a:rPr>
              <a:t>Tongue </a:t>
            </a:r>
            <a:r>
              <a:rPr lang="en-US" altLang="ko-KR" sz="900">
                <a:solidFill>
                  <a:srgbClr val="FF0000"/>
                </a:solidFill>
                <a:latin typeface="Arial" pitchFamily="34" charset="0"/>
                <a:ea typeface="돋움" pitchFamily="50" charset="-127"/>
                <a:cs typeface="Arial" pitchFamily="34" charset="0"/>
              </a:rPr>
              <a:t>washer)</a:t>
            </a:r>
            <a:r>
              <a:rPr lang="ko-KR" altLang="en-US" sz="900">
                <a:solidFill>
                  <a:srgbClr val="FF0000"/>
                </a:solidFill>
                <a:latin typeface="Arial" pitchFamily="34" charset="0"/>
                <a:ea typeface="돋움" pitchFamily="50" charset="-127"/>
                <a:cs typeface="Arial" pitchFamily="34" charset="0"/>
              </a:rPr>
              <a:t> </a:t>
            </a:r>
            <a:r>
              <a:rPr lang="en-US" altLang="ko-KR" sz="900">
                <a:solidFill>
                  <a:srgbClr val="FF0000"/>
                </a:solidFill>
                <a:latin typeface="Arial" pitchFamily="34" charset="0"/>
                <a:ea typeface="돋움" pitchFamily="50" charset="-127"/>
                <a:cs typeface="Arial" pitchFamily="34" charset="0"/>
              </a:rPr>
              <a:t>.</a:t>
            </a:r>
          </a:p>
        </p:txBody>
      </p:sp>
      <p:sp>
        <p:nvSpPr>
          <p:cNvPr id="22" name="Rectangle 47"/>
          <p:cNvSpPr>
            <a:spLocks noChangeArrowheads="1"/>
          </p:cNvSpPr>
          <p:nvPr/>
        </p:nvSpPr>
        <p:spPr bwMode="auto">
          <a:xfrm>
            <a:off x="3446970" y="3080447"/>
            <a:ext cx="3132138" cy="10618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77</a:t>
            </a:r>
            <a:r>
              <a:rPr lang="en-US" altLang="ko-KR" sz="900">
                <a:latin typeface="Arial" pitchFamily="34" charset="0"/>
                <a:ea typeface="돋움" pitchFamily="50" charset="-127"/>
                <a:cs typeface="Arial" pitchFamily="34" charset="0"/>
              </a:rPr>
              <a:t>. Chọn giải thích đúng về Gear dưới đây?</a:t>
            </a:r>
          </a:p>
          <a:p>
            <a:r>
              <a:rPr lang="en-US" altLang="ko-KR" sz="900">
                <a:latin typeface="Arial" pitchFamily="34" charset="0"/>
                <a:ea typeface="돋움" pitchFamily="50" charset="-127"/>
                <a:cs typeface="Arial" pitchFamily="34" charset="0"/>
              </a:rPr>
              <a:t> “ Là Gear có hai trục tâm của </a:t>
            </a:r>
            <a:r>
              <a:rPr lang="en-US" altLang="ko-KR" sz="900" smtClean="0">
                <a:latin typeface="Arial" pitchFamily="34" charset="0"/>
                <a:ea typeface="돋움" pitchFamily="50" charset="-127"/>
                <a:cs typeface="Arial" pitchFamily="34" charset="0"/>
              </a:rPr>
              <a:t>Helical </a:t>
            </a:r>
            <a:r>
              <a:rPr lang="en-US" altLang="ko-KR" sz="900">
                <a:latin typeface="Arial" pitchFamily="34" charset="0"/>
                <a:ea typeface="돋움" pitchFamily="50" charset="-127"/>
                <a:cs typeface="Arial" pitchFamily="34" charset="0"/>
              </a:rPr>
              <a:t>gear không song song với nhau và không giao nhau”</a:t>
            </a:r>
            <a:endParaRPr lang="ko-KR" altLang="en-US" sz="900">
              <a:latin typeface="Arial" pitchFamily="34" charset="0"/>
              <a:ea typeface="돋움" pitchFamily="50" charset="-127"/>
              <a:cs typeface="Arial" pitchFamily="34" charset="0"/>
            </a:endParaRPr>
          </a:p>
          <a:p>
            <a:pPr marL="228600" indent="-228600">
              <a:buAutoNum type="alphaUcPeriod"/>
            </a:pPr>
            <a:r>
              <a:rPr lang="en-US" altLang="ko-KR" sz="900" smtClean="0">
                <a:latin typeface="Arial" pitchFamily="34" charset="0"/>
                <a:ea typeface="돋움" pitchFamily="50" charset="-127"/>
                <a:cs typeface="Arial" pitchFamily="34" charset="0"/>
              </a:rPr>
              <a:t>Rack Gear </a:t>
            </a:r>
            <a:r>
              <a:rPr lang="ko-KR" altLang="en-US" sz="900" smtClean="0">
                <a:latin typeface="Arial" pitchFamily="34" charset="0"/>
                <a:ea typeface="돋움" pitchFamily="50" charset="-127"/>
                <a:cs typeface="Arial" pitchFamily="34" charset="0"/>
              </a:rPr>
              <a:t> </a:t>
            </a:r>
            <a:endParaRPr lang="en-US" altLang="ko-KR" sz="900" smtClean="0">
              <a:latin typeface="Arial" pitchFamily="34" charset="0"/>
              <a:ea typeface="돋움" pitchFamily="50" charset="-127"/>
              <a:cs typeface="Arial" pitchFamily="34" charset="0"/>
            </a:endParaRPr>
          </a:p>
          <a:p>
            <a:pPr marL="228600" indent="-228600">
              <a:buAutoNum type="alphaUcPeriod"/>
            </a:pPr>
            <a:r>
              <a:rPr lang="en-US" altLang="ko-KR" sz="900" smtClean="0">
                <a:latin typeface="Arial" pitchFamily="34" charset="0"/>
                <a:ea typeface="돋움" pitchFamily="50" charset="-127"/>
                <a:cs typeface="Arial" pitchFamily="34" charset="0"/>
              </a:rPr>
              <a:t>Spur Gear  </a:t>
            </a:r>
          </a:p>
          <a:p>
            <a:pPr marL="228600" indent="-228600">
              <a:buAutoNum type="alphaUcPeriod"/>
            </a:pPr>
            <a:r>
              <a:rPr lang="en-US" altLang="ko-KR" sz="900" smtClean="0">
                <a:latin typeface="Arial" pitchFamily="34" charset="0"/>
                <a:ea typeface="돋움" pitchFamily="50" charset="-127"/>
                <a:cs typeface="Arial" pitchFamily="34" charset="0"/>
              </a:rPr>
              <a:t>Internal Gear  </a:t>
            </a:r>
          </a:p>
          <a:p>
            <a:pPr marL="228600" indent="-228600">
              <a:buAutoNum type="alphaUcPeriod"/>
            </a:pPr>
            <a:r>
              <a:rPr lang="en-US" altLang="ko-KR" sz="900" smtClean="0">
                <a:solidFill>
                  <a:srgbClr val="FF0000"/>
                </a:solidFill>
                <a:latin typeface="Arial" pitchFamily="34" charset="0"/>
                <a:ea typeface="돋움" pitchFamily="50" charset="-127"/>
                <a:cs typeface="Arial" pitchFamily="34" charset="0"/>
              </a:rPr>
              <a:t>Screw </a:t>
            </a:r>
            <a:r>
              <a:rPr lang="en-US" altLang="ko-KR" sz="900">
                <a:solidFill>
                  <a:srgbClr val="FF0000"/>
                </a:solidFill>
                <a:latin typeface="Arial" pitchFamily="34" charset="0"/>
                <a:ea typeface="돋움" pitchFamily="50" charset="-127"/>
                <a:cs typeface="Arial" pitchFamily="34" charset="0"/>
              </a:rPr>
              <a:t>Gear</a:t>
            </a:r>
            <a:endParaRPr lang="ko-KR" altLang="en-US" sz="900">
              <a:solidFill>
                <a:srgbClr val="FF0000"/>
              </a:solidFill>
              <a:latin typeface="Arial" pitchFamily="34" charset="0"/>
              <a:ea typeface="돋움" pitchFamily="50" charset="-127"/>
              <a:cs typeface="Arial" pitchFamily="34" charset="0"/>
            </a:endParaRPr>
          </a:p>
        </p:txBody>
      </p:sp>
      <p:grpSp>
        <p:nvGrpSpPr>
          <p:cNvPr id="23" name="Group 22"/>
          <p:cNvGrpSpPr/>
          <p:nvPr/>
        </p:nvGrpSpPr>
        <p:grpSpPr>
          <a:xfrm>
            <a:off x="3450771" y="4507655"/>
            <a:ext cx="3124200" cy="923330"/>
            <a:chOff x="304800" y="6940550"/>
            <a:chExt cx="3124200" cy="923330"/>
          </a:xfrm>
        </p:grpSpPr>
        <p:sp>
          <p:nvSpPr>
            <p:cNvPr id="24" name="Rectangle 48"/>
            <p:cNvSpPr>
              <a:spLocks noChangeArrowheads="1"/>
            </p:cNvSpPr>
            <p:nvPr/>
          </p:nvSpPr>
          <p:spPr bwMode="auto">
            <a:xfrm>
              <a:off x="304800" y="6940550"/>
              <a:ext cx="3124200" cy="9233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78</a:t>
              </a:r>
              <a:r>
                <a:rPr lang="en-US" altLang="ko-KR" sz="900">
                  <a:latin typeface="Arial" pitchFamily="34" charset="0"/>
                  <a:ea typeface="돋움" pitchFamily="50" charset="-127"/>
                  <a:cs typeface="Arial" pitchFamily="34" charset="0"/>
                </a:rPr>
                <a:t>. Hình dưới đây là loại gear nào?</a:t>
              </a:r>
            </a:p>
            <a:p>
              <a:endParaRPr lang="en-US" altLang="ko-KR" sz="900">
                <a:latin typeface="Arial" pitchFamily="34" charset="0"/>
                <a:ea typeface="돋움" pitchFamily="50" charset="-127"/>
                <a:cs typeface="Arial" pitchFamily="34" charset="0"/>
              </a:endParaRPr>
            </a:p>
            <a:p>
              <a:r>
                <a:rPr lang="en-US" altLang="ko-KR" sz="900" smtClean="0">
                  <a:solidFill>
                    <a:srgbClr val="FF0000"/>
                  </a:solidFill>
                  <a:latin typeface="Arial" pitchFamily="34" charset="0"/>
                  <a:ea typeface="돋움" pitchFamily="50" charset="-127"/>
                  <a:cs typeface="Arial" pitchFamily="34" charset="0"/>
                </a:rPr>
                <a:t>A. </a:t>
              </a:r>
              <a:r>
                <a:rPr lang="en-US" altLang="ko-KR" sz="900">
                  <a:solidFill>
                    <a:srgbClr val="FF0000"/>
                  </a:solidFill>
                  <a:latin typeface="Arial" pitchFamily="34" charset="0"/>
                  <a:ea typeface="돋움" pitchFamily="50" charset="-127"/>
                  <a:cs typeface="Arial" pitchFamily="34" charset="0"/>
                </a:rPr>
                <a:t>Spiral </a:t>
              </a:r>
              <a:r>
                <a:rPr lang="en-US" altLang="ko-KR" sz="900" smtClean="0">
                  <a:solidFill>
                    <a:srgbClr val="FF0000"/>
                  </a:solidFill>
                  <a:latin typeface="Arial" pitchFamily="34" charset="0"/>
                  <a:ea typeface="돋움" pitchFamily="50" charset="-127"/>
                  <a:cs typeface="Arial" pitchFamily="34" charset="0"/>
                </a:rPr>
                <a:t>Bevel </a:t>
              </a:r>
              <a:r>
                <a:rPr lang="en-US" altLang="ko-KR" sz="900">
                  <a:solidFill>
                    <a:srgbClr val="FF0000"/>
                  </a:solidFill>
                  <a:latin typeface="Arial" pitchFamily="34" charset="0"/>
                  <a:ea typeface="돋움" pitchFamily="50" charset="-127"/>
                  <a:cs typeface="Arial" pitchFamily="34" charset="0"/>
                </a:rPr>
                <a:t>gear</a:t>
              </a:r>
              <a:endParaRPr lang="ko-KR" altLang="en-US" sz="900">
                <a:solidFill>
                  <a:srgbClr val="FF0000"/>
                </a:solidFill>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B.</a:t>
              </a:r>
              <a:r>
                <a:rPr lang="ko-KR" altLang="en-US" sz="900" smtClean="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Straight Bevel </a:t>
              </a:r>
              <a:r>
                <a:rPr lang="en-US" altLang="ko-KR" sz="900">
                  <a:latin typeface="Arial" pitchFamily="34" charset="0"/>
                  <a:ea typeface="돋움" pitchFamily="50" charset="-127"/>
                  <a:cs typeface="Arial" pitchFamily="34" charset="0"/>
                </a:rPr>
                <a:t>gear</a:t>
              </a:r>
            </a:p>
            <a:p>
              <a:r>
                <a:rPr lang="en-US" altLang="ko-KR" sz="900" smtClean="0">
                  <a:latin typeface="Arial" pitchFamily="34" charset="0"/>
                  <a:ea typeface="돋움" pitchFamily="50" charset="-127"/>
                  <a:cs typeface="Arial" pitchFamily="34" charset="0"/>
                </a:rPr>
                <a:t>C.</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Right Angle Bevel Gears </a:t>
              </a:r>
              <a:endParaRPr lang="ko-KR" altLang="en-US"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D.</a:t>
              </a:r>
              <a:r>
                <a:rPr lang="ko-KR" altLang="en-US"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Crown Bevel Gear</a:t>
              </a:r>
              <a:endParaRPr lang="ko-KR" altLang="en-US" sz="900">
                <a:latin typeface="Arial" pitchFamily="34" charset="0"/>
                <a:ea typeface="돋움" pitchFamily="50" charset="-127"/>
                <a:cs typeface="Arial" pitchFamily="34" charset="0"/>
              </a:endParaRPr>
            </a:p>
          </p:txBody>
        </p:sp>
        <p:pic>
          <p:nvPicPr>
            <p:cNvPr id="25" name="Picture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8850" y="7018338"/>
              <a:ext cx="936625" cy="75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6" name="Rectangle 50"/>
          <p:cNvSpPr>
            <a:spLocks noChangeArrowheads="1"/>
          </p:cNvSpPr>
          <p:nvPr/>
        </p:nvSpPr>
        <p:spPr bwMode="auto">
          <a:xfrm>
            <a:off x="3458005" y="6483459"/>
            <a:ext cx="3124200" cy="10618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79</a:t>
            </a:r>
            <a:r>
              <a:rPr lang="en-US" altLang="ko-KR" sz="900">
                <a:latin typeface="Arial" pitchFamily="34" charset="0"/>
                <a:ea typeface="돋움" pitchFamily="50" charset="-127"/>
                <a:cs typeface="Arial" pitchFamily="34" charset="0"/>
              </a:rPr>
              <a:t>. Chọn đáp án không phải là đặc điểm của Timing Belt?</a:t>
            </a:r>
          </a:p>
          <a:p>
            <a:endParaRPr lang="en-US" altLang="ko-KR"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A. Không </a:t>
            </a:r>
            <a:r>
              <a:rPr lang="en-US" altLang="ko-KR" sz="900">
                <a:latin typeface="Arial" pitchFamily="34" charset="0"/>
                <a:ea typeface="돋움" pitchFamily="50" charset="-127"/>
                <a:cs typeface="Arial" pitchFamily="34" charset="0"/>
              </a:rPr>
              <a:t>cần thiết bị cấp dầu. </a:t>
            </a:r>
          </a:p>
          <a:p>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Là cấu trúc được  tối thiểu hóa của </a:t>
            </a:r>
            <a:r>
              <a:rPr lang="en-US" altLang="ko-KR" sz="900" smtClean="0">
                <a:latin typeface="Arial" pitchFamily="34" charset="0"/>
                <a:ea typeface="돋움" pitchFamily="50" charset="-127"/>
                <a:cs typeface="Arial" pitchFamily="34" charset="0"/>
              </a:rPr>
              <a:t>Backlash </a:t>
            </a:r>
            <a:r>
              <a:rPr lang="en-US" altLang="ko-KR" sz="900">
                <a:latin typeface="Arial" pitchFamily="34" charset="0"/>
                <a:ea typeface="돋움" pitchFamily="50" charset="-127"/>
                <a:cs typeface="Arial" pitchFamily="34" charset="0"/>
              </a:rPr>
              <a:t>và độ giãn thấp</a:t>
            </a:r>
          </a:p>
          <a:p>
            <a:r>
              <a:rPr lang="en-US" altLang="ko-KR" sz="900" smtClean="0">
                <a:latin typeface="Arial" pitchFamily="34" charset="0"/>
                <a:ea typeface="돋움" pitchFamily="50" charset="-127"/>
                <a:cs typeface="Arial" pitchFamily="34" charset="0"/>
              </a:rPr>
              <a:t>C. </a:t>
            </a:r>
            <a:r>
              <a:rPr lang="en-US" altLang="ko-KR" sz="900">
                <a:latin typeface="Arial" pitchFamily="34" charset="0"/>
                <a:ea typeface="돋움" pitchFamily="50" charset="-127"/>
                <a:cs typeface="Arial" pitchFamily="34" charset="0"/>
              </a:rPr>
              <a:t>Có thể giảm tối đa không gian lắp </a:t>
            </a:r>
            <a:r>
              <a:rPr lang="en-US" altLang="ko-KR" sz="900" smtClean="0">
                <a:latin typeface="Arial" pitchFamily="34" charset="0"/>
                <a:ea typeface="돋움" pitchFamily="50" charset="-127"/>
                <a:cs typeface="Arial" pitchFamily="34" charset="0"/>
              </a:rPr>
              <a:t>đặt</a:t>
            </a:r>
            <a:endParaRPr lang="en-US" altLang="ko-KR" sz="900">
              <a:latin typeface="Arial" pitchFamily="34" charset="0"/>
              <a:ea typeface="돋움" pitchFamily="50" charset="-127"/>
              <a:cs typeface="Arial" pitchFamily="34" charset="0"/>
            </a:endParaRPr>
          </a:p>
          <a:p>
            <a:r>
              <a:rPr lang="en-US" altLang="ko-KR" sz="900" smtClean="0">
                <a:solidFill>
                  <a:srgbClr val="FF0000"/>
                </a:solidFill>
                <a:latin typeface="Arial" pitchFamily="34" charset="0"/>
                <a:ea typeface="돋움" pitchFamily="50" charset="-127"/>
                <a:cs typeface="Arial" pitchFamily="34" charset="0"/>
              </a:rPr>
              <a:t>D. </a:t>
            </a:r>
            <a:r>
              <a:rPr lang="en-US" altLang="ko-KR" sz="900">
                <a:solidFill>
                  <a:srgbClr val="FF0000"/>
                </a:solidFill>
                <a:latin typeface="Arial" pitchFamily="34" charset="0"/>
                <a:ea typeface="돋움" pitchFamily="50" charset="-127"/>
                <a:cs typeface="Arial" pitchFamily="34" charset="0"/>
              </a:rPr>
              <a:t>Cần có lực căng ban đầu cao.</a:t>
            </a:r>
          </a:p>
        </p:txBody>
      </p:sp>
      <p:sp>
        <p:nvSpPr>
          <p:cNvPr id="27" name="Rectangle 51"/>
          <p:cNvSpPr>
            <a:spLocks noChangeArrowheads="1"/>
          </p:cNvSpPr>
          <p:nvPr/>
        </p:nvSpPr>
        <p:spPr bwMode="auto">
          <a:xfrm>
            <a:off x="3429000" y="8145159"/>
            <a:ext cx="3124200" cy="12003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a:latin typeface="Arial" pitchFamily="34" charset="0"/>
                <a:cs typeface="Arial" pitchFamily="34" charset="0"/>
              </a:rPr>
              <a:t>8</a:t>
            </a:r>
            <a:r>
              <a:rPr lang="en-US" altLang="ko-KR" sz="900" smtClean="0">
                <a:latin typeface="Arial" pitchFamily="34" charset="0"/>
                <a:cs typeface="Arial" pitchFamily="34" charset="0"/>
              </a:rPr>
              <a:t>0</a:t>
            </a:r>
            <a:r>
              <a:rPr lang="en-US" altLang="ko-KR" sz="900">
                <a:latin typeface="Arial" pitchFamily="34" charset="0"/>
                <a:cs typeface="Arial" pitchFamily="34" charset="0"/>
              </a:rPr>
              <a:t>. Chọn đáp án không phải là đặc </a:t>
            </a:r>
            <a:r>
              <a:rPr lang="en-US" altLang="ko-KR" sz="900" smtClean="0">
                <a:latin typeface="Arial" pitchFamily="34" charset="0"/>
                <a:cs typeface="Arial" pitchFamily="34" charset="0"/>
              </a:rPr>
              <a:t>tính Linear Bushing?</a:t>
            </a:r>
            <a:endParaRPr lang="en-US" altLang="ko-KR" sz="900">
              <a:latin typeface="Arial" pitchFamily="34" charset="0"/>
              <a:cs typeface="Arial" pitchFamily="34" charset="0"/>
            </a:endParaRPr>
          </a:p>
          <a:p>
            <a:r>
              <a:rPr lang="en-US" altLang="ko-KR" sz="900" smtClean="0">
                <a:latin typeface="Arial" pitchFamily="34" charset="0"/>
                <a:cs typeface="Arial" pitchFamily="34" charset="0"/>
              </a:rPr>
              <a:t>A. Là </a:t>
            </a:r>
            <a:r>
              <a:rPr lang="en-US" altLang="ko-KR" sz="900">
                <a:latin typeface="Arial" pitchFamily="34" charset="0"/>
                <a:cs typeface="Arial" pitchFamily="34" charset="0"/>
              </a:rPr>
              <a:t>tiếp xúc điểm lên trục nên hệ số ma sát thấp.</a:t>
            </a:r>
          </a:p>
          <a:p>
            <a:r>
              <a:rPr lang="en-US" altLang="ko-KR" sz="900" smtClean="0">
                <a:latin typeface="Arial" pitchFamily="34" charset="0"/>
                <a:cs typeface="Arial" pitchFamily="34" charset="0"/>
              </a:rPr>
              <a:t>B. </a:t>
            </a:r>
            <a:r>
              <a:rPr lang="en-US" altLang="ko-KR" sz="900">
                <a:latin typeface="Arial" pitchFamily="34" charset="0"/>
                <a:cs typeface="Arial" pitchFamily="34" charset="0"/>
              </a:rPr>
              <a:t>Do ball tiếp xúc điểm nên tải trọng cho phép nhỏ, được sử dụng </a:t>
            </a:r>
            <a:r>
              <a:rPr lang="en-US" altLang="ko-KR" sz="900" smtClean="0">
                <a:latin typeface="Arial" pitchFamily="34" charset="0"/>
                <a:cs typeface="Arial" pitchFamily="34" charset="0"/>
              </a:rPr>
              <a:t>trong vận tải </a:t>
            </a:r>
            <a:r>
              <a:rPr lang="en-US" altLang="ko-KR" sz="900">
                <a:latin typeface="Arial" pitchFamily="34" charset="0"/>
                <a:cs typeface="Arial" pitchFamily="34" charset="0"/>
              </a:rPr>
              <a:t>nhẹ.</a:t>
            </a:r>
          </a:p>
          <a:p>
            <a:r>
              <a:rPr lang="en-US" altLang="ko-KR" sz="900" smtClean="0">
                <a:latin typeface="Arial" pitchFamily="34" charset="0"/>
                <a:cs typeface="Arial" pitchFamily="34" charset="0"/>
              </a:rPr>
              <a:t>C. </a:t>
            </a:r>
            <a:r>
              <a:rPr lang="en-US" altLang="ko-KR" sz="900">
                <a:latin typeface="Arial" pitchFamily="34" charset="0"/>
                <a:cs typeface="Arial" pitchFamily="34" charset="0"/>
              </a:rPr>
              <a:t>Giá trị cho phép của khe hở đường kính nhỏ, yêu cầu mức độ lắp ráp nghiêm ngặt.</a:t>
            </a:r>
          </a:p>
          <a:p>
            <a:r>
              <a:rPr lang="en-US" altLang="ko-KR" sz="900" smtClean="0">
                <a:solidFill>
                  <a:srgbClr val="FF0000"/>
                </a:solidFill>
                <a:latin typeface="Arial" pitchFamily="34" charset="0"/>
                <a:cs typeface="Arial" pitchFamily="34" charset="0"/>
              </a:rPr>
              <a:t>D. </a:t>
            </a:r>
            <a:r>
              <a:rPr lang="en-US" altLang="ko-KR" sz="900">
                <a:solidFill>
                  <a:srgbClr val="FF0000"/>
                </a:solidFill>
                <a:latin typeface="Arial" pitchFamily="34" charset="0"/>
                <a:cs typeface="Arial" pitchFamily="34" charset="0"/>
              </a:rPr>
              <a:t>Bền với shock khi di chuyển, tính phù hợp với vận chuyển tốc độ cao tốt</a:t>
            </a:r>
            <a:endParaRPr lang="ko-KR" altLang="en-US" sz="900">
              <a:solidFill>
                <a:srgbClr val="FF0000"/>
              </a:solidFill>
              <a:latin typeface="Arial" pitchFamily="34" charset="0"/>
              <a:cs typeface="Arial" pitchFamily="34" charset="0"/>
            </a:endParaRPr>
          </a:p>
        </p:txBody>
      </p:sp>
    </p:spTree>
    <p:extLst>
      <p:ext uri="{BB962C8B-B14F-4D97-AF65-F5344CB8AC3E}">
        <p14:creationId xmlns:p14="http://schemas.microsoft.com/office/powerpoint/2010/main" val="360060810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4097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60" name="Rectangle 7"/>
          <p:cNvSpPr>
            <a:spLocks noChangeArrowheads="1"/>
          </p:cNvSpPr>
          <p:nvPr/>
        </p:nvSpPr>
        <p:spPr bwMode="auto">
          <a:xfrm>
            <a:off x="188640" y="2720752"/>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Điện trở tiếp đất dùng cho điện áp thấp dưới 400 [V] là bao nhiêu </a:t>
            </a:r>
            <a:r>
              <a:rPr lang="el-GR" altLang="ko-KR" sz="950">
                <a:solidFill>
                  <a:srgbClr val="000000"/>
                </a:solidFill>
                <a:latin typeface="Times New Roman" pitchFamily="18" charset="0"/>
                <a:ea typeface="LG Smart_H Regular" panose="020B0600000101010101" pitchFamily="34" charset="-127"/>
                <a:cs typeface="Times New Roman" pitchFamily="18" charset="0"/>
              </a:rPr>
              <a:t>Ω?</a:t>
            </a:r>
            <a:endParaRPr lang="en-US" altLang="ko-KR" sz="950" dirty="0">
              <a:solidFill>
                <a:srgbClr val="00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A. Trên </a:t>
            </a:r>
            <a:r>
              <a:rPr lang="en-US" altLang="ko-KR" sz="950">
                <a:solidFill>
                  <a:srgbClr val="000000"/>
                </a:solidFill>
                <a:latin typeface="Times New Roman" pitchFamily="18" charset="0"/>
                <a:ea typeface="LG Smart_H Regular" panose="020B0600000101010101" pitchFamily="34" charset="-127"/>
                <a:cs typeface="Times New Roman" pitchFamily="18" charset="0"/>
              </a:rPr>
              <a:t>50 [</a:t>
            </a:r>
            <a:r>
              <a:rPr lang="el-GR" altLang="ko-KR" sz="950">
                <a:solidFill>
                  <a:srgbClr val="000000"/>
                </a:solidFill>
                <a:latin typeface="Times New Roman" pitchFamily="18" charset="0"/>
                <a:ea typeface="LG Smart_H Regular" panose="020B0600000101010101" pitchFamily="34" charset="-127"/>
                <a:cs typeface="Times New Roman" pitchFamily="18" charset="0"/>
              </a:rPr>
              <a:t>Ω</a:t>
            </a:r>
            <a:r>
              <a:rPr lang="el-GR" altLang="ko-KR" sz="950" smtClean="0">
                <a:solidFill>
                  <a:srgbClr val="00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smtClean="0">
                <a:latin typeface="Times New Roman" pitchFamily="18" charset="0"/>
                <a:ea typeface="LG Smart_H Regular" panose="020B0600000101010101" pitchFamily="34" charset="-127"/>
                <a:cs typeface="Times New Roman" pitchFamily="18" charset="0"/>
              </a:rPr>
              <a:t>Dưới </a:t>
            </a:r>
            <a:r>
              <a:rPr lang="vi-VN" altLang="ko-KR" sz="950">
                <a:latin typeface="Times New Roman" pitchFamily="18" charset="0"/>
                <a:ea typeface="LG Smart_H Regular" panose="020B0600000101010101" pitchFamily="34" charset="-127"/>
                <a:cs typeface="Times New Roman" pitchFamily="18" charset="0"/>
              </a:rPr>
              <a:t>10 [</a:t>
            </a:r>
            <a:r>
              <a:rPr lang="el-GR" altLang="ko-KR" sz="950">
                <a:latin typeface="Times New Roman" pitchFamily="18" charset="0"/>
                <a:ea typeface="LG Smart_H Regular" panose="020B0600000101010101" pitchFamily="34" charset="-127"/>
                <a:cs typeface="Times New Roman" pitchFamily="18" charset="0"/>
              </a:rPr>
              <a:t>Ω</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Dưới </a:t>
            </a:r>
            <a:r>
              <a:rPr lang="vi-VN" altLang="ko-KR" sz="950">
                <a:solidFill>
                  <a:srgbClr val="FF0000"/>
                </a:solidFill>
                <a:latin typeface="Times New Roman" pitchFamily="18" charset="0"/>
                <a:ea typeface="LG Smart_H Regular" panose="020B0600000101010101" pitchFamily="34" charset="-127"/>
                <a:cs typeface="Times New Roman" pitchFamily="18" charset="0"/>
              </a:rPr>
              <a:t>100 [</a:t>
            </a:r>
            <a:r>
              <a:rPr lang="el-GR" altLang="ko-KR" sz="950">
                <a:solidFill>
                  <a:srgbClr val="FF0000"/>
                </a:solidFill>
                <a:latin typeface="Times New Roman" pitchFamily="18" charset="0"/>
                <a:ea typeface="LG Smart_H Regular" panose="020B0600000101010101" pitchFamily="34" charset="-127"/>
                <a:cs typeface="Times New Roman" pitchFamily="18" charset="0"/>
              </a:rPr>
              <a:t>Ω</a:t>
            </a:r>
            <a:r>
              <a:rPr lang="el-GR"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D.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Dưới </a:t>
            </a:r>
            <a:r>
              <a:rPr lang="vi-VN" altLang="ko-KR" sz="950">
                <a:solidFill>
                  <a:srgbClr val="000000"/>
                </a:solidFill>
                <a:latin typeface="Times New Roman" pitchFamily="18" charset="0"/>
                <a:ea typeface="LG Smart_H Regular" panose="020B0600000101010101" pitchFamily="34" charset="-127"/>
                <a:cs typeface="Times New Roman" pitchFamily="18" charset="0"/>
              </a:rPr>
              <a:t>20 [</a:t>
            </a:r>
            <a:r>
              <a:rPr lang="el-GR" altLang="ko-KR" sz="950">
                <a:solidFill>
                  <a:srgbClr val="000000"/>
                </a:solidFill>
                <a:latin typeface="Times New Roman" pitchFamily="18" charset="0"/>
                <a:ea typeface="LG Smart_H Regular" panose="020B0600000101010101" pitchFamily="34" charset="-127"/>
                <a:cs typeface="Times New Roman" pitchFamily="18" charset="0"/>
              </a:rPr>
              <a:t>Ω]</a:t>
            </a:r>
            <a:endParaRPr lang="en-US" altLang="ko-KR" sz="950" dirty="0">
              <a:solidFill>
                <a:srgbClr val="000000"/>
              </a:solidFill>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188640" y="365685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Loại nào sau đây </a:t>
            </a:r>
            <a:r>
              <a:rPr lang="vi-VN" altLang="ko-KR" sz="950" b="1">
                <a:solidFill>
                  <a:srgbClr val="000000"/>
                </a:solidFill>
                <a:latin typeface="Times New Roman" pitchFamily="18" charset="0"/>
                <a:ea typeface="LG Smart_H Regular" panose="020B0600000101010101" pitchFamily="34" charset="-127"/>
                <a:cs typeface="Times New Roman" pitchFamily="18" charset="0"/>
              </a:rPr>
              <a:t>không phải </a:t>
            </a:r>
            <a:r>
              <a:rPr lang="vi-VN" altLang="ko-KR" sz="950">
                <a:solidFill>
                  <a:srgbClr val="000000"/>
                </a:solidFill>
                <a:latin typeface="Times New Roman" pitchFamily="18" charset="0"/>
                <a:ea typeface="LG Smart_H Regular" panose="020B0600000101010101" pitchFamily="34" charset="-127"/>
                <a:cs typeface="Times New Roman" pitchFamily="18" charset="0"/>
              </a:rPr>
              <a:t>là vật liệu dẫn điện</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A. Sắt</a:t>
            </a:r>
          </a:p>
          <a:p>
            <a:pPr eaLnBrk="1" fontAlgn="base" hangingPunct="1">
              <a:spcBef>
                <a:spcPct val="0"/>
              </a:spcBef>
              <a:spcAft>
                <a:spcPct val="0"/>
              </a:spcAft>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B. </a:t>
            </a:r>
            <a:r>
              <a:rPr lang="vi-VN" altLang="ko-KR" sz="950" smtClean="0">
                <a:latin typeface="Times New Roman" pitchFamily="18" charset="0"/>
                <a:ea typeface="LG Smart_H Regular" panose="020B0600000101010101" pitchFamily="34" charset="-127"/>
                <a:cs typeface="Times New Roman" pitchFamily="18" charset="0"/>
              </a:rPr>
              <a:t>Muối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smtClean="0">
                <a:latin typeface="Times New Roman" pitchFamily="18" charset="0"/>
                <a:ea typeface="LG Smart_H Regular" panose="020B0600000101010101" pitchFamily="34" charset="-127"/>
                <a:cs typeface="Times New Roman" pitchFamily="18" charset="0"/>
              </a:rPr>
              <a:t>Axit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 </a:t>
            </a:r>
            <a:r>
              <a:rPr lang="vi-VN" altLang="ko-KR" sz="950">
                <a:solidFill>
                  <a:srgbClr val="FF0000"/>
                </a:solidFill>
                <a:latin typeface="Times New Roman" pitchFamily="18" charset="0"/>
                <a:ea typeface="LG Smart_H Regular" panose="020B0600000101010101" pitchFamily="34" charset="-127"/>
                <a:cs typeface="Times New Roman" pitchFamily="18" charset="0"/>
              </a:rPr>
              <a:t>Ê-bo-nít</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62" name="Rectangle 7"/>
          <p:cNvSpPr>
            <a:spLocks noChangeArrowheads="1"/>
          </p:cNvSpPr>
          <p:nvPr/>
        </p:nvSpPr>
        <p:spPr bwMode="auto">
          <a:xfrm>
            <a:off x="162099" y="466496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Hiện tượng mất đi 1 phần pha của dòng điện xoay chiều là loại nào sau đây</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A. Nhiễu sét</a:t>
            </a: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B</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r>
              <a:rPr lang="vi-VN" altLang="ko-KR" sz="950">
                <a:solidFill>
                  <a:srgbClr val="FF0000"/>
                </a:solidFill>
                <a:latin typeface="Times New Roman" pitchFamily="18" charset="0"/>
                <a:ea typeface="LG Smart_H Regular" panose="020B0600000101010101" pitchFamily="34" charset="-127"/>
                <a:cs typeface="Times New Roman" pitchFamily="18" charset="0"/>
              </a:rPr>
              <a:t>Nhiễu do biến đổi điện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áp</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Nhiễu tĩnh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Nhiễu chuyển mạch(switching noise)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3" name="Rectangle 7"/>
          <p:cNvSpPr>
            <a:spLocks noChangeArrowheads="1"/>
          </p:cNvSpPr>
          <p:nvPr/>
        </p:nvSpPr>
        <p:spPr bwMode="auto">
          <a:xfrm>
            <a:off x="188640" y="6271669"/>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Mối liên quan giữa khối lượng của hạt điện tích dương và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Electron</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là bao nhiêu</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 Gấp </a:t>
            </a:r>
            <a:r>
              <a:rPr lang="en-US" altLang="ko-KR" sz="950">
                <a:solidFill>
                  <a:srgbClr val="FF0000"/>
                </a:solidFill>
                <a:latin typeface="Times New Roman" pitchFamily="18" charset="0"/>
                <a:ea typeface="LG Smart_H Regular" panose="020B0600000101010101" pitchFamily="34" charset="-127"/>
                <a:cs typeface="Times New Roman" pitchFamily="18" charset="0"/>
              </a:rPr>
              <a:t>khoảng 1840 lần hạt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electron</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Gấp khoảng 1248 lần hạt </a:t>
            </a:r>
            <a:r>
              <a:rPr lang="vi-VN" altLang="ko-KR" sz="950" smtClean="0">
                <a:latin typeface="Times New Roman" pitchFamily="18" charset="0"/>
                <a:ea typeface="LG Smart_H Regular" panose="020B0600000101010101" pitchFamily="34" charset="-127"/>
                <a:cs typeface="Times New Roman" pitchFamily="18" charset="0"/>
              </a:rPr>
              <a:t>electron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Gấp khoảng 1428 lần hạt </a:t>
            </a:r>
            <a:r>
              <a:rPr lang="vi-VN" altLang="ko-KR" sz="950" smtClean="0">
                <a:latin typeface="Times New Roman" pitchFamily="18" charset="0"/>
                <a:ea typeface="LG Smart_H Regular" panose="020B0600000101010101" pitchFamily="34" charset="-127"/>
                <a:cs typeface="Times New Roman" pitchFamily="18" charset="0"/>
              </a:rPr>
              <a:t>electron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Gấp khoảng 1842 lần hạt electron</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88640" y="7511896"/>
            <a:ext cx="3239810" cy="1115690"/>
            <a:chOff x="188640" y="7511896"/>
            <a:chExt cx="3239810" cy="1115690"/>
          </a:xfrm>
        </p:grpSpPr>
        <p:sp>
          <p:nvSpPr>
            <p:cNvPr id="64" name="Rectangle 7"/>
            <p:cNvSpPr>
              <a:spLocks noChangeArrowheads="1"/>
            </p:cNvSpPr>
            <p:nvPr/>
          </p:nvSpPr>
          <p:spPr bwMode="auto">
            <a:xfrm>
              <a:off x="188640" y="7511896"/>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Chọn đáp án đúng cho ký hiệu trên sơ đồ mạch của Cuộn Cảm</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                                      </a:t>
              </a:r>
              <a:r>
                <a:rPr lang="en-US" altLang="ko-KR" sz="950" smtClean="0">
                  <a:latin typeface="Times New Roman" pitchFamily="18" charset="0"/>
                  <a:ea typeface="LG Smart_H Regular" panose="020B0600000101010101" pitchFamily="34" charset="-127"/>
                  <a:cs typeface="Times New Roman" pitchFamily="18" charset="0"/>
                </a:rPr>
                <a:t>B</a:t>
              </a:r>
              <a:r>
                <a:rPr lang="en-US" altLang="ko-KR" sz="95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C.                                       D. </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65" name="Picture 64" descr="coli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537" y="7956317"/>
              <a:ext cx="759530" cy="241412"/>
            </a:xfrm>
            <a:prstGeom prst="rect">
              <a:avLst/>
            </a:prstGeom>
            <a:noFill/>
            <a:ln>
              <a:noFill/>
            </a:ln>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19050">
                  <a:solidFill>
                    <a:schemeClr val="tx1"/>
                  </a:solidFill>
                  <a:miter lim="800000"/>
                  <a:headEnd/>
                  <a:tailEnd/>
                </a14:hiddenLine>
              </a:ext>
            </a:extLst>
          </p:spPr>
        </p:pic>
        <p:pic>
          <p:nvPicPr>
            <p:cNvPr id="66" name="Picture 65"/>
            <p:cNvPicPr>
              <a:picLocks noChangeAspect="1"/>
            </p:cNvPicPr>
            <p:nvPr/>
          </p:nvPicPr>
          <p:blipFill>
            <a:blip r:embed="rId4"/>
            <a:stretch>
              <a:fillRect/>
            </a:stretch>
          </p:blipFill>
          <p:spPr>
            <a:xfrm>
              <a:off x="2060848" y="7833320"/>
              <a:ext cx="775829" cy="391178"/>
            </a:xfrm>
            <a:prstGeom prst="rect">
              <a:avLst/>
            </a:prstGeom>
          </p:spPr>
        </p:pic>
        <p:pic>
          <p:nvPicPr>
            <p:cNvPr id="67" name="Picture 66"/>
            <p:cNvPicPr>
              <a:picLocks noChangeAspect="1"/>
            </p:cNvPicPr>
            <p:nvPr/>
          </p:nvPicPr>
          <p:blipFill>
            <a:blip r:embed="rId5"/>
            <a:stretch>
              <a:fillRect/>
            </a:stretch>
          </p:blipFill>
          <p:spPr>
            <a:xfrm rot="5400000">
              <a:off x="2345108" y="8046988"/>
              <a:ext cx="294159" cy="862681"/>
            </a:xfrm>
            <a:prstGeom prst="rect">
              <a:avLst/>
            </a:prstGeom>
          </p:spPr>
        </p:pic>
        <p:pic>
          <p:nvPicPr>
            <p:cNvPr id="68" name="그림 50"/>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4537" y="8366074"/>
              <a:ext cx="828239" cy="261511"/>
            </a:xfrm>
            <a:prstGeom prst="rect">
              <a:avLst/>
            </a:prstGeom>
            <a:noFill/>
          </p:spPr>
        </p:pic>
      </p:grpSp>
      <p:sp>
        <p:nvSpPr>
          <p:cNvPr id="69" name="Rectangle 7"/>
          <p:cNvSpPr>
            <a:spLocks noChangeArrowheads="1"/>
          </p:cNvSpPr>
          <p:nvPr/>
        </p:nvSpPr>
        <p:spPr bwMode="auto">
          <a:xfrm>
            <a:off x="3448472" y="1249701"/>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Đáp án nào dưới đây đúng với điện trở</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 (Điện </a:t>
            </a:r>
            <a:r>
              <a:rPr lang="en-US" altLang="ko-KR" sz="950">
                <a:solidFill>
                  <a:srgbClr val="FF0000"/>
                </a:solidFill>
                <a:latin typeface="Times New Roman" pitchFamily="18" charset="0"/>
                <a:ea typeface="LG Smart_H Regular" panose="020B0600000101010101" pitchFamily="34" charset="-127"/>
                <a:cs typeface="Times New Roman" pitchFamily="18" charset="0"/>
              </a:rPr>
              <a:t>trở) = (Hằng số loại vật chất) * (chiều dài) / (diện tích tiếp xúc</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smtClean="0">
                <a:latin typeface="Times New Roman" pitchFamily="18" charset="0"/>
                <a:ea typeface="LG Smart_H Regular" panose="020B0600000101010101" pitchFamily="34" charset="-127"/>
                <a:cs typeface="Times New Roman" pitchFamily="18" charset="0"/>
              </a:rPr>
              <a:t>(</a:t>
            </a:r>
            <a:r>
              <a:rPr lang="vi-VN" altLang="ko-KR" sz="950">
                <a:latin typeface="Times New Roman" pitchFamily="18" charset="0"/>
                <a:ea typeface="LG Smart_H Regular" panose="020B0600000101010101" pitchFamily="34" charset="-127"/>
                <a:cs typeface="Times New Roman" pitchFamily="18" charset="0"/>
              </a:rPr>
              <a:t>Điện trở) = (Hằng số loại vật chất) * (diện tích tiếp xúc) / (chiều dài</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(Điện trở) = (Hằng số điện môi) * (chiều dài) / (diện tích tiếp xúc</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(Điện trở) = (Hằng số điện môi) * (diện tích tiếp xúc) / (chiều dài)</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3429000" y="5514608"/>
            <a:ext cx="3239810" cy="1094576"/>
            <a:chOff x="3429000" y="4751208"/>
            <a:chExt cx="3239810" cy="1094576"/>
          </a:xfrm>
        </p:grpSpPr>
        <p:sp>
          <p:nvSpPr>
            <p:cNvPr id="73" name="Rectangle 7"/>
            <p:cNvSpPr>
              <a:spLocks noChangeArrowheads="1"/>
            </p:cNvSpPr>
            <p:nvPr/>
          </p:nvSpPr>
          <p:spPr bwMode="auto">
            <a:xfrm>
              <a:off x="3429000" y="475120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Hình dưới đây</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 là</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loại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cảm </a:t>
              </a:r>
              <a:r>
                <a:rPr lang="vi-VN" altLang="ko-KR" sz="950">
                  <a:solidFill>
                    <a:srgbClr val="000000"/>
                  </a:solidFill>
                  <a:latin typeface="Times New Roman" pitchFamily="18" charset="0"/>
                  <a:ea typeface="LG Smart_H Regular" panose="020B0600000101010101" pitchFamily="34" charset="-127"/>
                  <a:cs typeface="Times New Roman" pitchFamily="18" charset="0"/>
                </a:rPr>
                <a:t>biến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gì</a:t>
              </a:r>
              <a:r>
                <a:rPr lang="vi-VN" altLang="ko-KR" sz="950">
                  <a:solidFill>
                    <a:srgbClr val="00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DC </a:t>
              </a:r>
              <a:r>
                <a:rPr lang="en-US" altLang="ko-KR" sz="950">
                  <a:solidFill>
                    <a:srgbClr val="000000"/>
                  </a:solidFill>
                  <a:latin typeface="Times New Roman" pitchFamily="18" charset="0"/>
                  <a:ea typeface="LG Smart_H Regular" panose="020B0600000101010101" pitchFamily="34" charset="-127"/>
                  <a:cs typeface="Times New Roman" pitchFamily="18" charset="0"/>
                </a:rPr>
                <a:t>two wire </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way</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Cảm biến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NPN</a:t>
              </a:r>
            </a:p>
            <a:p>
              <a:pPr marL="228600" indent="-228600" eaLnBrk="1" fontAlgn="base" hangingPunct="1">
                <a:spcBef>
                  <a:spcPct val="0"/>
                </a:spcBef>
                <a:spcAft>
                  <a:spcPct val="0"/>
                </a:spcAft>
                <a:buAutoNum type="alphaUcPeriod"/>
              </a:pPr>
              <a:r>
                <a:rPr lang="en-US" altLang="ko-KR" sz="950">
                  <a:solidFill>
                    <a:srgbClr val="000000"/>
                  </a:solidFill>
                  <a:latin typeface="Times New Roman" pitchFamily="18" charset="0"/>
                  <a:ea typeface="LG Smart_H Regular" panose="020B0600000101010101" pitchFamily="34" charset="-127"/>
                  <a:cs typeface="Times New Roman" pitchFamily="18" charset="0"/>
                </a:rPr>
                <a:t>DC four wire </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way</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Cảm biến </a:t>
              </a:r>
              <a:r>
                <a:rPr lang="vi-VN" altLang="ko-KR" sz="950" smtClean="0">
                  <a:latin typeface="Times New Roman" pitchFamily="18" charset="0"/>
                  <a:ea typeface="LG Smart_H Regular" panose="020B0600000101010101" pitchFamily="34" charset="-127"/>
                  <a:cs typeface="Times New Roman" pitchFamily="18" charset="0"/>
                </a:rPr>
                <a:t>PNP</a:t>
              </a:r>
              <a:endParaRPr lang="en-US" altLang="ko-KR" sz="950" smtClean="0">
                <a:latin typeface="Times New Roman" pitchFamily="18" charset="0"/>
                <a:ea typeface="LG Smart_H Regular" panose="020B0600000101010101" pitchFamily="34" charset="-127"/>
                <a:cs typeface="Times New Roman" pitchFamily="18" charset="0"/>
              </a:endParaRPr>
            </a:p>
          </p:txBody>
        </p:sp>
        <p:pic>
          <p:nvPicPr>
            <p:cNvPr id="75" name="Picture 74"/>
            <p:cNvPicPr>
              <a:picLocks noChangeAspect="1"/>
            </p:cNvPicPr>
            <p:nvPr/>
          </p:nvPicPr>
          <p:blipFill>
            <a:blip r:embed="rId7"/>
            <a:stretch>
              <a:fillRect/>
            </a:stretch>
          </p:blipFill>
          <p:spPr>
            <a:xfrm>
              <a:off x="4869160" y="5008590"/>
              <a:ext cx="1656184" cy="837194"/>
            </a:xfrm>
            <a:prstGeom prst="rect">
              <a:avLst/>
            </a:prstGeom>
          </p:spPr>
        </p:pic>
      </p:grpSp>
      <p:sp>
        <p:nvSpPr>
          <p:cNvPr id="26" name="Rectangle 7"/>
          <p:cNvSpPr>
            <a:spLocks noChangeArrowheads="1"/>
          </p:cNvSpPr>
          <p:nvPr/>
        </p:nvSpPr>
        <p:spPr bwMode="auto">
          <a:xfrm>
            <a:off x="188640" y="1136576"/>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228600" indent="-228600" eaLnBrk="1" fontAlgn="base" hangingPunct="1">
              <a:spcBef>
                <a:spcPct val="0"/>
              </a:spcBef>
              <a:spcAft>
                <a:spcPct val="0"/>
              </a:spcAft>
              <a:buAutoNum type="arabicPeriod"/>
            </a:pPr>
            <a:r>
              <a:rPr lang="vi-VN" altLang="ko-KR" sz="950" smtClean="0">
                <a:latin typeface="Times New Roman" pitchFamily="18" charset="0"/>
                <a:ea typeface="LG Smart_H Regular" panose="020B0600000101010101" pitchFamily="34" charset="-127"/>
                <a:cs typeface="Times New Roman" pitchFamily="18" charset="0"/>
              </a:rPr>
              <a:t>Giải </a:t>
            </a:r>
            <a:r>
              <a:rPr lang="vi-VN" altLang="ko-KR" sz="950">
                <a:latin typeface="Times New Roman" pitchFamily="18" charset="0"/>
                <a:ea typeface="LG Smart_H Regular" panose="020B0600000101010101" pitchFamily="34" charset="-127"/>
                <a:cs typeface="Times New Roman" pitchFamily="18" charset="0"/>
              </a:rPr>
              <a:t>thích nào đúng về cách </a:t>
            </a:r>
            <a:r>
              <a:rPr lang="vi-VN" altLang="ko-KR" sz="950" smtClean="0">
                <a:latin typeface="Times New Roman" pitchFamily="18" charset="0"/>
                <a:ea typeface="LG Smart_H Regular" panose="020B0600000101010101" pitchFamily="34" charset="-127"/>
                <a:cs typeface="Times New Roman" pitchFamily="18" charset="0"/>
              </a:rPr>
              <a:t>điện? </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rabi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đường bị cắt, là đoạn dây hay dây điện không cho dòng điện chạy </a:t>
            </a:r>
            <a:r>
              <a:rPr lang="vi-VN" altLang="ko-KR" sz="950" smtClean="0">
                <a:latin typeface="Times New Roman" pitchFamily="18" charset="0"/>
                <a:ea typeface="LG Smart_H Regular" panose="020B0600000101010101" pitchFamily="34" charset="-127"/>
                <a:cs typeface="Times New Roman" pitchFamily="18" charset="0"/>
              </a:rPr>
              <a:t>qua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Là việc đưa một chất vào giữa chất dẫn điện làm cho dòng điện hay nhiệt không thể chạy qua</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sự tiếp xúc của hai điểm trên mạch điện tử có điện trở bằng hoặc sấp sỉ bằng </a:t>
            </a:r>
            <a:r>
              <a:rPr lang="vi-VN" altLang="ko-KR" sz="950" smtClean="0">
                <a:latin typeface="Times New Roman" pitchFamily="18" charset="0"/>
                <a:ea typeface="LG Smart_H Regular" panose="020B0600000101010101" pitchFamily="34" charset="-127"/>
                <a:cs typeface="Times New Roman" pitchFamily="18" charset="0"/>
              </a:rPr>
              <a:t>0</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sự nối đất, thường được sử dụng khi nói đến tình trạng dòng điện bị dò rỉ</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7" name="Group 26"/>
          <p:cNvGrpSpPr/>
          <p:nvPr/>
        </p:nvGrpSpPr>
        <p:grpSpPr>
          <a:xfrm>
            <a:off x="3629075" y="8012004"/>
            <a:ext cx="3228925" cy="1033711"/>
            <a:chOff x="3439885" y="8155612"/>
            <a:chExt cx="3239810" cy="1033711"/>
          </a:xfrm>
        </p:grpSpPr>
        <p:sp>
          <p:nvSpPr>
            <p:cNvPr id="28" name="Rectangle 7"/>
            <p:cNvSpPr>
              <a:spLocks noChangeArrowheads="1"/>
            </p:cNvSpPr>
            <p:nvPr/>
          </p:nvSpPr>
          <p:spPr bwMode="auto">
            <a:xfrm>
              <a:off x="3439885" y="8155612"/>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 </a:t>
              </a:r>
              <a:r>
                <a:rPr lang="fr-FR" altLang="ko-KR" sz="950">
                  <a:latin typeface="Times New Roman" pitchFamily="18" charset="0"/>
                  <a:ea typeface="LG Smart_H Regular" panose="020B0600000101010101" pitchFamily="34" charset="-127"/>
                  <a:cs typeface="Times New Roman" pitchFamily="18" charset="0"/>
                </a:rPr>
                <a:t>Số 3 trong hình bên là gì</a:t>
              </a:r>
              <a:r>
                <a:rPr lang="fr-FR"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Cathode</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Chip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Lead </a:t>
              </a:r>
              <a:r>
                <a:rPr lang="vi-VN" altLang="ko-KR" sz="950" smtClean="0">
                  <a:latin typeface="Times New Roman" pitchFamily="18" charset="0"/>
                  <a:ea typeface="LG Smart_H Regular" panose="020B0600000101010101" pitchFamily="34" charset="-127"/>
                  <a:cs typeface="Times New Roman" pitchFamily="18" charset="0"/>
                </a:rPr>
                <a:t>frame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Gold wire</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29" name="Group 28"/>
            <p:cNvGrpSpPr/>
            <p:nvPr/>
          </p:nvGrpSpPr>
          <p:grpSpPr>
            <a:xfrm>
              <a:off x="4802705" y="8481392"/>
              <a:ext cx="1008940" cy="707931"/>
              <a:chOff x="0" y="0"/>
              <a:chExt cx="2045832" cy="1200204"/>
            </a:xfrm>
          </p:grpSpPr>
          <p:pic>
            <p:nvPicPr>
              <p:cNvPr id="30" name="Picture 29" descr="L-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104144"/>
                <a:ext cx="2045832" cy="10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 name="Oval 30"/>
              <p:cNvSpPr/>
              <p:nvPr/>
            </p:nvSpPr>
            <p:spPr>
              <a:xfrm>
                <a:off x="4357" y="80475"/>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ysClr val="windowText" lastClr="000000"/>
                    </a:solidFill>
                  </a:rPr>
                  <a:t>3</a:t>
                </a:r>
              </a:p>
            </p:txBody>
          </p:sp>
          <p:sp>
            <p:nvSpPr>
              <p:cNvPr id="32" name="Oval 31"/>
              <p:cNvSpPr/>
              <p:nvPr/>
            </p:nvSpPr>
            <p:spPr>
              <a:xfrm>
                <a:off x="1239842" y="0"/>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ysClr val="windowText" lastClr="000000"/>
                    </a:solidFill>
                  </a:rPr>
                  <a:t>4</a:t>
                </a:r>
              </a:p>
            </p:txBody>
          </p:sp>
          <p:sp>
            <p:nvSpPr>
              <p:cNvPr id="33" name="Oval 32"/>
              <p:cNvSpPr/>
              <p:nvPr/>
            </p:nvSpPr>
            <p:spPr>
              <a:xfrm>
                <a:off x="1665785" y="108878"/>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ysClr val="windowText" lastClr="000000"/>
                    </a:solidFill>
                  </a:rPr>
                  <a:t>1</a:t>
                </a:r>
              </a:p>
            </p:txBody>
          </p:sp>
          <p:sp>
            <p:nvSpPr>
              <p:cNvPr id="34" name="Oval 33"/>
              <p:cNvSpPr/>
              <p:nvPr/>
            </p:nvSpPr>
            <p:spPr>
              <a:xfrm>
                <a:off x="1568641" y="418948"/>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ysClr val="windowText" lastClr="000000"/>
                    </a:solidFill>
                  </a:rPr>
                  <a:t>2</a:t>
                </a:r>
              </a:p>
            </p:txBody>
          </p:sp>
          <p:sp>
            <p:nvSpPr>
              <p:cNvPr id="35" name="Oval 34"/>
              <p:cNvSpPr/>
              <p:nvPr/>
            </p:nvSpPr>
            <p:spPr>
              <a:xfrm>
                <a:off x="1292678" y="884464"/>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ysClr val="windowText" lastClr="000000"/>
                    </a:solidFill>
                  </a:rPr>
                  <a:t>6</a:t>
                </a:r>
              </a:p>
            </p:txBody>
          </p:sp>
          <p:sp>
            <p:nvSpPr>
              <p:cNvPr id="36" name="Oval 35"/>
              <p:cNvSpPr/>
              <p:nvPr/>
            </p:nvSpPr>
            <p:spPr>
              <a:xfrm>
                <a:off x="438150" y="928007"/>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ysClr val="windowText" lastClr="000000"/>
                    </a:solidFill>
                  </a:rPr>
                  <a:t>5</a:t>
                </a:r>
              </a:p>
            </p:txBody>
          </p:sp>
        </p:grpSp>
      </p:grpSp>
      <p:sp>
        <p:nvSpPr>
          <p:cNvPr id="38" name="Rectangle 7"/>
          <p:cNvSpPr>
            <a:spLocks noChangeArrowheads="1"/>
          </p:cNvSpPr>
          <p:nvPr/>
        </p:nvSpPr>
        <p:spPr bwMode="auto">
          <a:xfrm>
            <a:off x="3510348" y="3871791"/>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8. </a:t>
            </a:r>
            <a:r>
              <a:rPr lang="vi-VN" altLang="ko-KR" sz="950">
                <a:latin typeface="Times New Roman" pitchFamily="18" charset="0"/>
                <a:ea typeface="LG Smart_H Regular" panose="020B0600000101010101" pitchFamily="34" charset="-127"/>
                <a:cs typeface="Times New Roman" pitchFamily="18" charset="0"/>
              </a:rPr>
              <a:t>Chọn đáp án đúng cho việc sử dụng nguyên lý của tác động hỗ </a:t>
            </a:r>
            <a:r>
              <a:rPr lang="vi-VN" altLang="ko-KR" sz="950" smtClean="0">
                <a:latin typeface="Times New Roman" pitchFamily="18" charset="0"/>
                <a:ea typeface="LG Smart_H Regular" panose="020B0600000101010101" pitchFamily="34" charset="-127"/>
                <a:cs typeface="Times New Roman" pitchFamily="18" charset="0"/>
              </a:rPr>
              <a:t>cảm?</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Biến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áp</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Rơ le điện </a:t>
            </a:r>
            <a:r>
              <a:rPr lang="vi-VN" altLang="ko-KR" sz="950" smtClean="0">
                <a:latin typeface="Times New Roman" pitchFamily="18" charset="0"/>
                <a:ea typeface="LG Smart_H Regular" panose="020B0600000101010101" pitchFamily="34" charset="-127"/>
                <a:cs typeface="Times New Roman" pitchFamily="18" charset="0"/>
              </a:rPr>
              <a:t>từ</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Loa</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phát điện</a:t>
            </a:r>
            <a:endParaRPr lang="en-US" altLang="ko-KR" sz="950" dirty="0">
              <a:latin typeface="Times New Roman" pitchFamily="18"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20656764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9848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4100" name="Rectangle 4"/>
          <p:cNvSpPr>
            <a:spLocks noChangeArrowheads="1"/>
          </p:cNvSpPr>
          <p:nvPr/>
        </p:nvSpPr>
        <p:spPr bwMode="auto">
          <a:xfrm>
            <a:off x="3497536" y="776288"/>
            <a:ext cx="313084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22" name="Rectangle 21"/>
          <p:cNvSpPr>
            <a:spLocks noChangeArrowheads="1"/>
          </p:cNvSpPr>
          <p:nvPr/>
        </p:nvSpPr>
        <p:spPr bwMode="auto">
          <a:xfrm>
            <a:off x="206776" y="8090138"/>
            <a:ext cx="329076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15.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Đâu </a:t>
            </a:r>
            <a:r>
              <a:rPr lang="vi-VN" altLang="ko-KR" sz="950" b="1" dirty="0">
                <a:solidFill>
                  <a:srgbClr val="000000"/>
                </a:solidFill>
                <a:latin typeface="Times New Roman" pitchFamily="18" charset="0"/>
                <a:ea typeface="LG Smart_H Regular" panose="020B0600000101010101" pitchFamily="34" charset="-127"/>
                <a:cs typeface="Times New Roman" pitchFamily="18" charset="0"/>
              </a:rPr>
              <a:t>không phải </a:t>
            </a:r>
            <a:r>
              <a:rPr lang="vi-VN" altLang="ko-KR" sz="950" dirty="0">
                <a:solidFill>
                  <a:srgbClr val="000000"/>
                </a:solidFill>
                <a:latin typeface="Times New Roman" pitchFamily="18" charset="0"/>
                <a:ea typeface="LG Smart_H Regular" panose="020B0600000101010101" pitchFamily="34" charset="-127"/>
                <a:cs typeface="Times New Roman" pitchFamily="18" charset="0"/>
              </a:rPr>
              <a:t>là mục đích của việc </a:t>
            </a:r>
            <a:r>
              <a:rPr lang="vi-VN" altLang="ko-KR" sz="950">
                <a:solidFill>
                  <a:srgbClr val="000000"/>
                </a:solidFill>
                <a:latin typeface="Times New Roman" pitchFamily="18" charset="0"/>
                <a:ea typeface="LG Smart_H Regular" panose="020B0600000101010101" pitchFamily="34" charset="-127"/>
                <a:cs typeface="Times New Roman" pitchFamily="18" charset="0"/>
              </a:rPr>
              <a:t>tiếp địa</a:t>
            </a:r>
            <a:r>
              <a:rPr lang="en-US" altLang="ko-KR" sz="950">
                <a:solidFill>
                  <a:srgbClr val="000000"/>
                </a:solidFill>
                <a:latin typeface="Times New Roman" pitchFamily="18" charset="0"/>
                <a:ea typeface="LG Smart_H Regular" panose="020B0600000101010101" pitchFamily="34" charset="-127"/>
                <a:cs typeface="Times New Roman" pitchFamily="18" charset="0"/>
              </a:rPr>
              <a:t> ? </a:t>
            </a:r>
            <a:endParaRPr lang="en-US" altLang="ko-KR" sz="950" dirty="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Cung </a:t>
            </a:r>
            <a:r>
              <a:rPr lang="vi-VN" altLang="ko-KR" sz="950">
                <a:solidFill>
                  <a:srgbClr val="FF0000"/>
                </a:solidFill>
                <a:latin typeface="Times New Roman" pitchFamily="18" charset="0"/>
                <a:ea typeface="LG Smart_H Regular" panose="020B0600000101010101" pitchFamily="34" charset="-127"/>
                <a:cs typeface="Times New Roman" pitchFamily="18" charset="0"/>
              </a:rPr>
              <a:t>cấp của nguồn điện</a:t>
            </a:r>
            <a:endParaRPr lang="en-US" altLang="ko-KR" sz="95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Phòng </a:t>
            </a:r>
            <a:r>
              <a:rPr lang="vi-VN" altLang="ko-KR" sz="950" dirty="0">
                <a:solidFill>
                  <a:srgbClr val="000000"/>
                </a:solidFill>
                <a:latin typeface="Times New Roman" pitchFamily="18" charset="0"/>
                <a:ea typeface="LG Smart_H Regular" panose="020B0600000101010101" pitchFamily="34" charset="-127"/>
                <a:cs typeface="Times New Roman" pitchFamily="18" charset="0"/>
              </a:rPr>
              <a:t>tránh sự cố an toàn cho </a:t>
            </a:r>
            <a:r>
              <a:rPr lang="vi-VN" altLang="ko-KR" sz="950">
                <a:solidFill>
                  <a:srgbClr val="000000"/>
                </a:solidFill>
                <a:latin typeface="Times New Roman" pitchFamily="18" charset="0"/>
                <a:ea typeface="LG Smart_H Regular" panose="020B0600000101010101" pitchFamily="34" charset="-127"/>
                <a:cs typeface="Times New Roman" pitchFamily="18" charset="0"/>
              </a:rPr>
              <a:t>con người</a:t>
            </a:r>
            <a:r>
              <a:rPr lang="en-US" altLang="ko-KR" sz="95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(điện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giật)</a:t>
            </a:r>
            <a:endParaRPr lang="en-US" altLang="ko-KR" sz="950" dirty="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Cung </a:t>
            </a:r>
            <a:r>
              <a:rPr lang="vi-VN" altLang="ko-KR" sz="950">
                <a:solidFill>
                  <a:srgbClr val="000000"/>
                </a:solidFill>
                <a:latin typeface="Times New Roman" pitchFamily="18" charset="0"/>
                <a:ea typeface="LG Smart_H Regular" panose="020B0600000101010101" pitchFamily="34" charset="-127"/>
                <a:cs typeface="Times New Roman" pitchFamily="18" charset="0"/>
              </a:rPr>
              <a:t>cấp điện thế tiêu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chuẩn</a:t>
            </a:r>
            <a:endParaRPr lang="en-US" altLang="ko-KR" sz="95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a:solidFill>
                  <a:srgbClr val="000000"/>
                </a:solidFill>
                <a:latin typeface="Times New Roman" pitchFamily="18" charset="0"/>
                <a:ea typeface="LG Smart_H Regular" panose="020B0600000101010101" pitchFamily="34" charset="-127"/>
                <a:cs typeface="Times New Roman" pitchFamily="18" charset="0"/>
              </a:rPr>
              <a:t>Bảo vệ thiết bị</a:t>
            </a:r>
            <a:endParaRPr lang="ko-KR" altLang="en-US" sz="950" dirty="0" smtClean="0">
              <a:solidFill>
                <a:srgbClr val="000000"/>
              </a:solidFill>
              <a:latin typeface="Times New Roman" pitchFamily="18" charset="0"/>
              <a:cs typeface="Times New Roman" pitchFamily="18" charset="0"/>
            </a:endParaRPr>
          </a:p>
        </p:txBody>
      </p:sp>
      <p:sp>
        <p:nvSpPr>
          <p:cNvPr id="24" name="Rectangle 23"/>
          <p:cNvSpPr/>
          <p:nvPr/>
        </p:nvSpPr>
        <p:spPr>
          <a:xfrm>
            <a:off x="193546" y="3872880"/>
            <a:ext cx="3303989" cy="923330"/>
          </a:xfrm>
          <a:prstGeom prst="rect">
            <a:avLst/>
          </a:prstGeom>
        </p:spPr>
        <p:txBody>
          <a:bodyPr wrap="square">
            <a:spAutoFit/>
          </a:bodyPr>
          <a:lstStyle/>
          <a:p>
            <a:pPr lvl="0" fontAlgn="base">
              <a:spcBef>
                <a:spcPct val="0"/>
              </a:spcBef>
              <a:spcAft>
                <a:spcPct val="0"/>
              </a:spcAft>
            </a:pPr>
            <a:r>
              <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rPr>
              <a:t>13. </a:t>
            </a:r>
            <a:r>
              <a:rPr kumimoji="1" lang="vi-VN" altLang="ko-KR" sz="900">
                <a:solidFill>
                  <a:srgbClr val="000000"/>
                </a:solidFill>
                <a:latin typeface="Times New Roman" pitchFamily="18" charset="0"/>
                <a:ea typeface="LG Smart_H Regular" panose="020B0600000101010101" pitchFamily="34" charset="-127"/>
                <a:cs typeface="Times New Roman" pitchFamily="18" charset="0"/>
              </a:rPr>
              <a:t>Trường hợp nào </a:t>
            </a:r>
            <a:r>
              <a:rPr kumimoji="1" lang="vi-VN" altLang="ko-KR" sz="900" b="1">
                <a:solidFill>
                  <a:srgbClr val="000000"/>
                </a:solidFill>
                <a:latin typeface="Times New Roman" pitchFamily="18" charset="0"/>
                <a:ea typeface="LG Smart_H Regular" panose="020B0600000101010101" pitchFamily="34" charset="-127"/>
                <a:cs typeface="Times New Roman" pitchFamily="18" charset="0"/>
              </a:rPr>
              <a:t>sai</a:t>
            </a:r>
            <a:r>
              <a:rPr kumimoji="1" lang="vi-VN" altLang="ko-KR" sz="900">
                <a:solidFill>
                  <a:srgbClr val="000000"/>
                </a:solidFill>
                <a:latin typeface="Times New Roman" pitchFamily="18" charset="0"/>
                <a:ea typeface="LG Smart_H Regular" panose="020B0600000101010101" pitchFamily="34" charset="-127"/>
                <a:cs typeface="Times New Roman" pitchFamily="18" charset="0"/>
              </a:rPr>
              <a:t> khi nói về số Electron của vỏ Electron</a:t>
            </a:r>
            <a:r>
              <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rPr>
              <a:t>?</a:t>
            </a:r>
            <a:endParaRPr kumimoji="1" lang="en-US" altLang="ko-KR" sz="90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endParaRPr kumimoji="1" lang="en-US" altLang="en-US" sz="90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Lớp </a:t>
            </a:r>
            <a:r>
              <a:rPr kumimoji="1" lang="en-US" altLang="en-US" sz="900">
                <a:solidFill>
                  <a:srgbClr val="000000"/>
                </a:solidFill>
                <a:latin typeface="Times New Roman" pitchFamily="18" charset="0"/>
                <a:ea typeface="LG Smart_H Regular" panose="020B0600000101010101" pitchFamily="34" charset="-127"/>
                <a:cs typeface="Times New Roman" pitchFamily="18" charset="0"/>
              </a:rPr>
              <a:t>M</a:t>
            </a:r>
            <a:r>
              <a:rPr kumimoji="1" lang="ko-KR" altLang="en-US" sz="900">
                <a:solidFill>
                  <a:srgbClr val="000000"/>
                </a:solidFill>
                <a:latin typeface="Times New Roman" pitchFamily="18" charset="0"/>
                <a:ea typeface="LG Smart_H Regular" panose="020B0600000101010101" pitchFamily="34" charset="-127"/>
                <a:cs typeface="Times New Roman" pitchFamily="18" charset="0"/>
              </a:rPr>
              <a:t> </a:t>
            </a:r>
            <a:r>
              <a:rPr kumimoji="1" lang="en-US" altLang="ko-KR" sz="900">
                <a:solidFill>
                  <a:srgbClr val="000000"/>
                </a:solidFill>
                <a:latin typeface="Times New Roman" pitchFamily="18" charset="0"/>
                <a:ea typeface="LG Smart_H Regular" panose="020B0600000101010101" pitchFamily="34" charset="-127"/>
                <a:cs typeface="Times New Roman" pitchFamily="18" charset="0"/>
              </a:rPr>
              <a:t>= 18 </a:t>
            </a:r>
            <a:endPar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solidFill>
                  <a:srgbClr val="FF0000"/>
                </a:solidFill>
                <a:latin typeface="Times New Roman" pitchFamily="18" charset="0"/>
                <a:ea typeface="LG Smart_H Regular" panose="020B0600000101010101" pitchFamily="34" charset="-127"/>
                <a:cs typeface="Times New Roman" pitchFamily="18" charset="0"/>
              </a:rPr>
              <a:t>Lớp </a:t>
            </a:r>
            <a:r>
              <a:rPr kumimoji="1" lang="en-US" altLang="en-US" sz="900">
                <a:solidFill>
                  <a:srgbClr val="FF0000"/>
                </a:solidFill>
                <a:latin typeface="Times New Roman" pitchFamily="18" charset="0"/>
                <a:ea typeface="LG Smart_H Regular" panose="020B0600000101010101" pitchFamily="34" charset="-127"/>
                <a:cs typeface="Times New Roman" pitchFamily="18" charset="0"/>
              </a:rPr>
              <a:t>K</a:t>
            </a:r>
            <a:r>
              <a:rPr kumimoji="1" lang="ko-KR" altLang="en-US" sz="900">
                <a:solidFill>
                  <a:srgbClr val="FF0000"/>
                </a:solidFill>
                <a:latin typeface="Times New Roman" pitchFamily="18" charset="0"/>
                <a:ea typeface="LG Smart_H Regular" panose="020B0600000101010101" pitchFamily="34" charset="-127"/>
                <a:cs typeface="Times New Roman" pitchFamily="18" charset="0"/>
              </a:rPr>
              <a:t> </a:t>
            </a:r>
            <a:r>
              <a:rPr kumimoji="1" lang="en-US" altLang="ko-KR" sz="900">
                <a:solidFill>
                  <a:srgbClr val="FF0000"/>
                </a:solidFill>
                <a:latin typeface="Times New Roman" pitchFamily="18" charset="0"/>
                <a:ea typeface="LG Smart_H Regular" panose="020B0600000101010101" pitchFamily="34" charset="-127"/>
                <a:cs typeface="Times New Roman" pitchFamily="18" charset="0"/>
              </a:rPr>
              <a:t>= 4 </a:t>
            </a:r>
            <a:endParaRPr kumimoji="1" lang="en-US" altLang="ko-KR" sz="900" smtClean="0">
              <a:solidFill>
                <a:srgbClr val="FF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Lớp </a:t>
            </a:r>
            <a:r>
              <a:rPr kumimoji="1" lang="en-US" altLang="en-US" sz="900">
                <a:solidFill>
                  <a:srgbClr val="000000"/>
                </a:solidFill>
                <a:latin typeface="Times New Roman" pitchFamily="18" charset="0"/>
                <a:ea typeface="LG Smart_H Regular" panose="020B0600000101010101" pitchFamily="34" charset="-127"/>
                <a:cs typeface="Times New Roman" pitchFamily="18" charset="0"/>
              </a:rPr>
              <a:t>N</a:t>
            </a:r>
            <a:r>
              <a:rPr kumimoji="1" lang="ko-KR" altLang="en-US" sz="900">
                <a:solidFill>
                  <a:srgbClr val="000000"/>
                </a:solidFill>
                <a:latin typeface="Times New Roman" pitchFamily="18" charset="0"/>
                <a:ea typeface="LG Smart_H Regular" panose="020B0600000101010101" pitchFamily="34" charset="-127"/>
                <a:cs typeface="Times New Roman" pitchFamily="18" charset="0"/>
              </a:rPr>
              <a:t> </a:t>
            </a:r>
            <a:r>
              <a:rPr kumimoji="1" lang="en-US" altLang="ko-KR" sz="900">
                <a:solidFill>
                  <a:srgbClr val="000000"/>
                </a:solidFill>
                <a:latin typeface="Times New Roman" pitchFamily="18" charset="0"/>
                <a:ea typeface="LG Smart_H Regular" panose="020B0600000101010101" pitchFamily="34" charset="-127"/>
                <a:cs typeface="Times New Roman" pitchFamily="18" charset="0"/>
              </a:rPr>
              <a:t>= </a:t>
            </a:r>
            <a:r>
              <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rPr>
              <a:t>32</a:t>
            </a:r>
          </a:p>
          <a:p>
            <a:pPr marL="228600" lvl="0" indent="-228600" fontAlgn="base">
              <a:spcBef>
                <a:spcPct val="0"/>
              </a:spcBef>
              <a:spcAft>
                <a:spcPct val="0"/>
              </a:spcAft>
              <a:buFont typeface="+mj-lt"/>
              <a:buAutoNum type="alphaUcPeriod"/>
            </a:pP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Lớp </a:t>
            </a:r>
            <a:r>
              <a:rPr kumimoji="1" lang="en-US" altLang="en-US" sz="900">
                <a:solidFill>
                  <a:srgbClr val="000000"/>
                </a:solidFill>
                <a:latin typeface="Times New Roman" pitchFamily="18" charset="0"/>
                <a:ea typeface="LG Smart_H Regular" panose="020B0600000101010101" pitchFamily="34" charset="-127"/>
                <a:cs typeface="Times New Roman" pitchFamily="18" charset="0"/>
              </a:rPr>
              <a:t>L</a:t>
            </a:r>
            <a:r>
              <a:rPr kumimoji="1" lang="ko-KR" altLang="en-US" sz="900">
                <a:solidFill>
                  <a:srgbClr val="000000"/>
                </a:solidFill>
                <a:latin typeface="Times New Roman" pitchFamily="18" charset="0"/>
                <a:ea typeface="LG Smart_H Regular" panose="020B0600000101010101" pitchFamily="34" charset="-127"/>
                <a:cs typeface="Times New Roman" pitchFamily="18" charset="0"/>
              </a:rPr>
              <a:t> </a:t>
            </a:r>
            <a:r>
              <a:rPr kumimoji="1" lang="en-US" altLang="ko-KR" sz="900">
                <a:solidFill>
                  <a:srgbClr val="000000"/>
                </a:solidFill>
                <a:latin typeface="Times New Roman" pitchFamily="18" charset="0"/>
                <a:ea typeface="LG Smart_H Regular" panose="020B0600000101010101" pitchFamily="34" charset="-127"/>
                <a:cs typeface="Times New Roman" pitchFamily="18" charset="0"/>
              </a:rPr>
              <a:t>= 8</a:t>
            </a:r>
            <a:endParaRPr kumimoji="1" lang="en-US" altLang="ko-KR" sz="900" dirty="0">
              <a:solidFill>
                <a:srgbClr val="000000"/>
              </a:solidFill>
              <a:latin typeface="Times New Roman" pitchFamily="18" charset="0"/>
              <a:ea typeface="LG Smart_H Regular" panose="020B0600000101010101" pitchFamily="34" charset="-127"/>
              <a:cs typeface="Times New Roman" pitchFamily="18" charset="0"/>
            </a:endParaRPr>
          </a:p>
        </p:txBody>
      </p:sp>
      <p:sp>
        <p:nvSpPr>
          <p:cNvPr id="31" name="Rectangle 30"/>
          <p:cNvSpPr/>
          <p:nvPr/>
        </p:nvSpPr>
        <p:spPr>
          <a:xfrm>
            <a:off x="199897" y="2367970"/>
            <a:ext cx="3325812" cy="923330"/>
          </a:xfrm>
          <a:prstGeom prst="rect">
            <a:avLst/>
          </a:prstGeom>
        </p:spPr>
        <p:txBody>
          <a:bodyPr wrap="square">
            <a:spAutoFit/>
          </a:bodyPr>
          <a:lstStyle/>
          <a:p>
            <a:pPr lvl="0" fontAlgn="base">
              <a:spcBef>
                <a:spcPct val="0"/>
              </a:spcBef>
              <a:spcAft>
                <a:spcPct val="0"/>
              </a:spcAft>
            </a:pPr>
            <a:r>
              <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rPr>
              <a:t>12. </a:t>
            </a:r>
            <a:r>
              <a:rPr kumimoji="1" lang="vi-VN" altLang="ko-KR" sz="900">
                <a:solidFill>
                  <a:srgbClr val="000000"/>
                </a:solidFill>
                <a:latin typeface="Times New Roman" pitchFamily="18" charset="0"/>
                <a:ea typeface="LG Smart_H Regular" panose="020B0600000101010101" pitchFamily="34" charset="-127"/>
                <a:cs typeface="Times New Roman" pitchFamily="18" charset="0"/>
              </a:rPr>
              <a:t>Loại cuộn dây nào có tụ </a:t>
            </a:r>
            <a:r>
              <a:rPr kumimoji="1" lang="vi-VN" altLang="ko-KR" sz="900" smtClean="0">
                <a:solidFill>
                  <a:srgbClr val="000000"/>
                </a:solidFill>
                <a:latin typeface="Times New Roman" pitchFamily="18" charset="0"/>
                <a:ea typeface="LG Smart_H Regular" panose="020B0600000101010101" pitchFamily="34" charset="-127"/>
                <a:cs typeface="Times New Roman" pitchFamily="18" charset="0"/>
              </a:rPr>
              <a:t>điện</a:t>
            </a:r>
            <a:r>
              <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rPr>
              <a:t> và cuộn cảm</a:t>
            </a:r>
            <a:r>
              <a:rPr kumimoji="1" lang="vi-VN" altLang="ko-KR" sz="900" smtClean="0">
                <a:solidFill>
                  <a:srgbClr val="000000"/>
                </a:solidFill>
                <a:latin typeface="Times New Roman" pitchFamily="18" charset="0"/>
                <a:ea typeface="LG Smart_H Regular" panose="020B0600000101010101" pitchFamily="34" charset="-127"/>
                <a:cs typeface="Times New Roman" pitchFamily="18" charset="0"/>
              </a:rPr>
              <a:t> </a:t>
            </a:r>
            <a:r>
              <a:rPr kumimoji="1" lang="vi-VN" altLang="ko-KR" sz="900">
                <a:solidFill>
                  <a:srgbClr val="000000"/>
                </a:solidFill>
                <a:latin typeface="Times New Roman" pitchFamily="18" charset="0"/>
                <a:ea typeface="LG Smart_H Regular" panose="020B0600000101010101" pitchFamily="34" charset="-127"/>
                <a:cs typeface="Times New Roman" pitchFamily="18" charset="0"/>
              </a:rPr>
              <a:t>mắc song </a:t>
            </a:r>
            <a:r>
              <a:rPr kumimoji="1" lang="vi-VN" altLang="ko-KR" sz="900" smtClean="0">
                <a:solidFill>
                  <a:srgbClr val="000000"/>
                </a:solidFill>
                <a:latin typeface="Times New Roman" pitchFamily="18" charset="0"/>
                <a:ea typeface="LG Smart_H Regular" panose="020B0600000101010101" pitchFamily="34" charset="-127"/>
                <a:cs typeface="Times New Roman" pitchFamily="18" charset="0"/>
              </a:rPr>
              <a:t>song</a:t>
            </a:r>
            <a:r>
              <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rPr>
              <a:t>?</a:t>
            </a:r>
            <a:r>
              <a:rPr kumimoji="1" lang="ko-KR" altLang="en-US" sz="900" smtClean="0">
                <a:solidFill>
                  <a:srgbClr val="000000"/>
                </a:solidFill>
                <a:latin typeface="Times New Roman" pitchFamily="18" charset="0"/>
                <a:ea typeface="LG Smart_H Regular" panose="020B0600000101010101" pitchFamily="34" charset="-127"/>
                <a:cs typeface="Times New Roman" pitchFamily="18" charset="0"/>
              </a:rPr>
              <a:t> </a:t>
            </a:r>
            <a:endPar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endPar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rPr>
              <a:t>FCZ</a:t>
            </a:r>
          </a:p>
          <a:p>
            <a:pPr marL="228600" lvl="0" indent="-228600" fontAlgn="base">
              <a:spcBef>
                <a:spcPct val="0"/>
              </a:spcBef>
              <a:spcAft>
                <a:spcPct val="0"/>
              </a:spcAft>
              <a:buFont typeface="+mj-lt"/>
              <a:buAutoNum type="alphaUcPeriod"/>
            </a:pPr>
            <a:r>
              <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rPr>
              <a:t>FFC</a:t>
            </a:r>
          </a:p>
          <a:p>
            <a:pPr marL="228600" lvl="0" indent="-228600" fontAlgn="base">
              <a:spcBef>
                <a:spcPct val="0"/>
              </a:spcBef>
              <a:spcAft>
                <a:spcPct val="0"/>
              </a:spcAft>
              <a:buFont typeface="+mj-lt"/>
              <a:buAutoNum type="alphaUcPeriod"/>
            </a:pPr>
            <a:r>
              <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rPr>
              <a:t>RFC</a:t>
            </a:r>
          </a:p>
          <a:p>
            <a:pPr marL="228600" lvl="0" indent="-228600" fontAlgn="base">
              <a:spcBef>
                <a:spcPct val="0"/>
              </a:spcBef>
              <a:spcAft>
                <a:spcPct val="0"/>
              </a:spcAft>
              <a:buFont typeface="+mj-lt"/>
              <a:buAutoNum type="alphaUcPeriod"/>
            </a:pPr>
            <a:r>
              <a:rPr kumimoji="1" lang="en-US" altLang="ko-KR" sz="900" smtClean="0">
                <a:solidFill>
                  <a:srgbClr val="FF0000"/>
                </a:solidFill>
                <a:latin typeface="Times New Roman" pitchFamily="18" charset="0"/>
                <a:ea typeface="LG Smart_H Regular" panose="020B0600000101010101" pitchFamily="34" charset="-127"/>
                <a:cs typeface="Times New Roman" pitchFamily="18" charset="0"/>
              </a:rPr>
              <a:t>IFT</a:t>
            </a:r>
            <a:endParaRPr kumimoji="1" lang="en-US" altLang="ko-KR" sz="90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37" name="Rectangle 36"/>
          <p:cNvSpPr/>
          <p:nvPr/>
        </p:nvSpPr>
        <p:spPr>
          <a:xfrm>
            <a:off x="199897" y="1064568"/>
            <a:ext cx="3325812" cy="923330"/>
          </a:xfrm>
          <a:prstGeom prst="rect">
            <a:avLst/>
          </a:prstGeom>
        </p:spPr>
        <p:txBody>
          <a:bodyPr wrap="square">
            <a:spAutoFit/>
          </a:bodyPr>
          <a:lstStyle/>
          <a:p>
            <a:pPr lvl="0" fontAlgn="base">
              <a:spcBef>
                <a:spcPct val="0"/>
              </a:spcBef>
              <a:spcAft>
                <a:spcPct val="0"/>
              </a:spcAft>
            </a:pPr>
            <a:r>
              <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rPr>
              <a:t>11. </a:t>
            </a:r>
            <a:r>
              <a:rPr kumimoji="1" lang="vi-VN" altLang="ko-KR" sz="900">
                <a:solidFill>
                  <a:srgbClr val="000000"/>
                </a:solidFill>
                <a:latin typeface="Times New Roman" pitchFamily="18" charset="0"/>
                <a:ea typeface="LG Smart_H Regular" panose="020B0600000101010101" pitchFamily="34" charset="-127"/>
                <a:cs typeface="Times New Roman" pitchFamily="18" charset="0"/>
              </a:rPr>
              <a:t>Khi bị điện giật dòng điện gây ra co giật mạnh là bao nhiêu </a:t>
            </a:r>
            <a:r>
              <a:rPr kumimoji="1" lang="ko-KR" altLang="en-US" sz="900">
                <a:solidFill>
                  <a:srgbClr val="000000"/>
                </a:solidFill>
                <a:latin typeface="Times New Roman" pitchFamily="18" charset="0"/>
                <a:ea typeface="LG Smart_H Regular" panose="020B0600000101010101" pitchFamily="34" charset="-127"/>
                <a:cs typeface="Times New Roman" pitchFamily="18" charset="0"/>
              </a:rPr>
              <a:t>㎃</a:t>
            </a:r>
            <a:r>
              <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rPr>
              <a:t>?</a:t>
            </a:r>
            <a:endParaRPr kumimoji="1" lang="en-US" altLang="ko-KR" sz="90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endParaRPr kumimoji="1" lang="en-US" altLang="en-US" sz="90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en-US" altLang="en-US" sz="900" smtClean="0">
                <a:solidFill>
                  <a:srgbClr val="000000"/>
                </a:solidFill>
                <a:latin typeface="Times New Roman" pitchFamily="18" charset="0"/>
                <a:ea typeface="LG Smart_H Regular" panose="020B0600000101010101" pitchFamily="34" charset="-127"/>
                <a:cs typeface="Times New Roman" pitchFamily="18" charset="0"/>
              </a:rPr>
              <a:t>5~30</a:t>
            </a:r>
            <a:r>
              <a:rPr kumimoji="1" lang="ko-KR" altLang="en-US" sz="900" smtClean="0">
                <a:solidFill>
                  <a:srgbClr val="000000"/>
                </a:solidFill>
                <a:latin typeface="Times New Roman" pitchFamily="18" charset="0"/>
                <a:ea typeface="LG Smart_H Regular" panose="020B0600000101010101" pitchFamily="34" charset="-127"/>
                <a:cs typeface="Times New Roman" pitchFamily="18" charset="0"/>
              </a:rPr>
              <a:t>㎃</a:t>
            </a:r>
            <a:endPar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en-US" altLang="en-US" sz="900" smtClean="0">
                <a:solidFill>
                  <a:srgbClr val="FF0000"/>
                </a:solidFill>
                <a:latin typeface="Times New Roman" pitchFamily="18" charset="0"/>
                <a:ea typeface="LG Smart_H Regular" panose="020B0600000101010101" pitchFamily="34" charset="-127"/>
                <a:cs typeface="Times New Roman" pitchFamily="18" charset="0"/>
              </a:rPr>
              <a:t>30~50</a:t>
            </a:r>
            <a:r>
              <a:rPr kumimoji="1" lang="ko-KR" altLang="en-US" sz="900" smtClean="0">
                <a:solidFill>
                  <a:srgbClr val="FF0000"/>
                </a:solidFill>
                <a:latin typeface="Times New Roman" pitchFamily="18" charset="0"/>
                <a:ea typeface="LG Smart_H Regular" panose="020B0600000101010101" pitchFamily="34" charset="-127"/>
                <a:cs typeface="Times New Roman" pitchFamily="18" charset="0"/>
              </a:rPr>
              <a:t>㎃</a:t>
            </a:r>
            <a:endParaRPr kumimoji="1" lang="en-US" altLang="ko-KR" sz="900" smtClean="0">
              <a:solidFill>
                <a:srgbClr val="FF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en-US" altLang="en-US" sz="900" smtClean="0">
                <a:solidFill>
                  <a:srgbClr val="000000"/>
                </a:solidFill>
                <a:latin typeface="Times New Roman" pitchFamily="18" charset="0"/>
                <a:ea typeface="LG Smart_H Regular" panose="020B0600000101010101" pitchFamily="34" charset="-127"/>
                <a:cs typeface="Times New Roman" pitchFamily="18" charset="0"/>
              </a:rPr>
              <a:t>50~100</a:t>
            </a:r>
            <a:r>
              <a:rPr kumimoji="1" lang="ko-KR" altLang="en-US" sz="900" smtClean="0">
                <a:solidFill>
                  <a:srgbClr val="000000"/>
                </a:solidFill>
                <a:latin typeface="Times New Roman" pitchFamily="18" charset="0"/>
                <a:ea typeface="LG Smart_H Regular" panose="020B0600000101010101" pitchFamily="34" charset="-127"/>
                <a:cs typeface="Times New Roman" pitchFamily="18" charset="0"/>
              </a:rPr>
              <a:t>㎃</a:t>
            </a:r>
            <a:endPar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Vượt </a:t>
            </a:r>
            <a:r>
              <a:rPr kumimoji="1" lang="vi-VN" altLang="en-US" sz="900">
                <a:solidFill>
                  <a:srgbClr val="000000"/>
                </a:solidFill>
                <a:latin typeface="Times New Roman" pitchFamily="18" charset="0"/>
                <a:ea typeface="LG Smart_H Regular" panose="020B0600000101010101" pitchFamily="34" charset="-127"/>
                <a:cs typeface="Times New Roman" pitchFamily="18" charset="0"/>
              </a:rPr>
              <a:t>quá</a:t>
            </a:r>
            <a:r>
              <a:rPr kumimoji="1" lang="en-US" altLang="en-US" sz="900">
                <a:solidFill>
                  <a:srgbClr val="000000"/>
                </a:solidFill>
                <a:latin typeface="Times New Roman" pitchFamily="18" charset="0"/>
                <a:ea typeface="LG Smart_H Regular" panose="020B0600000101010101" pitchFamily="34" charset="-127"/>
                <a:cs typeface="Times New Roman" pitchFamily="18" charset="0"/>
              </a:rPr>
              <a:t> 100</a:t>
            </a:r>
            <a:r>
              <a:rPr kumimoji="1" lang="ko-KR" altLang="en-US" sz="900" smtClean="0">
                <a:solidFill>
                  <a:srgbClr val="000000"/>
                </a:solidFill>
                <a:latin typeface="Times New Roman" pitchFamily="18" charset="0"/>
                <a:ea typeface="LG Smart_H Regular" panose="020B0600000101010101" pitchFamily="34" charset="-127"/>
                <a:cs typeface="Times New Roman" pitchFamily="18" charset="0"/>
              </a:rPr>
              <a:t>㎃</a:t>
            </a:r>
            <a:endParaRPr kumimoji="1" lang="en-US" altLang="ko-KR" sz="900">
              <a:solidFill>
                <a:srgbClr val="000000"/>
              </a:solidFill>
              <a:latin typeface="Times New Roman" pitchFamily="18" charset="0"/>
              <a:ea typeface="LG Smart_H Regular" panose="020B0600000101010101" pitchFamily="34" charset="-127"/>
              <a:cs typeface="Times New Roman" pitchFamily="18" charset="0"/>
            </a:endParaRPr>
          </a:p>
        </p:txBody>
      </p:sp>
      <p:sp>
        <p:nvSpPr>
          <p:cNvPr id="16" name="Rectangle 7"/>
          <p:cNvSpPr>
            <a:spLocks noChangeArrowheads="1"/>
          </p:cNvSpPr>
          <p:nvPr/>
        </p:nvSpPr>
        <p:spPr bwMode="auto">
          <a:xfrm>
            <a:off x="206776" y="5853534"/>
            <a:ext cx="3234923"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228600" indent="-228600" eaLnBrk="1" fontAlgn="base" hangingPunct="1">
              <a:spcBef>
                <a:spcPct val="0"/>
              </a:spcBef>
              <a:spcAft>
                <a:spcPct val="0"/>
              </a:spcAft>
              <a:buAutoNum type="arabicPeriod" startAt="14"/>
            </a:pP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Trong </a:t>
            </a:r>
            <a:r>
              <a:rPr lang="vi-VN" altLang="ko-KR" sz="950">
                <a:solidFill>
                  <a:srgbClr val="000000"/>
                </a:solidFill>
                <a:latin typeface="Times New Roman" pitchFamily="18" charset="0"/>
                <a:ea typeface="LG Smart_H Regular" panose="020B0600000101010101" pitchFamily="34" charset="-127"/>
                <a:cs typeface="Times New Roman" pitchFamily="18" charset="0"/>
              </a:rPr>
              <a:t>số các loại tụ điện, loại nào dùng ở dải tần cao và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dùng </a:t>
            </a:r>
            <a:r>
              <a:rPr lang="vi-VN" altLang="ko-KR" sz="950">
                <a:solidFill>
                  <a:srgbClr val="000000"/>
                </a:solidFill>
                <a:latin typeface="Times New Roman" pitchFamily="18" charset="0"/>
                <a:ea typeface="LG Smart_H Regular" panose="020B0600000101010101" pitchFamily="34" charset="-127"/>
                <a:cs typeface="Times New Roman" pitchFamily="18" charset="0"/>
              </a:rPr>
              <a:t>trong mạch chỉnh tần như AM, FM? </a:t>
            </a:r>
            <a:endParaRPr lang="en-US" altLang="ko-KR" sz="950" dirty="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Tụ Mylan </a:t>
            </a: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Tụ điện</a:t>
            </a:r>
          </a:p>
          <a:p>
            <a:pPr marL="228600" indent="-228600" eaLnBrk="1" fontAlgn="base" hangingPunct="1">
              <a:spcBef>
                <a:spcPct val="0"/>
              </a:spcBef>
              <a:spcAft>
                <a:spcPct val="0"/>
              </a:spcAft>
              <a:buFont typeface="+mj-l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Tụ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sứ</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Tụ Tantan</a:t>
            </a: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solidFill>
                <a:srgbClr val="000000"/>
              </a:solidFill>
              <a:latin typeface="Times New Roman" pitchFamily="18" charset="0"/>
              <a:ea typeface="LG Smart_H Regular" panose="020B0600000101010101" pitchFamily="34" charset="-127"/>
              <a:cs typeface="Times New Roman" pitchFamily="18" charset="0"/>
            </a:endParaRPr>
          </a:p>
        </p:txBody>
      </p:sp>
      <p:sp>
        <p:nvSpPr>
          <p:cNvPr id="57" name="Rectangle 56"/>
          <p:cNvSpPr/>
          <p:nvPr/>
        </p:nvSpPr>
        <p:spPr>
          <a:xfrm>
            <a:off x="3518442" y="2379003"/>
            <a:ext cx="3131467" cy="1200329"/>
          </a:xfrm>
          <a:prstGeom prst="rect">
            <a:avLst/>
          </a:prstGeom>
        </p:spPr>
        <p:txBody>
          <a:bodyPr wrap="square">
            <a:spAutoFit/>
          </a:bodyPr>
          <a:lstStyle/>
          <a:p>
            <a:pPr lvl="0" fontAlgn="base">
              <a:spcBef>
                <a:spcPct val="0"/>
              </a:spcBef>
              <a:spcAft>
                <a:spcPct val="0"/>
              </a:spcAft>
            </a:pPr>
            <a:r>
              <a:rPr kumimoji="1" lang="en-US" altLang="en-US" sz="900" smtClean="0">
                <a:solidFill>
                  <a:srgbClr val="000000"/>
                </a:solidFill>
                <a:latin typeface="Times New Roman" pitchFamily="18" charset="0"/>
                <a:ea typeface="LG Smart_H Regular" panose="020B0600000101010101" pitchFamily="34" charset="-127"/>
                <a:cs typeface="Times New Roman" pitchFamily="18" charset="0"/>
              </a:rPr>
              <a:t>17. </a:t>
            </a:r>
            <a:r>
              <a:rPr kumimoji="1" lang="vi-VN" altLang="en-US" sz="900">
                <a:solidFill>
                  <a:srgbClr val="000000"/>
                </a:solidFill>
                <a:latin typeface="Times New Roman" pitchFamily="18" charset="0"/>
                <a:ea typeface="LG Smart_H Regular" panose="020B0600000101010101" pitchFamily="34" charset="-127"/>
                <a:cs typeface="Times New Roman" pitchFamily="18" charset="0"/>
              </a:rPr>
              <a:t>Chọn đáp án đúng với giải thích bên dưới</a:t>
            </a:r>
            <a:r>
              <a:rPr kumimoji="1" lang="en-US" altLang="en-US" sz="900">
                <a:solidFill>
                  <a:srgbClr val="000000"/>
                </a:solidFill>
                <a:latin typeface="Times New Roman" pitchFamily="18" charset="0"/>
                <a:ea typeface="LG Smart_H Regular" panose="020B0600000101010101" pitchFamily="34" charset="-127"/>
                <a:cs typeface="Times New Roman" pitchFamily="18" charset="0"/>
              </a:rPr>
              <a:t>?</a:t>
            </a:r>
            <a:r>
              <a:rPr kumimoji="1" lang="en-US" altLang="ko-KR" sz="900">
                <a:solidFill>
                  <a:srgbClr val="000000"/>
                </a:solidFill>
                <a:latin typeface="Times New Roman" pitchFamily="18" charset="0"/>
                <a:ea typeface="LG Smart_H Regular" panose="020B0600000101010101" pitchFamily="34" charset="-127"/>
                <a:cs typeface="Times New Roman" pitchFamily="18" charset="0"/>
              </a:rPr>
              <a:t>  </a:t>
            </a:r>
            <a:endParaRPr kumimoji="1" lang="en-US" altLang="en-US" sz="900">
              <a:solidFill>
                <a:srgbClr val="000000"/>
              </a:solidFill>
              <a:latin typeface="Times New Roman" pitchFamily="18" charset="0"/>
              <a:ea typeface="LG Smart_H Regular" panose="020B0600000101010101" pitchFamily="34" charset="-127"/>
              <a:cs typeface="Times New Roman" pitchFamily="18" charset="0"/>
            </a:endParaRPr>
          </a:p>
          <a:p>
            <a:pPr marL="171450" lvl="0" indent="-61913" fontAlgn="base">
              <a:spcBef>
                <a:spcPct val="0"/>
              </a:spcBef>
              <a:spcAft>
                <a:spcPct val="0"/>
              </a:spcAft>
            </a:pPr>
            <a:r>
              <a:rPr kumimoji="1" lang="en-US" altLang="en-US" sz="900">
                <a:solidFill>
                  <a:srgbClr val="000000"/>
                </a:solidFill>
                <a:latin typeface="Times New Roman" pitchFamily="18" charset="0"/>
                <a:ea typeface="LG Smart_H Regular" panose="020B0600000101010101" pitchFamily="34" charset="-127"/>
                <a:cs typeface="Times New Roman" pitchFamily="18" charset="0"/>
              </a:rPr>
              <a:t>   [ </a:t>
            </a:r>
            <a:r>
              <a:rPr kumimoji="1" lang="vi-VN" altLang="en-US" sz="900">
                <a:solidFill>
                  <a:srgbClr val="000000"/>
                </a:solidFill>
                <a:latin typeface="Times New Roman" pitchFamily="18" charset="0"/>
                <a:ea typeface="LG Smart_H Regular" panose="020B0600000101010101" pitchFamily="34" charset="-127"/>
                <a:cs typeface="Times New Roman" pitchFamily="18" charset="0"/>
              </a:rPr>
              <a:t>Electron tồn tại ở quỹ đạo bên ngoài của </a:t>
            </a: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nguyên</a:t>
            </a:r>
            <a:r>
              <a:rPr kumimoji="1" lang="en-US" altLang="en-US" sz="900">
                <a:solidFill>
                  <a:srgbClr val="000000"/>
                </a:solidFill>
                <a:latin typeface="Times New Roman" pitchFamily="18" charset="0"/>
                <a:ea typeface="LG Smart_H Regular" panose="020B0600000101010101" pitchFamily="34" charset="-127"/>
                <a:cs typeface="Times New Roman" pitchFamily="18" charset="0"/>
              </a:rPr>
              <a:t> </a:t>
            </a: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tử </a:t>
            </a:r>
            <a:r>
              <a:rPr kumimoji="1" lang="vi-VN" altLang="en-US" sz="900">
                <a:solidFill>
                  <a:srgbClr val="000000"/>
                </a:solidFill>
                <a:latin typeface="Times New Roman" pitchFamily="18" charset="0"/>
                <a:ea typeface="LG Smart_H Regular" panose="020B0600000101010101" pitchFamily="34" charset="-127"/>
                <a:cs typeface="Times New Roman" pitchFamily="18" charset="0"/>
              </a:rPr>
              <a:t>lực </a:t>
            </a:r>
            <a:endParaRPr kumimoji="1" lang="en-US" altLang="en-US" sz="900" smtClean="0">
              <a:solidFill>
                <a:srgbClr val="000000"/>
              </a:solidFill>
              <a:latin typeface="Times New Roman" pitchFamily="18" charset="0"/>
              <a:ea typeface="LG Smart_H Regular" panose="020B0600000101010101" pitchFamily="34" charset="-127"/>
              <a:cs typeface="Times New Roman" pitchFamily="18" charset="0"/>
            </a:endParaRPr>
          </a:p>
          <a:p>
            <a:pPr marL="171450" lvl="0" indent="-61913" fontAlgn="base">
              <a:spcBef>
                <a:spcPct val="0"/>
              </a:spcBef>
              <a:spcAft>
                <a:spcPct val="0"/>
              </a:spcAft>
            </a:pP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liên </a:t>
            </a:r>
            <a:r>
              <a:rPr kumimoji="1" lang="vi-VN" altLang="en-US" sz="900">
                <a:solidFill>
                  <a:srgbClr val="000000"/>
                </a:solidFill>
                <a:latin typeface="Times New Roman" pitchFamily="18" charset="0"/>
                <a:ea typeface="LG Smart_H Regular" panose="020B0600000101010101" pitchFamily="34" charset="-127"/>
                <a:cs typeface="Times New Roman" pitchFamily="18" charset="0"/>
              </a:rPr>
              <a:t>kết hạt nguyên tử </a:t>
            </a: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yếu</a:t>
            </a:r>
            <a:r>
              <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rPr>
              <a:t> </a:t>
            </a:r>
            <a:r>
              <a:rPr kumimoji="1" lang="en-US" altLang="ko-KR" sz="900">
                <a:solidFill>
                  <a:srgbClr val="000000"/>
                </a:solidFill>
                <a:latin typeface="Times New Roman" pitchFamily="18" charset="0"/>
                <a:ea typeface="LG Smart_H Regular" panose="020B0600000101010101" pitchFamily="34" charset="-127"/>
                <a:cs typeface="Times New Roman" pitchFamily="18" charset="0"/>
              </a:rPr>
              <a:t>]</a:t>
            </a:r>
          </a:p>
          <a:p>
            <a:pPr marL="228600" lvl="0" indent="-228600" fontAlgn="base">
              <a:spcBef>
                <a:spcPct val="0"/>
              </a:spcBef>
              <a:spcAft>
                <a:spcPct val="0"/>
              </a:spcAft>
              <a:buFont typeface="+mj-lt"/>
              <a:buAutoNum type="alphaUcPeriod"/>
            </a:pPr>
            <a:endParaRPr kumimoji="1" lang="en-US" altLang="en-US" sz="90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Ele</a:t>
            </a:r>
            <a:r>
              <a:rPr kumimoji="1" lang="en-US" altLang="en-US" sz="900">
                <a:solidFill>
                  <a:srgbClr val="000000"/>
                </a:solidFill>
                <a:latin typeface="Times New Roman" pitchFamily="18" charset="0"/>
                <a:ea typeface="LG Smart_H Regular" panose="020B0600000101010101" pitchFamily="34" charset="-127"/>
                <a:cs typeface="Times New Roman" pitchFamily="18" charset="0"/>
              </a:rPr>
              <a:t>c</a:t>
            </a:r>
            <a:r>
              <a:rPr kumimoji="1" lang="vi-VN" altLang="en-US" sz="900">
                <a:solidFill>
                  <a:srgbClr val="000000"/>
                </a:solidFill>
                <a:latin typeface="Times New Roman" pitchFamily="18" charset="0"/>
                <a:ea typeface="LG Smart_H Regular" panose="020B0600000101010101" pitchFamily="34" charset="-127"/>
                <a:cs typeface="Times New Roman" pitchFamily="18" charset="0"/>
              </a:rPr>
              <a:t>tron tự </a:t>
            </a: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do</a:t>
            </a:r>
            <a:endParaRPr kumimoji="1" lang="en-US" altLang="en-US" sz="90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solidFill>
                  <a:srgbClr val="FF0000"/>
                </a:solidFill>
                <a:latin typeface="Times New Roman" pitchFamily="18" charset="0"/>
                <a:ea typeface="LG Smart_H Regular" panose="020B0600000101010101" pitchFamily="34" charset="-127"/>
                <a:cs typeface="Times New Roman" pitchFamily="18" charset="0"/>
              </a:rPr>
              <a:t>Ele</a:t>
            </a:r>
            <a:r>
              <a:rPr kumimoji="1" lang="en-US" altLang="en-US" sz="900" smtClean="0">
                <a:solidFill>
                  <a:srgbClr val="FF0000"/>
                </a:solidFill>
                <a:latin typeface="Times New Roman" pitchFamily="18" charset="0"/>
                <a:ea typeface="LG Smart_H Regular" panose="020B0600000101010101" pitchFamily="34" charset="-127"/>
                <a:cs typeface="Times New Roman" pitchFamily="18" charset="0"/>
              </a:rPr>
              <a:t>c</a:t>
            </a:r>
            <a:r>
              <a:rPr kumimoji="1" lang="vi-VN" altLang="en-US" sz="900" smtClean="0">
                <a:solidFill>
                  <a:srgbClr val="FF0000"/>
                </a:solidFill>
                <a:latin typeface="Times New Roman" pitchFamily="18" charset="0"/>
                <a:ea typeface="LG Smart_H Regular" panose="020B0600000101010101" pitchFamily="34" charset="-127"/>
                <a:cs typeface="Times New Roman" pitchFamily="18" charset="0"/>
              </a:rPr>
              <a:t>tron hóa trị</a:t>
            </a:r>
            <a:endParaRPr kumimoji="1" lang="en-US" altLang="en-US" sz="900" smtClean="0">
              <a:solidFill>
                <a:srgbClr val="FF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Hạt </a:t>
            </a:r>
            <a:r>
              <a:rPr kumimoji="1" lang="vi-VN" altLang="en-US" sz="900">
                <a:solidFill>
                  <a:srgbClr val="000000"/>
                </a:solidFill>
                <a:latin typeface="Times New Roman" pitchFamily="18" charset="0"/>
                <a:ea typeface="LG Smart_H Regular" panose="020B0600000101010101" pitchFamily="34" charset="-127"/>
                <a:cs typeface="Times New Roman" pitchFamily="18" charset="0"/>
              </a:rPr>
              <a:t>nhân nguyên </a:t>
            </a: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tử</a:t>
            </a:r>
            <a:endParaRPr kumimoji="1" lang="en-US" altLang="en-US" sz="90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Điện </a:t>
            </a:r>
            <a:r>
              <a:rPr kumimoji="1" lang="vi-VN" altLang="en-US" sz="900">
                <a:solidFill>
                  <a:srgbClr val="000000"/>
                </a:solidFill>
                <a:latin typeface="Times New Roman" pitchFamily="18" charset="0"/>
                <a:ea typeface="LG Smart_H Regular" panose="020B0600000101010101" pitchFamily="34" charset="-127"/>
                <a:cs typeface="Times New Roman" pitchFamily="18" charset="0"/>
              </a:rPr>
              <a:t>tích</a:t>
            </a:r>
            <a:endParaRPr kumimoji="1" lang="en-US" altLang="ko-KR" sz="900" dirty="0">
              <a:solidFill>
                <a:srgbClr val="000000"/>
              </a:solidFill>
              <a:latin typeface="Times New Roman" pitchFamily="18" charset="0"/>
              <a:ea typeface="LG Smart_H Regular" panose="020B0600000101010101" pitchFamily="34" charset="-127"/>
              <a:cs typeface="Times New Roman" pitchFamily="18" charset="0"/>
            </a:endParaRPr>
          </a:p>
        </p:txBody>
      </p:sp>
      <p:sp>
        <p:nvSpPr>
          <p:cNvPr id="59" name="Rectangle 58"/>
          <p:cNvSpPr/>
          <p:nvPr/>
        </p:nvSpPr>
        <p:spPr>
          <a:xfrm>
            <a:off x="3514388" y="3942130"/>
            <a:ext cx="3124200" cy="923330"/>
          </a:xfrm>
          <a:prstGeom prst="rect">
            <a:avLst/>
          </a:prstGeom>
        </p:spPr>
        <p:txBody>
          <a:bodyPr wrap="square">
            <a:spAutoFit/>
          </a:bodyPr>
          <a:lstStyle/>
          <a:p>
            <a:pPr fontAlgn="base">
              <a:spcBef>
                <a:spcPct val="0"/>
              </a:spcBef>
              <a:spcAft>
                <a:spcPct val="0"/>
              </a:spcAft>
            </a:pPr>
            <a:r>
              <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rPr>
              <a:t>18. </a:t>
            </a:r>
            <a:r>
              <a:rPr kumimoji="1" lang="vi-VN" altLang="ko-KR" sz="900">
                <a:solidFill>
                  <a:srgbClr val="000000"/>
                </a:solidFill>
                <a:latin typeface="Times New Roman" pitchFamily="18" charset="0"/>
                <a:ea typeface="LG Smart_H Regular" panose="020B0600000101010101" pitchFamily="34" charset="-127"/>
                <a:cs typeface="Times New Roman" pitchFamily="18" charset="0"/>
              </a:rPr>
              <a:t>Đâu </a:t>
            </a:r>
            <a:r>
              <a:rPr kumimoji="1" lang="vi-VN" altLang="ko-KR" sz="900" b="1">
                <a:solidFill>
                  <a:srgbClr val="000000"/>
                </a:solidFill>
                <a:latin typeface="Times New Roman" pitchFamily="18" charset="0"/>
                <a:ea typeface="LG Smart_H Regular" panose="020B0600000101010101" pitchFamily="34" charset="-127"/>
                <a:cs typeface="Times New Roman" pitchFamily="18" charset="0"/>
              </a:rPr>
              <a:t>không phải </a:t>
            </a:r>
            <a:r>
              <a:rPr kumimoji="1" lang="vi-VN" altLang="ko-KR" sz="900">
                <a:solidFill>
                  <a:srgbClr val="000000"/>
                </a:solidFill>
                <a:latin typeface="Times New Roman" pitchFamily="18" charset="0"/>
                <a:ea typeface="LG Smart_H Regular" panose="020B0600000101010101" pitchFamily="34" charset="-127"/>
                <a:cs typeface="Times New Roman" pitchFamily="18" charset="0"/>
              </a:rPr>
              <a:t>là mode thu tín hiệu của Oscilloscope</a:t>
            </a:r>
            <a:r>
              <a:rPr kumimoji="1" lang="en-US" altLang="ko-KR" sz="900" smtClean="0">
                <a:solidFill>
                  <a:srgbClr val="000000"/>
                </a:solidFill>
                <a:latin typeface="Times New Roman" pitchFamily="18" charset="0"/>
                <a:ea typeface="LG Smart_H Regular" panose="020B0600000101010101" pitchFamily="34" charset="-127"/>
                <a:cs typeface="Times New Roman" pitchFamily="18" charset="0"/>
              </a:rPr>
              <a:t>?</a:t>
            </a:r>
            <a:endParaRPr kumimoji="1" lang="en-US" altLang="ko-KR" sz="900">
              <a:solidFill>
                <a:srgbClr val="000000"/>
              </a:solidFill>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endParaRPr kumimoji="1" lang="en-US" altLang="en-US" sz="90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Peak</a:t>
            </a:r>
            <a:endParaRPr kumimoji="1" lang="en-US" altLang="en-US" sz="90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Average</a:t>
            </a:r>
            <a:endParaRPr kumimoji="1" lang="en-US" altLang="en-US" sz="90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en-US" sz="900" smtClean="0">
                <a:solidFill>
                  <a:srgbClr val="FF0000"/>
                </a:solidFill>
                <a:latin typeface="Times New Roman" pitchFamily="18" charset="0"/>
                <a:ea typeface="LG Smart_H Regular" panose="020B0600000101010101" pitchFamily="34" charset="-127"/>
                <a:cs typeface="Times New Roman" pitchFamily="18" charset="0"/>
              </a:rPr>
              <a:t>Pulse</a:t>
            </a:r>
            <a:endParaRPr kumimoji="1" lang="en-US" altLang="en-US" sz="90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en-US" sz="900" smtClean="0">
                <a:solidFill>
                  <a:srgbClr val="000000"/>
                </a:solidFill>
                <a:latin typeface="Times New Roman" pitchFamily="18" charset="0"/>
                <a:ea typeface="LG Smart_H Regular" panose="020B0600000101010101" pitchFamily="34" charset="-127"/>
                <a:cs typeface="Times New Roman" pitchFamily="18" charset="0"/>
              </a:rPr>
              <a:t>Sample</a:t>
            </a:r>
            <a:endParaRPr kumimoji="1" lang="en-US" altLang="en-US" sz="900">
              <a:solidFill>
                <a:srgbClr val="000000"/>
              </a:solidFill>
              <a:latin typeface="Times New Roman" pitchFamily="18" charset="0"/>
              <a:ea typeface="LG Smart_H Regular" panose="020B0600000101010101" pitchFamily="34" charset="-127"/>
              <a:cs typeface="Times New Roman" pitchFamily="18" charset="0"/>
            </a:endParaRPr>
          </a:p>
        </p:txBody>
      </p:sp>
      <p:sp>
        <p:nvSpPr>
          <p:cNvPr id="61" name="Rectangle 8"/>
          <p:cNvSpPr>
            <a:spLocks noChangeArrowheads="1"/>
          </p:cNvSpPr>
          <p:nvPr/>
        </p:nvSpPr>
        <p:spPr bwMode="auto">
          <a:xfrm>
            <a:off x="3501008" y="5961112"/>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hangingPunct="1">
              <a:spcBef>
                <a:spcPct val="0"/>
              </a:spcBef>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19.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Chủng </a:t>
            </a:r>
            <a:r>
              <a:rPr lang="vi-VN" altLang="ko-KR" sz="950">
                <a:solidFill>
                  <a:srgbClr val="000000"/>
                </a:solidFill>
                <a:latin typeface="Times New Roman" pitchFamily="18" charset="0"/>
                <a:ea typeface="LG Smart_H Regular" panose="020B0600000101010101" pitchFamily="34" charset="-127"/>
                <a:cs typeface="Times New Roman" pitchFamily="18" charset="0"/>
              </a:rPr>
              <a:t>loại nào của TR biểu hiện hình thức dưới đây? </a:t>
            </a:r>
          </a:p>
          <a:p>
            <a:pPr eaLnBrk="1" hangingPunct="1">
              <a:spcBef>
                <a:spcPct val="0"/>
              </a:spcBef>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 2SDxxx</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p>
          <a:p>
            <a:pPr marL="228600" indent="-228600" eaLnBrk="1" hangingPunct="1">
              <a:spcBef>
                <a:spcPct val="0"/>
              </a:spcBef>
              <a:buFont typeface="+mj-lt"/>
              <a:buAutoNum type="alphaUcPeriod"/>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NPN</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tần số cao</a:t>
            </a:r>
          </a:p>
          <a:p>
            <a:pPr marL="228600" indent="-228600" eaLnBrk="1" hangingPunct="1">
              <a:spcBef>
                <a:spcPct val="0"/>
              </a:spcBef>
              <a:buFont typeface="+mj-lt"/>
              <a:buAutoNum type="alphaUcPeriod"/>
            </a:pP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PNP  </a:t>
            </a:r>
            <a:r>
              <a:rPr lang="vi-VN" altLang="ko-KR" sz="950">
                <a:solidFill>
                  <a:srgbClr val="000000"/>
                </a:solidFill>
                <a:latin typeface="Times New Roman" pitchFamily="18" charset="0"/>
                <a:ea typeface="LG Smart_H Regular" panose="020B0600000101010101" pitchFamily="34" charset="-127"/>
                <a:cs typeface="Times New Roman" pitchFamily="18" charset="0"/>
              </a:rPr>
              <a:t>tần số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cao</a:t>
            </a: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hangingPunct="1">
              <a:spcBef>
                <a:spcPct val="0"/>
              </a:spcBef>
              <a:buFont typeface="+mj-l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NPN </a:t>
            </a:r>
            <a:r>
              <a:rPr lang="vi-VN" altLang="ko-KR" sz="950">
                <a:solidFill>
                  <a:srgbClr val="FF0000"/>
                </a:solidFill>
                <a:latin typeface="Times New Roman" pitchFamily="18" charset="0"/>
                <a:ea typeface="LG Smart_H Regular" panose="020B0600000101010101" pitchFamily="34" charset="-127"/>
                <a:cs typeface="Times New Roman" pitchFamily="18" charset="0"/>
              </a:rPr>
              <a:t>cho tần số thấp </a:t>
            </a:r>
            <a:endParaRPr lang="vi-VN" altLang="ko-KR" sz="95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hangingPunct="1">
              <a:spcBef>
                <a:spcPct val="0"/>
              </a:spcBef>
              <a:buFont typeface="+mj-lt"/>
              <a:buAutoNum type="alphaUcPeriod"/>
            </a:pPr>
            <a:r>
              <a:rPr lang="vi-VN" altLang="ko-KR" sz="950">
                <a:solidFill>
                  <a:srgbClr val="000000"/>
                </a:solidFill>
                <a:latin typeface="Times New Roman" pitchFamily="18" charset="0"/>
                <a:ea typeface="LG Smart_H Regular" panose="020B0600000101010101" pitchFamily="34" charset="-127"/>
                <a:cs typeface="Times New Roman" pitchFamily="18" charset="0"/>
              </a:rPr>
              <a:t>PNP  tần số thấp </a:t>
            </a:r>
            <a:r>
              <a:rPr lang="en-US" altLang="ko-KR" sz="950" smtClean="0">
                <a:latin typeface="Times New Roman" pitchFamily="18" charset="0"/>
                <a:ea typeface="LG Smart_H Regular" panose="020B0600000101010101" pitchFamily="34" charset="-127"/>
                <a:cs typeface="Times New Roman" pitchFamily="18" charset="0"/>
              </a:rPr>
              <a:t> </a:t>
            </a:r>
            <a:endParaRPr lang="ko-KR" altLang="en-US" sz="950" dirty="0">
              <a:latin typeface="Times New Roman" pitchFamily="18" charset="0"/>
              <a:ea typeface="LG Smart_H Regular" panose="020B0600000101010101" pitchFamily="34" charset="-127"/>
              <a:cs typeface="Times New Roman" pitchFamily="18" charset="0"/>
            </a:endParaRPr>
          </a:p>
        </p:txBody>
      </p:sp>
      <p:sp>
        <p:nvSpPr>
          <p:cNvPr id="62" name="Rectangle 9"/>
          <p:cNvSpPr>
            <a:spLocks noChangeArrowheads="1"/>
          </p:cNvSpPr>
          <p:nvPr/>
        </p:nvSpPr>
        <p:spPr bwMode="auto">
          <a:xfrm>
            <a:off x="3501008" y="7241165"/>
            <a:ext cx="312420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20.   </a:t>
            </a:r>
            <a:r>
              <a:rPr lang="vi-VN" altLang="ko-KR" sz="950" smtClean="0">
                <a:latin typeface="Times New Roman" pitchFamily="18" charset="0"/>
                <a:ea typeface="LG Smart_H Regular" panose="020B0600000101010101" pitchFamily="34" charset="-127"/>
                <a:cs typeface="Times New Roman" pitchFamily="18" charset="0"/>
              </a:rPr>
              <a:t>Chọn </a:t>
            </a:r>
            <a:r>
              <a:rPr lang="vi-VN" altLang="ko-KR" sz="950" dirty="0">
                <a:latin typeface="Times New Roman" pitchFamily="18" charset="0"/>
                <a:ea typeface="LG Smart_H Regular" panose="020B0600000101010101" pitchFamily="34" charset="-127"/>
                <a:cs typeface="Times New Roman" pitchFamily="18" charset="0"/>
              </a:rPr>
              <a:t>đáp án đúng khi nói về đặc tính </a:t>
            </a:r>
            <a:r>
              <a:rPr lang="vi-VN" altLang="ko-KR" sz="950">
                <a:latin typeface="Times New Roman" pitchFamily="18" charset="0"/>
                <a:ea typeface="LG Smart_H Regular" panose="020B0600000101010101" pitchFamily="34" charset="-127"/>
                <a:cs typeface="Times New Roman" pitchFamily="18" charset="0"/>
              </a:rPr>
              <a:t>của </a:t>
            </a:r>
            <a:r>
              <a:rPr lang="en-US" altLang="ko-KR" sz="950">
                <a:latin typeface="Times New Roman" pitchFamily="18" charset="0"/>
                <a:ea typeface="LG Smart_H Regular" panose="020B0600000101010101" pitchFamily="34" charset="-127"/>
                <a:cs typeface="Times New Roman" pitchFamily="18" charset="0"/>
              </a:rPr>
              <a:t>thiết bị điện</a:t>
            </a:r>
            <a:r>
              <a:rPr lang="vi-VN" altLang="ko-KR" sz="95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có</a:t>
            </a:r>
            <a:r>
              <a:rPr lang="vi-VN" altLang="ko-KR" sz="950">
                <a:latin typeface="Times New Roman" pitchFamily="18" charset="0"/>
                <a:ea typeface="LG Smart_H Regular" panose="020B0600000101010101" pitchFamily="34" charset="-127"/>
                <a:cs typeface="Times New Roman" pitchFamily="18" charset="0"/>
              </a:rPr>
              <a:t> </a:t>
            </a:r>
            <a:r>
              <a:rPr lang="vi-VN" altLang="ko-KR" sz="950" dirty="0">
                <a:latin typeface="Times New Roman" pitchFamily="18" charset="0"/>
                <a:ea typeface="LG Smart_H Regular" panose="020B0600000101010101" pitchFamily="34" charset="-127"/>
                <a:cs typeface="Times New Roman" pitchFamily="18" charset="0"/>
              </a:rPr>
              <a:t>bởi kí hiệu </a:t>
            </a:r>
            <a:r>
              <a:rPr lang="vi-VN" altLang="ko-KR" sz="950">
                <a:latin typeface="Times New Roman" pitchFamily="18" charset="0"/>
                <a:ea typeface="LG Smart_H Regular" panose="020B0600000101010101" pitchFamily="34" charset="-127"/>
                <a:cs typeface="Times New Roman" pitchFamily="18" charset="0"/>
              </a:rPr>
              <a:t>dưới </a:t>
            </a:r>
            <a:r>
              <a:rPr lang="vi-VN" altLang="ko-KR" sz="950" smtClean="0">
                <a:latin typeface="Times New Roman" pitchFamily="18" charset="0"/>
                <a:ea typeface="LG Smart_H Regular" panose="020B0600000101010101" pitchFamily="34" charset="-127"/>
                <a:cs typeface="Times New Roman" pitchFamily="18" charset="0"/>
              </a:rPr>
              <a:t>đây</a:t>
            </a:r>
            <a:r>
              <a:rPr lang="en-US" altLang="ko-KR" sz="950" smtClean="0">
                <a:latin typeface="Times New Roman" pitchFamily="18" charset="0"/>
                <a:ea typeface="LG Smart_H Regular" panose="020B0600000101010101" pitchFamily="34" charset="-127"/>
                <a:cs typeface="Times New Roman" pitchFamily="18" charset="0"/>
              </a:rPr>
              <a:t> ?</a:t>
            </a: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dirty="0">
                <a:solidFill>
                  <a:srgbClr val="000000"/>
                </a:solidFill>
                <a:latin typeface="Times New Roman" pitchFamily="18" charset="0"/>
                <a:ea typeface="LG Smart_H Regular" panose="020B0600000101010101" pitchFamily="34" charset="-127"/>
                <a:cs typeface="Times New Roman" pitchFamily="18" charset="0"/>
              </a:rPr>
              <a:t>               </a:t>
            </a:r>
          </a:p>
          <a:p>
            <a:pPr marL="228600" indent="-228600" eaLnBrk="1" fontAlgn="base" hangingPunct="1">
              <a:spcBef>
                <a:spcPct val="0"/>
              </a:spcBef>
              <a:spcAft>
                <a:spcPct val="0"/>
              </a:spcAft>
              <a:buFont typeface="+mj-lt"/>
              <a:buAutoNum type="alphaUcPeriod"/>
            </a:pPr>
            <a:r>
              <a:rPr lang="vi-VN" altLang="ko-KR" sz="950">
                <a:solidFill>
                  <a:srgbClr val="000000"/>
                </a:solidFill>
                <a:latin typeface="Times New Roman" pitchFamily="18" charset="0"/>
                <a:ea typeface="LG Smart_H Regular" panose="020B0600000101010101" pitchFamily="34" charset="-127"/>
                <a:cs typeface="Times New Roman" pitchFamily="18" charset="0"/>
              </a:rPr>
              <a:t>Có thể điều khiển dòng điện xả bằng dòng điện cổng</a:t>
            </a:r>
            <a:r>
              <a:rPr lang="en-US" altLang="ko-KR" sz="950">
                <a:solidFill>
                  <a:srgbClr val="000000"/>
                </a:solidFill>
                <a:latin typeface="Times New Roman" pitchFamily="18" charset="0"/>
                <a:ea typeface="LG Smart_H Regular" panose="020B0600000101010101" pitchFamily="34" charset="-127"/>
                <a:cs typeface="Times New Roman" pitchFamily="18" charset="0"/>
              </a:rPr>
              <a:t> </a:t>
            </a: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Có </a:t>
            </a:r>
            <a:r>
              <a:rPr lang="vi-VN" altLang="ko-KR" sz="950" dirty="0">
                <a:solidFill>
                  <a:srgbClr val="000000"/>
                </a:solidFill>
                <a:latin typeface="Times New Roman" pitchFamily="18" charset="0"/>
                <a:ea typeface="LG Smart_H Regular" panose="020B0600000101010101" pitchFamily="34" charset="-127"/>
                <a:cs typeface="Times New Roman" pitchFamily="18" charset="0"/>
              </a:rPr>
              <a:t>đặc tính hiệu ứng </a:t>
            </a:r>
            <a:r>
              <a:rPr lang="vi-VN" altLang="ko-KR" sz="950">
                <a:solidFill>
                  <a:srgbClr val="000000"/>
                </a:solidFill>
                <a:latin typeface="Times New Roman" pitchFamily="18" charset="0"/>
                <a:ea typeface="LG Smart_H Regular" panose="020B0600000101010101" pitchFamily="34" charset="-127"/>
                <a:cs typeface="Times New Roman" pitchFamily="18" charset="0"/>
              </a:rPr>
              <a:t>điện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trường</a:t>
            </a:r>
            <a:endParaRPr lang="en-US" altLang="ko-KR" sz="950" dirty="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Khi </a:t>
            </a:r>
            <a:r>
              <a:rPr lang="vi-VN" altLang="ko-KR" sz="950">
                <a:solidFill>
                  <a:srgbClr val="000000"/>
                </a:solidFill>
                <a:latin typeface="Times New Roman" pitchFamily="18" charset="0"/>
                <a:ea typeface="LG Smart_H Regular" panose="020B0600000101010101" pitchFamily="34" charset="-127"/>
                <a:cs typeface="Times New Roman" pitchFamily="18" charset="0"/>
              </a:rPr>
              <a:t>dòng điện cổng bị ngắt dòng điện cực dương bị</a:t>
            </a:r>
            <a:r>
              <a:rPr lang="en-US" altLang="ko-KR" sz="95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ngắt</a:t>
            </a: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Sau khi cấp dòng điện vào cổng, ngay cả khi dòng</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r>
              <a:rPr lang="vi-VN" altLang="ko-KR" sz="950">
                <a:solidFill>
                  <a:srgbClr val="FF0000"/>
                </a:solidFill>
                <a:latin typeface="Times New Roman" pitchFamily="18" charset="0"/>
                <a:ea typeface="LG Smart_H Regular" panose="020B0600000101010101" pitchFamily="34" charset="-127"/>
                <a:cs typeface="Times New Roman" pitchFamily="18" charset="0"/>
              </a:rPr>
              <a:t>điện</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r>
              <a:rPr lang="vi-VN" altLang="ko-KR" sz="950">
                <a:solidFill>
                  <a:srgbClr val="FF0000"/>
                </a:solidFill>
                <a:latin typeface="Times New Roman" pitchFamily="18" charset="0"/>
                <a:ea typeface="LG Smart_H Regular" panose="020B0600000101010101" pitchFamily="34" charset="-127"/>
                <a:cs typeface="Times New Roman" pitchFamily="18" charset="0"/>
              </a:rPr>
              <a:t>cổng</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r>
              <a:rPr lang="vi-VN" altLang="ko-KR" sz="950">
                <a:solidFill>
                  <a:srgbClr val="FF0000"/>
                </a:solidFill>
                <a:latin typeface="Times New Roman" pitchFamily="18" charset="0"/>
                <a:ea typeface="LG Smart_H Regular" panose="020B0600000101010101" pitchFamily="34" charset="-127"/>
                <a:cs typeface="Times New Roman" pitchFamily="18" charset="0"/>
              </a:rPr>
              <a:t>bị cắt vẫn duy trì trạng thái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dẫn</a:t>
            </a:r>
            <a:endParaRPr lang="ko-KR" altLang="en-US" sz="950">
              <a:solidFill>
                <a:srgbClr val="00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63" name="Group 10"/>
          <p:cNvGrpSpPr>
            <a:grpSpLocks/>
          </p:cNvGrpSpPr>
          <p:nvPr/>
        </p:nvGrpSpPr>
        <p:grpSpPr bwMode="auto">
          <a:xfrm>
            <a:off x="4401000" y="7626116"/>
            <a:ext cx="1714500" cy="638175"/>
            <a:chOff x="605" y="4254"/>
            <a:chExt cx="1084" cy="402"/>
          </a:xfrm>
        </p:grpSpPr>
        <p:pic>
          <p:nvPicPr>
            <p:cNvPr id="64"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8" y="4254"/>
              <a:ext cx="1026" cy="4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Text Box 12"/>
            <p:cNvSpPr txBox="1">
              <a:spLocks noChangeArrowheads="1"/>
            </p:cNvSpPr>
            <p:nvPr/>
          </p:nvSpPr>
          <p:spPr bwMode="auto">
            <a:xfrm>
              <a:off x="1207" y="4481"/>
              <a:ext cx="17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solidFill>
                    <a:srgbClr val="000000"/>
                  </a:solidFill>
                  <a:latin typeface="Times New Roman" pitchFamily="18" charset="0"/>
                  <a:cs typeface="Times New Roman" pitchFamily="18" charset="0"/>
                </a:rPr>
                <a:t>G</a:t>
              </a:r>
            </a:p>
          </p:txBody>
        </p:sp>
        <p:sp>
          <p:nvSpPr>
            <p:cNvPr id="66" name="Text Box 13"/>
            <p:cNvSpPr txBox="1">
              <a:spLocks noChangeArrowheads="1"/>
            </p:cNvSpPr>
            <p:nvPr/>
          </p:nvSpPr>
          <p:spPr bwMode="auto">
            <a:xfrm>
              <a:off x="605" y="4378"/>
              <a:ext cx="16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solidFill>
                    <a:srgbClr val="000000"/>
                  </a:solidFill>
                  <a:latin typeface="Times New Roman" pitchFamily="18" charset="0"/>
                  <a:cs typeface="Times New Roman" pitchFamily="18" charset="0"/>
                </a:rPr>
                <a:t>A</a:t>
              </a:r>
            </a:p>
          </p:txBody>
        </p:sp>
        <p:sp>
          <p:nvSpPr>
            <p:cNvPr id="67" name="Text Box 14"/>
            <p:cNvSpPr txBox="1">
              <a:spLocks noChangeArrowheads="1"/>
            </p:cNvSpPr>
            <p:nvPr/>
          </p:nvSpPr>
          <p:spPr bwMode="auto">
            <a:xfrm>
              <a:off x="1525" y="4390"/>
              <a:ext cx="16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solidFill>
                    <a:srgbClr val="000000"/>
                  </a:solidFill>
                  <a:latin typeface="Times New Roman" pitchFamily="18" charset="0"/>
                  <a:cs typeface="Times New Roman" pitchFamily="18" charset="0"/>
                </a:rPr>
                <a:t>K</a:t>
              </a:r>
            </a:p>
          </p:txBody>
        </p:sp>
      </p:grpSp>
      <p:sp>
        <p:nvSpPr>
          <p:cNvPr id="68" name="Rectangle 398"/>
          <p:cNvSpPr>
            <a:spLocks noChangeArrowheads="1"/>
          </p:cNvSpPr>
          <p:nvPr/>
        </p:nvSpPr>
        <p:spPr bwMode="auto">
          <a:xfrm>
            <a:off x="3510534" y="1064568"/>
            <a:ext cx="311785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0" indent="0" eaLnBrk="1" hangingPunct="1"/>
            <a:r>
              <a:rPr lang="en-US" altLang="ko-KR" sz="950" smtClean="0">
                <a:latin typeface="Times New Roman" pitchFamily="18" charset="0"/>
                <a:cs typeface="Times New Roman" pitchFamily="18" charset="0"/>
              </a:rPr>
              <a:t>16.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b="1" dirty="0" err="1" smtClean="0">
                <a:latin typeface="Times New Roman" pitchFamily="18" charset="0"/>
                <a:cs typeface="Times New Roman" pitchFamily="18" charset="0"/>
              </a:rPr>
              <a:t>không</a:t>
            </a:r>
            <a:r>
              <a:rPr lang="en-US" altLang="ko-KR" sz="950" b="1" dirty="0" smtClean="0">
                <a:latin typeface="Times New Roman" pitchFamily="18" charset="0"/>
                <a:cs typeface="Times New Roman" pitchFamily="18" charset="0"/>
              </a:rPr>
              <a:t> </a:t>
            </a:r>
            <a:r>
              <a:rPr lang="en-US" altLang="ko-KR" sz="950" b="1" err="1" smtClean="0">
                <a:latin typeface="Times New Roman" pitchFamily="18" charset="0"/>
                <a:cs typeface="Times New Roman" pitchFamily="18" charset="0"/>
              </a:rPr>
              <a:t>phải</a:t>
            </a:r>
            <a:r>
              <a:rPr lang="en-US" altLang="ko-KR" sz="950" b="1"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là</a:t>
            </a:r>
            <a:r>
              <a:rPr lang="en-US" altLang="ko-KR" sz="950" dirty="0">
                <a:latin typeface="Times New Roman" pitchFamily="18" charset="0"/>
                <a:cs typeface="Times New Roman" pitchFamily="18" charset="0"/>
              </a:rPr>
              <a:t> </a:t>
            </a:r>
            <a:r>
              <a:rPr lang="en-US" altLang="ko-KR" sz="950" smtClean="0">
                <a:latin typeface="Times New Roman" pitchFamily="18" charset="0"/>
                <a:cs typeface="Times New Roman" pitchFamily="18" charset="0"/>
              </a:rPr>
              <a:t>chất </a:t>
            </a:r>
            <a:r>
              <a:rPr lang="en-US" altLang="ko-KR" sz="950" dirty="0" err="1" smtClean="0">
                <a:latin typeface="Times New Roman" pitchFamily="18" charset="0"/>
                <a:cs typeface="Times New Roman" pitchFamily="18" charset="0"/>
              </a:rPr>
              <a:t>bán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dẫn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0" indent="0" eaLnBrk="1" hangingPunct="1"/>
            <a:endParaRPr lang="en-US" altLang="ko-KR" sz="950" smtClean="0">
              <a:latin typeface="Times New Roman" pitchFamily="18" charset="0"/>
              <a:cs typeface="Times New Roman" pitchFamily="18" charset="0"/>
            </a:endParaRPr>
          </a:p>
          <a:p>
            <a:pPr marL="0" indent="0" eaLnBrk="1" hangingPunct="1"/>
            <a:r>
              <a:rPr lang="en-US" altLang="ko-KR" sz="950" smtClean="0">
                <a:latin typeface="Times New Roman" pitchFamily="18" charset="0"/>
                <a:cs typeface="Times New Roman" pitchFamily="18" charset="0"/>
              </a:rPr>
              <a:t>A. Selium </a:t>
            </a:r>
            <a:r>
              <a:rPr lang="en-US" altLang="ko-KR" sz="950" dirty="0" smtClean="0">
                <a:latin typeface="Times New Roman" pitchFamily="18" charset="0"/>
                <a:cs typeface="Times New Roman" pitchFamily="18" charset="0"/>
              </a:rPr>
              <a:t>(Se</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B. </a:t>
            </a:r>
            <a:r>
              <a:rPr lang="en-US" altLang="ko-KR" sz="950" dirty="0">
                <a:latin typeface="Times New Roman" pitchFamily="18" charset="0"/>
                <a:cs typeface="Times New Roman" pitchFamily="18" charset="0"/>
              </a:rPr>
              <a:t>G</a:t>
            </a:r>
            <a:r>
              <a:rPr lang="en-US" altLang="ko-KR" sz="950" smtClean="0">
                <a:latin typeface="Times New Roman" pitchFamily="18" charset="0"/>
                <a:cs typeface="Times New Roman" pitchFamily="18" charset="0"/>
              </a:rPr>
              <a:t>ermanium(Ge</a:t>
            </a:r>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0" indent="0" eaLnBrk="1" hangingPunct="1"/>
            <a:r>
              <a:rPr lang="en-US" altLang="ko-KR" sz="950" smtClean="0">
                <a:latin typeface="Times New Roman" pitchFamily="18" charset="0"/>
                <a:cs typeface="Times New Roman" pitchFamily="18" charset="0"/>
              </a:rPr>
              <a:t>C. Silicon  </a:t>
            </a:r>
            <a:r>
              <a:rPr lang="ko-KR" altLang="en-US" sz="950" smtClean="0">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D.</a:t>
            </a:r>
            <a:r>
              <a:rPr lang="ko-KR" altLang="en-US" sz="950" smtClean="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L</a:t>
            </a:r>
            <a:r>
              <a:rPr lang="en-US" altLang="ko-KR" sz="950" smtClean="0">
                <a:solidFill>
                  <a:srgbClr val="FF0000"/>
                </a:solidFill>
                <a:latin typeface="Times New Roman" pitchFamily="18" charset="0"/>
                <a:cs typeface="Times New Roman" pitchFamily="18" charset="0"/>
              </a:rPr>
              <a:t>ưu </a:t>
            </a:r>
            <a:r>
              <a:rPr lang="en-US" altLang="ko-KR" sz="950" dirty="0" err="1" smtClean="0">
                <a:solidFill>
                  <a:srgbClr val="FF0000"/>
                </a:solidFill>
                <a:latin typeface="Times New Roman" pitchFamily="18" charset="0"/>
                <a:cs typeface="Times New Roman" pitchFamily="18" charset="0"/>
              </a:rPr>
              <a:t>huỳnh</a:t>
            </a:r>
            <a:endParaRPr lang="ko-KR" altLang="en-US" sz="95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41391899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solidFill>
                <a:srgbClr val="000000"/>
              </a:solidFill>
              <a:latin typeface="Times New Roman" pitchFamily="18" charset="0"/>
              <a:cs typeface="Times New Roman" pitchFamily="18" charset="0"/>
            </a:endParaRPr>
          </a:p>
          <a:p>
            <a:pPr eaLnBrk="1" fontAlgn="base" hangingPunct="1">
              <a:spcBef>
                <a:spcPct val="0"/>
              </a:spcBef>
              <a:spcAft>
                <a:spcPct val="0"/>
              </a:spcAft>
            </a:pPr>
            <a:endParaRPr lang="en-US" altLang="ko-KR" smtClean="0">
              <a:solidFill>
                <a:srgbClr val="000000"/>
              </a:solidFill>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solidFill>
                <a:srgbClr val="000000"/>
              </a:solidFill>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solidFill>
                  <a:srgbClr val="000000"/>
                </a:solidFill>
                <a:latin typeface="Times New Roman" pitchFamily="18" charset="0"/>
                <a:cs typeface="Times New Roman" pitchFamily="18" charset="0"/>
              </a:rPr>
              <a:t>※ PLC : </a:t>
            </a:r>
            <a:r>
              <a:rPr lang="vi-VN" altLang="ko-KR" sz="950" b="1" dirty="0" smtClean="0">
                <a:solidFill>
                  <a:srgbClr val="000000"/>
                </a:solidFill>
                <a:latin typeface="Times New Roman" pitchFamily="18" charset="0"/>
                <a:cs typeface="Times New Roman" pitchFamily="18" charset="0"/>
              </a:rPr>
              <a:t>câu </a:t>
            </a:r>
            <a:r>
              <a:rPr lang="en-US" altLang="ko-KR" sz="950" b="1" dirty="0" smtClean="0">
                <a:solidFill>
                  <a:srgbClr val="000000"/>
                </a:solidFill>
                <a:latin typeface="Times New Roman" pitchFamily="18" charset="0"/>
                <a:cs typeface="Times New Roman" pitchFamily="18" charset="0"/>
              </a:rPr>
              <a:t>21</a:t>
            </a:r>
            <a:r>
              <a:rPr lang="ko-KR" altLang="en-US" sz="950" b="1" dirty="0" smtClean="0">
                <a:solidFill>
                  <a:srgbClr val="000000"/>
                </a:solidFill>
                <a:latin typeface="Times New Roman" pitchFamily="18" charset="0"/>
                <a:cs typeface="Times New Roman" pitchFamily="18" charset="0"/>
              </a:rPr>
              <a:t> </a:t>
            </a:r>
            <a:r>
              <a:rPr lang="en-US" altLang="ko-KR" sz="950" b="1" dirty="0" smtClean="0">
                <a:solidFill>
                  <a:srgbClr val="000000"/>
                </a:solidFill>
                <a:latin typeface="Times New Roman" pitchFamily="18" charset="0"/>
                <a:cs typeface="Times New Roman" pitchFamily="18" charset="0"/>
              </a:rPr>
              <a:t>~ </a:t>
            </a:r>
            <a:r>
              <a:rPr lang="vi-VN" altLang="ko-KR" sz="950" b="1" dirty="0" smtClean="0">
                <a:solidFill>
                  <a:srgbClr val="000000"/>
                </a:solidFill>
                <a:latin typeface="Times New Roman" pitchFamily="18" charset="0"/>
                <a:cs typeface="Times New Roman" pitchFamily="18" charset="0"/>
              </a:rPr>
              <a:t>câu </a:t>
            </a:r>
            <a:r>
              <a:rPr lang="en-US" altLang="ko-KR" sz="950" b="1" dirty="0" smtClean="0">
                <a:solidFill>
                  <a:srgbClr val="000000"/>
                </a:solidFill>
                <a:latin typeface="Times New Roman" pitchFamily="18" charset="0"/>
                <a:cs typeface="Times New Roman" pitchFamily="18" charset="0"/>
              </a:rPr>
              <a:t>40</a:t>
            </a:r>
            <a:endParaRPr lang="ko-KR" altLang="en-US" sz="950" b="1" dirty="0" smtClean="0">
              <a:solidFill>
                <a:srgbClr val="000000"/>
              </a:solidFill>
              <a:latin typeface="Times New Roman" pitchFamily="18" charset="0"/>
              <a:cs typeface="Times New Roman" pitchFamily="18" charset="0"/>
            </a:endParaRPr>
          </a:p>
        </p:txBody>
      </p:sp>
      <p:sp>
        <p:nvSpPr>
          <p:cNvPr id="106" name="Rectangle 7"/>
          <p:cNvSpPr>
            <a:spLocks noChangeArrowheads="1"/>
          </p:cNvSpPr>
          <p:nvPr/>
        </p:nvSpPr>
        <p:spPr bwMode="auto">
          <a:xfrm>
            <a:off x="174624" y="2615352"/>
            <a:ext cx="328067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231775" indent="-231775"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22</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Trường hợp nào sẽ làm đèn USER LED trên CPU nhấp nháy</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Khi </a:t>
            </a:r>
            <a:r>
              <a:rPr lang="en-US" altLang="ko-KR" sz="950">
                <a:solidFill>
                  <a:srgbClr val="FF0000"/>
                </a:solidFill>
                <a:latin typeface="Times New Roman" pitchFamily="18" charset="0"/>
                <a:ea typeface="LG Smart_H Regular" panose="020B0600000101010101" pitchFamily="34" charset="-127"/>
                <a:cs typeface="Times New Roman" pitchFamily="18" charset="0"/>
              </a:rPr>
              <a:t>clear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latch</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Khi phân tích lỗi bằng lệnh </a:t>
            </a:r>
            <a:r>
              <a:rPr lang="en-US" altLang="ko-KR" sz="950" smtClean="0">
                <a:latin typeface="Times New Roman" pitchFamily="18" charset="0"/>
                <a:ea typeface="LG Smart_H Regular" panose="020B0600000101010101" pitchFamily="34" charset="-127"/>
                <a:cs typeface="Times New Roman" pitchFamily="18" charset="0"/>
              </a:rPr>
              <a:t>CHK</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Khi  ON F </a:t>
            </a:r>
            <a:r>
              <a:rPr lang="en-US" altLang="ko-KR" sz="950" smtClean="0">
                <a:latin typeface="Times New Roman" pitchFamily="18" charset="0"/>
                <a:ea typeface="LG Smart_H Regular" panose="020B0600000101010101" pitchFamily="34" charset="-127"/>
                <a:cs typeface="Times New Roman" pitchFamily="18" charset="0"/>
              </a:rPr>
              <a:t>Annunciator</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Khi bình thường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7" name="Rectangle 7"/>
          <p:cNvSpPr>
            <a:spLocks noChangeArrowheads="1"/>
          </p:cNvSpPr>
          <p:nvPr/>
        </p:nvSpPr>
        <p:spPr bwMode="auto">
          <a:xfrm>
            <a:off x="201890" y="391367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Đâu không là tín hiệu Analog</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 Sensor</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Điện áp</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Áp </a:t>
            </a:r>
            <a:r>
              <a:rPr lang="en-US" altLang="ko-KR" sz="950">
                <a:latin typeface="Times New Roman" pitchFamily="18" charset="0"/>
                <a:ea typeface="LG Smart_H Regular" panose="020B0600000101010101" pitchFamily="34" charset="-127"/>
                <a:cs typeface="Times New Roman" pitchFamily="18" charset="0"/>
              </a:rPr>
              <a:t>suất </a:t>
            </a:r>
            <a:r>
              <a:rPr lang="en-US" altLang="ko-KR" sz="950" smtClean="0">
                <a:latin typeface="Times New Roman" pitchFamily="18" charset="0"/>
                <a:ea typeface="LG Smart_H Regular" panose="020B0600000101010101" pitchFamily="34" charset="-127"/>
                <a:cs typeface="Times New Roman" pitchFamily="18" charset="0"/>
              </a:rPr>
              <a:t>khí</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smtClean="0">
                <a:latin typeface="Times New Roman" pitchFamily="18" charset="0"/>
                <a:ea typeface="LG Smart_H Regular" panose="020B0600000101010101" pitchFamily="34" charset="-127"/>
                <a:cs typeface="Times New Roman" pitchFamily="18" charset="0"/>
              </a:rPr>
              <a:t>Nhiệt </a:t>
            </a:r>
            <a:r>
              <a:rPr lang="vi-VN" altLang="ko-KR" sz="950">
                <a:latin typeface="Times New Roman" pitchFamily="18" charset="0"/>
                <a:ea typeface="LG Smart_H Regular" panose="020B0600000101010101" pitchFamily="34" charset="-127"/>
                <a:cs typeface="Times New Roman" pitchFamily="18" charset="0"/>
              </a:rPr>
              <a:t>độ</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8" name="Rectangle 7"/>
          <p:cNvSpPr>
            <a:spLocks noChangeArrowheads="1"/>
          </p:cNvSpPr>
          <p:nvPr/>
        </p:nvSpPr>
        <p:spPr bwMode="auto">
          <a:xfrm>
            <a:off x="206479" y="5169024"/>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vi-VN" altLang="ko-KR" sz="950">
                <a:latin typeface="Times New Roman" pitchFamily="18" charset="0"/>
                <a:ea typeface="LG Smart_H Regular" panose="020B0600000101010101" pitchFamily="34" charset="-127"/>
                <a:cs typeface="Times New Roman" pitchFamily="18" charset="0"/>
              </a:rPr>
              <a:t>Đèn BOOT LED trên CPU sẽ nhấp nháy khi nào</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smtClean="0">
                <a:latin typeface="Times New Roman" pitchFamily="18" charset="0"/>
                <a:ea typeface="LG Smart_H Regular" panose="020B0600000101010101" pitchFamily="34" charset="-127"/>
                <a:cs typeface="Times New Roman" pitchFamily="18" charset="0"/>
              </a:rPr>
              <a:t>Khi </a:t>
            </a:r>
            <a:r>
              <a:rPr lang="vi-VN" altLang="ko-KR" sz="950">
                <a:latin typeface="Times New Roman" pitchFamily="18" charset="0"/>
                <a:ea typeface="LG Smart_H Regular" panose="020B0600000101010101" pitchFamily="34" charset="-127"/>
                <a:cs typeface="Times New Roman" pitchFamily="18" charset="0"/>
              </a:rPr>
              <a:t>bắt đầu vận hành </a:t>
            </a:r>
            <a:r>
              <a:rPr lang="vi-VN" altLang="ko-KR" sz="950" smtClean="0">
                <a:latin typeface="Times New Roman" pitchFamily="18" charset="0"/>
                <a:ea typeface="LG Smart_H Regular" panose="020B0600000101010101" pitchFamily="34" charset="-127"/>
                <a:cs typeface="Times New Roman" pitchFamily="18" charset="0"/>
              </a:rPr>
              <a:t>BOOT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B. </a:t>
            </a:r>
            <a:r>
              <a:rPr lang="vi-VN" altLang="ko-KR" sz="950">
                <a:solidFill>
                  <a:srgbClr val="FF0000"/>
                </a:solidFill>
                <a:latin typeface="Times New Roman" pitchFamily="18" charset="0"/>
                <a:ea typeface="LG Smart_H Regular" panose="020B0600000101010101" pitchFamily="34" charset="-127"/>
                <a:cs typeface="Times New Roman" pitchFamily="18" charset="0"/>
              </a:rPr>
              <a:t>Khi “Sử dung tự động ở RIM tiêu chuẩn” đã chuyển tiếp hoàn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toàn</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Khi khởi động lại nguồn điện của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Khi trang bị module cho base module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9" name="Rectangle 7"/>
          <p:cNvSpPr>
            <a:spLocks noChangeArrowheads="1"/>
          </p:cNvSpPr>
          <p:nvPr/>
        </p:nvSpPr>
        <p:spPr bwMode="auto">
          <a:xfrm>
            <a:off x="215483" y="6645622"/>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Đâu là Device cung Cấp DATA </a:t>
            </a:r>
            <a:r>
              <a:rPr lang="vi-VN" altLang="ko-KR" sz="950" smtClean="0">
                <a:latin typeface="Times New Roman" pitchFamily="18" charset="0"/>
                <a:ea typeface="LG Smart_H Regular" panose="020B0600000101010101" pitchFamily="34" charset="-127"/>
                <a:cs typeface="Times New Roman" pitchFamily="18" charset="0"/>
              </a:rPr>
              <a:t>ho</a:t>
            </a:r>
            <a:r>
              <a:rPr lang="en-US" altLang="ko-KR" sz="950" smtClean="0">
                <a:latin typeface="Times New Roman" pitchFamily="18" charset="0"/>
                <a:ea typeface="LG Smart_H Regular" panose="020B0600000101010101" pitchFamily="34" charset="-127"/>
                <a:cs typeface="Times New Roman" pitchFamily="18" charset="0"/>
              </a:rPr>
              <a:t>ặc</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mệnh lệnh cho PLC từ thiết bị bên ngoài  DIGITAL SWITCH, LIMIT SWITCH, SWITCH CHUYỂN ĐỔI, BUTTON ấn .</a:t>
            </a:r>
            <a:r>
              <a:rPr lang="vi-VN" altLang="ko-KR" sz="950" smtClean="0">
                <a:latin typeface="Times New Roman" pitchFamily="18" charset="0"/>
                <a:ea typeface="LG Smart_H Regular" panose="020B0600000101010101" pitchFamily="34" charset="-127"/>
                <a:cs typeface="Times New Roman" pitchFamily="18" charset="0"/>
              </a:rPr>
              <a:t>v.v?</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 X</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Y</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M</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L</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188640" y="816214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Đâu không phải là Word Devidce</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W</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Z</a:t>
            </a: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 B</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D</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131920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Program chỉ thực hiện 1 lần khi nguồn điện ON hoặc được đổi sang RUN trong </a:t>
            </a:r>
            <a:r>
              <a:rPr lang="vi-VN" altLang="ko-KR" sz="950" smtClean="0">
                <a:latin typeface="Times New Roman" pitchFamily="18" charset="0"/>
                <a:ea typeface="LG Smart_H Regular" panose="020B0600000101010101" pitchFamily="34" charset="-127"/>
                <a:cs typeface="Times New Roman" pitchFamily="18" charset="0"/>
              </a:rPr>
              <a:t>STOP</a:t>
            </a:r>
            <a:r>
              <a:rPr lang="en-US" altLang="ko-KR" sz="950" smtClean="0">
                <a:latin typeface="Times New Roman" pitchFamily="18" charset="0"/>
                <a:ea typeface="LG Smart_H Regular" panose="020B0600000101010101" pitchFamily="34" charset="-127"/>
                <a:cs typeface="Times New Roman" pitchFamily="18" charset="0"/>
              </a:rPr>
              <a:t> là</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Scan </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solidFill>
                  <a:srgbClr val="FF0000"/>
                </a:solidFill>
                <a:latin typeface="Times New Roman" pitchFamily="18" charset="0"/>
                <a:ea typeface="LG Smart_H Regular" panose="020B0600000101010101" pitchFamily="34" charset="-127"/>
                <a:cs typeface="Times New Roman" pitchFamily="18" charset="0"/>
              </a:rPr>
              <a:t>B. Initial</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C. Wait</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D. </a:t>
            </a:r>
            <a:r>
              <a:rPr lang="en-US" altLang="ko-KR" sz="950" smtClean="0">
                <a:latin typeface="Times New Roman" pitchFamily="18" charset="0"/>
                <a:ea typeface="LG Smart_H Regular" panose="020B0600000101010101" pitchFamily="34" charset="-127"/>
                <a:cs typeface="Times New Roman" pitchFamily="18" charset="0"/>
              </a:rPr>
              <a:t>Fixed </a:t>
            </a:r>
            <a:r>
              <a:rPr lang="en-US" altLang="ko-KR" sz="950">
                <a:latin typeface="Times New Roman" pitchFamily="18" charset="0"/>
                <a:ea typeface="LG Smart_H Regular" panose="020B0600000101010101" pitchFamily="34" charset="-127"/>
                <a:cs typeface="Times New Roman" pitchFamily="18" charset="0"/>
              </a:rPr>
              <a:t>Scan</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3419475" y="3152800"/>
            <a:ext cx="3239810" cy="1346616"/>
            <a:chOff x="3419475" y="1247807"/>
            <a:chExt cx="3239810" cy="1346616"/>
          </a:xfrm>
        </p:grpSpPr>
        <p:sp>
          <p:nvSpPr>
            <p:cNvPr id="112" name="Rectangle 7"/>
            <p:cNvSpPr>
              <a:spLocks noChangeArrowheads="1"/>
            </p:cNvSpPr>
            <p:nvPr/>
          </p:nvSpPr>
          <p:spPr bwMode="auto">
            <a:xfrm>
              <a:off x="3419475" y="1247807"/>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Đây là kiểu thực hành của chương trình dạng nào</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a:t>
              </a:r>
              <a:r>
                <a:rPr lang="en-US" altLang="ko-KR" sz="950">
                  <a:solidFill>
                    <a:srgbClr val="FF0000"/>
                  </a:solidFill>
                  <a:latin typeface="Times New Roman" pitchFamily="18" charset="0"/>
                  <a:ea typeface="LG Smart_H Regular" panose="020B0600000101010101" pitchFamily="34" charset="-127"/>
                  <a:cs typeface="Times New Roman" pitchFamily="18" charset="0"/>
                </a:rPr>
                <a:t>. Initial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B. </a:t>
              </a:r>
              <a:r>
                <a:rPr lang="en-US" altLang="ko-KR" sz="950" smtClean="0">
                  <a:latin typeface="Times New Roman" pitchFamily="18" charset="0"/>
                  <a:ea typeface="LG Smart_H Regular" panose="020B0600000101010101" pitchFamily="34" charset="-127"/>
                  <a:cs typeface="Times New Roman" pitchFamily="18" charset="0"/>
                </a:rPr>
                <a:t>Scan</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a:t>
              </a:r>
              <a:r>
                <a:rPr lang="en-US" altLang="ko-KR" sz="950">
                  <a:latin typeface="Times New Roman" pitchFamily="18" charset="0"/>
                  <a:ea typeface="LG Smart_H Regular" panose="020B0600000101010101" pitchFamily="34" charset="-127"/>
                  <a:cs typeface="Times New Roman" pitchFamily="18" charset="0"/>
                </a:rPr>
                <a:t>. Wait</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D. </a:t>
              </a:r>
              <a:r>
                <a:rPr lang="en-US" altLang="ko-KR" sz="950" smtClean="0">
                  <a:latin typeface="Times New Roman" pitchFamily="18" charset="0"/>
                  <a:ea typeface="LG Smart_H Regular" panose="020B0600000101010101" pitchFamily="34" charset="-127"/>
                  <a:cs typeface="Times New Roman" pitchFamily="18" charset="0"/>
                </a:rPr>
                <a:t>Fixed </a:t>
              </a:r>
              <a:r>
                <a:rPr lang="en-US" altLang="ko-KR" sz="950">
                  <a:latin typeface="Times New Roman" pitchFamily="18" charset="0"/>
                  <a:ea typeface="LG Smart_H Regular" panose="020B0600000101010101" pitchFamily="34" charset="-127"/>
                  <a:cs typeface="Times New Roman" pitchFamily="18" charset="0"/>
                </a:rPr>
                <a:t>Scan</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113" name="Group 112"/>
            <p:cNvGrpSpPr/>
            <p:nvPr/>
          </p:nvGrpSpPr>
          <p:grpSpPr>
            <a:xfrm>
              <a:off x="4270494" y="1547794"/>
              <a:ext cx="2386397" cy="1046629"/>
              <a:chOff x="0" y="0"/>
              <a:chExt cx="9457144" cy="4104762"/>
            </a:xfrm>
          </p:grpSpPr>
          <p:pic>
            <p:nvPicPr>
              <p:cNvPr id="114" name="Picture 113"/>
              <p:cNvPicPr>
                <a:picLocks noChangeAspect="1"/>
              </p:cNvPicPr>
              <p:nvPr/>
            </p:nvPicPr>
            <p:blipFill>
              <a:blip r:embed="rId3"/>
              <a:stretch>
                <a:fillRect/>
              </a:stretch>
            </p:blipFill>
            <p:spPr>
              <a:xfrm>
                <a:off x="0" y="0"/>
                <a:ext cx="9457144" cy="4104762"/>
              </a:xfrm>
              <a:prstGeom prst="rect">
                <a:avLst/>
              </a:prstGeom>
            </p:spPr>
          </p:pic>
          <p:sp>
            <p:nvSpPr>
              <p:cNvPr id="182" name="Right Arrow 181"/>
              <p:cNvSpPr/>
              <p:nvPr/>
            </p:nvSpPr>
            <p:spPr>
              <a:xfrm>
                <a:off x="112056" y="1368190"/>
                <a:ext cx="2050678" cy="179305"/>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l"/>
                <a:endParaRPr lang="en-US" sz="1100">
                  <a:solidFill>
                    <a:srgbClr val="FF0000"/>
                  </a:solidFill>
                </a:endParaRPr>
              </a:p>
            </p:txBody>
          </p:sp>
        </p:grpSp>
      </p:grpSp>
      <p:sp>
        <p:nvSpPr>
          <p:cNvPr id="183" name="Rectangle 7"/>
          <p:cNvSpPr>
            <a:spLocks noChangeArrowheads="1"/>
          </p:cNvSpPr>
          <p:nvPr/>
        </p:nvSpPr>
        <p:spPr bwMode="auto">
          <a:xfrm>
            <a:off x="3425951" y="520981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Khoảng thời gian cái đặt WDT tối đa là bao nhiêu?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200ms</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B. </a:t>
            </a:r>
            <a:r>
              <a:rPr lang="en-US" altLang="ko-KR" sz="950" smtClean="0">
                <a:latin typeface="Times New Roman" pitchFamily="18" charset="0"/>
                <a:ea typeface="LG Smart_H Regular" panose="020B0600000101010101" pitchFamily="34" charset="-127"/>
                <a:cs typeface="Times New Roman" pitchFamily="18" charset="0"/>
              </a:rPr>
              <a:t>500ms</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C. </a:t>
            </a:r>
            <a:r>
              <a:rPr lang="en-US" altLang="ko-KR" sz="950" smtClean="0">
                <a:latin typeface="Times New Roman" pitchFamily="18" charset="0"/>
                <a:ea typeface="LG Smart_H Regular" panose="020B0600000101010101" pitchFamily="34" charset="-127"/>
                <a:cs typeface="Times New Roman" pitchFamily="18" charset="0"/>
              </a:rPr>
              <a:t>1000ms</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solidFill>
                  <a:srgbClr val="FF0000"/>
                </a:solidFill>
                <a:latin typeface="Times New Roman" pitchFamily="18" charset="0"/>
                <a:ea typeface="LG Smart_H Regular" panose="020B0600000101010101" pitchFamily="34" charset="-127"/>
                <a:cs typeface="Times New Roman" pitchFamily="18" charset="0"/>
              </a:rPr>
              <a:t>D.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2000ms</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23" name="Rectangle 7"/>
          <p:cNvSpPr>
            <a:spLocks noChangeArrowheads="1"/>
          </p:cNvSpPr>
          <p:nvPr/>
        </p:nvSpPr>
        <p:spPr bwMode="auto">
          <a:xfrm>
            <a:off x="147279" y="1393855"/>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 </a:t>
            </a:r>
            <a:r>
              <a:rPr lang="vi-VN" altLang="ko-KR" sz="950">
                <a:latin typeface="Times New Roman" pitchFamily="18" charset="0"/>
                <a:ea typeface="LG Smart_H Regular" panose="020B0600000101010101" pitchFamily="34" charset="-127"/>
                <a:cs typeface="Times New Roman" pitchFamily="18" charset="0"/>
              </a:rPr>
              <a:t>Đâu không phải nội dung của bảng điều khiển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Khó khăn trong việc nhỏ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hóa</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Hiện thực hóa điều khiển quy mô lớn , tính năng cao bằng loại </a:t>
            </a:r>
            <a:r>
              <a:rPr lang="vi-VN" altLang="ko-KR" sz="950" smtClean="0">
                <a:latin typeface="Times New Roman" pitchFamily="18" charset="0"/>
                <a:ea typeface="LG Smart_H Regular" panose="020B0600000101010101" pitchFamily="34" charset="-127"/>
                <a:cs typeface="Times New Roman" pitchFamily="18" charset="0"/>
              </a:rPr>
              <a:t>nhỏ</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Được điều khiển dựa vào sofrware được gọi là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Điều khiển không tiếp xúc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5" name="Rectangle 7"/>
          <p:cNvSpPr>
            <a:spLocks noChangeArrowheads="1"/>
          </p:cNvSpPr>
          <p:nvPr/>
        </p:nvSpPr>
        <p:spPr bwMode="auto">
          <a:xfrm>
            <a:off x="3455294" y="761729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vi-VN" altLang="ko-KR" sz="950">
                <a:latin typeface="Times New Roman" pitchFamily="18" charset="0"/>
                <a:ea typeface="LG Smart_H Regular" panose="020B0600000101010101" pitchFamily="34" charset="-127"/>
                <a:cs typeface="Times New Roman" pitchFamily="18" charset="0"/>
              </a:rPr>
              <a:t>Khi chỉ thị đầu vào của lệnh OFF → ON,  Device được chọn ON 1</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 Scan  Là giải thích về lệnh nào?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FF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B. PLS               </a:t>
            </a:r>
            <a:r>
              <a:rPr lang="en-US" altLang="ko-KR" sz="950" smtClean="0">
                <a:latin typeface="Times New Roman" pitchFamily="18" charset="0"/>
                <a:ea typeface="LG Smart_H Regular" panose="020B0600000101010101" pitchFamily="34" charset="-127"/>
                <a:cs typeface="Times New Roman" pitchFamily="18" charset="0"/>
              </a:rPr>
              <a:t>C. SET                D. PLF</a:t>
            </a:r>
            <a:endParaRPr lang="en-US" altLang="ko-KR" sz="950" dirty="0">
              <a:latin typeface="Times New Roman" pitchFamily="18"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295946887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99" name="Rectangle 98"/>
          <p:cNvSpPr/>
          <p:nvPr/>
        </p:nvSpPr>
        <p:spPr>
          <a:xfrm>
            <a:off x="3448593" y="8092316"/>
            <a:ext cx="3196714" cy="823302"/>
          </a:xfrm>
          <a:prstGeom prst="rect">
            <a:avLst/>
          </a:prstGeom>
        </p:spPr>
        <p:txBody>
          <a:bodyPr wrap="square">
            <a:spAutoFit/>
          </a:bodyPr>
          <a:lstStyle/>
          <a:p>
            <a:pPr fontAlgn="base">
              <a:spcBef>
                <a:spcPct val="0"/>
              </a:spcBef>
              <a:spcAft>
                <a:spcPct val="0"/>
              </a:spcAft>
            </a:pPr>
            <a:r>
              <a:rPr kumimoji="1" lang="en-US" altLang="ko-KR" sz="950" smtClean="0">
                <a:latin typeface="Times New Roman" pitchFamily="18" charset="0"/>
                <a:ea typeface="LG Smart_H Regular" panose="020B0600000101010101" pitchFamily="34" charset="-127"/>
                <a:cs typeface="Times New Roman" pitchFamily="18" charset="0"/>
              </a:rPr>
              <a:t>40.   </a:t>
            </a:r>
            <a:r>
              <a:rPr kumimoji="1" lang="vi-VN" altLang="ko-KR" sz="950" smtClean="0">
                <a:latin typeface="Times New Roman" pitchFamily="18" charset="0"/>
                <a:ea typeface="LG Smart_H Regular" panose="020B0600000101010101" pitchFamily="34" charset="-127"/>
                <a:cs typeface="Times New Roman" pitchFamily="18" charset="0"/>
              </a:rPr>
              <a:t>Nếu </a:t>
            </a:r>
            <a:r>
              <a:rPr kumimoji="1" lang="vi-VN" altLang="ko-KR" sz="950">
                <a:latin typeface="Times New Roman" pitchFamily="18" charset="0"/>
                <a:ea typeface="LG Smart_H Regular" panose="020B0600000101010101" pitchFamily="34" charset="-127"/>
                <a:cs typeface="Times New Roman" pitchFamily="18" charset="0"/>
              </a:rPr>
              <a:t>giá trị cài đặt của timer 10ms là 0.3s thì câu nào đúng</a:t>
            </a:r>
            <a:r>
              <a:rPr kumimoji="1" lang="vi-VN" altLang="ko-KR" sz="950" smtClean="0">
                <a:latin typeface="Times New Roman" pitchFamily="18" charset="0"/>
                <a:ea typeface="LG Smart_H Regular" panose="020B0600000101010101" pitchFamily="34" charset="-127"/>
                <a:cs typeface="Times New Roman" pitchFamily="18" charset="0"/>
              </a:rPr>
              <a:t>?</a:t>
            </a:r>
            <a:endParaRPr kumimoji="1" lang="en-US" altLang="ko-KR" sz="950">
              <a:latin typeface="Times New Roman" pitchFamily="18" charset="0"/>
              <a:ea typeface="LG Smart_H Regular" panose="020B0600000101010101" pitchFamily="34" charset="-127"/>
              <a:cs typeface="Times New Roman" pitchFamily="18" charset="0"/>
            </a:endParaRPr>
          </a:p>
          <a:p>
            <a:pPr fontAlgn="base">
              <a:spcBef>
                <a:spcPct val="0"/>
              </a:spcBef>
              <a:spcAft>
                <a:spcPct val="0"/>
              </a:spcAft>
            </a:pPr>
            <a:endParaRPr kumimoji="1" lang="en-US" altLang="ko-KR" sz="950" smtClean="0">
              <a:latin typeface="Times New Roman" pitchFamily="18" charset="0"/>
              <a:ea typeface="LG Smart_H Regular" panose="020B0600000101010101" pitchFamily="34" charset="-127"/>
              <a:cs typeface="Times New Roman" pitchFamily="18" charset="0"/>
            </a:endParaRPr>
          </a:p>
          <a:p>
            <a:pPr fontAlgn="base">
              <a:spcBef>
                <a:spcPct val="0"/>
              </a:spcBef>
              <a:spcAft>
                <a:spcPct val="0"/>
              </a:spcAft>
            </a:pPr>
            <a:r>
              <a:rPr kumimoji="1" lang="en-US" altLang="ko-KR" sz="950" smtClean="0">
                <a:latin typeface="Times New Roman" pitchFamily="18" charset="0"/>
                <a:ea typeface="LG Smart_H Regular" panose="020B0600000101010101" pitchFamily="34" charset="-127"/>
                <a:cs typeface="Times New Roman" pitchFamily="18" charset="0"/>
              </a:rPr>
              <a:t>A. (T0 </a:t>
            </a:r>
            <a:r>
              <a:rPr kumimoji="1" lang="en-US" altLang="ko-KR" sz="950">
                <a:latin typeface="Times New Roman" pitchFamily="18" charset="0"/>
                <a:ea typeface="LG Smart_H Regular" panose="020B0600000101010101" pitchFamily="34" charset="-127"/>
                <a:cs typeface="Times New Roman" pitchFamily="18" charset="0"/>
              </a:rPr>
              <a:t>K30)            </a:t>
            </a:r>
            <a:r>
              <a:rPr kumimoji="1" lang="en-US" altLang="ko-KR" sz="950" smtClean="0">
                <a:latin typeface="Times New Roman" pitchFamily="18" charset="0"/>
                <a:ea typeface="LG Smart_H Regular" panose="020B0600000101010101" pitchFamily="34" charset="-127"/>
                <a:cs typeface="Times New Roman" pitchFamily="18" charset="0"/>
              </a:rPr>
              <a:t>  </a:t>
            </a:r>
            <a:r>
              <a:rPr kumimoji="1" lang="en-US" altLang="ko-KR" sz="950" smtClean="0">
                <a:solidFill>
                  <a:srgbClr val="FF0000"/>
                </a:solidFill>
                <a:latin typeface="Times New Roman" pitchFamily="18" charset="0"/>
                <a:ea typeface="LG Smart_H Regular" panose="020B0600000101010101" pitchFamily="34" charset="-127"/>
                <a:cs typeface="Times New Roman" pitchFamily="18" charset="0"/>
              </a:rPr>
              <a:t>B</a:t>
            </a:r>
            <a:r>
              <a:rPr kumimoji="1" lang="en-US" altLang="ko-KR" sz="950">
                <a:solidFill>
                  <a:srgbClr val="FF0000"/>
                </a:solidFill>
                <a:latin typeface="Times New Roman" pitchFamily="18" charset="0"/>
                <a:ea typeface="LG Smart_H Regular" panose="020B0600000101010101" pitchFamily="34" charset="-127"/>
                <a:cs typeface="Times New Roman" pitchFamily="18" charset="0"/>
              </a:rPr>
              <a:t>.</a:t>
            </a:r>
            <a:r>
              <a:rPr kumimoji="1"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kumimoji="1" lang="vi-VN" altLang="ko-KR" sz="950">
                <a:solidFill>
                  <a:srgbClr val="FF0000"/>
                </a:solidFill>
                <a:latin typeface="Times New Roman" pitchFamily="18" charset="0"/>
                <a:ea typeface="LG Smart_H Regular" panose="020B0600000101010101" pitchFamily="34" charset="-127"/>
                <a:cs typeface="Times New Roman" pitchFamily="18" charset="0"/>
              </a:rPr>
              <a:t>(H T0 K30</a:t>
            </a:r>
            <a:r>
              <a:rPr kumimoji="1"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kumimoji="1"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fontAlgn="base">
              <a:spcBef>
                <a:spcPct val="0"/>
              </a:spcBef>
              <a:spcAft>
                <a:spcPct val="0"/>
              </a:spcAft>
            </a:pPr>
            <a:r>
              <a:rPr kumimoji="1" lang="en-US" altLang="ko-KR" sz="950" smtClean="0">
                <a:latin typeface="Times New Roman" pitchFamily="18" charset="0"/>
                <a:ea typeface="LG Smart_H Regular" panose="020B0600000101010101" pitchFamily="34" charset="-127"/>
                <a:cs typeface="Times New Roman" pitchFamily="18" charset="0"/>
              </a:rPr>
              <a:t>C.</a:t>
            </a:r>
            <a:r>
              <a:rPr kumimoji="1" lang="vi-VN" altLang="ko-KR" sz="950" smtClean="0">
                <a:latin typeface="Times New Roman" pitchFamily="18" charset="0"/>
                <a:ea typeface="LG Smart_H Regular" panose="020B0600000101010101" pitchFamily="34" charset="-127"/>
                <a:cs typeface="Times New Roman" pitchFamily="18" charset="0"/>
              </a:rPr>
              <a:t> </a:t>
            </a:r>
            <a:r>
              <a:rPr kumimoji="1" lang="en-US" altLang="ko-KR" sz="950" smtClean="0">
                <a:latin typeface="Times New Roman" pitchFamily="18" charset="0"/>
                <a:ea typeface="LG Smart_H Regular" panose="020B0600000101010101" pitchFamily="34" charset="-127"/>
                <a:cs typeface="Times New Roman" pitchFamily="18" charset="0"/>
              </a:rPr>
              <a:t>(</a:t>
            </a:r>
            <a:r>
              <a:rPr kumimoji="1" lang="en-US" altLang="ko-KR" sz="950">
                <a:latin typeface="Times New Roman" pitchFamily="18" charset="0"/>
                <a:ea typeface="LG Smart_H Regular" panose="020B0600000101010101" pitchFamily="34" charset="-127"/>
                <a:cs typeface="Times New Roman" pitchFamily="18" charset="0"/>
              </a:rPr>
              <a:t>T0 K300</a:t>
            </a:r>
            <a:r>
              <a:rPr kumimoji="1" lang="en-US" altLang="ko-KR" sz="950" smtClean="0">
                <a:latin typeface="Times New Roman" pitchFamily="18" charset="0"/>
                <a:ea typeface="LG Smart_H Regular" panose="020B0600000101010101" pitchFamily="34" charset="-127"/>
                <a:cs typeface="Times New Roman" pitchFamily="18" charset="0"/>
              </a:rPr>
              <a:t>)            D. </a:t>
            </a:r>
            <a:r>
              <a:rPr kumimoji="1" lang="vi-VN" altLang="ko-KR" sz="950">
                <a:latin typeface="Times New Roman" pitchFamily="18" charset="0"/>
                <a:ea typeface="LG Smart_H Regular" panose="020B0600000101010101" pitchFamily="34" charset="-127"/>
                <a:cs typeface="Times New Roman" pitchFamily="18" charset="0"/>
              </a:rPr>
              <a:t>(H T0 K300</a:t>
            </a:r>
            <a:r>
              <a:rPr kumimoji="1" lang="vi-VN" altLang="ko-KR" sz="950" smtClean="0">
                <a:latin typeface="Times New Roman" pitchFamily="18" charset="0"/>
                <a:ea typeface="LG Smart_H Regular" panose="020B0600000101010101" pitchFamily="34" charset="-127"/>
                <a:cs typeface="Times New Roman" pitchFamily="18" charset="0"/>
              </a:rPr>
              <a:t>)</a:t>
            </a:r>
            <a:endParaRPr kumimoji="1" lang="vi-VN" altLang="ko-KR" sz="950">
              <a:solidFill>
                <a:srgbClr val="FF0000"/>
              </a:solidFill>
              <a:latin typeface="Times New Roman" pitchFamily="18" charset="0"/>
              <a:ea typeface="LG Smart_H Regular" panose="020B0600000101010101" pitchFamily="34" charset="-127"/>
              <a:cs typeface="Times New Roman" pitchFamily="18" charset="0"/>
            </a:endParaRPr>
          </a:p>
        </p:txBody>
      </p:sp>
      <p:sp>
        <p:nvSpPr>
          <p:cNvPr id="101" name="Rectangle 100"/>
          <p:cNvSpPr/>
          <p:nvPr/>
        </p:nvSpPr>
        <p:spPr>
          <a:xfrm>
            <a:off x="3428999" y="6499426"/>
            <a:ext cx="3247367" cy="969496"/>
          </a:xfrm>
          <a:prstGeom prst="rect">
            <a:avLst/>
          </a:prstGeom>
        </p:spPr>
        <p:txBody>
          <a:bodyPr wrap="square">
            <a:spAutoFit/>
          </a:bodyPr>
          <a:lstStyle/>
          <a:p>
            <a:pPr fontAlgn="base">
              <a:spcBef>
                <a:spcPct val="0"/>
              </a:spcBef>
              <a:spcAft>
                <a:spcPct val="0"/>
              </a:spcAft>
            </a:pPr>
            <a:r>
              <a:rPr kumimoji="1" lang="en-US" altLang="ko-KR" sz="950" smtClean="0">
                <a:latin typeface="Times New Roman" pitchFamily="18" charset="0"/>
                <a:ea typeface="LG Smart_H Regular" panose="020B0600000101010101" pitchFamily="34" charset="-127"/>
                <a:cs typeface="Times New Roman" pitchFamily="18" charset="0"/>
              </a:rPr>
              <a:t>39.  </a:t>
            </a:r>
            <a:r>
              <a:rPr kumimoji="1" lang="vi-VN" altLang="ko-KR" sz="950" smtClean="0">
                <a:latin typeface="Times New Roman" pitchFamily="18" charset="0"/>
                <a:ea typeface="LG Smart_H Regular" panose="020B0600000101010101" pitchFamily="34" charset="-127"/>
                <a:cs typeface="Times New Roman" pitchFamily="18" charset="0"/>
              </a:rPr>
              <a:t>Trong </a:t>
            </a:r>
            <a:r>
              <a:rPr kumimoji="1" lang="vi-VN" altLang="ko-KR" sz="950">
                <a:latin typeface="Times New Roman" pitchFamily="18" charset="0"/>
                <a:ea typeface="LG Smart_H Regular" panose="020B0600000101010101" pitchFamily="34" charset="-127"/>
                <a:cs typeface="Times New Roman" pitchFamily="18" charset="0"/>
              </a:rPr>
              <a:t>những giải thích về Device (thiết bị) dưới đây, cái nào là kết nối </a:t>
            </a:r>
            <a:r>
              <a:rPr kumimoji="1" lang="vi-VN" altLang="ko-KR" sz="950" b="1">
                <a:latin typeface="Times New Roman" pitchFamily="18" charset="0"/>
                <a:ea typeface="LG Smart_H Regular" panose="020B0600000101010101" pitchFamily="34" charset="-127"/>
                <a:cs typeface="Times New Roman" pitchFamily="18" charset="0"/>
              </a:rPr>
              <a:t>không đúng</a:t>
            </a:r>
            <a:r>
              <a:rPr kumimoji="1" lang="vi-VN" altLang="ko-KR" sz="950">
                <a:latin typeface="Times New Roman" pitchFamily="18" charset="0"/>
                <a:ea typeface="LG Smart_H Regular" panose="020B0600000101010101" pitchFamily="34" charset="-127"/>
                <a:cs typeface="Times New Roman" pitchFamily="18" charset="0"/>
              </a:rPr>
              <a:t>? </a:t>
            </a:r>
            <a:endParaRPr kumimoji="1" lang="en-US" altLang="ko-KR" sz="95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ko-KR" sz="950">
                <a:latin typeface="Times New Roman" pitchFamily="18" charset="0"/>
                <a:ea typeface="LG Smart_H Regular" panose="020B0600000101010101" pitchFamily="34" charset="-127"/>
                <a:cs typeface="Times New Roman" pitchFamily="18" charset="0"/>
              </a:rPr>
              <a:t>F – Annunciator</a:t>
            </a:r>
            <a:endParaRPr kumimoji="1" lang="en-US" altLang="ko-KR" sz="95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ko-KR" sz="950">
                <a:latin typeface="Times New Roman" pitchFamily="18" charset="0"/>
                <a:ea typeface="LG Smart_H Regular" panose="020B0600000101010101" pitchFamily="34" charset="-127"/>
                <a:cs typeface="Times New Roman" pitchFamily="18" charset="0"/>
              </a:rPr>
              <a:t>R – File </a:t>
            </a:r>
            <a:r>
              <a:rPr kumimoji="1" lang="vi-VN" altLang="ko-KR" sz="950" smtClean="0">
                <a:latin typeface="Times New Roman" pitchFamily="18" charset="0"/>
                <a:ea typeface="LG Smart_H Regular" panose="020B0600000101010101" pitchFamily="34" charset="-127"/>
                <a:cs typeface="Times New Roman" pitchFamily="18" charset="0"/>
              </a:rPr>
              <a:t>Resister</a:t>
            </a:r>
            <a:endParaRPr kumimoji="1" lang="en-US" altLang="ko-KR" sz="950" smtClean="0">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ko-KR" sz="950">
                <a:solidFill>
                  <a:srgbClr val="FF0000"/>
                </a:solidFill>
                <a:latin typeface="Times New Roman" pitchFamily="18" charset="0"/>
                <a:ea typeface="LG Smart_H Regular" panose="020B0600000101010101" pitchFamily="34" charset="-127"/>
                <a:cs typeface="Times New Roman" pitchFamily="18" charset="0"/>
              </a:rPr>
              <a:t>W – Link </a:t>
            </a:r>
            <a:r>
              <a:rPr kumimoji="1" lang="vi-VN" altLang="ko-KR" sz="950" smtClean="0">
                <a:solidFill>
                  <a:srgbClr val="FF0000"/>
                </a:solidFill>
                <a:latin typeface="Times New Roman" pitchFamily="18" charset="0"/>
                <a:ea typeface="LG Smart_H Regular" panose="020B0600000101010101" pitchFamily="34" charset="-127"/>
                <a:cs typeface="Times New Roman" pitchFamily="18" charset="0"/>
              </a:rPr>
              <a:t>Relay</a:t>
            </a:r>
            <a:endParaRPr kumimoji="1"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pPr>
            <a:r>
              <a:rPr kumimoji="1" lang="vi-VN" altLang="ko-KR" sz="950" smtClean="0">
                <a:latin typeface="Times New Roman" pitchFamily="18" charset="0"/>
                <a:ea typeface="LG Smart_H Regular" panose="020B0600000101010101" pitchFamily="34" charset="-127"/>
                <a:cs typeface="Times New Roman" pitchFamily="18" charset="0"/>
              </a:rPr>
              <a:t>Z </a:t>
            </a:r>
            <a:r>
              <a:rPr kumimoji="1" lang="vi-VN" altLang="ko-KR" sz="950">
                <a:latin typeface="Times New Roman" pitchFamily="18" charset="0"/>
                <a:ea typeface="LG Smart_H Regular" panose="020B0600000101010101" pitchFamily="34" charset="-127"/>
                <a:cs typeface="Times New Roman" pitchFamily="18" charset="0"/>
              </a:rPr>
              <a:t>– Index </a:t>
            </a:r>
            <a:r>
              <a:rPr kumimoji="1" lang="vi-VN" altLang="ko-KR" sz="950" smtClean="0">
                <a:latin typeface="Times New Roman" pitchFamily="18" charset="0"/>
                <a:ea typeface="LG Smart_H Regular" panose="020B0600000101010101" pitchFamily="34" charset="-127"/>
                <a:cs typeface="Times New Roman" pitchFamily="18" charset="0"/>
              </a:rPr>
              <a:t>Resister</a:t>
            </a:r>
            <a:endParaRPr kumimoji="1" lang="vi-VN" altLang="ko-KR" sz="950">
              <a:latin typeface="Times New Roman" pitchFamily="18" charset="0"/>
              <a:ea typeface="LG Smart_H Regular" panose="020B0600000101010101" pitchFamily="34" charset="-127"/>
              <a:cs typeface="Times New Roman" pitchFamily="18" charset="0"/>
            </a:endParaRPr>
          </a:p>
        </p:txBody>
      </p:sp>
      <p:sp>
        <p:nvSpPr>
          <p:cNvPr id="105" name="Rectangle 111"/>
          <p:cNvSpPr>
            <a:spLocks noChangeArrowheads="1"/>
          </p:cNvSpPr>
          <p:nvPr/>
        </p:nvSpPr>
        <p:spPr bwMode="auto">
          <a:xfrm>
            <a:off x="3414985" y="1032401"/>
            <a:ext cx="3254375"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mtClean="0">
                <a:solidFill>
                  <a:srgbClr val="000000"/>
                </a:solidFill>
                <a:latin typeface="Times New Roman" pitchFamily="18" charset="0"/>
                <a:ea typeface="LG Smart_H Regular" panose="020B0600000101010101" pitchFamily="34" charset="-127"/>
                <a:cs typeface="Times New Roman" pitchFamily="18" charset="0"/>
              </a:rPr>
              <a:t>36. </a:t>
            </a:r>
            <a:r>
              <a:rPr lang="vi-VN" altLang="ko-KR" dirty="0">
                <a:solidFill>
                  <a:srgbClr val="000000"/>
                </a:solidFill>
                <a:latin typeface="Times New Roman" pitchFamily="18" charset="0"/>
                <a:ea typeface="LG Smart_H Regular" panose="020B0600000101010101" pitchFamily="34" charset="-127"/>
                <a:cs typeface="Times New Roman" pitchFamily="18" charset="0"/>
              </a:rPr>
              <a:t>Tuổi thọ của </a:t>
            </a:r>
            <a:r>
              <a:rPr lang="en-US" altLang="ko-KR" dirty="0">
                <a:solidFill>
                  <a:srgbClr val="000000"/>
                </a:solidFill>
                <a:latin typeface="Times New Roman" pitchFamily="18" charset="0"/>
                <a:ea typeface="LG Smart_H Regular" panose="020B0600000101010101" pitchFamily="34" charset="-127"/>
                <a:cs typeface="Times New Roman" pitchFamily="18" charset="0"/>
              </a:rPr>
              <a:t>Q6BA</a:t>
            </a:r>
            <a:r>
              <a:rPr lang="vi-VN" altLang="ko-KR" dirty="0">
                <a:solidFill>
                  <a:srgbClr val="000000"/>
                </a:solidFill>
                <a:latin typeface="Times New Roman" pitchFamily="18" charset="0"/>
                <a:ea typeface="LG Smart_H Regular" panose="020B0600000101010101" pitchFamily="34" charset="-127"/>
                <a:cs typeface="Times New Roman" pitchFamily="18" charset="0"/>
              </a:rPr>
              <a:t>T battery ở điều kiện dưới đây là bao nhiêu</a:t>
            </a:r>
            <a:r>
              <a:rPr lang="en-US" altLang="ko-KR">
                <a:solidFill>
                  <a:srgbClr val="000000"/>
                </a:solidFill>
                <a:latin typeface="Times New Roman" pitchFamily="18" charset="0"/>
                <a:ea typeface="LG Smart_H Regular" panose="020B0600000101010101" pitchFamily="34" charset="-127"/>
                <a:cs typeface="Times New Roman" pitchFamily="18" charset="0"/>
              </a:rPr>
              <a:t>?   </a:t>
            </a:r>
            <a:endParaRPr lang="en-US" altLang="ko-KR" dirty="0">
              <a:solidFill>
                <a:srgbClr val="00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a:solidFill>
                  <a:srgbClr val="000000"/>
                </a:solidFill>
                <a:latin typeface="Times New Roman" pitchFamily="18" charset="0"/>
                <a:ea typeface="LG Smart_H Regular" panose="020B0600000101010101" pitchFamily="34" charset="-127"/>
                <a:cs typeface="Times New Roman" pitchFamily="18" charset="0"/>
              </a:rPr>
              <a:t> </a:t>
            </a:r>
            <a:r>
              <a:rPr lang="en-US" altLang="ko-KR" smtClean="0">
                <a:solidFill>
                  <a:srgbClr val="000000"/>
                </a:solidFill>
                <a:latin typeface="Times New Roman" pitchFamily="18" charset="0"/>
                <a:ea typeface="LG Smart_H Regular" panose="020B0600000101010101" pitchFamily="34" charset="-127"/>
                <a:cs typeface="Times New Roman" pitchFamily="18" charset="0"/>
              </a:rPr>
              <a:t> </a:t>
            </a:r>
            <a:r>
              <a:rPr lang="en-US" altLang="ko-KR" dirty="0">
                <a:solidFill>
                  <a:srgbClr val="000000"/>
                </a:solidFill>
                <a:latin typeface="Times New Roman" pitchFamily="18" charset="0"/>
                <a:ea typeface="LG Smart_H Regular" panose="020B0600000101010101" pitchFamily="34" charset="-127"/>
                <a:cs typeface="Times New Roman" pitchFamily="18" charset="0"/>
              </a:rPr>
              <a:t>(</a:t>
            </a:r>
            <a:r>
              <a:rPr lang="vi-VN" altLang="ko-KR" dirty="0">
                <a:solidFill>
                  <a:srgbClr val="000000"/>
                </a:solidFill>
                <a:latin typeface="Times New Roman" pitchFamily="18" charset="0"/>
                <a:ea typeface="LG Smart_H Regular" panose="020B0600000101010101" pitchFamily="34" charset="-127"/>
                <a:cs typeface="Times New Roman" pitchFamily="18" charset="0"/>
              </a:rPr>
              <a:t>Trường hợp kết nối với Mode CPU và hoạt động liên </a:t>
            </a:r>
            <a:r>
              <a:rPr lang="vi-VN" altLang="ko-KR">
                <a:solidFill>
                  <a:srgbClr val="000000"/>
                </a:solidFill>
                <a:latin typeface="Times New Roman" pitchFamily="18" charset="0"/>
                <a:ea typeface="LG Smart_H Regular" panose="020B0600000101010101" pitchFamily="34" charset="-127"/>
                <a:cs typeface="Times New Roman" pitchFamily="18" charset="0"/>
              </a:rPr>
              <a:t>tục </a:t>
            </a:r>
            <a:r>
              <a:rPr lang="en-US" altLang="ko-KR" smtClean="0">
                <a:solidFill>
                  <a:srgbClr val="000000"/>
                </a:solidFill>
                <a:latin typeface="Times New Roman" pitchFamily="18" charset="0"/>
                <a:ea typeface="LG Smart_H Regular" panose="020B0600000101010101" pitchFamily="34" charset="-127"/>
                <a:cs typeface="Times New Roman" pitchFamily="18" charset="0"/>
              </a:rPr>
              <a:t>)</a:t>
            </a:r>
            <a:endParaRPr lang="en-US" altLang="ko-KR" dirty="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mtClean="0">
                <a:solidFill>
                  <a:srgbClr val="000000"/>
                </a:solidFill>
                <a:latin typeface="Times New Roman" pitchFamily="18" charset="0"/>
                <a:ea typeface="LG Smart_H Regular" panose="020B0600000101010101" pitchFamily="34" charset="-127"/>
                <a:cs typeface="Times New Roman" pitchFamily="18" charset="0"/>
              </a:rPr>
              <a:t>1.3</a:t>
            </a:r>
            <a:r>
              <a:rPr lang="vi-VN" altLang="ko-KR"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a:solidFill>
                  <a:srgbClr val="000000"/>
                </a:solidFill>
                <a:latin typeface="Times New Roman" pitchFamily="18" charset="0"/>
                <a:ea typeface="LG Smart_H Regular" panose="020B0600000101010101" pitchFamily="34" charset="-127"/>
                <a:cs typeface="Times New Roman" pitchFamily="18" charset="0"/>
              </a:rPr>
              <a:t>năm </a:t>
            </a:r>
            <a:r>
              <a:rPr lang="ko-KR" altLang="en-US">
                <a:solidFill>
                  <a:srgbClr val="000000"/>
                </a:solidFill>
                <a:latin typeface="Times New Roman" pitchFamily="18" charset="0"/>
                <a:ea typeface="LG Smart_H Regular" panose="020B0600000101010101" pitchFamily="34" charset="-127"/>
                <a:cs typeface="Times New Roman" pitchFamily="18" charset="0"/>
              </a:rPr>
              <a:t>                              </a:t>
            </a:r>
            <a:endParaRPr lang="en-US" altLang="ko-KR"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mtClean="0">
                <a:solidFill>
                  <a:srgbClr val="000000"/>
                </a:solidFill>
                <a:latin typeface="Times New Roman" pitchFamily="18" charset="0"/>
                <a:ea typeface="LG Smart_H Regular" panose="020B0600000101010101" pitchFamily="34" charset="-127"/>
                <a:cs typeface="Times New Roman" pitchFamily="18" charset="0"/>
              </a:rPr>
              <a:t>4.5</a:t>
            </a:r>
            <a:r>
              <a:rPr lang="vi-VN" altLang="ko-KR"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a:solidFill>
                  <a:srgbClr val="000000"/>
                </a:solidFill>
                <a:latin typeface="Times New Roman" pitchFamily="18" charset="0"/>
                <a:ea typeface="LG Smart_H Regular" panose="020B0600000101010101" pitchFamily="34" charset="-127"/>
                <a:cs typeface="Times New Roman" pitchFamily="18" charset="0"/>
              </a:rPr>
              <a:t>năm </a:t>
            </a:r>
            <a:endParaRPr lang="en-US" altLang="ko-KR" dirty="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mtClean="0">
                <a:solidFill>
                  <a:srgbClr val="000000"/>
                </a:solidFill>
                <a:latin typeface="Times New Roman" pitchFamily="18" charset="0"/>
                <a:ea typeface="LG Smart_H Regular" panose="020B0600000101010101" pitchFamily="34" charset="-127"/>
                <a:cs typeface="Times New Roman" pitchFamily="18" charset="0"/>
              </a:rPr>
              <a:t>9</a:t>
            </a:r>
            <a:r>
              <a:rPr lang="vi-VN" altLang="ko-KR"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a:solidFill>
                  <a:srgbClr val="000000"/>
                </a:solidFill>
                <a:latin typeface="Times New Roman" pitchFamily="18" charset="0"/>
                <a:ea typeface="LG Smart_H Regular" panose="020B0600000101010101" pitchFamily="34" charset="-127"/>
                <a:cs typeface="Times New Roman" pitchFamily="18" charset="0"/>
              </a:rPr>
              <a:t>năm </a:t>
            </a:r>
            <a:r>
              <a:rPr lang="ko-KR" altLang="en-US">
                <a:solidFill>
                  <a:srgbClr val="000000"/>
                </a:solidFill>
                <a:latin typeface="Times New Roman" pitchFamily="18" charset="0"/>
                <a:ea typeface="LG Smart_H Regular" panose="020B0600000101010101" pitchFamily="34" charset="-127"/>
                <a:cs typeface="Times New Roman" pitchFamily="18" charset="0"/>
              </a:rPr>
              <a:t>                             </a:t>
            </a:r>
            <a:endParaRPr lang="en-US" altLang="ko-KR"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mtClean="0">
                <a:solidFill>
                  <a:srgbClr val="FF0000"/>
                </a:solidFill>
                <a:latin typeface="Times New Roman" pitchFamily="18" charset="0"/>
                <a:ea typeface="LG Smart_H Regular" panose="020B0600000101010101" pitchFamily="34" charset="-127"/>
                <a:cs typeface="Times New Roman" pitchFamily="18" charset="0"/>
              </a:rPr>
              <a:t>10</a:t>
            </a:r>
            <a:r>
              <a:rPr lang="vi-VN" altLang="ko-KR" smtClean="0">
                <a:solidFill>
                  <a:srgbClr val="FF0000"/>
                </a:solidFill>
                <a:latin typeface="Times New Roman" pitchFamily="18" charset="0"/>
                <a:ea typeface="LG Smart_H Regular" panose="020B0600000101010101" pitchFamily="34" charset="-127"/>
                <a:cs typeface="Times New Roman" pitchFamily="18" charset="0"/>
              </a:rPr>
              <a:t> </a:t>
            </a:r>
            <a:r>
              <a:rPr lang="vi-VN" altLang="ko-KR" dirty="0">
                <a:solidFill>
                  <a:srgbClr val="FF0000"/>
                </a:solidFill>
                <a:latin typeface="Times New Roman" pitchFamily="18" charset="0"/>
                <a:ea typeface="LG Smart_H Regular" panose="020B0600000101010101" pitchFamily="34" charset="-127"/>
                <a:cs typeface="Times New Roman" pitchFamily="18" charset="0"/>
              </a:rPr>
              <a:t>năm</a:t>
            </a:r>
            <a:endParaRPr lang="ko-KR" altLang="en-US"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109" name="Rectangle 219"/>
          <p:cNvSpPr>
            <a:spLocks noChangeArrowheads="1"/>
          </p:cNvSpPr>
          <p:nvPr/>
        </p:nvSpPr>
        <p:spPr bwMode="auto">
          <a:xfrm>
            <a:off x="3421992" y="2885339"/>
            <a:ext cx="3254375"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37. </a:t>
            </a:r>
            <a:r>
              <a:rPr lang="vi-VN" altLang="ko-KR" sz="950" smtClean="0">
                <a:latin typeface="Times New Roman" pitchFamily="18" charset="0"/>
                <a:ea typeface="LG Smart_H Regular" panose="020B0600000101010101" pitchFamily="34" charset="-127"/>
                <a:cs typeface="Times New Roman" pitchFamily="18" charset="0"/>
              </a:rPr>
              <a:t>Đ</a:t>
            </a:r>
            <a:r>
              <a:rPr lang="en-US" altLang="ko-KR" sz="950" smtClean="0">
                <a:latin typeface="Times New Roman" pitchFamily="18" charset="0"/>
                <a:ea typeface="LG Smart_H Regular" panose="020B0600000101010101" pitchFamily="34" charset="-127"/>
                <a:cs typeface="Times New Roman" pitchFamily="18" charset="0"/>
              </a:rPr>
              <a:t>áp án nào </a:t>
            </a:r>
            <a:r>
              <a:rPr lang="vi-VN" altLang="ko-KR" sz="950" b="1" smtClean="0">
                <a:latin typeface="Times New Roman" pitchFamily="18" charset="0"/>
                <a:ea typeface="LG Smart_H Regular" panose="020B0600000101010101" pitchFamily="34" charset="-127"/>
                <a:cs typeface="Times New Roman" pitchFamily="18" charset="0"/>
              </a:rPr>
              <a:t>không </a:t>
            </a:r>
            <a:r>
              <a:rPr lang="vi-VN" altLang="ko-KR" sz="950" b="1" dirty="0">
                <a:latin typeface="Times New Roman" pitchFamily="18" charset="0"/>
                <a:ea typeface="LG Smart_H Regular" panose="020B0600000101010101" pitchFamily="34" charset="-127"/>
                <a:cs typeface="Times New Roman" pitchFamily="18" charset="0"/>
              </a:rPr>
              <a:t>phải </a:t>
            </a:r>
            <a:r>
              <a:rPr lang="vi-VN" altLang="ko-KR" sz="950" dirty="0">
                <a:latin typeface="Times New Roman" pitchFamily="18" charset="0"/>
                <a:ea typeface="LG Smart_H Regular" panose="020B0600000101010101" pitchFamily="34" charset="-127"/>
                <a:cs typeface="Times New Roman" pitchFamily="18" charset="0"/>
              </a:rPr>
              <a:t>là tín hiệu đầu vào </a:t>
            </a:r>
            <a:r>
              <a:rPr lang="en-US" altLang="ko-KR" sz="950" dirty="0">
                <a:latin typeface="Times New Roman" pitchFamily="18" charset="0"/>
                <a:ea typeface="LG Smart_H Regular" panose="020B0600000101010101" pitchFamily="34" charset="-127"/>
                <a:cs typeface="Times New Roman" pitchFamily="18" charset="0"/>
              </a:rPr>
              <a:t>Analog ?          </a:t>
            </a:r>
          </a:p>
          <a:p>
            <a:pPr marL="228600" indent="-228600" eaLnBrk="1" fontAlgn="base" hangingPunct="1">
              <a:spcBef>
                <a:spcPct val="0"/>
              </a:spcBef>
              <a:spcAft>
                <a:spcPct val="0"/>
              </a:spcAft>
              <a:buFont typeface="+mj-lt"/>
              <a:buAutoNum type="alphaUcPeriod"/>
            </a:pP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Số </a:t>
            </a:r>
            <a:r>
              <a:rPr lang="vi-VN" altLang="ko-KR" sz="950" dirty="0">
                <a:solidFill>
                  <a:srgbClr val="FF0000"/>
                </a:solidFill>
                <a:latin typeface="Times New Roman" pitchFamily="18" charset="0"/>
                <a:ea typeface="LG Smart_H Regular" panose="020B0600000101010101" pitchFamily="34" charset="-127"/>
                <a:cs typeface="Times New Roman" pitchFamily="18" charset="0"/>
              </a:rPr>
              <a:t>vòng quay </a:t>
            </a:r>
            <a:r>
              <a:rPr lang="vi-VN" altLang="ko-KR" sz="950">
                <a:solidFill>
                  <a:srgbClr val="FF0000"/>
                </a:solidFill>
                <a:latin typeface="Times New Roman" pitchFamily="18" charset="0"/>
                <a:ea typeface="LG Smart_H Regular" panose="020B0600000101010101" pitchFamily="34" charset="-127"/>
                <a:cs typeface="Times New Roman" pitchFamily="18" charset="0"/>
              </a:rPr>
              <a:t>motor </a:t>
            </a:r>
            <a:r>
              <a:rPr lang="ko-KR" altLang="en-US" sz="950">
                <a:solidFill>
                  <a:srgbClr val="FF0000"/>
                </a:solidFill>
                <a:latin typeface="Times New Roman" pitchFamily="18" charset="0"/>
                <a:ea typeface="LG Smart_H Regular" panose="020B0600000101010101" pitchFamily="34" charset="-127"/>
                <a:cs typeface="Times New Roman" pitchFamily="18" charset="0"/>
              </a:rPr>
              <a:t>               </a:t>
            </a:r>
            <a:r>
              <a:rPr lang="vi-VN" altLang="ko-KR" sz="950">
                <a:solidFill>
                  <a:srgbClr val="FF0000"/>
                </a:solidFill>
                <a:latin typeface="Times New Roman" pitchFamily="18" charset="0"/>
                <a:ea typeface="LG Smart_H Regular" panose="020B0600000101010101" pitchFamily="34" charset="-127"/>
                <a:cs typeface="Times New Roman" pitchFamily="18" charset="0"/>
              </a:rPr>
              <a:t>          </a:t>
            </a:r>
            <a:r>
              <a:rPr lang="ko-KR" altLang="en-US" sz="950">
                <a:solidFill>
                  <a:srgbClr val="FF0000"/>
                </a:solidFill>
                <a:latin typeface="Times New Roman" pitchFamily="18" charset="0"/>
                <a:ea typeface="LG Smart_H Regular" panose="020B0600000101010101" pitchFamily="34" charset="-127"/>
                <a:cs typeface="Times New Roman" pitchFamily="18" charset="0"/>
              </a:rPr>
              <a:t>  </a:t>
            </a:r>
            <a:endParaRPr lang="en-US" altLang="ko-KR" sz="95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Nhiệt </a:t>
            </a:r>
            <a:r>
              <a:rPr lang="vi-VN" altLang="ko-KR" sz="950">
                <a:latin typeface="Times New Roman" pitchFamily="18" charset="0"/>
                <a:ea typeface="LG Smart_H Regular" panose="020B0600000101010101" pitchFamily="34" charset="-127"/>
                <a:cs typeface="Times New Roman" pitchFamily="18" charset="0"/>
              </a:rPr>
              <a:t>độ </a:t>
            </a:r>
            <a:r>
              <a:rPr lang="ko-KR" altLang="en-US" sz="95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Dung </a:t>
            </a:r>
            <a:r>
              <a:rPr lang="vi-VN" altLang="ko-KR" sz="950">
                <a:latin typeface="Times New Roman" pitchFamily="18" charset="0"/>
                <a:ea typeface="LG Smart_H Regular" panose="020B0600000101010101" pitchFamily="34" charset="-127"/>
                <a:cs typeface="Times New Roman" pitchFamily="18" charset="0"/>
              </a:rPr>
              <a:t>lượng</a:t>
            </a:r>
            <a:r>
              <a:rPr lang="ko-KR" altLang="en-US"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             </a:t>
            </a:r>
            <a:r>
              <a:rPr lang="ko-KR" altLang="en-US" sz="95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Điện </a:t>
            </a:r>
            <a:r>
              <a:rPr lang="vi-VN" altLang="ko-KR" sz="950" dirty="0">
                <a:latin typeface="Times New Roman" pitchFamily="18" charset="0"/>
                <a:ea typeface="LG Smart_H Regular" panose="020B0600000101010101" pitchFamily="34" charset="-127"/>
                <a:cs typeface="Times New Roman" pitchFamily="18" charset="0"/>
              </a:rPr>
              <a:t>áp </a:t>
            </a:r>
            <a:r>
              <a:rPr lang="ko-KR" altLang="en-US" sz="950" dirty="0">
                <a:latin typeface="Times New Roman" pitchFamily="18" charset="0"/>
                <a:ea typeface="LG Smart_H Regular" panose="020B0600000101010101" pitchFamily="34" charset="-127"/>
                <a:cs typeface="Times New Roman" pitchFamily="18" charset="0"/>
              </a:rPr>
              <a:t> </a:t>
            </a:r>
          </a:p>
        </p:txBody>
      </p:sp>
      <p:sp>
        <p:nvSpPr>
          <p:cNvPr id="110" name="Rectangle 44"/>
          <p:cNvSpPr>
            <a:spLocks noChangeArrowheads="1"/>
          </p:cNvSpPr>
          <p:nvPr/>
        </p:nvSpPr>
        <p:spPr bwMode="auto">
          <a:xfrm>
            <a:off x="3460784" y="4520952"/>
            <a:ext cx="3208575"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38.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Nội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dung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sau</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giải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thích</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về</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cái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gì</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a:t>
            </a:r>
            <a:endPar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rPr>
              <a:t> [ </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Do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chỉ</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dùng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để</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đọc</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nên</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không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thể</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thay</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đổi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nội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dung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bộ</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nhớ</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Do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đó</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những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thông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tin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được</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ghi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vào</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cố</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định</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Đây</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bộ</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nhớ</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bất</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biến</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thông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tin ở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vùng</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nhớ</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này</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dù</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bị</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ngắt</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điện</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nội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dung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được</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ghi</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nhớ</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vẫn</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được</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dirty="0" err="1" smtClean="0">
                <a:solidFill>
                  <a:srgbClr val="000000"/>
                </a:solidFill>
                <a:latin typeface="Times New Roman" panose="02020603050405020304" pitchFamily="18" charset="0"/>
                <a:ea typeface="돋움" pitchFamily="50" charset="-127"/>
                <a:cs typeface="Times New Roman" panose="02020603050405020304" pitchFamily="18" charset="0"/>
              </a:rPr>
              <a:t>bảo</a:t>
            </a:r>
            <a:r>
              <a:rPr lang="en-US" altLang="ko-KR" sz="95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50" err="1" smtClean="0">
                <a:solidFill>
                  <a:srgbClr val="000000"/>
                </a:solidFill>
                <a:latin typeface="Times New Roman" panose="02020603050405020304" pitchFamily="18" charset="0"/>
                <a:ea typeface="돋움" pitchFamily="50" charset="-127"/>
                <a:cs typeface="Times New Roman" panose="02020603050405020304" pitchFamily="18" charset="0"/>
              </a:rPr>
              <a:t>toàn</a:t>
            </a: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a:t>
            </a:r>
            <a:endParaRPr lang="en-US" altLang="ko-KR" sz="950" dirty="0">
              <a:solidFill>
                <a:srgbClr val="000000"/>
              </a:solidFill>
              <a:latin typeface="Times New Roman" panose="02020603050405020304" pitchFamily="18" charset="0"/>
              <a:ea typeface="돋움" pitchFamily="50" charset="-127"/>
              <a:cs typeface="Times New Roman" panose="02020603050405020304" pitchFamily="18" charset="0"/>
            </a:endParaRPr>
          </a:p>
          <a:p>
            <a:pPr marL="228600" indent="-228600" eaLnBrk="1" hangingPunct="1">
              <a:buAutoNum type="alphaUcPeriod"/>
            </a:pPr>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ROM  </a:t>
            </a:r>
          </a:p>
          <a:p>
            <a:pPr marL="228600" indent="-228600" eaLnBrk="1" hangingPunct="1">
              <a:buAutoNum type="alphaUcPeriod"/>
            </a:pP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RAM  </a:t>
            </a:r>
          </a:p>
          <a:p>
            <a:pPr marL="228600" indent="-228600" eaLnBrk="1" hangingPunct="1">
              <a:buAutoNum type="alphaUcPeriod"/>
            </a:pP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Program Memory</a:t>
            </a:r>
            <a:r>
              <a:rPr lang="ko-KR" altLang="en-US" sz="950" smtClean="0">
                <a:solidFill>
                  <a:srgbClr val="000000"/>
                </a:solidFill>
                <a:latin typeface="Times New Roman" panose="02020603050405020304" pitchFamily="18" charset="0"/>
                <a:ea typeface="돋움" pitchFamily="50" charset="-127"/>
                <a:cs typeface="Times New Roman" panose="02020603050405020304" pitchFamily="18" charset="0"/>
              </a:rPr>
              <a:t>  </a:t>
            </a:r>
            <a:endPar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endParaRPr>
          </a:p>
          <a:p>
            <a:pPr marL="228600" indent="-228600" eaLnBrk="1" hangingPunct="1">
              <a:buAutoNum type="alphaUcPeriod"/>
            </a:pPr>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CPU</a:t>
            </a:r>
            <a:endParaRPr lang="ko-KR" altLang="en-US" sz="95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sp>
        <p:nvSpPr>
          <p:cNvPr id="32" name="Rectangle 114"/>
          <p:cNvSpPr>
            <a:spLocks noChangeArrowheads="1"/>
          </p:cNvSpPr>
          <p:nvPr/>
        </p:nvSpPr>
        <p:spPr bwMode="auto">
          <a:xfrm>
            <a:off x="188640" y="4520952"/>
            <a:ext cx="3162299"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sz="950" smtClean="0">
                <a:latin typeface="Times New Roman" pitchFamily="18" charset="0"/>
                <a:ea typeface="LG Smart_H Regular" panose="020B0600000101010101" pitchFamily="34" charset="-127"/>
                <a:cs typeface="Times New Roman" pitchFamily="18" charset="0"/>
              </a:rPr>
              <a:t>33.   </a:t>
            </a:r>
            <a:r>
              <a:rPr lang="vi-VN" sz="950" smtClean="0">
                <a:latin typeface="Times New Roman" pitchFamily="18" charset="0"/>
                <a:ea typeface="LG Smart_H Regular" panose="020B0600000101010101" pitchFamily="34" charset="-127"/>
                <a:cs typeface="Times New Roman" pitchFamily="18" charset="0"/>
              </a:rPr>
              <a:t>Vai </a:t>
            </a:r>
            <a:r>
              <a:rPr lang="vi-VN" sz="950">
                <a:latin typeface="Times New Roman" pitchFamily="18" charset="0"/>
                <a:ea typeface="LG Smart_H Regular" panose="020B0600000101010101" pitchFamily="34" charset="-127"/>
                <a:cs typeface="Times New Roman" pitchFamily="18" charset="0"/>
              </a:rPr>
              <a:t>trò của việc truyền tín hiệu Bit từ thiết </a:t>
            </a:r>
            <a:r>
              <a:rPr lang="en-US" sz="950" smtClean="0">
                <a:latin typeface="Times New Roman" pitchFamily="18" charset="0"/>
                <a:ea typeface="LG Smart_H Regular" panose="020B0600000101010101" pitchFamily="34" charset="-127"/>
                <a:cs typeface="Times New Roman" pitchFamily="18" charset="0"/>
              </a:rPr>
              <a:t> </a:t>
            </a:r>
            <a:r>
              <a:rPr lang="vi-VN" sz="950" smtClean="0">
                <a:latin typeface="Times New Roman" pitchFamily="18" charset="0"/>
                <a:ea typeface="LG Smart_H Regular" panose="020B0600000101010101" pitchFamily="34" charset="-127"/>
                <a:cs typeface="Times New Roman" pitchFamily="18" charset="0"/>
              </a:rPr>
              <a:t>bị </a:t>
            </a:r>
            <a:r>
              <a:rPr lang="vi-VN" sz="950">
                <a:latin typeface="Times New Roman" pitchFamily="18" charset="0"/>
                <a:ea typeface="LG Smart_H Regular" panose="020B0600000101010101" pitchFamily="34" charset="-127"/>
                <a:cs typeface="Times New Roman" pitchFamily="18" charset="0"/>
              </a:rPr>
              <a:t>bên</a:t>
            </a:r>
            <a:r>
              <a:rPr lang="en-US" sz="950">
                <a:latin typeface="Times New Roman" pitchFamily="18" charset="0"/>
                <a:ea typeface="LG Smart_H Regular" panose="020B0600000101010101" pitchFamily="34" charset="-127"/>
                <a:cs typeface="Times New Roman" pitchFamily="18" charset="0"/>
              </a:rPr>
              <a:t> </a:t>
            </a:r>
            <a:r>
              <a:rPr lang="vi-VN" sz="950" smtClean="0">
                <a:latin typeface="Times New Roman" pitchFamily="18" charset="0"/>
                <a:ea typeface="LG Smart_H Regular" panose="020B0600000101010101" pitchFamily="34" charset="-127"/>
                <a:cs typeface="Times New Roman" pitchFamily="18" charset="0"/>
              </a:rPr>
              <a:t>ngoài </a:t>
            </a:r>
            <a:r>
              <a:rPr lang="vi-VN" sz="950">
                <a:latin typeface="Times New Roman" pitchFamily="18" charset="0"/>
                <a:ea typeface="LG Smart_H Regular" panose="020B0600000101010101" pitchFamily="34" charset="-127"/>
                <a:cs typeface="Times New Roman" pitchFamily="18" charset="0"/>
              </a:rPr>
              <a:t>đến phần tính toán của CPU là gì</a:t>
            </a:r>
            <a:r>
              <a:rPr lang="en-US" sz="95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   </a:t>
            </a:r>
          </a:p>
          <a:p>
            <a:pPr marL="228600" indent="-228600" eaLnBrk="1" fontAlgn="base" hangingPunct="1">
              <a:spcBef>
                <a:spcPct val="0"/>
              </a:spcBef>
              <a:spcAft>
                <a:spcPct val="0"/>
              </a:spcAft>
              <a:buFont typeface="+mj-l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Unit</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đầu vào </a:t>
            </a:r>
            <a:r>
              <a:rPr lang="vi-VN" altLang="ko-KR" sz="950" smtClean="0">
                <a:latin typeface="Times New Roman" pitchFamily="18" charset="0"/>
                <a:ea typeface="LG Smart_H Regular" panose="020B0600000101010101" pitchFamily="34" charset="-127"/>
                <a:cs typeface="Times New Roman" pitchFamily="18" charset="0"/>
              </a:rPr>
              <a:t>Analog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Unit  </a:t>
            </a:r>
            <a:r>
              <a:rPr lang="vi-VN" altLang="ko-KR" sz="950">
                <a:latin typeface="Times New Roman" pitchFamily="18" charset="0"/>
                <a:ea typeface="LG Smart_H Regular" panose="020B0600000101010101" pitchFamily="34" charset="-127"/>
                <a:cs typeface="Times New Roman" pitchFamily="18" charset="0"/>
              </a:rPr>
              <a:t>đầu ra </a:t>
            </a:r>
            <a:r>
              <a:rPr lang="vi-VN" altLang="ko-KR" sz="950" smtClean="0">
                <a:latin typeface="Times New Roman" pitchFamily="18" charset="0"/>
                <a:ea typeface="LG Smart_H Regular" panose="020B0600000101010101" pitchFamily="34" charset="-127"/>
                <a:cs typeface="Times New Roman" pitchFamily="18" charset="0"/>
              </a:rPr>
              <a:t>Digital</a:t>
            </a: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Unit </a:t>
            </a:r>
            <a:r>
              <a:rPr lang="vi-VN" altLang="ko-KR" sz="950">
                <a:latin typeface="Times New Roman" pitchFamily="18" charset="0"/>
                <a:ea typeface="LG Smart_H Regular" panose="020B0600000101010101" pitchFamily="34" charset="-127"/>
                <a:cs typeface="Times New Roman" pitchFamily="18" charset="0"/>
              </a:rPr>
              <a:t>đầu ra </a:t>
            </a:r>
            <a:r>
              <a:rPr lang="en-US" altLang="ko-KR" sz="950">
                <a:latin typeface="Times New Roman" pitchFamily="18" charset="0"/>
                <a:ea typeface="LG Smart_H Regular" panose="020B0600000101010101" pitchFamily="34" charset="-127"/>
                <a:cs typeface="Times New Roman" pitchFamily="18" charset="0"/>
              </a:rPr>
              <a:t>Analog</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p>
          <a:p>
            <a:pPr marL="228600" indent="-228600" eaLnBrk="1" fontAlgn="base" hangingPunct="1">
              <a:spcBef>
                <a:spcPct val="0"/>
              </a:spcBef>
              <a:spcAft>
                <a:spcPct val="0"/>
              </a:spcAft>
              <a:buFont typeface="+mj-l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Unit</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vi-VN" altLang="ko-KR" sz="950">
                <a:solidFill>
                  <a:srgbClr val="FF0000"/>
                </a:solidFill>
                <a:latin typeface="Times New Roman" pitchFamily="18" charset="0"/>
                <a:ea typeface="LG Smart_H Regular" panose="020B0600000101010101" pitchFamily="34" charset="-127"/>
                <a:cs typeface="Times New Roman" pitchFamily="18" charset="0"/>
              </a:rPr>
              <a:t>đầu vào Digital</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p:txBody>
      </p:sp>
      <p:grpSp>
        <p:nvGrpSpPr>
          <p:cNvPr id="33" name="Group 32"/>
          <p:cNvGrpSpPr/>
          <p:nvPr/>
        </p:nvGrpSpPr>
        <p:grpSpPr>
          <a:xfrm>
            <a:off x="159196" y="943923"/>
            <a:ext cx="3191526" cy="1846659"/>
            <a:chOff x="3315506" y="1044331"/>
            <a:chExt cx="3191526" cy="1846659"/>
          </a:xfrm>
        </p:grpSpPr>
        <p:sp>
          <p:nvSpPr>
            <p:cNvPr id="34" name="Rectangle 9"/>
            <p:cNvSpPr>
              <a:spLocks noChangeArrowheads="1"/>
            </p:cNvSpPr>
            <p:nvPr/>
          </p:nvSpPr>
          <p:spPr bwMode="auto">
            <a:xfrm>
              <a:off x="3475830" y="1429751"/>
              <a:ext cx="3025776" cy="809626"/>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35" name="Line 10"/>
            <p:cNvSpPr>
              <a:spLocks noChangeShapeType="1"/>
            </p:cNvSpPr>
            <p:nvPr/>
          </p:nvSpPr>
          <p:spPr bwMode="auto">
            <a:xfrm>
              <a:off x="3822503" y="1428150"/>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6" name="Line 11"/>
            <p:cNvSpPr>
              <a:spLocks noChangeShapeType="1"/>
            </p:cNvSpPr>
            <p:nvPr/>
          </p:nvSpPr>
          <p:spPr bwMode="auto">
            <a:xfrm>
              <a:off x="4107382" y="1423639"/>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7" name="Line 12"/>
            <p:cNvSpPr>
              <a:spLocks noChangeShapeType="1"/>
            </p:cNvSpPr>
            <p:nvPr/>
          </p:nvSpPr>
          <p:spPr bwMode="auto">
            <a:xfrm>
              <a:off x="4467745" y="1423639"/>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8" name="Line 13"/>
            <p:cNvSpPr>
              <a:spLocks noChangeShapeType="1"/>
            </p:cNvSpPr>
            <p:nvPr/>
          </p:nvSpPr>
          <p:spPr bwMode="auto">
            <a:xfrm>
              <a:off x="4812786" y="1428150"/>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9" name="Line 14"/>
            <p:cNvSpPr>
              <a:spLocks noChangeShapeType="1"/>
            </p:cNvSpPr>
            <p:nvPr/>
          </p:nvSpPr>
          <p:spPr bwMode="auto">
            <a:xfrm>
              <a:off x="5120761" y="1428150"/>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40" name="Line 21"/>
            <p:cNvSpPr>
              <a:spLocks noChangeShapeType="1"/>
            </p:cNvSpPr>
            <p:nvPr/>
          </p:nvSpPr>
          <p:spPr bwMode="auto">
            <a:xfrm>
              <a:off x="5479536" y="1428150"/>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41" name="Line 23"/>
            <p:cNvSpPr>
              <a:spLocks noChangeShapeType="1"/>
            </p:cNvSpPr>
            <p:nvPr/>
          </p:nvSpPr>
          <p:spPr bwMode="auto">
            <a:xfrm>
              <a:off x="5828786" y="1428150"/>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42" name="Line 26"/>
            <p:cNvSpPr>
              <a:spLocks noChangeShapeType="1"/>
            </p:cNvSpPr>
            <p:nvPr/>
          </p:nvSpPr>
          <p:spPr bwMode="auto">
            <a:xfrm>
              <a:off x="6179624" y="1428150"/>
              <a:ext cx="0" cy="80962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43" name="Text Box 15"/>
            <p:cNvSpPr txBox="1">
              <a:spLocks noChangeArrowheads="1"/>
            </p:cNvSpPr>
            <p:nvPr/>
          </p:nvSpPr>
          <p:spPr bwMode="auto">
            <a:xfrm>
              <a:off x="3329770" y="1413252"/>
              <a:ext cx="474663" cy="10617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800" smtClean="0">
                  <a:latin typeface="Times New Roman" pitchFamily="18" charset="0"/>
                  <a:cs typeface="Times New Roman" pitchFamily="18" charset="0"/>
                </a:rPr>
                <a:t>UNIT</a:t>
              </a:r>
              <a:r>
                <a:rPr lang="vi-VN" altLang="ko-KR" sz="800" smtClean="0">
                  <a:latin typeface="Times New Roman" pitchFamily="18" charset="0"/>
                  <a:cs typeface="Times New Roman" pitchFamily="18" charset="0"/>
                </a:rPr>
                <a:t> ngu</a:t>
              </a:r>
              <a:r>
                <a:rPr lang="en-US" altLang="ko-KR" sz="800" smtClean="0">
                  <a:latin typeface="Times New Roman" pitchFamily="18" charset="0"/>
                  <a:cs typeface="Times New Roman" pitchFamily="18" charset="0"/>
                </a:rPr>
                <a:t>ồ</a:t>
              </a:r>
              <a:r>
                <a:rPr lang="vi-VN" altLang="ko-KR" sz="800" smtClean="0">
                  <a:latin typeface="Times New Roman" pitchFamily="18" charset="0"/>
                  <a:cs typeface="Times New Roman" pitchFamily="18" charset="0"/>
                </a:rPr>
                <a:t>n </a:t>
              </a:r>
              <a:r>
                <a:rPr lang="vi-VN" altLang="ko-KR" sz="800" dirty="0" smtClean="0">
                  <a:latin typeface="Times New Roman" pitchFamily="18" charset="0"/>
                  <a:cs typeface="Times New Roman" pitchFamily="18" charset="0"/>
                </a:rPr>
                <a:t>điện</a:t>
              </a:r>
              <a:endParaRPr lang="en-US" altLang="ko-KR" sz="800" dirty="0" smtClean="0">
                <a:latin typeface="Times New Roman" pitchFamily="18" charset="0"/>
                <a:cs typeface="Times New Roman" pitchFamily="18" charset="0"/>
              </a:endParaRPr>
            </a:p>
          </p:txBody>
        </p:sp>
        <p:sp>
          <p:nvSpPr>
            <p:cNvPr id="44" name="Text Box 16"/>
            <p:cNvSpPr txBox="1">
              <a:spLocks noChangeArrowheads="1"/>
            </p:cNvSpPr>
            <p:nvPr/>
          </p:nvSpPr>
          <p:spPr bwMode="auto">
            <a:xfrm>
              <a:off x="3698357" y="1464126"/>
              <a:ext cx="428625" cy="49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CPU</a:t>
              </a:r>
            </a:p>
          </p:txBody>
        </p:sp>
        <p:sp>
          <p:nvSpPr>
            <p:cNvPr id="45" name="Text Box 17"/>
            <p:cNvSpPr txBox="1">
              <a:spLocks noChangeArrowheads="1"/>
            </p:cNvSpPr>
            <p:nvPr/>
          </p:nvSpPr>
          <p:spPr bwMode="auto">
            <a:xfrm>
              <a:off x="3971506" y="1459615"/>
              <a:ext cx="482600" cy="49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QX41</a:t>
              </a:r>
            </a:p>
          </p:txBody>
        </p:sp>
        <p:sp>
          <p:nvSpPr>
            <p:cNvPr id="46" name="Text Box 18"/>
            <p:cNvSpPr txBox="1">
              <a:spLocks noChangeArrowheads="1"/>
            </p:cNvSpPr>
            <p:nvPr/>
          </p:nvSpPr>
          <p:spPr bwMode="auto">
            <a:xfrm>
              <a:off x="4677842" y="1454600"/>
              <a:ext cx="474663" cy="49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QX41</a:t>
              </a:r>
            </a:p>
          </p:txBody>
        </p:sp>
        <p:sp>
          <p:nvSpPr>
            <p:cNvPr id="47" name="Text Box 19"/>
            <p:cNvSpPr txBox="1">
              <a:spLocks noChangeArrowheads="1"/>
            </p:cNvSpPr>
            <p:nvPr/>
          </p:nvSpPr>
          <p:spPr bwMode="auto">
            <a:xfrm>
              <a:off x="4323826" y="1459363"/>
              <a:ext cx="474663" cy="49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QY42</a:t>
              </a:r>
            </a:p>
          </p:txBody>
        </p:sp>
        <p:sp>
          <p:nvSpPr>
            <p:cNvPr id="48" name="Text Box 20"/>
            <p:cNvSpPr txBox="1">
              <a:spLocks noChangeArrowheads="1"/>
            </p:cNvSpPr>
            <p:nvPr/>
          </p:nvSpPr>
          <p:spPr bwMode="auto">
            <a:xfrm>
              <a:off x="5001058" y="1438133"/>
              <a:ext cx="474663" cy="49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QY42</a:t>
              </a:r>
            </a:p>
          </p:txBody>
        </p:sp>
        <p:sp>
          <p:nvSpPr>
            <p:cNvPr id="49" name="Text Box 22"/>
            <p:cNvSpPr txBox="1">
              <a:spLocks noChangeArrowheads="1"/>
            </p:cNvSpPr>
            <p:nvPr/>
          </p:nvSpPr>
          <p:spPr bwMode="auto">
            <a:xfrm>
              <a:off x="5674551" y="1434959"/>
              <a:ext cx="504825" cy="806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err="1" smtClean="0">
                  <a:latin typeface="Times New Roman" pitchFamily="18" charset="0"/>
                  <a:cs typeface="Times New Roman" pitchFamily="18" charset="0"/>
                </a:rPr>
                <a:t>Slo</a:t>
              </a:r>
              <a:r>
                <a:rPr lang="vi-VN" altLang="ko-KR" sz="950" smtClean="0">
                  <a:latin typeface="Times New Roman" pitchFamily="18" charset="0"/>
                  <a:cs typeface="Times New Roman" pitchFamily="18" charset="0"/>
                </a:rPr>
                <a:t>t</a:t>
              </a:r>
              <a:r>
                <a:rPr lang="en-US" altLang="ko-KR" sz="950" smtClean="0">
                  <a:latin typeface="Times New Roman" pitchFamily="18" charset="0"/>
                  <a:cs typeface="Times New Roman" pitchFamily="18" charset="0"/>
                </a:rPr>
                <a:t> </a:t>
              </a:r>
              <a:r>
                <a:rPr lang="vi-VN" altLang="ko-KR" sz="950" smtClean="0">
                  <a:latin typeface="Times New Roman" pitchFamily="18" charset="0"/>
                  <a:cs typeface="Times New Roman" pitchFamily="18" charset="0"/>
                </a:rPr>
                <a:t>trống</a:t>
              </a:r>
              <a:endParaRPr lang="en-US" altLang="ko-KR" sz="950" dirty="0" smtClean="0">
                <a:latin typeface="Times New Roman" pitchFamily="18" charset="0"/>
                <a:cs typeface="Times New Roman" pitchFamily="18" charset="0"/>
              </a:endParaRPr>
            </a:p>
          </p:txBody>
        </p:sp>
        <p:sp>
          <p:nvSpPr>
            <p:cNvPr id="50" name="Text Box 24"/>
            <p:cNvSpPr txBox="1">
              <a:spLocks noChangeArrowheads="1"/>
            </p:cNvSpPr>
            <p:nvPr/>
          </p:nvSpPr>
          <p:spPr bwMode="auto">
            <a:xfrm>
              <a:off x="5426513" y="1437884"/>
              <a:ext cx="409575" cy="838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Q64AD</a:t>
              </a:r>
            </a:p>
            <a:p>
              <a:pPr eaLnBrk="1" fontAlgn="base" hangingPunct="1">
                <a:spcBef>
                  <a:spcPct val="0"/>
                </a:spcBef>
                <a:spcAft>
                  <a:spcPct val="0"/>
                </a:spcAft>
              </a:pPr>
              <a:r>
                <a:rPr lang="en-US" altLang="ko-KR" sz="950" smtClean="0">
                  <a:latin typeface="Times New Roman" pitchFamily="18" charset="0"/>
                  <a:cs typeface="Times New Roman" pitchFamily="18" charset="0"/>
                </a:rPr>
                <a:t>   </a:t>
              </a:r>
            </a:p>
          </p:txBody>
        </p:sp>
        <p:sp>
          <p:nvSpPr>
            <p:cNvPr id="51" name="Text Box 25"/>
            <p:cNvSpPr txBox="1">
              <a:spLocks noChangeArrowheads="1"/>
            </p:cNvSpPr>
            <p:nvPr/>
          </p:nvSpPr>
          <p:spPr bwMode="auto">
            <a:xfrm>
              <a:off x="6032369" y="1433212"/>
              <a:ext cx="474663" cy="49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cs typeface="Times New Roman" pitchFamily="18" charset="0"/>
                </a:rPr>
                <a:t>QX40</a:t>
              </a:r>
            </a:p>
          </p:txBody>
        </p:sp>
        <p:sp>
          <p:nvSpPr>
            <p:cNvPr id="52" name="Rectangle 38"/>
            <p:cNvSpPr>
              <a:spLocks noChangeArrowheads="1"/>
            </p:cNvSpPr>
            <p:nvPr/>
          </p:nvSpPr>
          <p:spPr bwMode="auto">
            <a:xfrm>
              <a:off x="6065706" y="1772048"/>
              <a:ext cx="431800" cy="46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vert"/>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 )</a:t>
              </a:r>
            </a:p>
          </p:txBody>
        </p:sp>
        <p:sp>
          <p:nvSpPr>
            <p:cNvPr id="53" name="Rectangle 116"/>
            <p:cNvSpPr>
              <a:spLocks noChangeArrowheads="1"/>
            </p:cNvSpPr>
            <p:nvPr/>
          </p:nvSpPr>
          <p:spPr bwMode="auto">
            <a:xfrm>
              <a:off x="3315506" y="1044331"/>
              <a:ext cx="3125788"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71450" indent="-171450" eaLnBrk="1" fontAlgn="base" hangingPunct="1">
                <a:spcBef>
                  <a:spcPct val="0"/>
                </a:spcBef>
                <a:spcAft>
                  <a:spcPct val="0"/>
                </a:spcAft>
                <a:buFont typeface="Wingdings" panose="05000000000000000000" pitchFamily="2" charset="2"/>
                <a:buChar char="v"/>
              </a:pPr>
              <a:r>
                <a:rPr lang="en-US" altLang="ko-KR" sz="950" smtClean="0">
                  <a:latin typeface="Times New Roman" pitchFamily="18" charset="0"/>
                  <a:ea typeface="LG Smart_H Regular" panose="020B0600000101010101" pitchFamily="34" charset="-127"/>
                  <a:cs typeface="Times New Roman" pitchFamily="18" charset="0"/>
                </a:rPr>
                <a:t>Cho </a:t>
              </a:r>
              <a:r>
                <a:rPr lang="vi-VN" altLang="ko-KR" sz="950" smtClean="0">
                  <a:latin typeface="Times New Roman" pitchFamily="18" charset="0"/>
                  <a:ea typeface="LG Smart_H Regular" panose="020B0600000101010101" pitchFamily="34" charset="-127"/>
                  <a:cs typeface="Times New Roman" pitchFamily="18" charset="0"/>
                </a:rPr>
                <a:t>bộ </a:t>
              </a:r>
              <a:r>
                <a:rPr lang="vi-VN" altLang="ko-KR" sz="950" dirty="0">
                  <a:latin typeface="Times New Roman" pitchFamily="18" charset="0"/>
                  <a:ea typeface="LG Smart_H Regular" panose="020B0600000101010101" pitchFamily="34" charset="-127"/>
                  <a:cs typeface="Times New Roman" pitchFamily="18" charset="0"/>
                </a:rPr>
                <a:t>KIT </a:t>
              </a:r>
              <a:r>
                <a:rPr lang="vi-VN" altLang="ko-KR" sz="950">
                  <a:latin typeface="Times New Roman" pitchFamily="18" charset="0"/>
                  <a:ea typeface="LG Smart_H Regular" panose="020B0600000101010101" pitchFamily="34" charset="-127"/>
                  <a:cs typeface="Times New Roman" pitchFamily="18" charset="0"/>
                </a:rPr>
                <a:t>dưới </a:t>
              </a:r>
              <a:r>
                <a:rPr lang="vi-VN" altLang="ko-KR" sz="950" smtClean="0">
                  <a:latin typeface="Times New Roman" pitchFamily="18" charset="0"/>
                  <a:ea typeface="LG Smart_H Regular" panose="020B0600000101010101" pitchFamily="34" charset="-127"/>
                  <a:cs typeface="Times New Roman" pitchFamily="18" charset="0"/>
                </a:rPr>
                <a:t>đây.</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Hãy </a:t>
              </a:r>
              <a:r>
                <a:rPr lang="vi-VN" altLang="ko-KR" sz="950" dirty="0">
                  <a:latin typeface="Times New Roman" pitchFamily="18" charset="0"/>
                  <a:ea typeface="LG Smart_H Regular" panose="020B0600000101010101" pitchFamily="34" charset="-127"/>
                  <a:cs typeface="Times New Roman" pitchFamily="18" charset="0"/>
                </a:rPr>
                <a:t>trả lời các </a:t>
              </a:r>
              <a:r>
                <a:rPr lang="vi-VN" altLang="ko-KR" sz="950">
                  <a:latin typeface="Times New Roman" pitchFamily="18" charset="0"/>
                  <a:ea typeface="LG Smart_H Regular" panose="020B0600000101010101" pitchFamily="34" charset="-127"/>
                  <a:cs typeface="Times New Roman" pitchFamily="18" charset="0"/>
                </a:rPr>
                <a:t>câu </a:t>
              </a:r>
              <a:r>
                <a:rPr lang="vi-VN" altLang="ko-KR" sz="950" smtClean="0">
                  <a:latin typeface="Times New Roman" pitchFamily="18" charset="0"/>
                  <a:ea typeface="LG Smart_H Regular" panose="020B0600000101010101" pitchFamily="34" charset="-127"/>
                  <a:cs typeface="Times New Roman" pitchFamily="18" charset="0"/>
                </a:rPr>
                <a:t>hỏi</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171450" indent="-17145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31.   Address</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dirty="0">
                  <a:latin typeface="Times New Roman" pitchFamily="18" charset="0"/>
                  <a:ea typeface="LG Smart_H Regular" panose="020B0600000101010101" pitchFamily="34" charset="-127"/>
                  <a:cs typeface="Times New Roman" pitchFamily="18" charset="0"/>
                </a:rPr>
                <a:t>cuối cùng tại dấu chấm hỏi </a:t>
              </a:r>
              <a:r>
                <a:rPr lang="en-US" altLang="ko-KR" sz="950" dirty="0">
                  <a:latin typeface="Times New Roman" pitchFamily="18" charset="0"/>
                  <a:ea typeface="LG Smart_H Regular" panose="020B0600000101010101" pitchFamily="34" charset="-127"/>
                  <a:cs typeface="Times New Roman" pitchFamily="18" charset="0"/>
                </a:rPr>
                <a:t>( ? )</a:t>
              </a:r>
              <a:r>
                <a:rPr lang="vi-VN" altLang="ko-KR" sz="950" dirty="0">
                  <a:latin typeface="Times New Roman" pitchFamily="18" charset="0"/>
                  <a:ea typeface="LG Smart_H Regular" panose="020B0600000101010101" pitchFamily="34" charset="-127"/>
                  <a:cs typeface="Times New Roman" pitchFamily="18" charset="0"/>
                </a:rPr>
                <a:t> trog cấu tạo của PLC trên </a:t>
              </a:r>
              <a:r>
                <a:rPr lang="en-US" altLang="ko-KR" sz="950">
                  <a:latin typeface="Times New Roman" pitchFamily="18" charset="0"/>
                  <a:ea typeface="LG Smart_H Regular" panose="020B0600000101010101" pitchFamily="34" charset="-127"/>
                  <a:cs typeface="Times New Roman" pitchFamily="18" charset="0"/>
                </a:rPr>
                <a:t>?    </a:t>
              </a:r>
              <a:endParaRPr lang="en-US" altLang="ko-KR" sz="950" dirty="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CF         B.  FF         C.  DF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  EF</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grpSp>
      <p:sp>
        <p:nvSpPr>
          <p:cNvPr id="54" name="Rectangle 115"/>
          <p:cNvSpPr>
            <a:spLocks noChangeArrowheads="1"/>
          </p:cNvSpPr>
          <p:nvPr/>
        </p:nvSpPr>
        <p:spPr bwMode="auto">
          <a:xfrm>
            <a:off x="188640" y="6278468"/>
            <a:ext cx="3253060" cy="13388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latinLnBrk="0" hangingPunct="1">
              <a:spcBef>
                <a:spcPct val="0"/>
              </a:spcBef>
              <a:spcAft>
                <a:spcPct val="0"/>
              </a:spcAft>
            </a:pPr>
            <a:r>
              <a:rPr lang="en-US" altLang="ko-KR" smtClean="0">
                <a:solidFill>
                  <a:srgbClr val="000000"/>
                </a:solidFill>
                <a:latin typeface="Times New Roman" pitchFamily="18" charset="0"/>
                <a:ea typeface="LG Smart_H Regular" panose="020B0600000101010101" pitchFamily="34" charset="-127"/>
                <a:cs typeface="Times New Roman" pitchFamily="18" charset="0"/>
              </a:rPr>
              <a:t>34.   </a:t>
            </a:r>
            <a:r>
              <a:rPr lang="vi-VN" altLang="ko-KR" dirty="0">
                <a:solidFill>
                  <a:srgbClr val="000000"/>
                </a:solidFill>
                <a:latin typeface="Times New Roman" pitchFamily="18" charset="0"/>
                <a:ea typeface="LG Smart_H Regular" panose="020B0600000101010101" pitchFamily="34" charset="-127"/>
                <a:cs typeface="Times New Roman" pitchFamily="18" charset="0"/>
              </a:rPr>
              <a:t>Điều gì đúng khi giải thích về </a:t>
            </a:r>
            <a:r>
              <a:rPr lang="en-US" altLang="ko-KR" dirty="0">
                <a:solidFill>
                  <a:srgbClr val="000000"/>
                </a:solidFill>
                <a:latin typeface="Times New Roman" pitchFamily="18" charset="0"/>
                <a:ea typeface="LG Smart_H Regular" panose="020B0600000101010101" pitchFamily="34" charset="-127"/>
                <a:cs typeface="Times New Roman" pitchFamily="18" charset="0"/>
              </a:rPr>
              <a:t>DEVICE "Y</a:t>
            </a:r>
            <a:r>
              <a:rPr lang="vi-VN" altLang="ko-KR" dirty="0">
                <a:solidFill>
                  <a:srgbClr val="000000"/>
                </a:solidFill>
                <a:latin typeface="Times New Roman" pitchFamily="18" charset="0"/>
                <a:ea typeface="LG Smart_H Regular" panose="020B0600000101010101" pitchFamily="34" charset="-127"/>
                <a:cs typeface="Times New Roman" pitchFamily="18" charset="0"/>
              </a:rPr>
              <a:t>’’ đầu ra</a:t>
            </a:r>
            <a:r>
              <a:rPr lang="en-US" altLang="ko-KR">
                <a:solidFill>
                  <a:srgbClr val="000000"/>
                </a:solidFill>
                <a:latin typeface="Times New Roman" pitchFamily="18" charset="0"/>
                <a:ea typeface="LG Smart_H Regular" panose="020B0600000101010101" pitchFamily="34" charset="-127"/>
                <a:cs typeface="Times New Roman" pitchFamily="18" charset="0"/>
              </a:rPr>
              <a:t>?   </a:t>
            </a:r>
            <a:endParaRPr lang="en-US" altLang="ko-KR" dirty="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endParaRPr lang="en-US" altLang="ko-KR"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altLang="ko-KR" smtClean="0">
                <a:solidFill>
                  <a:srgbClr val="FF0000"/>
                </a:solidFill>
                <a:latin typeface="Times New Roman" pitchFamily="18" charset="0"/>
                <a:ea typeface="LG Smart_H Regular" panose="020B0600000101010101" pitchFamily="34" charset="-127"/>
                <a:cs typeface="Times New Roman" pitchFamily="18" charset="0"/>
              </a:rPr>
              <a:t>Là </a:t>
            </a:r>
            <a:r>
              <a:rPr lang="en-US" altLang="ko-KR" dirty="0">
                <a:solidFill>
                  <a:srgbClr val="FF0000"/>
                </a:solidFill>
                <a:latin typeface="Times New Roman" pitchFamily="18" charset="0"/>
                <a:ea typeface="LG Smart_H Regular" panose="020B0600000101010101" pitchFamily="34" charset="-127"/>
                <a:cs typeface="Times New Roman" pitchFamily="18" charset="0"/>
              </a:rPr>
              <a:t>DEVICE</a:t>
            </a:r>
            <a:r>
              <a:rPr lang="vi-VN" dirty="0">
                <a:solidFill>
                  <a:srgbClr val="FF0000"/>
                </a:solidFill>
                <a:latin typeface="Times New Roman" pitchFamily="18" charset="0"/>
                <a:ea typeface="LG Smart_H Regular" panose="020B0600000101010101" pitchFamily="34" charset="-127"/>
                <a:cs typeface="Times New Roman" pitchFamily="18" charset="0"/>
              </a:rPr>
              <a:t> lưu trữ / xuất dữ liệu đưa kết quả </a:t>
            </a:r>
            <a:r>
              <a:rPr lang="vi-VN">
                <a:solidFill>
                  <a:srgbClr val="FF0000"/>
                </a:solidFill>
                <a:latin typeface="Times New Roman" pitchFamily="18" charset="0"/>
                <a:ea typeface="LG Smart_H Regular" panose="020B0600000101010101" pitchFamily="34" charset="-127"/>
                <a:cs typeface="Times New Roman" pitchFamily="18" charset="0"/>
              </a:rPr>
              <a:t>hoạt </a:t>
            </a:r>
            <a:r>
              <a:rPr lang="vi-VN" smtClean="0">
                <a:solidFill>
                  <a:srgbClr val="FF0000"/>
                </a:solidFill>
                <a:latin typeface="Times New Roman" pitchFamily="18" charset="0"/>
                <a:ea typeface="LG Smart_H Regular" panose="020B0600000101010101" pitchFamily="34" charset="-127"/>
                <a:cs typeface="Times New Roman" pitchFamily="18" charset="0"/>
              </a:rPr>
              <a:t>động</a:t>
            </a:r>
            <a:r>
              <a:rPr lang="en-US">
                <a:solidFill>
                  <a:srgbClr val="FF0000"/>
                </a:solidFill>
                <a:latin typeface="Times New Roman" pitchFamily="18" charset="0"/>
                <a:ea typeface="LG Smart_H Regular" panose="020B0600000101010101" pitchFamily="34" charset="-127"/>
                <a:cs typeface="Times New Roman" pitchFamily="18" charset="0"/>
              </a:rPr>
              <a:t> </a:t>
            </a:r>
            <a:r>
              <a:rPr lang="vi-VN" smtClean="0">
                <a:solidFill>
                  <a:srgbClr val="FF0000"/>
                </a:solidFill>
                <a:latin typeface="Times New Roman" pitchFamily="18" charset="0"/>
                <a:ea typeface="LG Smart_H Regular" panose="020B0600000101010101" pitchFamily="34" charset="-127"/>
                <a:cs typeface="Times New Roman" pitchFamily="18" charset="0"/>
              </a:rPr>
              <a:t>đến </a:t>
            </a:r>
            <a:r>
              <a:rPr lang="vi-VN" dirty="0">
                <a:solidFill>
                  <a:srgbClr val="FF0000"/>
                </a:solidFill>
                <a:latin typeface="Times New Roman" pitchFamily="18" charset="0"/>
                <a:ea typeface="LG Smart_H Regular" panose="020B0600000101010101" pitchFamily="34" charset="-127"/>
                <a:cs typeface="Times New Roman" pitchFamily="18" charset="0"/>
              </a:rPr>
              <a:t>thiết bị đầu ra được kết nối với bộ đầu </a:t>
            </a:r>
            <a:r>
              <a:rPr lang="vi-VN">
                <a:solidFill>
                  <a:srgbClr val="FF0000"/>
                </a:solidFill>
                <a:latin typeface="Times New Roman" pitchFamily="18" charset="0"/>
                <a:ea typeface="LG Smart_H Regular" panose="020B0600000101010101" pitchFamily="34" charset="-127"/>
                <a:cs typeface="Times New Roman" pitchFamily="18" charset="0"/>
              </a:rPr>
              <a:t>ra </a:t>
            </a:r>
            <a:r>
              <a:rPr lang="vi-VN" smtClean="0">
                <a:solidFill>
                  <a:srgbClr val="FF0000"/>
                </a:solidFill>
                <a:latin typeface="Times New Roman" pitchFamily="18" charset="0"/>
                <a:ea typeface="LG Smart_H Regular" panose="020B0600000101010101" pitchFamily="34" charset="-127"/>
                <a:cs typeface="Times New Roman" pitchFamily="18" charset="0"/>
              </a:rPr>
              <a:t>PLC</a:t>
            </a:r>
            <a:endParaRPr lang="en-US"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smtClean="0">
                <a:solidFill>
                  <a:srgbClr val="000000"/>
                </a:solidFill>
                <a:latin typeface="Times New Roman" pitchFamily="18" charset="0"/>
                <a:ea typeface="LG Smart_H Regular" panose="020B0600000101010101" pitchFamily="34" charset="-127"/>
                <a:cs typeface="Times New Roman" pitchFamily="18" charset="0"/>
              </a:rPr>
              <a:t>Kết </a:t>
            </a:r>
            <a:r>
              <a:rPr lang="vi-VN" dirty="0">
                <a:solidFill>
                  <a:srgbClr val="000000"/>
                </a:solidFill>
                <a:latin typeface="Times New Roman" pitchFamily="18" charset="0"/>
                <a:ea typeface="LG Smart_H Regular" panose="020B0600000101010101" pitchFamily="34" charset="-127"/>
                <a:cs typeface="Times New Roman" pitchFamily="18" charset="0"/>
              </a:rPr>
              <a:t>quả được tạo ra trong quá trình hoạt </a:t>
            </a:r>
            <a:r>
              <a:rPr lang="vi-VN">
                <a:solidFill>
                  <a:srgbClr val="000000"/>
                </a:solidFill>
                <a:latin typeface="Times New Roman" pitchFamily="18" charset="0"/>
                <a:ea typeface="LG Smart_H Regular" panose="020B0600000101010101" pitchFamily="34" charset="-127"/>
                <a:cs typeface="Times New Roman" pitchFamily="18" charset="0"/>
              </a:rPr>
              <a:t>động </a:t>
            </a:r>
            <a:r>
              <a:rPr lang="vi-VN" smtClean="0">
                <a:solidFill>
                  <a:srgbClr val="000000"/>
                </a:solidFill>
                <a:latin typeface="Times New Roman" pitchFamily="18" charset="0"/>
                <a:ea typeface="LG Smart_H Regular" panose="020B0600000101010101" pitchFamily="34" charset="-127"/>
                <a:cs typeface="Times New Roman" pitchFamily="18" charset="0"/>
              </a:rPr>
              <a:t>của</a:t>
            </a:r>
            <a:r>
              <a:rPr lang="en-US">
                <a:solidFill>
                  <a:srgbClr val="000000"/>
                </a:solidFill>
                <a:latin typeface="Times New Roman" pitchFamily="18" charset="0"/>
                <a:ea typeface="LG Smart_H Regular" panose="020B0600000101010101" pitchFamily="34" charset="-127"/>
                <a:cs typeface="Times New Roman" pitchFamily="18" charset="0"/>
              </a:rPr>
              <a:t> </a:t>
            </a:r>
            <a:r>
              <a:rPr lang="en-US" smtClean="0">
                <a:solidFill>
                  <a:srgbClr val="000000"/>
                </a:solidFill>
                <a:latin typeface="Times New Roman" pitchFamily="18" charset="0"/>
                <a:ea typeface="LG Smart_H Regular" panose="020B0600000101010101" pitchFamily="34" charset="-127"/>
                <a:cs typeface="Times New Roman" pitchFamily="18" charset="0"/>
              </a:rPr>
              <a:t>c</a:t>
            </a:r>
            <a:r>
              <a:rPr lang="vi-VN" smtClean="0">
                <a:solidFill>
                  <a:srgbClr val="000000"/>
                </a:solidFill>
                <a:latin typeface="Times New Roman" pitchFamily="18" charset="0"/>
                <a:ea typeface="LG Smart_H Regular" panose="020B0600000101010101" pitchFamily="34" charset="-127"/>
                <a:cs typeface="Times New Roman" pitchFamily="18" charset="0"/>
              </a:rPr>
              <a:t>hương </a:t>
            </a:r>
            <a:r>
              <a:rPr lang="vi-VN" dirty="0">
                <a:solidFill>
                  <a:srgbClr val="000000"/>
                </a:solidFill>
                <a:latin typeface="Times New Roman" pitchFamily="18" charset="0"/>
                <a:ea typeface="LG Smart_H Regular" panose="020B0600000101010101" pitchFamily="34" charset="-127"/>
                <a:cs typeface="Times New Roman" pitchFamily="18" charset="0"/>
              </a:rPr>
              <a:t>trình chính được lưu trong vùng </a:t>
            </a:r>
            <a:r>
              <a:rPr lang="vi-VN">
                <a:solidFill>
                  <a:srgbClr val="000000"/>
                </a:solidFill>
                <a:latin typeface="Times New Roman" pitchFamily="18" charset="0"/>
                <a:ea typeface="LG Smart_H Regular" panose="020B0600000101010101" pitchFamily="34" charset="-127"/>
                <a:cs typeface="Times New Roman" pitchFamily="18" charset="0"/>
              </a:rPr>
              <a:t>đầu </a:t>
            </a:r>
            <a:r>
              <a:rPr lang="vi-VN" smtClean="0">
                <a:solidFill>
                  <a:srgbClr val="000000"/>
                </a:solidFill>
                <a:latin typeface="Times New Roman" pitchFamily="18" charset="0"/>
                <a:ea typeface="LG Smart_H Regular" panose="020B0600000101010101" pitchFamily="34" charset="-127"/>
                <a:cs typeface="Times New Roman" pitchFamily="18" charset="0"/>
              </a:rPr>
              <a:t>ra</a:t>
            </a:r>
            <a:endParaRPr lang="en-US"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smtClean="0">
                <a:solidFill>
                  <a:srgbClr val="000000"/>
                </a:solidFill>
                <a:latin typeface="Times New Roman" pitchFamily="18" charset="0"/>
                <a:ea typeface="LG Smart_H Regular" panose="020B0600000101010101" pitchFamily="34" charset="-127"/>
                <a:cs typeface="Times New Roman" pitchFamily="18" charset="0"/>
              </a:rPr>
              <a:t>Y </a:t>
            </a:r>
            <a:r>
              <a:rPr lang="vi-VN" dirty="0">
                <a:solidFill>
                  <a:srgbClr val="000000"/>
                </a:solidFill>
                <a:latin typeface="Times New Roman" pitchFamily="18" charset="0"/>
                <a:ea typeface="LG Smart_H Regular" panose="020B0600000101010101" pitchFamily="34" charset="-127"/>
                <a:cs typeface="Times New Roman" pitchFamily="18" charset="0"/>
              </a:rPr>
              <a:t>không thể được sử dụng làm tiếp </a:t>
            </a:r>
            <a:r>
              <a:rPr lang="vi-VN">
                <a:solidFill>
                  <a:srgbClr val="000000"/>
                </a:solidFill>
                <a:latin typeface="Times New Roman" pitchFamily="18" charset="0"/>
                <a:ea typeface="LG Smart_H Regular" panose="020B0600000101010101" pitchFamily="34" charset="-127"/>
                <a:cs typeface="Times New Roman" pitchFamily="18" charset="0"/>
              </a:rPr>
              <a:t>điểm </a:t>
            </a:r>
            <a:r>
              <a:rPr lang="vi-VN" smtClean="0">
                <a:solidFill>
                  <a:srgbClr val="000000"/>
                </a:solidFill>
                <a:latin typeface="Times New Roman" pitchFamily="18" charset="0"/>
                <a:ea typeface="LG Smart_H Regular" panose="020B0600000101010101" pitchFamily="34" charset="-127"/>
                <a:cs typeface="Times New Roman" pitchFamily="18" charset="0"/>
              </a:rPr>
              <a:t>trong chương</a:t>
            </a:r>
            <a:r>
              <a:rPr lang="en-US">
                <a:solidFill>
                  <a:srgbClr val="000000"/>
                </a:solidFill>
                <a:latin typeface="Times New Roman" pitchFamily="18" charset="0"/>
                <a:ea typeface="LG Smart_H Regular" panose="020B0600000101010101" pitchFamily="34" charset="-127"/>
                <a:cs typeface="Times New Roman" pitchFamily="18" charset="0"/>
              </a:rPr>
              <a:t> </a:t>
            </a:r>
            <a:r>
              <a:rPr lang="en-US" smtClean="0">
                <a:solidFill>
                  <a:srgbClr val="000000"/>
                </a:solidFill>
                <a:latin typeface="Times New Roman" pitchFamily="18" charset="0"/>
                <a:ea typeface="LG Smart_H Regular" panose="020B0600000101010101" pitchFamily="34" charset="-127"/>
                <a:cs typeface="Times New Roman" pitchFamily="18" charset="0"/>
              </a:rPr>
              <a:t>t</a:t>
            </a:r>
            <a:r>
              <a:rPr lang="vi-VN" smtClean="0">
                <a:solidFill>
                  <a:srgbClr val="000000"/>
                </a:solidFill>
                <a:latin typeface="Times New Roman" pitchFamily="18" charset="0"/>
                <a:ea typeface="LG Smart_H Regular" panose="020B0600000101010101" pitchFamily="34" charset="-127"/>
                <a:cs typeface="Times New Roman" pitchFamily="18" charset="0"/>
              </a:rPr>
              <a:t>rình</a:t>
            </a:r>
            <a:endParaRPr lang="en-US"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altLang="ko-KR" smtClean="0">
                <a:solidFill>
                  <a:srgbClr val="000000"/>
                </a:solidFill>
                <a:latin typeface="Times New Roman" pitchFamily="18" charset="0"/>
                <a:ea typeface="LG Smart_H Regular" panose="020B0600000101010101" pitchFamily="34" charset="-127"/>
                <a:cs typeface="Times New Roman" pitchFamily="18" charset="0"/>
              </a:rPr>
              <a:t>Khi </a:t>
            </a:r>
            <a:r>
              <a:rPr lang="vi-VN" altLang="ko-KR" dirty="0">
                <a:solidFill>
                  <a:srgbClr val="000000"/>
                </a:solidFill>
                <a:latin typeface="Times New Roman" pitchFamily="18" charset="0"/>
                <a:ea typeface="LG Smart_H Regular" panose="020B0600000101010101" pitchFamily="34" charset="-127"/>
                <a:cs typeface="Times New Roman" pitchFamily="18" charset="0"/>
              </a:rPr>
              <a:t>sử dụng Relay M bên trong Y có khả năng duy trì tĩnh điện</a:t>
            </a:r>
            <a:endParaRPr lang="ko-KR" altLang="en-US" dirty="0">
              <a:solidFill>
                <a:srgbClr val="000000"/>
              </a:solidFill>
              <a:latin typeface="Times New Roman" pitchFamily="18" charset="0"/>
              <a:ea typeface="LG Smart_H Regular" panose="020B0600000101010101" pitchFamily="34" charset="-127"/>
              <a:cs typeface="Times New Roman" pitchFamily="18" charset="0"/>
            </a:endParaRPr>
          </a:p>
        </p:txBody>
      </p:sp>
      <p:sp>
        <p:nvSpPr>
          <p:cNvPr id="55" name="Rectangle 217"/>
          <p:cNvSpPr>
            <a:spLocks noChangeArrowheads="1"/>
          </p:cNvSpPr>
          <p:nvPr/>
        </p:nvSpPr>
        <p:spPr bwMode="auto">
          <a:xfrm>
            <a:off x="188640" y="8015952"/>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sz="950" smtClean="0">
                <a:latin typeface="Times New Roman" pitchFamily="18" charset="0"/>
                <a:ea typeface="LG Smart_H Regular" panose="020B0600000101010101" pitchFamily="34" charset="-127"/>
                <a:cs typeface="Times New Roman" pitchFamily="18" charset="0"/>
              </a:rPr>
              <a:t>35.   </a:t>
            </a:r>
            <a:r>
              <a:rPr lang="vi-VN" sz="950" smtClean="0">
                <a:latin typeface="Times New Roman" pitchFamily="18" charset="0"/>
                <a:ea typeface="LG Smart_H Regular" panose="020B0600000101010101" pitchFamily="34" charset="-127"/>
                <a:cs typeface="Times New Roman" pitchFamily="18" charset="0"/>
              </a:rPr>
              <a:t>Khi </a:t>
            </a:r>
            <a:r>
              <a:rPr lang="vi-VN" sz="950" dirty="0">
                <a:latin typeface="Times New Roman" pitchFamily="18" charset="0"/>
                <a:ea typeface="LG Smart_H Regular" panose="020B0600000101010101" pitchFamily="34" charset="-127"/>
                <a:cs typeface="Times New Roman" pitchFamily="18" charset="0"/>
              </a:rPr>
              <a:t>điều kiện </a:t>
            </a:r>
            <a:r>
              <a:rPr lang="vi-VN" sz="950">
                <a:latin typeface="Times New Roman" pitchFamily="18" charset="0"/>
                <a:ea typeface="LG Smart_H Regular" panose="020B0600000101010101" pitchFamily="34" charset="-127"/>
                <a:cs typeface="Times New Roman" pitchFamily="18" charset="0"/>
              </a:rPr>
              <a:t>đầu vào </a:t>
            </a:r>
            <a:r>
              <a:rPr lang="vi-VN" sz="950" dirty="0">
                <a:latin typeface="Times New Roman" pitchFamily="18" charset="0"/>
                <a:ea typeface="LG Smart_H Regular" panose="020B0600000101010101" pitchFamily="34" charset="-127"/>
                <a:cs typeface="Times New Roman" pitchFamily="18" charset="0"/>
              </a:rPr>
              <a:t>ON → OFF, lệnh nào </a:t>
            </a:r>
            <a:r>
              <a:rPr lang="vi-VN" sz="950">
                <a:latin typeface="Times New Roman" pitchFamily="18" charset="0"/>
                <a:ea typeface="LG Smart_H Regular" panose="020B0600000101010101" pitchFamily="34" charset="-127"/>
                <a:cs typeface="Times New Roman" pitchFamily="18" charset="0"/>
              </a:rPr>
              <a:t>ở </a:t>
            </a:r>
            <a:r>
              <a:rPr lang="vi-VN" sz="950" smtClean="0">
                <a:latin typeface="Times New Roman" pitchFamily="18" charset="0"/>
                <a:ea typeface="LG Smart_H Regular" panose="020B0600000101010101" pitchFamily="34" charset="-127"/>
                <a:cs typeface="Times New Roman" pitchFamily="18" charset="0"/>
              </a:rPr>
              <a:t>đầu</a:t>
            </a:r>
            <a:r>
              <a:rPr lang="en-US" sz="950" smtClean="0">
                <a:latin typeface="Times New Roman" pitchFamily="18" charset="0"/>
                <a:ea typeface="LG Smart_H Regular" panose="020B0600000101010101" pitchFamily="34" charset="-127"/>
                <a:cs typeface="Times New Roman" pitchFamily="18" charset="0"/>
              </a:rPr>
              <a:t> </a:t>
            </a:r>
          </a:p>
          <a:p>
            <a:pPr indent="228600" eaLnBrk="1" fontAlgn="base" hangingPunct="1">
              <a:spcBef>
                <a:spcPct val="0"/>
              </a:spcBef>
              <a:spcAft>
                <a:spcPct val="0"/>
              </a:spcAft>
            </a:pPr>
            <a:r>
              <a:rPr lang="vi-VN" sz="950" smtClean="0">
                <a:latin typeface="Times New Roman" pitchFamily="18" charset="0"/>
                <a:ea typeface="LG Smart_H Regular" panose="020B0600000101010101" pitchFamily="34" charset="-127"/>
                <a:cs typeface="Times New Roman" pitchFamily="18" charset="0"/>
              </a:rPr>
              <a:t>ra được </a:t>
            </a:r>
            <a:r>
              <a:rPr lang="vi-VN" sz="950" dirty="0">
                <a:latin typeface="Times New Roman" pitchFamily="18" charset="0"/>
                <a:ea typeface="LG Smart_H Regular" panose="020B0600000101010101" pitchFamily="34" charset="-127"/>
                <a:cs typeface="Times New Roman" pitchFamily="18" charset="0"/>
              </a:rPr>
              <a:t>ON chỉ trong </a:t>
            </a:r>
            <a:r>
              <a:rPr lang="en-US" altLang="ko-KR" sz="950" dirty="0">
                <a:latin typeface="Times New Roman" pitchFamily="18" charset="0"/>
                <a:ea typeface="LG Smart_H Regular" panose="020B0600000101010101" pitchFamily="34" charset="-127"/>
                <a:cs typeface="Times New Roman" pitchFamily="18" charset="0"/>
              </a:rPr>
              <a:t>1SCAN Time </a:t>
            </a:r>
            <a:r>
              <a:rPr lang="vi-VN" sz="950">
                <a:latin typeface="Times New Roman" pitchFamily="18" charset="0"/>
                <a:ea typeface="LG Smart_H Regular" panose="020B0600000101010101" pitchFamily="34" charset="-127"/>
                <a:cs typeface="Times New Roman" pitchFamily="18" charset="0"/>
              </a:rPr>
              <a:t>?</a:t>
            </a:r>
            <a:r>
              <a:rPr lang="en-US" altLang="ko-KR" sz="950">
                <a:latin typeface="Times New Roman" pitchFamily="18" charset="0"/>
                <a:ea typeface="LG Smart_H Regular" panose="020B0600000101010101" pitchFamily="34" charset="-127"/>
                <a:cs typeface="Times New Roman" pitchFamily="18" charset="0"/>
              </a:rPr>
              <a:t>  </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PLF</a:t>
            </a: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PLE      </a:t>
            </a: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FLC     </a:t>
            </a:r>
          </a:p>
          <a:p>
            <a:pPr marL="228600" indent="-228600" eaLnBrk="1" fontAlgn="base" hangingPunct="1">
              <a:spcBef>
                <a:spcPct val="0"/>
              </a:spcBef>
              <a:spcAft>
                <a:spcPct val="0"/>
              </a:spcAft>
              <a:buFont typeface="+mj-lt"/>
              <a:buAutoNum type="alphaUcPeriod"/>
            </a:pPr>
            <a:r>
              <a:rPr lang="en-US" altLang="ko-KR" sz="950" smtClean="0">
                <a:latin typeface="Times New Roman" pitchFamily="18" charset="0"/>
                <a:ea typeface="LG Smart_H Regular" panose="020B0600000101010101" pitchFamily="34" charset="-127"/>
                <a:cs typeface="Times New Roman" pitchFamily="18" charset="0"/>
              </a:rPr>
              <a:t>PLS</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7" name="Rectangle 114"/>
          <p:cNvSpPr>
            <a:spLocks noChangeArrowheads="1"/>
          </p:cNvSpPr>
          <p:nvPr/>
        </p:nvSpPr>
        <p:spPr bwMode="auto">
          <a:xfrm>
            <a:off x="198047" y="3223893"/>
            <a:ext cx="3162299"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sz="950" smtClean="0">
                <a:latin typeface="Times New Roman" pitchFamily="18" charset="0"/>
                <a:ea typeface="LG Smart_H Regular" panose="020B0600000101010101" pitchFamily="34" charset="-127"/>
                <a:cs typeface="Times New Roman" pitchFamily="18" charset="0"/>
              </a:rPr>
              <a:t>32</a:t>
            </a:r>
            <a:r>
              <a:rPr lang="vi-VN" sz="950">
                <a:latin typeface="Times New Roman" pitchFamily="18" charset="0"/>
                <a:ea typeface="LG Smart_H Regular" panose="020B0600000101010101" pitchFamily="34" charset="-127"/>
                <a:cs typeface="Times New Roman" pitchFamily="18" charset="0"/>
              </a:rPr>
              <a:t>. Hãy đổi F14 hệ 16 thành hệ nhị </a:t>
            </a:r>
            <a:r>
              <a:rPr lang="vi-VN" sz="950" smtClean="0">
                <a:latin typeface="Times New Roman" pitchFamily="18" charset="0"/>
                <a:ea typeface="LG Smart_H Regular" panose="020B0600000101010101" pitchFamily="34" charset="-127"/>
                <a:cs typeface="Times New Roman" pitchFamily="18" charset="0"/>
              </a:rPr>
              <a:t>phân</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a:latin typeface="Times New Roman" pitchFamily="18" charset="0"/>
                <a:ea typeface="LG Smart_H Regular" panose="020B0600000101010101" pitchFamily="34" charset="-127"/>
                <a:cs typeface="Times New Roman" pitchFamily="18" charset="0"/>
              </a:rPr>
              <a:t>1110 0001 0100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a:latin typeface="Times New Roman" pitchFamily="18" charset="0"/>
                <a:ea typeface="LG Smart_H Regular" panose="020B0600000101010101" pitchFamily="34" charset="-127"/>
                <a:cs typeface="Times New Roman" pitchFamily="18" charset="0"/>
              </a:rPr>
              <a:t>1010 1001 0110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a:latin typeface="Times New Roman" pitchFamily="18" charset="0"/>
                <a:ea typeface="LG Smart_H Regular" panose="020B0600000101010101" pitchFamily="34" charset="-127"/>
                <a:cs typeface="Times New Roman" pitchFamily="18" charset="0"/>
              </a:rPr>
              <a:t>1111 1110 1011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1111 0001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0100</a:t>
            </a:r>
            <a:endParaRPr lang="en-US" altLang="ko-KR" sz="950">
              <a:solidFill>
                <a:srgbClr val="FF0000"/>
              </a:solidFill>
              <a:latin typeface="Times New Roman" pitchFamily="18"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351063763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dirty="0">
                <a:latin typeface="Times New Roman" pitchFamily="18" charset="0"/>
                <a:cs typeface="Times New Roman" pitchFamily="18" charset="0"/>
              </a:rPr>
              <a:t>Khí nén</a:t>
            </a:r>
            <a:r>
              <a:rPr lang="en-US" altLang="ko-KR" dirty="0">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solidFill>
                <a:srgbClr val="000000"/>
              </a:solidFill>
              <a:latin typeface="Times New Roman" pitchFamily="18" charset="0"/>
              <a:cs typeface="Times New Roman" pitchFamily="18" charset="0"/>
            </a:endParaRPr>
          </a:p>
          <a:p>
            <a:pPr eaLnBrk="1" fontAlgn="base" hangingPunct="1">
              <a:spcBef>
                <a:spcPct val="0"/>
              </a:spcBef>
              <a:spcAft>
                <a:spcPct val="0"/>
              </a:spcAft>
            </a:pPr>
            <a:endParaRPr lang="en-US" altLang="ko-KR" sz="950" smtClean="0">
              <a:solidFill>
                <a:srgbClr val="000000"/>
              </a:solidFill>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grpSp>
        <p:nvGrpSpPr>
          <p:cNvPr id="2" name="Group 1"/>
          <p:cNvGrpSpPr/>
          <p:nvPr/>
        </p:nvGrpSpPr>
        <p:grpSpPr>
          <a:xfrm>
            <a:off x="206479" y="1136576"/>
            <a:ext cx="3239810" cy="2431435"/>
            <a:chOff x="206479" y="1136576"/>
            <a:chExt cx="3239810" cy="2431435"/>
          </a:xfrm>
        </p:grpSpPr>
        <p:sp>
          <p:nvSpPr>
            <p:cNvPr id="25" name="Rectangle 7"/>
            <p:cNvSpPr>
              <a:spLocks noChangeArrowheads="1"/>
            </p:cNvSpPr>
            <p:nvPr/>
          </p:nvSpPr>
          <p:spPr bwMode="auto">
            <a:xfrm>
              <a:off x="206479" y="1136576"/>
              <a:ext cx="3239810"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a:t>
              </a:r>
              <a:r>
                <a:rPr lang="vi-VN" altLang="ko-KR" sz="950">
                  <a:latin typeface="Times New Roman" pitchFamily="18" charset="0"/>
                  <a:ea typeface="LG Smart_H Regular" panose="020B0600000101010101" pitchFamily="34" charset="-127"/>
                  <a:cs typeface="Times New Roman" pitchFamily="18" charset="0"/>
                </a:rPr>
                <a:t>Sơ đồ mạch cơ bản của hệ thống khí nén.Hãy điền vào ô có dấu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a:latin typeface="Times New Roman" pitchFamily="18" charset="0"/>
                  <a:ea typeface="LG Smart_H Regular" panose="020B0600000101010101" pitchFamily="34" charset="-127"/>
                  <a:cs typeface="Times New Roman" pitchFamily="18" charset="0"/>
                </a:rPr>
                <a:t>Nguồn động lực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a:latin typeface="Times New Roman" pitchFamily="18" charset="0"/>
                  <a:ea typeface="LG Smart_H Regular" panose="020B0600000101010101" pitchFamily="34" charset="-127"/>
                  <a:cs typeface="Times New Roman" pitchFamily="18" charset="0"/>
                </a:rPr>
                <a:t>Bộ phận phát sinh khí </a:t>
              </a:r>
              <a:r>
                <a:rPr lang="vi-VN" altLang="ko-KR" sz="950" smtClean="0">
                  <a:latin typeface="Times New Roman" pitchFamily="18" charset="0"/>
                  <a:ea typeface="LG Smart_H Regular" panose="020B0600000101010101" pitchFamily="34" charset="-127"/>
                  <a:cs typeface="Times New Roman" pitchFamily="18" charset="0"/>
                </a:rPr>
                <a:t>áp</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Bộ phận chuyển </a:t>
              </a:r>
              <a:r>
                <a:rPr lang="vi-VN" altLang="ko-KR" sz="950" smtClean="0">
                  <a:latin typeface="Times New Roman" pitchFamily="18" charset="0"/>
                  <a:ea typeface="LG Smart_H Regular" panose="020B0600000101010101" pitchFamily="34" charset="-127"/>
                  <a:cs typeface="Times New Roman" pitchFamily="18" charset="0"/>
                </a:rPr>
                <a:t>động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 B</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ộ </a:t>
              </a:r>
              <a:r>
                <a:rPr lang="vi-VN" altLang="ko-KR" sz="950">
                  <a:solidFill>
                    <a:srgbClr val="FF0000"/>
                  </a:solidFill>
                  <a:latin typeface="Times New Roman" pitchFamily="18" charset="0"/>
                  <a:ea typeface="LG Smart_H Regular" panose="020B0600000101010101" pitchFamily="34" charset="-127"/>
                  <a:cs typeface="Times New Roman" pitchFamily="18" charset="0"/>
                </a:rPr>
                <a:t>phận điều khiển</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pic>
          <p:nvPicPr>
            <p:cNvPr id="27" name="Picture 26"/>
            <p:cNvPicPr>
              <a:picLocks noChangeAspect="1"/>
            </p:cNvPicPr>
            <p:nvPr/>
          </p:nvPicPr>
          <p:blipFill>
            <a:blip r:embed="rId3"/>
            <a:stretch>
              <a:fillRect/>
            </a:stretch>
          </p:blipFill>
          <p:spPr>
            <a:xfrm>
              <a:off x="260649" y="1640632"/>
              <a:ext cx="3096344" cy="1219200"/>
            </a:xfrm>
            <a:prstGeom prst="rect">
              <a:avLst/>
            </a:prstGeom>
          </p:spPr>
        </p:pic>
      </p:grpSp>
      <p:grpSp>
        <p:nvGrpSpPr>
          <p:cNvPr id="3" name="Group 2"/>
          <p:cNvGrpSpPr/>
          <p:nvPr/>
        </p:nvGrpSpPr>
        <p:grpSpPr>
          <a:xfrm>
            <a:off x="260648" y="3836070"/>
            <a:ext cx="3239811" cy="2285241"/>
            <a:chOff x="260648" y="3836070"/>
            <a:chExt cx="3239811" cy="2285241"/>
          </a:xfrm>
        </p:grpSpPr>
        <p:sp>
          <p:nvSpPr>
            <p:cNvPr id="26" name="Rectangle 7"/>
            <p:cNvSpPr>
              <a:spLocks noChangeArrowheads="1"/>
            </p:cNvSpPr>
            <p:nvPr/>
          </p:nvSpPr>
          <p:spPr bwMode="auto">
            <a:xfrm>
              <a:off x="260649" y="3836070"/>
              <a:ext cx="3239810" cy="228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42. </a:t>
              </a:r>
              <a:r>
                <a:rPr lang="vi-VN" altLang="ko-KR" sz="950">
                  <a:latin typeface="Times New Roman" pitchFamily="18" charset="0"/>
                  <a:ea typeface="LG Smart_H Regular" panose="020B0600000101010101" pitchFamily="34" charset="-127"/>
                  <a:cs typeface="Times New Roman" pitchFamily="18" charset="0"/>
                </a:rPr>
                <a:t>Điền vào chỗ ????? Trong hình là</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smtClean="0">
                  <a:latin typeface="Times New Roman" pitchFamily="18" charset="0"/>
                  <a:ea typeface="LG Smart_H Regular" panose="020B0600000101010101" pitchFamily="34" charset="-127"/>
                  <a:cs typeface="Times New Roman" pitchFamily="18" charset="0"/>
                </a:rPr>
                <a:t>Regulator pressure</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a:latin typeface="Times New Roman" pitchFamily="18" charset="0"/>
                  <a:ea typeface="LG Smart_H Regular" panose="020B0600000101010101" pitchFamily="34" charset="-127"/>
                  <a:cs typeface="Times New Roman" pitchFamily="18" charset="0"/>
                </a:rPr>
                <a:t>Filter</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Lubricator</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Service unit</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8" name="Picture 27"/>
            <p:cNvPicPr>
              <a:picLocks noChangeAspect="1"/>
            </p:cNvPicPr>
            <p:nvPr/>
          </p:nvPicPr>
          <p:blipFill>
            <a:blip r:embed="rId4"/>
            <a:stretch>
              <a:fillRect/>
            </a:stretch>
          </p:blipFill>
          <p:spPr>
            <a:xfrm>
              <a:off x="260648" y="4184390"/>
              <a:ext cx="3024336" cy="1200657"/>
            </a:xfrm>
            <a:prstGeom prst="rect">
              <a:avLst/>
            </a:prstGeom>
          </p:spPr>
        </p:pic>
      </p:grpSp>
      <p:sp>
        <p:nvSpPr>
          <p:cNvPr id="29" name="Rectangle 7"/>
          <p:cNvSpPr>
            <a:spLocks noChangeArrowheads="1"/>
          </p:cNvSpPr>
          <p:nvPr/>
        </p:nvSpPr>
        <p:spPr bwMode="auto">
          <a:xfrm>
            <a:off x="261198" y="6431776"/>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43. </a:t>
            </a:r>
            <a:r>
              <a:rPr lang="vi-VN" altLang="ko-KR" sz="950">
                <a:latin typeface="Times New Roman" pitchFamily="18" charset="0"/>
                <a:ea typeface="LG Smart_H Regular" panose="020B0600000101010101" pitchFamily="34" charset="-127"/>
                <a:cs typeface="Times New Roman" pitchFamily="18" charset="0"/>
              </a:rPr>
              <a:t>Thành phần chính của không khí bao gồm : Nito, Oxy,Cacbonic,Hydro, Argon, Helium, neon</a:t>
            </a:r>
            <a:r>
              <a:rPr lang="vi-VN" altLang="ko-KR" sz="950" smtClean="0">
                <a:latin typeface="Times New Roman" pitchFamily="18" charset="0"/>
                <a:ea typeface="LG Smart_H Regular" panose="020B0600000101010101" pitchFamily="34" charset="-127"/>
                <a:cs typeface="Times New Roman" pitchFamily="18" charset="0"/>
              </a:rPr>
              <a:t>……</a:t>
            </a:r>
            <a:endParaRPr lang="vi-VN" altLang="ko-KR" sz="950">
              <a:latin typeface="Times New Roman" pitchFamily="18" charset="0"/>
              <a:ea typeface="LG Smart_H Regular" panose="020B0600000101010101" pitchFamily="34" charset="-127"/>
              <a:cs typeface="Times New Roman" pitchFamily="18" charset="0"/>
            </a:endParaRPr>
          </a:p>
          <a:p>
            <a:pPr marL="109538"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Thành phần chất khí nào chiếm : 0.933% </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Oxy</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Cacbonic</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Hydro</a:t>
            </a: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Argon</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30" name="Rectangle 7"/>
          <p:cNvSpPr>
            <a:spLocks noChangeArrowheads="1"/>
          </p:cNvSpPr>
          <p:nvPr/>
        </p:nvSpPr>
        <p:spPr bwMode="auto">
          <a:xfrm>
            <a:off x="232664" y="8044830"/>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Phân loại máy khí nén theo áp suất xả ra. Áp suất trung bình là bao nhiêu</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Áp suất khí xả ra </a:t>
            </a:r>
            <a:r>
              <a:rPr lang="en-US" altLang="ko-KR" sz="950" smtClean="0">
                <a:latin typeface="Times New Roman" pitchFamily="18" charset="0"/>
                <a:ea typeface="LG Smart_H Regular" panose="020B0600000101010101" pitchFamily="34" charset="-127"/>
                <a:cs typeface="Times New Roman" pitchFamily="18" charset="0"/>
              </a:rPr>
              <a:t>1~8kgf</a:t>
            </a:r>
            <a:r>
              <a:rPr lang="en-US" altLang="ko-KR" sz="950">
                <a:latin typeface="Times New Roman" pitchFamily="18" charset="0"/>
                <a:ea typeface="LG Smart_H Regular" panose="020B0600000101010101" pitchFamily="34" charset="-127"/>
                <a:cs typeface="Times New Roman" pitchFamily="18" charset="0"/>
              </a:rPr>
              <a:t>/</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Áp suất khí xả ra 9kgf/㎠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Áp suất khí xả ra 10~16kgf/</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Áp suất khí xả ra  trên 16kgf/㎠ </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3451715" y="1136576"/>
            <a:ext cx="3180502" cy="1872064"/>
            <a:chOff x="3451715" y="1280736"/>
            <a:chExt cx="3180502" cy="1872064"/>
          </a:xfrm>
        </p:grpSpPr>
        <p:sp>
          <p:nvSpPr>
            <p:cNvPr id="32" name="Rectangle 7"/>
            <p:cNvSpPr>
              <a:spLocks noChangeArrowheads="1"/>
            </p:cNvSpPr>
            <p:nvPr/>
          </p:nvSpPr>
          <p:spPr bwMode="auto">
            <a:xfrm>
              <a:off x="3451715" y="1280736"/>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Đâu là giải thích đúng về định luật </a:t>
              </a:r>
              <a:r>
                <a:rPr lang="vi-VN" altLang="ko-KR" sz="950" smtClean="0">
                  <a:latin typeface="Times New Roman" pitchFamily="18" charset="0"/>
                  <a:ea typeface="LG Smart_H Regular" panose="020B0600000101010101" pitchFamily="34" charset="-127"/>
                  <a:cs typeface="Times New Roman" pitchFamily="18" charset="0"/>
                </a:rPr>
                <a:t>Boyle?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B. </a:t>
              </a: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D. </a:t>
              </a:r>
            </a:p>
          </p:txBody>
        </p:sp>
        <p:pic>
          <p:nvPicPr>
            <p:cNvPr id="34" name="Picture 33"/>
            <p:cNvPicPr>
              <a:picLocks noChangeAspect="1"/>
            </p:cNvPicPr>
            <p:nvPr/>
          </p:nvPicPr>
          <p:blipFill>
            <a:blip r:embed="rId5"/>
            <a:stretch>
              <a:fillRect/>
            </a:stretch>
          </p:blipFill>
          <p:spPr>
            <a:xfrm>
              <a:off x="3717032" y="1584476"/>
              <a:ext cx="1224136" cy="680049"/>
            </a:xfrm>
            <a:prstGeom prst="rect">
              <a:avLst/>
            </a:prstGeom>
          </p:spPr>
        </p:pic>
        <p:pic>
          <p:nvPicPr>
            <p:cNvPr id="38" name="Picture 3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83234" y="1476428"/>
              <a:ext cx="1198094" cy="807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4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89040" y="2289013"/>
              <a:ext cx="1108910" cy="863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44"/>
            <p:cNvPicPr>
              <a:picLocks noChangeAspect="1"/>
            </p:cNvPicPr>
            <p:nvPr/>
          </p:nvPicPr>
          <p:blipFill>
            <a:blip r:embed="rId8"/>
            <a:stretch>
              <a:fillRect/>
            </a:stretch>
          </p:blipFill>
          <p:spPr>
            <a:xfrm>
              <a:off x="5373216" y="2489181"/>
              <a:ext cx="877695" cy="591611"/>
            </a:xfrm>
            <a:prstGeom prst="rect">
              <a:avLst/>
            </a:prstGeom>
          </p:spPr>
        </p:pic>
      </p:grpSp>
      <p:sp>
        <p:nvSpPr>
          <p:cNvPr id="46" name="Rectangle 7"/>
          <p:cNvSpPr>
            <a:spLocks noChangeArrowheads="1"/>
          </p:cNvSpPr>
          <p:nvPr/>
        </p:nvSpPr>
        <p:spPr bwMode="auto">
          <a:xfrm>
            <a:off x="3473132" y="3440832"/>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Đâu là chú ý khi sử dụng động cơ khí nén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109538" indent="-109538"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smtClean="0">
                <a:latin typeface="Times New Roman" pitchFamily="18" charset="0"/>
                <a:ea typeface="LG Smart_H Regular" panose="020B0600000101010101" pitchFamily="34" charset="-127"/>
                <a:cs typeface="Times New Roman" pitchFamily="18" charset="0"/>
              </a:rPr>
              <a:t>Bộ </a:t>
            </a:r>
            <a:r>
              <a:rPr lang="vi-VN" altLang="ko-KR" sz="950">
                <a:latin typeface="Times New Roman" pitchFamily="18" charset="0"/>
                <a:ea typeface="LG Smart_H Regular" panose="020B0600000101010101" pitchFamily="34" charset="-127"/>
                <a:cs typeface="Times New Roman" pitchFamily="18" charset="0"/>
              </a:rPr>
              <a:t>giảm thanh sử dụng trong động cơ khí nén là ống xả không liên tục vì thế nên sử dụng loại mà mặt cắt ngang có hiệu quả lớn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smtClean="0">
                <a:latin typeface="Times New Roman" pitchFamily="18" charset="0"/>
                <a:ea typeface="LG Smart_H Regular" panose="020B0600000101010101" pitchFamily="34" charset="-127"/>
                <a:cs typeface="Times New Roman" pitchFamily="18" charset="0"/>
              </a:rPr>
              <a:t>Khi </a:t>
            </a:r>
            <a:r>
              <a:rPr lang="vi-VN" altLang="ko-KR" sz="950">
                <a:latin typeface="Times New Roman" pitchFamily="18" charset="0"/>
                <a:ea typeface="LG Smart_H Regular" panose="020B0600000101010101" pitchFamily="34" charset="-127"/>
                <a:cs typeface="Times New Roman" pitchFamily="18" charset="0"/>
              </a:rPr>
              <a:t>lựa chọn máy nén khí phải chọn loại công  suất thực tế tương đương tỷ lệ công suất lý thuyết. </a:t>
            </a:r>
            <a:endParaRPr lang="en-US" altLang="ko-KR" sz="950" smtClean="0">
              <a:latin typeface="Times New Roman" pitchFamily="18" charset="0"/>
              <a:ea typeface="LG Smart_H Regular" panose="020B0600000101010101" pitchFamily="34" charset="-127"/>
              <a:cs typeface="Times New Roman" pitchFamily="18" charset="0"/>
            </a:endParaRPr>
          </a:p>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smtClean="0">
                <a:latin typeface="Times New Roman" pitchFamily="18" charset="0"/>
                <a:ea typeface="LG Smart_H Regular" panose="020B0600000101010101" pitchFamily="34" charset="-127"/>
                <a:cs typeface="Times New Roman" pitchFamily="18" charset="0"/>
              </a:rPr>
              <a:t>Phải </a:t>
            </a:r>
            <a:r>
              <a:rPr lang="vi-VN" altLang="ko-KR" sz="950">
                <a:latin typeface="Times New Roman" pitchFamily="18" charset="0"/>
                <a:ea typeface="LG Smart_H Regular" panose="020B0600000101010101" pitchFamily="34" charset="-127"/>
                <a:cs typeface="Times New Roman" pitchFamily="18" charset="0"/>
              </a:rPr>
              <a:t>kiểm tra kỹ vì số lần quay sử dụng tối đa bị giới hạn do hiện tượng gián đoạn (stick-slip) tại vùng tốc độ thấp</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109538" indent="-109538"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Tính </a:t>
            </a:r>
            <a:r>
              <a:rPr lang="vi-VN" altLang="ko-KR" sz="950">
                <a:solidFill>
                  <a:srgbClr val="FF0000"/>
                </a:solidFill>
                <a:latin typeface="Times New Roman" pitchFamily="18" charset="0"/>
                <a:ea typeface="LG Smart_H Regular" panose="020B0600000101010101" pitchFamily="34" charset="-127"/>
                <a:cs typeface="Times New Roman" pitchFamily="18" charset="0"/>
              </a:rPr>
              <a:t>năng của động cơ khí nén: hiển thị công suất và torque khi áp suất ở phía ống xả bằng áp suất khí quyển. </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50" name="Rectangle 7"/>
          <p:cNvSpPr>
            <a:spLocks noChangeArrowheads="1"/>
          </p:cNvSpPr>
          <p:nvPr/>
        </p:nvSpPr>
        <p:spPr bwMode="auto">
          <a:xfrm>
            <a:off x="3468850" y="5435349"/>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a:latin typeface="Times New Roman" pitchFamily="18" charset="0"/>
                <a:ea typeface="LG Smart_H Regular" panose="020B0600000101010101" pitchFamily="34" charset="-127"/>
                <a:cs typeface="Times New Roman" pitchFamily="18" charset="0"/>
              </a:rPr>
              <a:t>Van có vai trò giảm áp, cài đặt áp suất khí lần 2 theo áp suất khí ổn định, cung cấp áp suất khi ổn định?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Van </a:t>
            </a:r>
            <a:r>
              <a:rPr lang="vi-VN" altLang="ko-KR" sz="950">
                <a:latin typeface="Times New Roman" pitchFamily="18" charset="0"/>
                <a:ea typeface="LG Smart_H Regular" panose="020B0600000101010101" pitchFamily="34" charset="-127"/>
                <a:cs typeface="Times New Roman" pitchFamily="18" charset="0"/>
              </a:rPr>
              <a:t>kiểm </a:t>
            </a:r>
            <a:r>
              <a:rPr lang="vi-VN" altLang="ko-KR" sz="950" smtClean="0">
                <a:latin typeface="Times New Roman" pitchFamily="18" charset="0"/>
                <a:ea typeface="LG Smart_H Regular" panose="020B0600000101010101" pitchFamily="34" charset="-127"/>
                <a:cs typeface="Times New Roman" pitchFamily="18" charset="0"/>
              </a:rPr>
              <a:t>tra</a:t>
            </a:r>
            <a:endParaRPr lang="en-US" altLang="ko-KR" sz="95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Van giảm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áp</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Công tắc áp </a:t>
            </a:r>
            <a:r>
              <a:rPr lang="en-US" altLang="ko-KR" sz="950" smtClean="0">
                <a:latin typeface="Times New Roman" pitchFamily="18" charset="0"/>
                <a:ea typeface="LG Smart_H Regular" panose="020B0600000101010101" pitchFamily="34" charset="-127"/>
                <a:cs typeface="Times New Roman" pitchFamily="18" charset="0"/>
              </a:rPr>
              <a:t>suất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khiển tốc độ</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1" name="Rectangle 7"/>
          <p:cNvSpPr>
            <a:spLocks noChangeArrowheads="1"/>
          </p:cNvSpPr>
          <p:nvPr/>
        </p:nvSpPr>
        <p:spPr bwMode="auto">
          <a:xfrm>
            <a:off x="3449538" y="648749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09538" indent="-109538"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Là van được kết hợp bởi van kiểm tra và van tiết lưu, điều khiển lưu lượng khí đi qua 1 chiều là van gì</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smtClean="0">
                <a:latin typeface="Times New Roman" pitchFamily="18" charset="0"/>
                <a:ea typeface="LG Smart_H Regular" panose="020B0600000101010101" pitchFamily="34" charset="-127"/>
                <a:cs typeface="Times New Roman" pitchFamily="18" charset="0"/>
              </a:rPr>
              <a:t>Van </a:t>
            </a:r>
            <a:r>
              <a:rPr lang="vi-VN" altLang="ko-KR" sz="950">
                <a:latin typeface="Times New Roman" pitchFamily="18" charset="0"/>
                <a:ea typeface="LG Smart_H Regular" panose="020B0600000101010101" pitchFamily="34" charset="-127"/>
                <a:cs typeface="Times New Roman" pitchFamily="18" charset="0"/>
              </a:rPr>
              <a:t>tiết </a:t>
            </a:r>
            <a:r>
              <a:rPr lang="vi-VN" altLang="ko-KR" sz="950" smtClean="0">
                <a:latin typeface="Times New Roman" pitchFamily="18" charset="0"/>
                <a:ea typeface="LG Smart_H Regular" panose="020B0600000101010101" pitchFamily="34" charset="-127"/>
                <a:cs typeface="Times New Roman" pitchFamily="18" charset="0"/>
              </a:rPr>
              <a:t>lưu</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Van </a:t>
            </a:r>
            <a:r>
              <a:rPr lang="en-US" altLang="ko-KR" sz="950">
                <a:latin typeface="Times New Roman" pitchFamily="18" charset="0"/>
                <a:ea typeface="LG Smart_H Regular" panose="020B0600000101010101" pitchFamily="34" charset="-127"/>
                <a:cs typeface="Times New Roman" pitchFamily="18" charset="0"/>
              </a:rPr>
              <a:t>kiểm </a:t>
            </a:r>
            <a:r>
              <a:rPr lang="en-US" altLang="ko-KR" sz="950" smtClean="0">
                <a:latin typeface="Times New Roman" pitchFamily="18" charset="0"/>
                <a:ea typeface="LG Smart_H Regular" panose="020B0600000101010101" pitchFamily="34" charset="-127"/>
                <a:cs typeface="Times New Roman" pitchFamily="18" charset="0"/>
              </a:rPr>
              <a:t>tra</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smtClean="0">
                <a:latin typeface="Times New Roman" pitchFamily="18" charset="0"/>
                <a:ea typeface="LG Smart_H Regular" panose="020B0600000101010101" pitchFamily="34" charset="-127"/>
                <a:cs typeface="Times New Roman" pitchFamily="18" charset="0"/>
              </a:rPr>
              <a:t>Van đệm</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Van </a:t>
            </a:r>
            <a:r>
              <a:rPr lang="vi-VN" altLang="ko-KR" sz="950">
                <a:solidFill>
                  <a:srgbClr val="FF0000"/>
                </a:solidFill>
                <a:latin typeface="Times New Roman" pitchFamily="18" charset="0"/>
                <a:ea typeface="LG Smart_H Regular" panose="020B0600000101010101" pitchFamily="34" charset="-127"/>
                <a:cs typeface="Times New Roman" pitchFamily="18" charset="0"/>
              </a:rPr>
              <a:t>điều khiển tốc độ</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52" name="Rectangle 7"/>
          <p:cNvSpPr>
            <a:spLocks noChangeArrowheads="1"/>
          </p:cNvSpPr>
          <p:nvPr/>
        </p:nvSpPr>
        <p:spPr bwMode="auto">
          <a:xfrm>
            <a:off x="3449538" y="7514074"/>
            <a:ext cx="3180502"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Phân loại tính năng theo màu của nút </a:t>
            </a:r>
            <a:r>
              <a:rPr lang="vi-VN" altLang="ko-KR" sz="950" smtClean="0">
                <a:latin typeface="Times New Roman" pitchFamily="18" charset="0"/>
                <a:ea typeface="LG Smart_H Regular" panose="020B0600000101010101" pitchFamily="34" charset="-127"/>
                <a:cs typeface="Times New Roman" pitchFamily="18" charset="0"/>
              </a:rPr>
              <a:t>nhấn?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Xanh lá: khởi động</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Vàng : Dừng khẩn cấp</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Trắng : Khởi động lại ( Reset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Đỏ : Hoạt động khác….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3" name="Rectangle 7"/>
          <p:cNvSpPr>
            <a:spLocks noChangeArrowheads="1"/>
          </p:cNvSpPr>
          <p:nvPr/>
        </p:nvSpPr>
        <p:spPr bwMode="auto">
          <a:xfrm>
            <a:off x="3457922" y="8602675"/>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Đâu là giải thích đúng hạng mục chọn rơ </a:t>
            </a:r>
            <a:r>
              <a:rPr lang="vi-VN" altLang="ko-KR" sz="950" smtClean="0">
                <a:latin typeface="Times New Roman" pitchFamily="18" charset="0"/>
                <a:ea typeface="LG Smart_H Regular" panose="020B0600000101010101" pitchFamily="34" charset="-127"/>
                <a:cs typeface="Times New Roman" pitchFamily="18" charset="0"/>
              </a:rPr>
              <a:t>le?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Điện áp tiêu chuẩn đầu vào coil, tiêu biểu là DC12, 24V, AC 110V, 220V,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Dòng điện cuộn dây và điện áp tiếp điểm</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số lượng tiếp điểm A có trong rơ le</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số lượng tiếp điểm B có trong rơ le.</a:t>
            </a:r>
            <a:endParaRPr lang="en-US" altLang="ko-KR" sz="950" dirty="0">
              <a:latin typeface="Times New Roman" pitchFamily="18"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9870008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a:latin typeface="Times New Roman" pitchFamily="18" charset="0"/>
                <a:cs typeface="Times New Roman" pitchFamily="18" charset="0"/>
              </a:rPr>
              <a:t>Khí nén</a:t>
            </a:r>
            <a:r>
              <a:rPr lang="en-US" altLang="ko-KR">
                <a:latin typeface="Times New Roman" pitchFamily="18" charset="0"/>
                <a:cs typeface="Times New Roman" pitchFamily="18" charset="0"/>
              </a:rPr>
              <a:t>] </a:t>
            </a:r>
            <a:endParaRPr lang="en-US" altLang="ko-KR" dirty="0">
              <a:latin typeface="Times New Roman" pitchFamily="18" charset="0"/>
              <a:cs typeface="Times New Roman" pitchFamily="18" charset="0"/>
            </a:endParaRPr>
          </a:p>
        </p:txBody>
      </p:sp>
      <p:sp>
        <p:nvSpPr>
          <p:cNvPr id="8196" name="Rectangle 17"/>
          <p:cNvSpPr>
            <a:spLocks noChangeArrowheads="1"/>
          </p:cNvSpPr>
          <p:nvPr/>
        </p:nvSpPr>
        <p:spPr bwMode="auto">
          <a:xfrm>
            <a:off x="226740"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8197" name="Rectangle 18"/>
          <p:cNvSpPr>
            <a:spLocks noChangeArrowheads="1"/>
          </p:cNvSpPr>
          <p:nvPr/>
        </p:nvSpPr>
        <p:spPr bwMode="auto">
          <a:xfrm>
            <a:off x="3416808" y="776288"/>
            <a:ext cx="31750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20" name="Text Box 22"/>
          <p:cNvSpPr txBox="1">
            <a:spLocks noChangeArrowheads="1"/>
          </p:cNvSpPr>
          <p:nvPr/>
        </p:nvSpPr>
        <p:spPr bwMode="auto">
          <a:xfrm>
            <a:off x="3424447" y="6141566"/>
            <a:ext cx="3124199"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109538" indent="-109538" eaLnBrk="1" hangingPunct="1">
              <a:spcBef>
                <a:spcPct val="0"/>
              </a:spcBef>
              <a:buFontTx/>
              <a:buNone/>
            </a:pPr>
            <a:r>
              <a:rPr lang="en-US" altLang="ko-KR" sz="950" smtClean="0">
                <a:latin typeface="Arial Narrow" pitchFamily="34" charset="0"/>
                <a:ea typeface="LG Smart_H Regular" panose="020B0600000101010101" pitchFamily="34" charset="-127"/>
                <a:cs typeface="Times New Roman" pitchFamily="18" charset="0"/>
              </a:rPr>
              <a:t>59. </a:t>
            </a:r>
            <a:r>
              <a:rPr lang="vi-VN" altLang="ko-KR" sz="950" dirty="0">
                <a:latin typeface="Times New Roman" pitchFamily="18" charset="0"/>
                <a:ea typeface="LG Smart_H Regular" panose="020B0600000101010101" pitchFamily="34" charset="-127"/>
                <a:cs typeface="Times New Roman" pitchFamily="18" charset="0"/>
              </a:rPr>
              <a:t>Thiết bị chuyền khí nén có kết cấu tạo lực quay bằng cách biến đổi tốc độ và năng lượng áp suất thành chuyển động quay bằng cách gắn khí nén vào cánh gạt </a:t>
            </a:r>
            <a:r>
              <a:rPr lang="vi-VN" altLang="ko-KR" sz="950">
                <a:latin typeface="Times New Roman" pitchFamily="18" charset="0"/>
                <a:ea typeface="LG Smart_H Regular" panose="020B0600000101010101" pitchFamily="34" charset="-127"/>
                <a:cs typeface="Times New Roman" pitchFamily="18" charset="0"/>
              </a:rPr>
              <a:t>ô </a:t>
            </a:r>
            <a:r>
              <a:rPr lang="vi-VN" altLang="ko-KR" sz="950" smtClean="0">
                <a:latin typeface="Times New Roman" pitchFamily="18" charset="0"/>
                <a:ea typeface="LG Smart_H Regular" panose="020B0600000101010101" pitchFamily="34" charset="-127"/>
                <a:cs typeface="Times New Roman" pitchFamily="18" charset="0"/>
              </a:rPr>
              <a:t>tô</a:t>
            </a:r>
            <a:r>
              <a:rPr lang="en-US" altLang="ko-KR" sz="950" smtClean="0">
                <a:latin typeface="Arial Narrow" pitchFamily="34" charset="0"/>
                <a:ea typeface="LG Smart_H Regular" panose="020B0600000101010101" pitchFamily="34" charset="-127"/>
                <a:cs typeface="Times New Roman" pitchFamily="18" charset="0"/>
              </a:rPr>
              <a:t>?</a:t>
            </a:r>
            <a:endParaRPr lang="en-US" altLang="ko-KR" sz="950" dirty="0">
              <a:latin typeface="Arial Narrow" pitchFamily="34" charset="0"/>
              <a:ea typeface="LG Smart_H Regular" panose="020B0600000101010101" pitchFamily="34" charset="-127"/>
              <a:cs typeface="Times New Roman" pitchFamily="18" charset="0"/>
            </a:endParaRP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Motor </a:t>
            </a:r>
            <a:r>
              <a:rPr lang="vi-VN" altLang="ko-KR" sz="950">
                <a:latin typeface="Times New Roman" pitchFamily="18" charset="0"/>
                <a:ea typeface="LG Smart_H Regular" panose="020B0600000101010101" pitchFamily="34" charset="-127"/>
                <a:cs typeface="Times New Roman" pitchFamily="18" charset="0"/>
              </a:rPr>
              <a:t>gear</a:t>
            </a:r>
            <a:r>
              <a:rPr lang="ko-KR" altLang="en-US" sz="950">
                <a:latin typeface="Arial Narrow" pitchFamily="34" charset="0"/>
                <a:ea typeface="LG Smart_H Regular" panose="020B0600000101010101" pitchFamily="34" charset="-127"/>
                <a:cs typeface="Times New Roman" pitchFamily="18" charset="0"/>
              </a:rPr>
              <a:t>    </a:t>
            </a:r>
            <a:r>
              <a:rPr lang="en-US" altLang="ko-KR" sz="950">
                <a:latin typeface="Arial Narrow" pitchFamily="34" charset="0"/>
                <a:ea typeface="LG Smart_H Regular" panose="020B0600000101010101" pitchFamily="34" charset="-127"/>
                <a:cs typeface="Times New Roman" pitchFamily="18" charset="0"/>
              </a:rPr>
              <a:t>               </a:t>
            </a: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Motor piston</a:t>
            </a:r>
            <a:endParaRPr lang="en-US" altLang="ko-KR" sz="950" dirty="0">
              <a:latin typeface="Arial Narrow" pitchFamily="34" charset="0"/>
              <a:ea typeface="LG Smart_H Regular" panose="020B0600000101010101" pitchFamily="34" charset="-127"/>
              <a:cs typeface="Times New Roman" pitchFamily="18" charset="0"/>
            </a:endParaRPr>
          </a:p>
          <a:p>
            <a:pPr marL="228600" indent="-228600" eaLnBrk="1" hangingPunct="1">
              <a:spcBef>
                <a:spcPct val="0"/>
              </a:spcBef>
              <a:buFont typeface="+mj-l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Motor </a:t>
            </a:r>
            <a:r>
              <a:rPr lang="vi-VN" altLang="ko-KR" sz="950">
                <a:solidFill>
                  <a:srgbClr val="FF0000"/>
                </a:solidFill>
                <a:latin typeface="Times New Roman" pitchFamily="18" charset="0"/>
                <a:ea typeface="LG Smart_H Regular" panose="020B0600000101010101" pitchFamily="34" charset="-127"/>
                <a:cs typeface="Times New Roman" pitchFamily="18" charset="0"/>
              </a:rPr>
              <a:t>tuabin</a:t>
            </a:r>
            <a:r>
              <a:rPr lang="ko-KR" altLang="en-US" sz="950">
                <a:solidFill>
                  <a:srgbClr val="FF0000"/>
                </a:solidFill>
                <a:latin typeface="Arial Narrow" pitchFamily="34" charset="0"/>
                <a:ea typeface="LG Smart_H Regular" panose="020B0600000101010101" pitchFamily="34" charset="-127"/>
                <a:cs typeface="Times New Roman" pitchFamily="18" charset="0"/>
              </a:rPr>
              <a:t>  </a:t>
            </a:r>
            <a:r>
              <a:rPr lang="en-US" altLang="ko-KR" sz="950">
                <a:solidFill>
                  <a:srgbClr val="FF0000"/>
                </a:solidFill>
                <a:latin typeface="Arial Narrow" pitchFamily="34" charset="0"/>
                <a:ea typeface="LG Smart_H Regular" panose="020B0600000101010101" pitchFamily="34" charset="-127"/>
                <a:cs typeface="Times New Roman" pitchFamily="18" charset="0"/>
              </a:rPr>
              <a:t>              </a:t>
            </a: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Motor </a:t>
            </a:r>
            <a:r>
              <a:rPr lang="vi-VN" altLang="ko-KR" sz="950" dirty="0">
                <a:latin typeface="Times New Roman" pitchFamily="18" charset="0"/>
                <a:ea typeface="LG Smart_H Regular" panose="020B0600000101010101" pitchFamily="34" charset="-127"/>
                <a:cs typeface="Times New Roman" pitchFamily="18" charset="0"/>
              </a:rPr>
              <a:t>cánh gạt</a:t>
            </a:r>
            <a:endParaRPr lang="en-US" altLang="ko-KR" sz="950" dirty="0">
              <a:latin typeface="Arial Narrow" pitchFamily="34" charset="0"/>
              <a:ea typeface="LG Smart_H Regular" panose="020B0600000101010101" pitchFamily="34" charset="-127"/>
              <a:cs typeface="Times New Roman" pitchFamily="18" charset="0"/>
            </a:endParaRPr>
          </a:p>
        </p:txBody>
      </p:sp>
      <p:grpSp>
        <p:nvGrpSpPr>
          <p:cNvPr id="51" name="Group 50"/>
          <p:cNvGrpSpPr/>
          <p:nvPr/>
        </p:nvGrpSpPr>
        <p:grpSpPr>
          <a:xfrm>
            <a:off x="3485582" y="1046349"/>
            <a:ext cx="3168650" cy="1800200"/>
            <a:chOff x="260350" y="7401272"/>
            <a:chExt cx="3168650" cy="1800200"/>
          </a:xfrm>
        </p:grpSpPr>
        <p:sp>
          <p:nvSpPr>
            <p:cNvPr id="52" name="Text Box 17"/>
            <p:cNvSpPr txBox="1">
              <a:spLocks noChangeArrowheads="1"/>
            </p:cNvSpPr>
            <p:nvPr/>
          </p:nvSpPr>
          <p:spPr bwMode="auto">
            <a:xfrm>
              <a:off x="260350" y="7401272"/>
              <a:ext cx="3168650"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109538" indent="-109538" eaLnBrk="1" hangingPunct="1">
                <a:spcBef>
                  <a:spcPct val="0"/>
                </a:spcBef>
                <a:buFontTx/>
                <a:buNone/>
              </a:pPr>
              <a:r>
                <a:rPr lang="en-US" altLang="ko-KR" sz="950" smtClean="0">
                  <a:latin typeface="Arial Narrow" pitchFamily="34" charset="0"/>
                  <a:ea typeface="LG Smart_H Regular" panose="020B0600000101010101" pitchFamily="34" charset="-127"/>
                  <a:cs typeface="Times New Roman" pitchFamily="18" charset="0"/>
                </a:rPr>
                <a:t>57. </a:t>
              </a:r>
              <a:r>
                <a:rPr lang="vi-VN" altLang="ko-KR" sz="950" smtClean="0">
                  <a:latin typeface="Times New Roman" pitchFamily="18" charset="0"/>
                  <a:ea typeface="LG Smart_H Regular" panose="020B0600000101010101" pitchFamily="34" charset="-127"/>
                  <a:cs typeface="Times New Roman" pitchFamily="18" charset="0"/>
                </a:rPr>
                <a:t>Cylinder </a:t>
              </a:r>
              <a:r>
                <a:rPr lang="vi-VN" altLang="ko-KR" sz="950" dirty="0">
                  <a:latin typeface="Times New Roman" pitchFamily="18" charset="0"/>
                  <a:ea typeface="LG Smart_H Regular" panose="020B0600000101010101" pitchFamily="34" charset="-127"/>
                  <a:cs typeface="Times New Roman" pitchFamily="18" charset="0"/>
                </a:rPr>
                <a:t>nào có ưu điểm là giảm thiểu diện tích lắp đặt và có đặc tính dừng trung gian vì giá trị lực đẩy tiến lên/lùi như nhau</a:t>
              </a:r>
              <a:r>
                <a:rPr lang="en-US" altLang="ko-KR" sz="950" dirty="0">
                  <a:latin typeface="Arial Narrow" pitchFamily="34" charset="0"/>
                  <a:ea typeface="LG Smart_H Regular" panose="020B0600000101010101" pitchFamily="34" charset="-127"/>
                  <a:cs typeface="Times New Roman" pitchFamily="18" charset="0"/>
                </a:rPr>
                <a:t>?  </a:t>
              </a:r>
            </a:p>
            <a:p>
              <a:pPr eaLnBrk="1" hangingPunct="1">
                <a:spcBef>
                  <a:spcPct val="0"/>
                </a:spcBef>
                <a:buFontTx/>
                <a:buNone/>
              </a:pPr>
              <a:endParaRPr lang="en-US" altLang="ko-KR" sz="950" dirty="0">
                <a:latin typeface="Arial Narrow" pitchFamily="34" charset="0"/>
                <a:ea typeface="LG Smart_H Regular" panose="020B0600000101010101" pitchFamily="34" charset="-127"/>
                <a:cs typeface="Times New Roman" pitchFamily="18" charset="0"/>
              </a:endParaRPr>
            </a:p>
            <a:p>
              <a:pPr eaLnBrk="1" hangingPunct="1">
                <a:spcBef>
                  <a:spcPct val="0"/>
                </a:spcBef>
                <a:buFontTx/>
                <a:buNone/>
              </a:pPr>
              <a:endParaRPr lang="en-US" altLang="ko-KR" sz="950" dirty="0">
                <a:latin typeface="Arial Narrow" pitchFamily="34" charset="0"/>
                <a:ea typeface="LG Smart_H Regular" panose="020B0600000101010101" pitchFamily="34" charset="-127"/>
                <a:cs typeface="Times New Roman" pitchFamily="18" charset="0"/>
              </a:endParaRPr>
            </a:p>
            <a:p>
              <a:pPr eaLnBrk="1" hangingPunct="1">
                <a:spcBef>
                  <a:spcPct val="0"/>
                </a:spcBef>
                <a:buFontTx/>
                <a:buNone/>
              </a:pPr>
              <a:r>
                <a:rPr lang="en-US" altLang="ko-KR" sz="950">
                  <a:latin typeface="Arial Narrow" pitchFamily="34" charset="0"/>
                  <a:ea typeface="LG Smart_H Regular" panose="020B0600000101010101" pitchFamily="34" charset="-127"/>
                  <a:cs typeface="Times New Roman" pitchFamily="18" charset="0"/>
                </a:rPr>
                <a:t>  </a:t>
              </a:r>
              <a:r>
                <a:rPr lang="en-US" altLang="ko-KR" sz="950" smtClean="0">
                  <a:solidFill>
                    <a:srgbClr val="FF0000"/>
                  </a:solidFill>
                  <a:latin typeface="Arial Narrow" pitchFamily="34" charset="0"/>
                  <a:ea typeface="LG Smart_H Regular" panose="020B0600000101010101" pitchFamily="34" charset="-127"/>
                  <a:cs typeface="Times New Roman" pitchFamily="18" charset="0"/>
                </a:rPr>
                <a:t>A.                                                    </a:t>
              </a:r>
              <a:r>
                <a:rPr lang="en-US" altLang="ko-KR" sz="950" smtClean="0">
                  <a:latin typeface="Arial Narrow" pitchFamily="34" charset="0"/>
                  <a:ea typeface="LG Smart_H Regular" panose="020B0600000101010101" pitchFamily="34" charset="-127"/>
                  <a:cs typeface="Times New Roman" pitchFamily="18" charset="0"/>
                </a:rPr>
                <a:t>B.</a:t>
              </a:r>
              <a:endParaRPr lang="en-US" altLang="ko-KR" sz="950" dirty="0">
                <a:latin typeface="Arial Narrow" pitchFamily="34" charset="0"/>
                <a:ea typeface="LG Smart_H Regular" panose="020B0600000101010101" pitchFamily="34" charset="-127"/>
                <a:cs typeface="Times New Roman" pitchFamily="18" charset="0"/>
              </a:endParaRPr>
            </a:p>
            <a:p>
              <a:pPr eaLnBrk="1" hangingPunct="1">
                <a:spcBef>
                  <a:spcPct val="0"/>
                </a:spcBef>
                <a:buFontTx/>
                <a:buNone/>
              </a:pPr>
              <a:endParaRPr lang="en-US" altLang="ko-KR" sz="950" dirty="0">
                <a:latin typeface="Arial Narrow" pitchFamily="34" charset="0"/>
                <a:ea typeface="LG Smart_H Regular" panose="020B0600000101010101" pitchFamily="34" charset="-127"/>
                <a:cs typeface="Times New Roman" pitchFamily="18" charset="0"/>
              </a:endParaRPr>
            </a:p>
            <a:p>
              <a:pPr eaLnBrk="1" hangingPunct="1">
                <a:spcBef>
                  <a:spcPct val="0"/>
                </a:spcBef>
                <a:buFontTx/>
                <a:buNone/>
              </a:pPr>
              <a:endParaRPr lang="en-US" altLang="ko-KR" sz="950">
                <a:latin typeface="Arial Narrow" pitchFamily="34" charset="0"/>
                <a:ea typeface="LG Smart_H Regular" panose="020B0600000101010101" pitchFamily="34" charset="-127"/>
                <a:cs typeface="Times New Roman" pitchFamily="18" charset="0"/>
              </a:endParaRPr>
            </a:p>
            <a:p>
              <a:pPr eaLnBrk="1" hangingPunct="1">
                <a:spcBef>
                  <a:spcPct val="0"/>
                </a:spcBef>
                <a:buFontTx/>
                <a:buNone/>
              </a:pPr>
              <a:endParaRPr lang="en-US" altLang="ko-KR" sz="950" dirty="0">
                <a:latin typeface="Arial Narrow" pitchFamily="34" charset="0"/>
                <a:ea typeface="LG Smart_H Regular" panose="020B0600000101010101" pitchFamily="34" charset="-127"/>
                <a:cs typeface="Times New Roman" pitchFamily="18" charset="0"/>
              </a:endParaRPr>
            </a:p>
            <a:p>
              <a:pPr eaLnBrk="1" hangingPunct="1">
                <a:spcBef>
                  <a:spcPct val="0"/>
                </a:spcBef>
                <a:buFontTx/>
                <a:buNone/>
              </a:pPr>
              <a:endParaRPr lang="en-US" altLang="ko-KR" sz="950" dirty="0">
                <a:latin typeface="Arial Narrow" pitchFamily="34" charset="0"/>
                <a:ea typeface="LG Smart_H Regular" panose="020B0600000101010101" pitchFamily="34" charset="-127"/>
                <a:cs typeface="Times New Roman" pitchFamily="18" charset="0"/>
              </a:endParaRPr>
            </a:p>
            <a:p>
              <a:pPr eaLnBrk="1" hangingPunct="1">
                <a:spcBef>
                  <a:spcPct val="0"/>
                </a:spcBef>
                <a:buFontTx/>
                <a:buNone/>
              </a:pPr>
              <a:r>
                <a:rPr lang="ko-KR" altLang="en-US" sz="950">
                  <a:latin typeface="Arial Narrow" pitchFamily="34" charset="0"/>
                  <a:ea typeface="LG Smart_H Regular" panose="020B0600000101010101" pitchFamily="34" charset="-127"/>
                  <a:cs typeface="Times New Roman" pitchFamily="18" charset="0"/>
                </a:rPr>
                <a:t>  </a:t>
              </a:r>
              <a:r>
                <a:rPr lang="en-US" altLang="ko-KR" sz="950" smtClean="0">
                  <a:latin typeface="Arial Narrow" pitchFamily="34" charset="0"/>
                  <a:ea typeface="LG Smart_H Regular" panose="020B0600000101010101" pitchFamily="34" charset="-127"/>
                  <a:cs typeface="Times New Roman" pitchFamily="18" charset="0"/>
                </a:rPr>
                <a:t>C.  </a:t>
              </a:r>
              <a:r>
                <a:rPr lang="ko-KR" altLang="en-US" sz="950" smtClean="0">
                  <a:latin typeface="Arial Narrow" pitchFamily="34" charset="0"/>
                  <a:ea typeface="LG Smart_H Regular" panose="020B0600000101010101" pitchFamily="34" charset="-127"/>
                  <a:cs typeface="Times New Roman" pitchFamily="18" charset="0"/>
                </a:rPr>
                <a:t>                                                  </a:t>
              </a:r>
              <a:r>
                <a:rPr lang="en-US" altLang="ko-KR" sz="950" smtClean="0">
                  <a:latin typeface="Arial Narrow" pitchFamily="34" charset="0"/>
                  <a:ea typeface="LG Smart_H Regular" panose="020B0600000101010101" pitchFamily="34" charset="-127"/>
                  <a:cs typeface="Times New Roman" pitchFamily="18" charset="0"/>
                </a:rPr>
                <a:t>D.</a:t>
              </a:r>
              <a:endParaRPr lang="ko-KR" altLang="en-US" sz="950" dirty="0">
                <a:latin typeface="Arial Narrow" pitchFamily="34" charset="0"/>
                <a:ea typeface="LG Smart_H Regular" panose="020B0600000101010101" pitchFamily="34" charset="-127"/>
                <a:cs typeface="Times New Roman" pitchFamily="18" charset="0"/>
              </a:endParaRPr>
            </a:p>
          </p:txBody>
        </p:sp>
        <p:pic>
          <p:nvPicPr>
            <p:cNvPr id="53" name="Picture 8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28850" y="8109917"/>
              <a:ext cx="942975"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 name="Picture 8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188" y="8049344"/>
              <a:ext cx="1104900" cy="409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 name="Picture 9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6750" y="8822059"/>
              <a:ext cx="1035050" cy="369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icture 9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85988" y="8761734"/>
              <a:ext cx="1073150" cy="439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 name="Group 2"/>
          <p:cNvGrpSpPr/>
          <p:nvPr/>
        </p:nvGrpSpPr>
        <p:grpSpPr>
          <a:xfrm>
            <a:off x="3424446" y="4449107"/>
            <a:ext cx="3079750" cy="1007949"/>
            <a:chOff x="3424446" y="4376936"/>
            <a:chExt cx="3079750" cy="1007949"/>
          </a:xfrm>
        </p:grpSpPr>
        <p:grpSp>
          <p:nvGrpSpPr>
            <p:cNvPr id="39" name="Group 62"/>
            <p:cNvGrpSpPr>
              <a:grpSpLocks/>
            </p:cNvGrpSpPr>
            <p:nvPr/>
          </p:nvGrpSpPr>
          <p:grpSpPr bwMode="auto">
            <a:xfrm>
              <a:off x="5043696" y="4448260"/>
              <a:ext cx="1416086" cy="936625"/>
              <a:chOff x="621" y="2122"/>
              <a:chExt cx="1238" cy="696"/>
            </a:xfrm>
          </p:grpSpPr>
          <p:pic>
            <p:nvPicPr>
              <p:cNvPr id="40" name="Picture 6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21" y="2122"/>
                <a:ext cx="909" cy="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 name="Text Box 64"/>
              <p:cNvSpPr txBox="1">
                <a:spLocks noChangeArrowheads="1"/>
              </p:cNvSpPr>
              <p:nvPr/>
            </p:nvSpPr>
            <p:spPr bwMode="auto">
              <a:xfrm>
                <a:off x="1148" y="2230"/>
                <a:ext cx="711"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err="1" smtClean="0">
                    <a:latin typeface="Arial Narrow" pitchFamily="34" charset="0"/>
                    <a:cs typeface="Times New Roman" panose="02020603050405020304" pitchFamily="18" charset="0"/>
                  </a:rPr>
                  <a:t>Chất</a:t>
                </a:r>
                <a:r>
                  <a:rPr lang="en-US" altLang="ko-KR" sz="950" smtClean="0">
                    <a:latin typeface="Arial Narrow" pitchFamily="34" charset="0"/>
                    <a:cs typeface="Times New Roman" panose="02020603050405020304" pitchFamily="18" charset="0"/>
                  </a:rPr>
                  <a:t> cách </a:t>
                </a:r>
                <a:r>
                  <a:rPr lang="en-US" altLang="ko-KR" sz="950" dirty="0" err="1" smtClean="0">
                    <a:latin typeface="Arial Narrow" pitchFamily="34" charset="0"/>
                    <a:cs typeface="Times New Roman" panose="02020603050405020304" pitchFamily="18" charset="0"/>
                  </a:rPr>
                  <a:t>âm</a:t>
                </a:r>
                <a:endParaRPr lang="ko-KR" altLang="en-US" sz="950" dirty="0">
                  <a:latin typeface="Arial Narrow" pitchFamily="34" charset="0"/>
                  <a:cs typeface="Times New Roman" panose="02020603050405020304" pitchFamily="18" charset="0"/>
                </a:endParaRPr>
              </a:p>
            </p:txBody>
          </p:sp>
          <p:sp>
            <p:nvSpPr>
              <p:cNvPr id="48" name="Text Box 65"/>
              <p:cNvSpPr txBox="1">
                <a:spLocks noChangeArrowheads="1"/>
              </p:cNvSpPr>
              <p:nvPr/>
            </p:nvSpPr>
            <p:spPr bwMode="auto">
              <a:xfrm>
                <a:off x="1268" y="2352"/>
                <a:ext cx="419"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smtClean="0">
                    <a:latin typeface="Arial Narrow" pitchFamily="34" charset="0"/>
                    <a:cs typeface="Times New Roman" panose="02020603050405020304" pitchFamily="18" charset="0"/>
                  </a:rPr>
                  <a:t>Cover </a:t>
                </a:r>
                <a:endParaRPr lang="ko-KR" altLang="en-US" sz="950" dirty="0">
                  <a:latin typeface="Arial Narrow" pitchFamily="34" charset="0"/>
                  <a:cs typeface="Times New Roman" panose="02020603050405020304" pitchFamily="18" charset="0"/>
                </a:endParaRPr>
              </a:p>
            </p:txBody>
          </p:sp>
          <p:sp>
            <p:nvSpPr>
              <p:cNvPr id="49" name="Text Box 66"/>
              <p:cNvSpPr txBox="1">
                <a:spLocks noChangeArrowheads="1"/>
              </p:cNvSpPr>
              <p:nvPr/>
            </p:nvSpPr>
            <p:spPr bwMode="auto">
              <a:xfrm>
                <a:off x="1314" y="2459"/>
                <a:ext cx="484"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smtClean="0">
                    <a:latin typeface="Arial Narrow" pitchFamily="34" charset="0"/>
                    <a:cs typeface="Times New Roman" panose="02020603050405020304" pitchFamily="18" charset="0"/>
                  </a:rPr>
                  <a:t>End cap</a:t>
                </a:r>
                <a:endParaRPr lang="ko-KR" altLang="en-US" sz="950" dirty="0">
                  <a:latin typeface="Arial Narrow" pitchFamily="34" charset="0"/>
                  <a:cs typeface="Times New Roman" panose="02020603050405020304" pitchFamily="18" charset="0"/>
                </a:endParaRPr>
              </a:p>
            </p:txBody>
          </p:sp>
        </p:grpSp>
        <p:sp>
          <p:nvSpPr>
            <p:cNvPr id="50" name="Rectangle 67"/>
            <p:cNvSpPr>
              <a:spLocks noChangeArrowheads="1"/>
            </p:cNvSpPr>
            <p:nvPr/>
          </p:nvSpPr>
          <p:spPr bwMode="auto">
            <a:xfrm>
              <a:off x="3424446" y="4376936"/>
              <a:ext cx="307975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Arial Narrow" pitchFamily="34" charset="0"/>
                  <a:cs typeface="Times New Roman" panose="02020603050405020304" pitchFamily="18" charset="0"/>
                </a:rPr>
                <a:t>58.  Hình ống giảm thanh </a:t>
              </a:r>
              <a:r>
                <a:rPr lang="en-US" altLang="ko-KR" sz="950" dirty="0" err="1" smtClean="0">
                  <a:latin typeface="Arial Narrow" pitchFamily="34" charset="0"/>
                  <a:cs typeface="Times New Roman" panose="02020603050405020304" pitchFamily="18" charset="0"/>
                </a:rPr>
                <a:t>sau</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là</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gì</a:t>
              </a:r>
              <a:r>
                <a:rPr lang="en-US" altLang="ko-KR" sz="950" dirty="0" smtClean="0">
                  <a:latin typeface="Arial Narrow" pitchFamily="34" charset="0"/>
                  <a:cs typeface="Times New Roman" panose="02020603050405020304" pitchFamily="18" charset="0"/>
                </a:rPr>
                <a:t> ?</a:t>
              </a:r>
              <a:endParaRPr lang="en-US" altLang="ko-KR" sz="950" dirty="0">
                <a:latin typeface="Arial Narrow" pitchFamily="34" charset="0"/>
                <a:cs typeface="Times New Roman" panose="02020603050405020304" pitchFamily="18" charset="0"/>
              </a:endParaRPr>
            </a:p>
            <a:p>
              <a:pPr eaLnBrk="1" hangingPunct="1"/>
              <a:endParaRPr lang="en-US" altLang="ko-KR" sz="950" smtClean="0">
                <a:solidFill>
                  <a:srgbClr val="FF0000"/>
                </a:solidFill>
                <a:latin typeface="Arial Narrow" pitchFamily="34" charset="0"/>
                <a:cs typeface="Times New Roman" panose="02020603050405020304" pitchFamily="18" charset="0"/>
              </a:endParaRPr>
            </a:p>
            <a:p>
              <a:pPr eaLnBrk="1" hangingPunct="1"/>
              <a:r>
                <a:rPr lang="en-US" altLang="ko-KR" sz="950" smtClean="0">
                  <a:solidFill>
                    <a:srgbClr val="FF0000"/>
                  </a:solidFill>
                  <a:latin typeface="Arial Narrow" pitchFamily="34" charset="0"/>
                  <a:cs typeface="Times New Roman" panose="02020603050405020304" pitchFamily="18" charset="0"/>
                </a:rPr>
                <a:t>A.  </a:t>
              </a:r>
              <a:r>
                <a:rPr lang="en-US" altLang="ko-KR" sz="950" dirty="0" err="1" smtClean="0">
                  <a:solidFill>
                    <a:srgbClr val="FF0000"/>
                  </a:solidFill>
                  <a:latin typeface="Arial Narrow" pitchFamily="34" charset="0"/>
                  <a:cs typeface="Times New Roman" panose="02020603050405020304" pitchFamily="18" charset="0"/>
                </a:rPr>
                <a:t>G</a:t>
              </a:r>
              <a:r>
                <a:rPr lang="en-US" altLang="ko-KR" sz="950" smtClean="0">
                  <a:solidFill>
                    <a:srgbClr val="FF0000"/>
                  </a:solidFill>
                  <a:latin typeface="Arial Narrow" pitchFamily="34" charset="0"/>
                  <a:cs typeface="Times New Roman" panose="02020603050405020304" pitchFamily="18" charset="0"/>
                </a:rPr>
                <a:t>iảm </a:t>
              </a:r>
              <a:r>
                <a:rPr lang="en-US" altLang="ko-KR" sz="950" dirty="0" err="1" smtClean="0">
                  <a:solidFill>
                    <a:srgbClr val="FF0000"/>
                  </a:solidFill>
                  <a:latin typeface="Arial Narrow" pitchFamily="34" charset="0"/>
                  <a:cs typeface="Times New Roman" panose="02020603050405020304" pitchFamily="18" charset="0"/>
                </a:rPr>
                <a:t>thanh</a:t>
              </a:r>
              <a:r>
                <a:rPr lang="en-US" altLang="ko-KR" sz="950" dirty="0" smtClean="0">
                  <a:solidFill>
                    <a:srgbClr val="FF0000"/>
                  </a:solidFill>
                  <a:latin typeface="Arial Narrow" pitchFamily="34" charset="0"/>
                  <a:cs typeface="Times New Roman" panose="02020603050405020304" pitchFamily="18" charset="0"/>
                </a:rPr>
                <a:t> </a:t>
              </a:r>
              <a:r>
                <a:rPr lang="en-US" altLang="ko-KR" sz="950" dirty="0" err="1" smtClean="0">
                  <a:solidFill>
                    <a:srgbClr val="FF0000"/>
                  </a:solidFill>
                  <a:latin typeface="Arial Narrow" pitchFamily="34" charset="0"/>
                  <a:cs typeface="Times New Roman" panose="02020603050405020304" pitchFamily="18" charset="0"/>
                </a:rPr>
                <a:t>kháng</a:t>
              </a:r>
              <a:r>
                <a:rPr lang="ko-KR" altLang="en-US" sz="950" dirty="0" smtClean="0">
                  <a:solidFill>
                    <a:srgbClr val="FF0000"/>
                  </a:solidFill>
                  <a:latin typeface="Arial Narrow" pitchFamily="34" charset="0"/>
                  <a:cs typeface="Times New Roman" panose="02020603050405020304" pitchFamily="18" charset="0"/>
                </a:rPr>
                <a:t>   </a:t>
              </a:r>
              <a:endParaRPr lang="ko-KR" altLang="en-US" sz="950" dirty="0">
                <a:solidFill>
                  <a:srgbClr val="FF0000"/>
                </a:solidFill>
                <a:latin typeface="Arial Narrow" pitchFamily="34" charset="0"/>
                <a:cs typeface="Times New Roman" panose="02020603050405020304" pitchFamily="18" charset="0"/>
              </a:endParaRPr>
            </a:p>
            <a:p>
              <a:pPr eaLnBrk="1" hangingPunct="1"/>
              <a:r>
                <a:rPr lang="en-US" altLang="ko-KR" sz="950" smtClean="0">
                  <a:latin typeface="Arial Narrow" pitchFamily="34" charset="0"/>
                  <a:cs typeface="Times New Roman" panose="02020603050405020304" pitchFamily="18" charset="0"/>
                </a:rPr>
                <a:t>B.</a:t>
              </a:r>
              <a:r>
                <a:rPr lang="ko-KR" altLang="en-US" sz="950" smtClean="0">
                  <a:latin typeface="Arial Narrow" pitchFamily="34" charset="0"/>
                  <a:cs typeface="Times New Roman" panose="02020603050405020304" pitchFamily="18" charset="0"/>
                </a:rPr>
                <a:t> </a:t>
              </a:r>
              <a:r>
                <a:rPr lang="en-US" altLang="ko-KR" sz="950" smtClean="0">
                  <a:latin typeface="Arial Narrow" pitchFamily="34" charset="0"/>
                  <a:cs typeface="Times New Roman" panose="02020603050405020304" pitchFamily="18" charset="0"/>
                </a:rPr>
                <a:t> Giảm </a:t>
              </a:r>
              <a:r>
                <a:rPr lang="en-US" altLang="ko-KR" sz="950" dirty="0" err="1" smtClean="0">
                  <a:latin typeface="Arial Narrow" pitchFamily="34" charset="0"/>
                  <a:cs typeface="Times New Roman" panose="02020603050405020304" pitchFamily="18" charset="0"/>
                </a:rPr>
                <a:t>thanh</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phản</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ứng</a:t>
              </a:r>
              <a:endParaRPr lang="ko-KR" altLang="en-US" sz="950" dirty="0">
                <a:latin typeface="Arial Narrow" pitchFamily="34" charset="0"/>
                <a:cs typeface="Times New Roman" panose="02020603050405020304" pitchFamily="18" charset="0"/>
              </a:endParaRPr>
            </a:p>
            <a:p>
              <a:pPr eaLnBrk="1" hangingPunct="1"/>
              <a:r>
                <a:rPr lang="en-US" altLang="ko-KR" sz="950" smtClean="0">
                  <a:latin typeface="Arial Narrow" pitchFamily="34" charset="0"/>
                  <a:cs typeface="Times New Roman" panose="02020603050405020304" pitchFamily="18" charset="0"/>
                </a:rPr>
                <a:t>C.</a:t>
              </a:r>
              <a:r>
                <a:rPr lang="ko-KR" altLang="en-US" sz="950" smtClean="0">
                  <a:latin typeface="Arial Narrow" pitchFamily="34" charset="0"/>
                  <a:cs typeface="Times New Roman" panose="02020603050405020304" pitchFamily="18" charset="0"/>
                </a:rPr>
                <a:t>  </a:t>
              </a:r>
              <a:r>
                <a:rPr lang="en-US" altLang="ko-KR" sz="950">
                  <a:latin typeface="Arial Narrow" pitchFamily="34" charset="0"/>
                  <a:cs typeface="Times New Roman" panose="02020603050405020304" pitchFamily="18" charset="0"/>
                </a:rPr>
                <a:t>G</a:t>
              </a:r>
              <a:r>
                <a:rPr lang="en-US" altLang="ko-KR" sz="950" smtClean="0">
                  <a:latin typeface="Arial Narrow" pitchFamily="34" charset="0"/>
                  <a:cs typeface="Times New Roman" panose="02020603050405020304" pitchFamily="18" charset="0"/>
                </a:rPr>
                <a:t>iảm </a:t>
              </a:r>
              <a:r>
                <a:rPr lang="en-US" altLang="ko-KR" sz="950" dirty="0" err="1" smtClean="0">
                  <a:latin typeface="Arial Narrow" pitchFamily="34" charset="0"/>
                  <a:cs typeface="Times New Roman" panose="02020603050405020304" pitchFamily="18" charset="0"/>
                </a:rPr>
                <a:t>âm</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đa</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mục</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đích</a:t>
              </a:r>
              <a:endParaRPr lang="ko-KR" altLang="en-US" sz="950" dirty="0">
                <a:latin typeface="Arial Narrow" pitchFamily="34" charset="0"/>
                <a:cs typeface="Times New Roman" panose="02020603050405020304" pitchFamily="18" charset="0"/>
              </a:endParaRPr>
            </a:p>
            <a:p>
              <a:pPr eaLnBrk="1" hangingPunct="1"/>
              <a:r>
                <a:rPr lang="en-US" altLang="ko-KR" sz="950" smtClean="0">
                  <a:latin typeface="Arial Narrow" pitchFamily="34" charset="0"/>
                  <a:cs typeface="Times New Roman" panose="02020603050405020304" pitchFamily="18" charset="0"/>
                </a:rPr>
                <a:t>D.</a:t>
              </a:r>
              <a:r>
                <a:rPr lang="ko-KR" altLang="en-US" sz="950" smtClean="0">
                  <a:latin typeface="Arial Narrow" pitchFamily="34" charset="0"/>
                  <a:cs typeface="Times New Roman" panose="02020603050405020304" pitchFamily="18" charset="0"/>
                </a:rPr>
                <a:t>  </a:t>
              </a:r>
              <a:r>
                <a:rPr lang="en-US" altLang="ko-KR" sz="950">
                  <a:latin typeface="Arial Narrow" pitchFamily="34" charset="0"/>
                  <a:cs typeface="Times New Roman" panose="02020603050405020304" pitchFamily="18" charset="0"/>
                </a:rPr>
                <a:t>G</a:t>
              </a:r>
              <a:r>
                <a:rPr lang="en-US" altLang="ko-KR" sz="950" smtClean="0">
                  <a:latin typeface="Arial Narrow" pitchFamily="34" charset="0"/>
                  <a:cs typeface="Times New Roman" panose="02020603050405020304" pitchFamily="18" charset="0"/>
                </a:rPr>
                <a:t>iảm </a:t>
              </a:r>
              <a:r>
                <a:rPr lang="en-US" altLang="ko-KR" sz="950" dirty="0" err="1" smtClean="0">
                  <a:latin typeface="Arial Narrow" pitchFamily="34" charset="0"/>
                  <a:cs typeface="Times New Roman" panose="02020603050405020304" pitchFamily="18" charset="0"/>
                </a:rPr>
                <a:t>thanh</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kết</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hợp</a:t>
              </a:r>
              <a:endParaRPr lang="ko-KR" altLang="en-US" sz="950" dirty="0">
                <a:latin typeface="Arial Narrow" pitchFamily="34" charset="0"/>
                <a:cs typeface="Times New Roman" panose="02020603050405020304" pitchFamily="18" charset="0"/>
              </a:endParaRPr>
            </a:p>
          </p:txBody>
        </p:sp>
      </p:grpSp>
      <p:sp>
        <p:nvSpPr>
          <p:cNvPr id="57" name="Rectangle 52"/>
          <p:cNvSpPr>
            <a:spLocks noChangeArrowheads="1"/>
          </p:cNvSpPr>
          <p:nvPr/>
        </p:nvSpPr>
        <p:spPr bwMode="auto">
          <a:xfrm>
            <a:off x="273785" y="6355412"/>
            <a:ext cx="3092618"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marL="109538" indent="-109538" eaLnBrk="1" fontAlgn="base" latinLnBrk="0" hangingPunct="1">
              <a:spcBef>
                <a:spcPct val="0"/>
              </a:spcBef>
              <a:spcAft>
                <a:spcPct val="0"/>
              </a:spcAft>
            </a:pPr>
            <a:r>
              <a:rPr lang="en-US" sz="950">
                <a:solidFill>
                  <a:srgbClr val="000000"/>
                </a:solidFill>
                <a:latin typeface="Arial Narrow" pitchFamily="34" charset="0"/>
                <a:ea typeface="LG Smart_H Regular" panose="020B0600000101010101" pitchFamily="34" charset="-127"/>
                <a:cs typeface="Times New Roman" pitchFamily="18" charset="0"/>
              </a:rPr>
              <a:t>5</a:t>
            </a:r>
            <a:r>
              <a:rPr lang="en-US" sz="950" smtClean="0">
                <a:solidFill>
                  <a:srgbClr val="000000"/>
                </a:solidFill>
                <a:latin typeface="Arial Narrow" pitchFamily="34" charset="0"/>
                <a:ea typeface="LG Smart_H Regular" panose="020B0600000101010101" pitchFamily="34" charset="-127"/>
                <a:cs typeface="Times New Roman" pitchFamily="18" charset="0"/>
              </a:rPr>
              <a:t>5.   </a:t>
            </a:r>
            <a:r>
              <a:rPr lang="vi-VN" sz="950" smtClean="0">
                <a:solidFill>
                  <a:srgbClr val="000000"/>
                </a:solidFill>
                <a:latin typeface="Times New Roman" pitchFamily="18" charset="0"/>
                <a:ea typeface="LG Smart_H Regular" panose="020B0600000101010101" pitchFamily="34" charset="-127"/>
                <a:cs typeface="Times New Roman" pitchFamily="18" charset="0"/>
              </a:rPr>
              <a:t>Cơ </a:t>
            </a:r>
            <a:r>
              <a:rPr lang="vi-VN" sz="950" dirty="0">
                <a:solidFill>
                  <a:srgbClr val="000000"/>
                </a:solidFill>
                <a:latin typeface="Times New Roman" pitchFamily="18" charset="0"/>
                <a:ea typeface="LG Smart_H Regular" panose="020B0600000101010101" pitchFamily="34" charset="-127"/>
                <a:cs typeface="Times New Roman" pitchFamily="18" charset="0"/>
              </a:rPr>
              <a:t>cấu truyền động nào có ưu điểm là giảm </a:t>
            </a:r>
            <a:r>
              <a:rPr lang="vi-VN" sz="950">
                <a:solidFill>
                  <a:srgbClr val="000000"/>
                </a:solidFill>
                <a:latin typeface="Times New Roman" pitchFamily="18" charset="0"/>
                <a:ea typeface="LG Smart_H Regular" panose="020B0600000101010101" pitchFamily="34" charset="-127"/>
                <a:cs typeface="Times New Roman" pitchFamily="18" charset="0"/>
              </a:rPr>
              <a:t>thiểu </a:t>
            </a:r>
            <a:r>
              <a:rPr lang="en-US" sz="950" smtClean="0">
                <a:solidFill>
                  <a:srgbClr val="000000"/>
                </a:solidFill>
                <a:latin typeface="Arial Narrow" pitchFamily="34" charset="0"/>
                <a:ea typeface="LG Smart_H Regular" panose="020B0600000101010101" pitchFamily="34" charset="-127"/>
                <a:cs typeface="Times New Roman" pitchFamily="18" charset="0"/>
              </a:rPr>
              <a:t>đ</a:t>
            </a:r>
            <a:r>
              <a:rPr lang="vi-VN" sz="950">
                <a:solidFill>
                  <a:srgbClr val="000000"/>
                </a:solidFill>
                <a:latin typeface="Times New Roman" pitchFamily="18" charset="0"/>
                <a:ea typeface="LG Smart_H Regular" panose="020B0600000101010101" pitchFamily="34" charset="-127"/>
                <a:cs typeface="Times New Roman" pitchFamily="18" charset="0"/>
              </a:rPr>
              <a:t>iện </a:t>
            </a:r>
            <a:r>
              <a:rPr lang="vi-VN" sz="950" dirty="0">
                <a:solidFill>
                  <a:srgbClr val="000000"/>
                </a:solidFill>
                <a:latin typeface="Times New Roman" pitchFamily="18" charset="0"/>
                <a:ea typeface="LG Smart_H Regular" panose="020B0600000101010101" pitchFamily="34" charset="-127"/>
                <a:cs typeface="Times New Roman" pitchFamily="18" charset="0"/>
              </a:rPr>
              <a:t>tích lắp đặt bằng </a:t>
            </a:r>
            <a:r>
              <a:rPr lang="vi-VN" sz="950">
                <a:solidFill>
                  <a:srgbClr val="000000"/>
                </a:solidFill>
                <a:latin typeface="Times New Roman" pitchFamily="18" charset="0"/>
                <a:ea typeface="LG Smart_H Regular" panose="020B0600000101010101" pitchFamily="34" charset="-127"/>
                <a:cs typeface="Times New Roman" pitchFamily="18" charset="0"/>
              </a:rPr>
              <a:t>cách </a:t>
            </a:r>
            <a:r>
              <a:rPr lang="vi-VN" sz="950" smtClean="0">
                <a:solidFill>
                  <a:srgbClr val="000000"/>
                </a:solidFill>
                <a:latin typeface="Times New Roman" pitchFamily="18" charset="0"/>
                <a:ea typeface="LG Smart_H Regular" panose="020B0600000101010101" pitchFamily="34" charset="-127"/>
                <a:cs typeface="Times New Roman" pitchFamily="18" charset="0"/>
              </a:rPr>
              <a:t>chuyển</a:t>
            </a:r>
            <a:r>
              <a:rPr lang="en-US" sz="950" smtClean="0">
                <a:solidFill>
                  <a:srgbClr val="000000"/>
                </a:solidFill>
                <a:latin typeface="Arial Narrow" pitchFamily="34" charset="0"/>
                <a:ea typeface="LG Smart_H Regular" panose="020B0600000101010101" pitchFamily="34" charset="-127"/>
                <a:cs typeface="Times New Roman" pitchFamily="18" charset="0"/>
              </a:rPr>
              <a:t> đ</a:t>
            </a:r>
            <a:r>
              <a:rPr lang="vi-VN" sz="950" smtClean="0">
                <a:solidFill>
                  <a:srgbClr val="000000"/>
                </a:solidFill>
                <a:latin typeface="Times New Roman" pitchFamily="18" charset="0"/>
                <a:ea typeface="LG Smart_H Regular" panose="020B0600000101010101" pitchFamily="34" charset="-127"/>
                <a:cs typeface="Times New Roman" pitchFamily="18" charset="0"/>
              </a:rPr>
              <a:t>ộng</a:t>
            </a:r>
            <a:r>
              <a:rPr lang="en-US" sz="950" smtClean="0">
                <a:solidFill>
                  <a:srgbClr val="000000"/>
                </a:solidFill>
                <a:latin typeface="Arial Narrow" pitchFamily="34" charset="0"/>
                <a:ea typeface="LG Smart_H Regular" panose="020B0600000101010101" pitchFamily="34" charset="-127"/>
                <a:cs typeface="Times New Roman" pitchFamily="18" charset="0"/>
              </a:rPr>
              <a:t> </a:t>
            </a:r>
            <a:r>
              <a:rPr lang="vi-VN" sz="950" smtClean="0">
                <a:solidFill>
                  <a:srgbClr val="000000"/>
                </a:solidFill>
                <a:latin typeface="Times New Roman" pitchFamily="18" charset="0"/>
                <a:ea typeface="LG Smart_H Regular" panose="020B0600000101010101" pitchFamily="34" charset="-127"/>
                <a:cs typeface="Times New Roman" pitchFamily="18" charset="0"/>
              </a:rPr>
              <a:t>thẳng </a:t>
            </a:r>
            <a:r>
              <a:rPr lang="vi-VN" sz="950" dirty="0">
                <a:solidFill>
                  <a:srgbClr val="000000"/>
                </a:solidFill>
                <a:latin typeface="Times New Roman" pitchFamily="18" charset="0"/>
                <a:ea typeface="LG Smart_H Regular" panose="020B0600000101010101" pitchFamily="34" charset="-127"/>
                <a:cs typeface="Times New Roman" pitchFamily="18" charset="0"/>
              </a:rPr>
              <a:t>table thông </a:t>
            </a:r>
            <a:r>
              <a:rPr lang="vi-VN" sz="950">
                <a:solidFill>
                  <a:srgbClr val="000000"/>
                </a:solidFill>
                <a:latin typeface="Times New Roman" pitchFamily="18" charset="0"/>
                <a:ea typeface="LG Smart_H Regular" panose="020B0600000101010101" pitchFamily="34" charset="-127"/>
                <a:cs typeface="Times New Roman" pitchFamily="18" charset="0"/>
              </a:rPr>
              <a:t>qua </a:t>
            </a:r>
            <a:r>
              <a:rPr lang="vi-VN" sz="950" smtClean="0">
                <a:solidFill>
                  <a:srgbClr val="000000"/>
                </a:solidFill>
                <a:latin typeface="Times New Roman" pitchFamily="18" charset="0"/>
                <a:ea typeface="LG Smart_H Regular" panose="020B0600000101010101" pitchFamily="34" charset="-127"/>
                <a:cs typeface="Times New Roman" pitchFamily="18" charset="0"/>
              </a:rPr>
              <a:t>yoke</a:t>
            </a:r>
            <a:r>
              <a:rPr lang="vi-VN" sz="950">
                <a:solidFill>
                  <a:srgbClr val="000000"/>
                </a:solidFill>
                <a:latin typeface="Times New Roman" pitchFamily="18" charset="0"/>
                <a:ea typeface="LG Smart_H Regular" panose="020B0600000101010101" pitchFamily="34" charset="-127"/>
                <a:cs typeface="Times New Roman" pitchFamily="18" charset="0"/>
              </a:rPr>
              <a:t>, nam châm, </a:t>
            </a:r>
            <a:r>
              <a:rPr lang="vi-VN" sz="950" smtClean="0">
                <a:solidFill>
                  <a:srgbClr val="000000"/>
                </a:solidFill>
                <a:latin typeface="Times New Roman" pitchFamily="18" charset="0"/>
                <a:ea typeface="LG Smart_H Regular" panose="020B0600000101010101" pitchFamily="34" charset="-127"/>
                <a:cs typeface="Times New Roman" pitchFamily="18" charset="0"/>
              </a:rPr>
              <a:t>dây</a:t>
            </a:r>
            <a:r>
              <a:rPr lang="en-US" sz="950" smtClean="0">
                <a:solidFill>
                  <a:srgbClr val="000000"/>
                </a:solidFill>
                <a:latin typeface="Arial Narrow" pitchFamily="34" charset="0"/>
                <a:ea typeface="LG Smart_H Regular" panose="020B0600000101010101" pitchFamily="34" charset="-127"/>
                <a:cs typeface="Times New Roman" pitchFamily="18" charset="0"/>
              </a:rPr>
              <a:t> </a:t>
            </a:r>
            <a:r>
              <a:rPr lang="vi-VN" sz="950" smtClean="0">
                <a:solidFill>
                  <a:srgbClr val="000000"/>
                </a:solidFill>
                <a:latin typeface="Times New Roman" pitchFamily="18" charset="0"/>
                <a:ea typeface="LG Smart_H Regular" panose="020B0600000101010101" pitchFamily="34" charset="-127"/>
                <a:cs typeface="Times New Roman" pitchFamily="18" charset="0"/>
              </a:rPr>
              <a:t>xích,</a:t>
            </a:r>
            <a:r>
              <a:rPr lang="en-US" sz="950">
                <a:solidFill>
                  <a:srgbClr val="000000"/>
                </a:solidFill>
                <a:latin typeface="Arial Narrow" pitchFamily="34" charset="0"/>
                <a:ea typeface="LG Smart_H Regular" panose="020B0600000101010101" pitchFamily="34" charset="-127"/>
                <a:cs typeface="Times New Roman" pitchFamily="18" charset="0"/>
              </a:rPr>
              <a:t> </a:t>
            </a:r>
            <a:r>
              <a:rPr lang="vi-VN" sz="950" smtClean="0">
                <a:solidFill>
                  <a:srgbClr val="000000"/>
                </a:solidFill>
                <a:latin typeface="Times New Roman" pitchFamily="18" charset="0"/>
                <a:ea typeface="LG Smart_H Regular" panose="020B0600000101010101" pitchFamily="34" charset="-127"/>
                <a:cs typeface="Times New Roman" pitchFamily="18" charset="0"/>
              </a:rPr>
              <a:t>đối </a:t>
            </a:r>
            <a:r>
              <a:rPr lang="vi-VN" sz="950">
                <a:solidFill>
                  <a:srgbClr val="000000"/>
                </a:solidFill>
                <a:latin typeface="Times New Roman" pitchFamily="18" charset="0"/>
                <a:ea typeface="LG Smart_H Regular" panose="020B0600000101010101" pitchFamily="34" charset="-127"/>
                <a:cs typeface="Times New Roman" pitchFamily="18" charset="0"/>
              </a:rPr>
              <a:t>với chuyển </a:t>
            </a:r>
            <a:r>
              <a:rPr lang="vi-VN" sz="950" dirty="0">
                <a:solidFill>
                  <a:srgbClr val="000000"/>
                </a:solidFill>
                <a:latin typeface="Times New Roman" pitchFamily="18" charset="0"/>
                <a:ea typeface="LG Smart_H Regular" panose="020B0600000101010101" pitchFamily="34" charset="-127"/>
                <a:cs typeface="Times New Roman" pitchFamily="18" charset="0"/>
              </a:rPr>
              <a:t>động </a:t>
            </a:r>
            <a:r>
              <a:rPr lang="vi-VN" sz="950">
                <a:solidFill>
                  <a:srgbClr val="000000"/>
                </a:solidFill>
                <a:latin typeface="Times New Roman" pitchFamily="18" charset="0"/>
                <a:ea typeface="LG Smart_H Regular" panose="020B0600000101010101" pitchFamily="34" charset="-127"/>
                <a:cs typeface="Times New Roman" pitchFamily="18" charset="0"/>
              </a:rPr>
              <a:t>của pít-tông</a:t>
            </a:r>
            <a:r>
              <a:rPr lang="en-US" sz="950">
                <a:solidFill>
                  <a:srgbClr val="000000"/>
                </a:solidFill>
                <a:latin typeface="Arial Narrow" pitchFamily="34" charset="0"/>
                <a:ea typeface="LG Smart_H Regular" panose="020B0600000101010101" pitchFamily="34" charset="-127"/>
                <a:cs typeface="Times New Roman" pitchFamily="18" charset="0"/>
              </a:rPr>
              <a:t> </a:t>
            </a:r>
            <a:r>
              <a:rPr lang="vi-VN" sz="950">
                <a:solidFill>
                  <a:srgbClr val="000000"/>
                </a:solidFill>
                <a:latin typeface="Times New Roman" pitchFamily="18" charset="0"/>
                <a:ea typeface="LG Smart_H Regular" panose="020B0600000101010101" pitchFamily="34" charset="-127"/>
                <a:cs typeface="Times New Roman" pitchFamily="18" charset="0"/>
              </a:rPr>
              <a:t>?</a:t>
            </a:r>
            <a:r>
              <a:rPr lang="en-US" altLang="ko-KR" sz="950">
                <a:solidFill>
                  <a:srgbClr val="000000"/>
                </a:solidFill>
                <a:latin typeface="Arial Narrow" pitchFamily="34" charset="0"/>
                <a:ea typeface="LG Smart_H Regular" panose="020B0600000101010101" pitchFamily="34" charset="-127"/>
                <a:cs typeface="Times New Roman" pitchFamily="18" charset="0"/>
              </a:rPr>
              <a:t>  </a:t>
            </a:r>
            <a:endParaRPr lang="en-US" altLang="ko-KR" sz="950" dirty="0">
              <a:solidFill>
                <a:srgbClr val="000000"/>
              </a:solidFill>
              <a:latin typeface="Arial Narrow" pitchFamily="34"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Cylinder </a:t>
            </a:r>
            <a:r>
              <a:rPr lang="vi-VN" altLang="ko-KR" sz="950">
                <a:solidFill>
                  <a:srgbClr val="000000"/>
                </a:solidFill>
                <a:latin typeface="Times New Roman" pitchFamily="18" charset="0"/>
                <a:ea typeface="LG Smart_H Regular" panose="020B0600000101010101" pitchFamily="34" charset="-127"/>
                <a:cs typeface="Times New Roman" pitchFamily="18" charset="0"/>
              </a:rPr>
              <a:t>loại cần kép</a:t>
            </a:r>
            <a:r>
              <a:rPr lang="en-US" altLang="ko-KR" sz="950">
                <a:solidFill>
                  <a:srgbClr val="000000"/>
                </a:solidFill>
                <a:latin typeface="Arial Narrow" pitchFamily="34" charset="0"/>
                <a:ea typeface="LG Smart_H Regular" panose="020B0600000101010101" pitchFamily="34" charset="-127"/>
                <a:cs typeface="Times New Roman" pitchFamily="18" charset="0"/>
              </a:rPr>
              <a:t> </a:t>
            </a:r>
            <a:endParaRPr lang="en-US" altLang="ko-KR" sz="950" smtClean="0">
              <a:solidFill>
                <a:srgbClr val="000000"/>
              </a:solidFill>
              <a:latin typeface="Arial Narrow" pitchFamily="34"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Bộ </a:t>
            </a:r>
            <a:r>
              <a:rPr lang="vi-VN" altLang="ko-KR" sz="950" dirty="0">
                <a:solidFill>
                  <a:srgbClr val="000000"/>
                </a:solidFill>
                <a:latin typeface="Times New Roman" pitchFamily="18" charset="0"/>
                <a:ea typeface="LG Smart_H Regular" panose="020B0600000101010101" pitchFamily="34" charset="-127"/>
                <a:cs typeface="Times New Roman" pitchFamily="18" charset="0"/>
              </a:rPr>
              <a:t>truyền động kiểu </a:t>
            </a:r>
            <a:r>
              <a:rPr lang="vi-VN" altLang="ko-KR" sz="950">
                <a:solidFill>
                  <a:srgbClr val="000000"/>
                </a:solidFill>
                <a:latin typeface="Times New Roman" pitchFamily="18" charset="0"/>
                <a:ea typeface="LG Smart_H Regular" panose="020B0600000101010101" pitchFamily="34" charset="-127"/>
                <a:cs typeface="Times New Roman" pitchFamily="18" charset="0"/>
              </a:rPr>
              <a:t>xả</a:t>
            </a:r>
            <a:r>
              <a:rPr lang="ko-KR" altLang="en-US" sz="950">
                <a:solidFill>
                  <a:srgbClr val="000000"/>
                </a:solidFill>
                <a:latin typeface="Arial Narrow" pitchFamily="34"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 </a:t>
            </a:r>
            <a:r>
              <a:rPr lang="ko-KR" altLang="en-US" sz="950">
                <a:solidFill>
                  <a:srgbClr val="000000"/>
                </a:solidFill>
                <a:latin typeface="Arial Narrow" pitchFamily="34" charset="0"/>
                <a:ea typeface="LG Smart_H Regular" panose="020B0600000101010101" pitchFamily="34" charset="-127"/>
                <a:cs typeface="Times New Roman" pitchFamily="18" charset="0"/>
              </a:rPr>
              <a:t> </a:t>
            </a:r>
            <a:endParaRPr lang="en-US" altLang="ko-KR" sz="950" dirty="0">
              <a:solidFill>
                <a:srgbClr val="000000"/>
              </a:solidFill>
              <a:latin typeface="Arial Narrow" pitchFamily="34"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Bộ </a:t>
            </a:r>
            <a:r>
              <a:rPr lang="vi-VN" altLang="ko-KR" sz="950" dirty="0">
                <a:solidFill>
                  <a:srgbClr val="000000"/>
                </a:solidFill>
                <a:latin typeface="Times New Roman" pitchFamily="18" charset="0"/>
                <a:ea typeface="LG Smart_H Regular" panose="020B0600000101010101" pitchFamily="34" charset="-127"/>
                <a:cs typeface="Times New Roman" pitchFamily="18" charset="0"/>
              </a:rPr>
              <a:t>truyền động bánh răng </a:t>
            </a:r>
            <a:r>
              <a:rPr lang="vi-VN" altLang="ko-KR" sz="950">
                <a:solidFill>
                  <a:srgbClr val="000000"/>
                </a:solidFill>
                <a:latin typeface="Times New Roman" pitchFamily="18" charset="0"/>
                <a:ea typeface="LG Smart_H Regular" panose="020B0600000101010101" pitchFamily="34" charset="-127"/>
                <a:cs typeface="Times New Roman" pitchFamily="18" charset="0"/>
              </a:rPr>
              <a:t>giá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đỡ</a:t>
            </a:r>
            <a:endParaRPr lang="en-US" altLang="ko-KR" sz="950" smtClean="0">
              <a:solidFill>
                <a:srgbClr val="000000"/>
              </a:solidFill>
              <a:latin typeface="Arial Narrow" pitchFamily="34" charset="0"/>
              <a:ea typeface="LG Smart_H Regular" panose="020B0600000101010101" pitchFamily="34" charset="-127"/>
              <a:cs typeface="Times New Roman" pitchFamily="18" charset="0"/>
            </a:endParaRPr>
          </a:p>
          <a:p>
            <a:pPr marL="228600" indent="-228600" eaLnBrk="1" fontAlgn="base" latinLnBrk="0" hangingPunct="1">
              <a:spcBef>
                <a:spcPct val="0"/>
              </a:spcBef>
              <a:spcAft>
                <a:spcPct val="0"/>
              </a:spcAft>
              <a:buFont typeface="+mj-l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Cylinder </a:t>
            </a:r>
            <a:r>
              <a:rPr lang="vi-VN" altLang="ko-KR" sz="950">
                <a:solidFill>
                  <a:srgbClr val="FF0000"/>
                </a:solidFill>
                <a:latin typeface="Times New Roman" pitchFamily="18" charset="0"/>
                <a:ea typeface="LG Smart_H Regular" panose="020B0600000101010101" pitchFamily="34" charset="-127"/>
                <a:cs typeface="Times New Roman" pitchFamily="18" charset="0"/>
              </a:rPr>
              <a:t>không cần</a:t>
            </a:r>
            <a:r>
              <a:rPr lang="ko-KR" altLang="en-US" sz="950">
                <a:solidFill>
                  <a:srgbClr val="FF0000"/>
                </a:solidFill>
                <a:latin typeface="Arial Narrow" pitchFamily="34" charset="0"/>
                <a:ea typeface="LG Smart_H Regular" panose="020B0600000101010101" pitchFamily="34" charset="-127"/>
                <a:cs typeface="Times New Roman" pitchFamily="18" charset="0"/>
              </a:rPr>
              <a:t>                </a:t>
            </a:r>
            <a:endParaRPr lang="en-US" altLang="ko-KR" sz="950">
              <a:solidFill>
                <a:srgbClr val="000000"/>
              </a:solidFill>
              <a:latin typeface="Arial Narrow" pitchFamily="34" charset="0"/>
              <a:ea typeface="LG Smart_H Regular" panose="020B0600000101010101" pitchFamily="34" charset="-127"/>
              <a:cs typeface="Times New Roman" pitchFamily="18" charset="0"/>
            </a:endParaRPr>
          </a:p>
        </p:txBody>
      </p:sp>
      <p:sp>
        <p:nvSpPr>
          <p:cNvPr id="59" name="Rectangle 69"/>
          <p:cNvSpPr>
            <a:spLocks noChangeArrowheads="1"/>
          </p:cNvSpPr>
          <p:nvPr/>
        </p:nvSpPr>
        <p:spPr bwMode="auto">
          <a:xfrm>
            <a:off x="250255" y="5209818"/>
            <a:ext cx="3116148"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a:solidFill>
                  <a:srgbClr val="000000"/>
                </a:solidFill>
                <a:latin typeface="Arial Narrow" pitchFamily="34" charset="0"/>
                <a:ea typeface="LG Smart_H Regular" panose="020B0600000101010101" pitchFamily="34" charset="-127"/>
                <a:cs typeface="Times New Roman" pitchFamily="18" charset="0"/>
              </a:rPr>
              <a:t>5</a:t>
            </a:r>
            <a:r>
              <a:rPr lang="en-US" altLang="ko-KR" sz="950" smtClean="0">
                <a:solidFill>
                  <a:srgbClr val="000000"/>
                </a:solidFill>
                <a:latin typeface="Arial Narrow" pitchFamily="34" charset="0"/>
                <a:ea typeface="LG Smart_H Regular" panose="020B0600000101010101" pitchFamily="34" charset="-127"/>
                <a:cs typeface="Times New Roman" pitchFamily="18" charset="0"/>
              </a:rPr>
              <a:t>4.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Cái </a:t>
            </a:r>
            <a:r>
              <a:rPr lang="vi-VN" altLang="ko-KR" sz="950">
                <a:solidFill>
                  <a:srgbClr val="000000"/>
                </a:solidFill>
                <a:latin typeface="Times New Roman" pitchFamily="18" charset="0"/>
                <a:ea typeface="LG Smart_H Regular" panose="020B0600000101010101" pitchFamily="34" charset="-127"/>
                <a:cs typeface="Times New Roman" pitchFamily="18" charset="0"/>
              </a:rPr>
              <a:t>nào </a:t>
            </a:r>
            <a:r>
              <a:rPr lang="vi-VN" altLang="ko-KR" sz="950" b="1">
                <a:solidFill>
                  <a:srgbClr val="000000"/>
                </a:solidFill>
                <a:latin typeface="Times New Roman" pitchFamily="18" charset="0"/>
                <a:ea typeface="LG Smart_H Regular" panose="020B0600000101010101" pitchFamily="34" charset="-127"/>
                <a:cs typeface="Times New Roman" pitchFamily="18" charset="0"/>
              </a:rPr>
              <a:t>không phải </a:t>
            </a:r>
            <a:r>
              <a:rPr lang="vi-VN" altLang="ko-KR" sz="950">
                <a:solidFill>
                  <a:srgbClr val="000000"/>
                </a:solidFill>
                <a:latin typeface="Times New Roman" pitchFamily="18" charset="0"/>
                <a:ea typeface="LG Smart_H Regular" panose="020B0600000101010101" pitchFamily="34" charset="-127"/>
                <a:cs typeface="Times New Roman" pitchFamily="18" charset="0"/>
              </a:rPr>
              <a:t>là loại của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Cylinder phức hợp</a:t>
            </a:r>
            <a:r>
              <a:rPr lang="en-US" altLang="ko-KR" sz="950" smtClean="0">
                <a:solidFill>
                  <a:srgbClr val="000000"/>
                </a:solidFill>
                <a:latin typeface="Arial Narrow" pitchFamily="34" charset="0"/>
                <a:ea typeface="LG Smart_H Regular" panose="020B0600000101010101" pitchFamily="34" charset="-127"/>
                <a:cs typeface="Times New Roman" pitchFamily="18" charset="0"/>
              </a:rPr>
              <a:t>?</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A. Rod Cylinder         </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 </a:t>
            </a:r>
            <a:r>
              <a:rPr lang="vi-VN" altLang="ko-KR" sz="950">
                <a:solidFill>
                  <a:srgbClr val="FF0000"/>
                </a:solidFill>
                <a:latin typeface="Times New Roman" pitchFamily="18" charset="0"/>
                <a:ea typeface="LG Smart_H Regular" panose="020B0600000101010101" pitchFamily="34" charset="-127"/>
                <a:cs typeface="Times New Roman" pitchFamily="18" charset="0"/>
              </a:rPr>
              <a:t>B  Cylinder tác động đơn</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 C. Cylinder điều khiển đa vị trí</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 D. Tandem Cylinder</a:t>
            </a:r>
          </a:p>
        </p:txBody>
      </p:sp>
      <p:grpSp>
        <p:nvGrpSpPr>
          <p:cNvPr id="2" name="Group 1"/>
          <p:cNvGrpSpPr/>
          <p:nvPr/>
        </p:nvGrpSpPr>
        <p:grpSpPr>
          <a:xfrm>
            <a:off x="276944" y="3656856"/>
            <a:ext cx="3128963" cy="1554272"/>
            <a:chOff x="276944" y="3656856"/>
            <a:chExt cx="3128963" cy="1554272"/>
          </a:xfrm>
        </p:grpSpPr>
        <p:sp>
          <p:nvSpPr>
            <p:cNvPr id="61" name="Rectangle 50"/>
            <p:cNvSpPr>
              <a:spLocks noChangeArrowheads="1"/>
            </p:cNvSpPr>
            <p:nvPr/>
          </p:nvSpPr>
          <p:spPr bwMode="auto">
            <a:xfrm>
              <a:off x="276944" y="3656856"/>
              <a:ext cx="3128963"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marL="109538" indent="-109538" eaLnBrk="1" hangingPunct="1"/>
              <a:r>
                <a:rPr lang="en-US" altLang="ko-KR" sz="950">
                  <a:solidFill>
                    <a:srgbClr val="000000"/>
                  </a:solidFill>
                  <a:latin typeface="Arial Narrow" pitchFamily="34" charset="0"/>
                  <a:ea typeface="LG Smart_H Regular" panose="020B0600000101010101" pitchFamily="34" charset="-127"/>
                  <a:cs typeface="Times New Roman" panose="02020603050405020304" pitchFamily="18" charset="0"/>
                </a:rPr>
                <a:t>5</a:t>
              </a:r>
              <a:r>
                <a:rPr lang="en-US" altLang="ko-KR" sz="950" smtClean="0">
                  <a:solidFill>
                    <a:srgbClr val="000000"/>
                  </a:solidFill>
                  <a:latin typeface="Arial Narrow" pitchFamily="34" charset="0"/>
                  <a:ea typeface="LG Smart_H Regular" panose="020B0600000101010101" pitchFamily="34" charset="-127"/>
                  <a:cs typeface="Times New Roman" panose="02020603050405020304" pitchFamily="18" charset="0"/>
                </a:rPr>
                <a:t>3. Ảnh</a:t>
              </a:r>
              <a:r>
                <a:rPr lang="ko-KR" altLang="en-US" sz="950" smtClean="0">
                  <a:solidFill>
                    <a:srgbClr val="000000"/>
                  </a:solidFill>
                  <a:latin typeface="Arial Narrow" pitchFamily="34" charset="0"/>
                  <a:ea typeface="LG Smart_H Regular" panose="020B0600000101010101" pitchFamily="34" charset="-127"/>
                  <a:cs typeface="Times New Roman" panose="02020603050405020304" pitchFamily="18" charset="0"/>
                </a:rPr>
                <a:t> </a:t>
              </a:r>
              <a:r>
                <a:rPr lang="en-US" altLang="ko-KR" sz="950">
                  <a:solidFill>
                    <a:srgbClr val="000000"/>
                  </a:solidFill>
                  <a:latin typeface="Arial Narrow" pitchFamily="34" charset="0"/>
                  <a:ea typeface="LG Smart_H Regular" panose="020B0600000101010101" pitchFamily="34" charset="-127"/>
                  <a:cs typeface="Times New Roman" panose="02020603050405020304" pitchFamily="18" charset="0"/>
                </a:rPr>
                <a:t>phía dưới đây là ký hiệu van điều khiển </a:t>
              </a:r>
              <a:r>
                <a:rPr lang="en-US" altLang="ko-KR" sz="950" smtClean="0">
                  <a:solidFill>
                    <a:srgbClr val="000000"/>
                  </a:solidFill>
                  <a:latin typeface="Arial Narrow" pitchFamily="34" charset="0"/>
                  <a:ea typeface="LG Smart_H Regular" panose="020B0600000101010101" pitchFamily="34" charset="-127"/>
                  <a:cs typeface="Times New Roman" panose="02020603050405020304" pitchFamily="18" charset="0"/>
                </a:rPr>
                <a:t>phương </a:t>
              </a:r>
              <a:r>
                <a:rPr lang="en-US" altLang="ko-KR" sz="950">
                  <a:solidFill>
                    <a:srgbClr val="000000"/>
                  </a:solidFill>
                  <a:latin typeface="Arial Narrow" pitchFamily="34" charset="0"/>
                  <a:ea typeface="LG Smart_H Regular" panose="020B0600000101010101" pitchFamily="34" charset="-127"/>
                  <a:cs typeface="Times New Roman" panose="02020603050405020304" pitchFamily="18" charset="0"/>
                </a:rPr>
                <a:t>hướng. Tên van là gì ? </a:t>
              </a:r>
              <a:endParaRPr lang="en-US" altLang="ko-KR" sz="950" smtClean="0">
                <a:solidFill>
                  <a:srgbClr val="000000"/>
                </a:solidFill>
                <a:latin typeface="Arial Narrow" pitchFamily="34" charset="0"/>
                <a:ea typeface="LG Smart_H Regular" panose="020B0600000101010101" pitchFamily="34" charset="-127"/>
                <a:cs typeface="Times New Roman" panose="02020603050405020304" pitchFamily="18" charset="0"/>
              </a:endParaRPr>
            </a:p>
            <a:p>
              <a:pPr eaLnBrk="1" hangingPunct="1"/>
              <a:endParaRPr lang="en-US" altLang="ko-KR" sz="950" smtClean="0">
                <a:solidFill>
                  <a:srgbClr val="FF0000"/>
                </a:solidFill>
                <a:latin typeface="Arial Narrow" pitchFamily="34" charset="0"/>
                <a:cs typeface="Times New Roman" panose="02020603050405020304" pitchFamily="18" charset="0"/>
              </a:endParaRPr>
            </a:p>
            <a:p>
              <a:pPr eaLnBrk="1" hangingPunct="1"/>
              <a:endParaRPr lang="en-US" altLang="ko-KR" sz="950">
                <a:solidFill>
                  <a:srgbClr val="FF0000"/>
                </a:solidFill>
                <a:latin typeface="Arial Narrow" pitchFamily="34" charset="0"/>
                <a:cs typeface="Times New Roman" panose="02020603050405020304" pitchFamily="18" charset="0"/>
              </a:endParaRPr>
            </a:p>
            <a:p>
              <a:pPr eaLnBrk="1" hangingPunct="1"/>
              <a:endParaRPr lang="en-US" altLang="ko-KR" sz="950" smtClean="0">
                <a:solidFill>
                  <a:srgbClr val="FF0000"/>
                </a:solidFill>
                <a:latin typeface="Arial Narrow" pitchFamily="34" charset="0"/>
                <a:cs typeface="Times New Roman" panose="02020603050405020304" pitchFamily="18" charset="0"/>
              </a:endParaRPr>
            </a:p>
            <a:p>
              <a:pPr eaLnBrk="1" hangingPunct="1"/>
              <a:endParaRPr lang="en-US" altLang="ko-KR" sz="950">
                <a:solidFill>
                  <a:srgbClr val="FF0000"/>
                </a:solidFill>
                <a:latin typeface="Arial Narrow" pitchFamily="34" charset="0"/>
                <a:cs typeface="Times New Roman" panose="02020603050405020304" pitchFamily="18" charset="0"/>
              </a:endParaRPr>
            </a:p>
            <a:p>
              <a:pPr eaLnBrk="1" hangingPunct="1"/>
              <a:endParaRPr lang="en-US" altLang="ko-KR" sz="950" smtClean="0">
                <a:solidFill>
                  <a:srgbClr val="FF0000"/>
                </a:solidFill>
                <a:latin typeface="Arial Narrow" pitchFamily="34" charset="0"/>
                <a:cs typeface="Times New Roman" panose="02020603050405020304" pitchFamily="18" charset="0"/>
              </a:endParaRPr>
            </a:p>
            <a:p>
              <a:pPr eaLnBrk="1" hangingPunct="1"/>
              <a:r>
                <a:rPr lang="en-US" altLang="ko-KR" sz="950" smtClean="0">
                  <a:solidFill>
                    <a:srgbClr val="FF0000"/>
                  </a:solidFill>
                  <a:latin typeface="Arial Narrow" pitchFamily="34" charset="0"/>
                  <a:cs typeface="Times New Roman" panose="02020603050405020304" pitchFamily="18" charset="0"/>
                </a:rPr>
                <a:t>A</a:t>
              </a:r>
              <a:r>
                <a:rPr lang="en-US" altLang="ko-KR" sz="950">
                  <a:solidFill>
                    <a:srgbClr val="FF0000"/>
                  </a:solidFill>
                  <a:latin typeface="Arial Narrow" pitchFamily="34" charset="0"/>
                  <a:cs typeface="Times New Roman" panose="02020603050405020304" pitchFamily="18" charset="0"/>
                </a:rPr>
                <a:t>.  </a:t>
              </a:r>
              <a:r>
                <a:rPr lang="en-US" altLang="ko-KR" sz="950">
                  <a:solidFill>
                    <a:srgbClr val="FF0000"/>
                  </a:solidFill>
                  <a:latin typeface="Arial Narrow" pitchFamily="34" charset="0"/>
                  <a:ea typeface="LG Smart_H Regular" panose="020B0600000101010101" pitchFamily="34" charset="-127"/>
                  <a:cs typeface="Times New Roman" panose="02020603050405020304" pitchFamily="18" charset="0"/>
                </a:rPr>
                <a:t>4/2 Way</a:t>
              </a:r>
              <a:r>
                <a:rPr lang="ko-KR" altLang="en-US" sz="950">
                  <a:solidFill>
                    <a:srgbClr val="FF0000"/>
                  </a:solidFill>
                  <a:latin typeface="Arial Narrow" pitchFamily="34" charset="0"/>
                  <a:ea typeface="LG Smart_H Regular" panose="020B0600000101010101" pitchFamily="34" charset="-127"/>
                  <a:cs typeface="Times New Roman" panose="02020603050405020304" pitchFamily="18" charset="0"/>
                </a:rPr>
                <a:t>                            </a:t>
              </a:r>
              <a:r>
                <a:rPr lang="en-US" altLang="ko-KR" sz="950">
                  <a:latin typeface="Arial Narrow" pitchFamily="34" charset="0"/>
                  <a:ea typeface="LG Smart_H Regular" panose="020B0600000101010101" pitchFamily="34" charset="-127"/>
                  <a:cs typeface="Times New Roman" panose="02020603050405020304" pitchFamily="18" charset="0"/>
                </a:rPr>
                <a:t>B.  5/2 </a:t>
              </a:r>
              <a:r>
                <a:rPr lang="en-US" altLang="ko-KR" sz="950">
                  <a:solidFill>
                    <a:srgbClr val="000000"/>
                  </a:solidFill>
                  <a:latin typeface="Arial Narrow" pitchFamily="34" charset="0"/>
                  <a:ea typeface="LG Smart_H Regular" panose="020B0600000101010101" pitchFamily="34" charset="-127"/>
                  <a:cs typeface="Times New Roman" panose="02020603050405020304" pitchFamily="18" charset="0"/>
                </a:rPr>
                <a:t>Way</a:t>
              </a:r>
              <a:r>
                <a:rPr lang="ko-KR" altLang="en-US" sz="950">
                  <a:solidFill>
                    <a:srgbClr val="000000"/>
                  </a:solidFill>
                  <a:latin typeface="Arial Narrow" pitchFamily="34" charset="0"/>
                  <a:ea typeface="LG Smart_H Regular" panose="020B0600000101010101" pitchFamily="34" charset="-127"/>
                  <a:cs typeface="Times New Roman" panose="02020603050405020304" pitchFamily="18" charset="0"/>
                </a:rPr>
                <a:t> </a:t>
              </a:r>
            </a:p>
            <a:p>
              <a:pPr eaLnBrk="1" hangingPunct="1"/>
              <a:r>
                <a:rPr lang="en-US" altLang="ko-KR" sz="950">
                  <a:solidFill>
                    <a:srgbClr val="000000"/>
                  </a:solidFill>
                  <a:latin typeface="Arial Narrow" pitchFamily="34" charset="0"/>
                  <a:ea typeface="LG Smart_H Regular" panose="020B0600000101010101" pitchFamily="34" charset="-127"/>
                  <a:cs typeface="Times New Roman" panose="02020603050405020304" pitchFamily="18" charset="0"/>
                </a:rPr>
                <a:t>C.  4/3 Way                            D.  3/2 Way </a:t>
              </a:r>
              <a:endParaRPr lang="ko-KR" altLang="en-US" sz="950">
                <a:solidFill>
                  <a:srgbClr val="000000"/>
                </a:solidFill>
                <a:latin typeface="Arial Narrow" pitchFamily="34" charset="0"/>
                <a:ea typeface="LG Smart_H Regular" panose="020B0600000101010101" pitchFamily="34" charset="-127"/>
                <a:cs typeface="Times New Roman" panose="02020603050405020304" pitchFamily="18" charset="0"/>
              </a:endParaRPr>
            </a:p>
            <a:p>
              <a:pPr eaLnBrk="1" hangingPunct="1"/>
              <a:endParaRPr lang="en-US" altLang="ko-KR" sz="950">
                <a:solidFill>
                  <a:srgbClr val="000000"/>
                </a:solidFill>
                <a:latin typeface="Arial Narrow" pitchFamily="34" charset="0"/>
                <a:ea typeface="LG Smart_H Regular" panose="020B0600000101010101" pitchFamily="34" charset="-127"/>
                <a:cs typeface="Times New Roman" panose="02020603050405020304" pitchFamily="18" charset="0"/>
              </a:endParaRPr>
            </a:p>
          </p:txBody>
        </p:sp>
        <p:pic>
          <p:nvPicPr>
            <p:cNvPr id="63" name="Picture 132"/>
            <p:cNvPicPr>
              <a:picLocks noChangeAspect="1" noChangeArrowheads="1"/>
            </p:cNvPicPr>
            <p:nvPr/>
          </p:nvPicPr>
          <p:blipFill>
            <a:blip r:embed="rId8">
              <a:extLst>
                <a:ext uri="{28A0092B-C50C-407E-A947-70E740481C1C}">
                  <a14:useLocalDpi xmlns:a14="http://schemas.microsoft.com/office/drawing/2010/main" val="0"/>
                </a:ext>
              </a:extLst>
            </a:blip>
            <a:srcRect t="49310" b="30386"/>
            <a:stretch>
              <a:fillRect/>
            </a:stretch>
          </p:blipFill>
          <p:spPr bwMode="auto">
            <a:xfrm>
              <a:off x="908720" y="4083943"/>
              <a:ext cx="179863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64" name="Rectangle 238"/>
          <p:cNvSpPr>
            <a:spLocks noChangeArrowheads="1"/>
          </p:cNvSpPr>
          <p:nvPr/>
        </p:nvSpPr>
        <p:spPr bwMode="auto">
          <a:xfrm>
            <a:off x="272182" y="2288704"/>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09538" indent="-109538" eaLnBrk="1" hangingPunct="1"/>
            <a:r>
              <a:rPr lang="en-US" altLang="ko-KR" sz="950">
                <a:latin typeface="Arial Narrow" pitchFamily="34" charset="0"/>
                <a:cs typeface="Times New Roman" panose="02020603050405020304" pitchFamily="18" charset="0"/>
              </a:rPr>
              <a:t>5</a:t>
            </a:r>
            <a:r>
              <a:rPr lang="en-US" altLang="ko-KR" sz="950" smtClean="0">
                <a:latin typeface="Arial Narrow" pitchFamily="34" charset="0"/>
                <a:cs typeface="Times New Roman" panose="02020603050405020304" pitchFamily="18" charset="0"/>
              </a:rPr>
              <a:t>2. </a:t>
            </a:r>
            <a:r>
              <a:rPr lang="en-US" altLang="ko-KR" sz="950" dirty="0" err="1" smtClean="0">
                <a:latin typeface="Arial Narrow" pitchFamily="34" charset="0"/>
                <a:cs typeface="Times New Roman" panose="02020603050405020304" pitchFamily="18" charset="0"/>
              </a:rPr>
              <a:t>Loại</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máy</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nén</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nào</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đổi</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pha</a:t>
            </a:r>
            <a:r>
              <a:rPr lang="en-US" altLang="ko-KR" sz="950" dirty="0" smtClean="0">
                <a:latin typeface="Arial Narrow" pitchFamily="34" charset="0"/>
                <a:cs typeface="Times New Roman" panose="02020603050405020304" pitchFamily="18" charset="0"/>
              </a:rPr>
              <a:t> 90’ </a:t>
            </a:r>
            <a:r>
              <a:rPr lang="en-US" altLang="ko-KR" sz="950" dirty="0" err="1" smtClean="0">
                <a:latin typeface="Arial Narrow" pitchFamily="34" charset="0"/>
                <a:cs typeface="Times New Roman" panose="02020603050405020304" pitchFamily="18" charset="0"/>
              </a:rPr>
              <a:t>cho</a:t>
            </a:r>
            <a:r>
              <a:rPr lang="en-US" altLang="ko-KR" sz="950" dirty="0" smtClean="0">
                <a:latin typeface="Arial Narrow" pitchFamily="34" charset="0"/>
                <a:cs typeface="Times New Roman" panose="02020603050405020304" pitchFamily="18" charset="0"/>
              </a:rPr>
              <a:t> hay rotor </a:t>
            </a:r>
            <a:r>
              <a:rPr lang="en-US" altLang="ko-KR" sz="950" dirty="0" err="1" smtClean="0">
                <a:latin typeface="Arial Narrow" pitchFamily="34" charset="0"/>
                <a:cs typeface="Times New Roman" panose="02020603050405020304" pitchFamily="18" charset="0"/>
              </a:rPr>
              <a:t>để</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giữa</a:t>
            </a:r>
            <a:r>
              <a:rPr lang="en-US" altLang="ko-KR" sz="950" dirty="0" smtClean="0">
                <a:latin typeface="Arial Narrow" pitchFamily="34" charset="0"/>
                <a:cs typeface="Times New Roman" panose="02020603050405020304" pitchFamily="18" charset="0"/>
              </a:rPr>
              <a:t> casing </a:t>
            </a:r>
            <a:r>
              <a:rPr lang="en-US" altLang="ko-KR" sz="950" dirty="0" err="1" smtClean="0">
                <a:latin typeface="Arial Narrow" pitchFamily="34" charset="0"/>
                <a:cs typeface="Times New Roman" panose="02020603050405020304" pitchFamily="18" charset="0"/>
              </a:rPr>
              <a:t>với</a:t>
            </a:r>
            <a:r>
              <a:rPr lang="en-US" altLang="ko-KR" sz="950" dirty="0" smtClean="0">
                <a:latin typeface="Arial Narrow" pitchFamily="34" charset="0"/>
                <a:cs typeface="Times New Roman" panose="02020603050405020304" pitchFamily="18" charset="0"/>
              </a:rPr>
              <a:t> rotor </a:t>
            </a:r>
            <a:r>
              <a:rPr lang="en-US" altLang="ko-KR" sz="950" dirty="0" err="1" smtClean="0">
                <a:latin typeface="Arial Narrow" pitchFamily="34" charset="0"/>
                <a:cs typeface="Times New Roman" panose="02020603050405020304" pitchFamily="18" charset="0"/>
              </a:rPr>
              <a:t>được</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đóng</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kín</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làm</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khí</a:t>
            </a:r>
            <a:r>
              <a:rPr lang="en-US" altLang="ko-KR" sz="950" dirty="0" smtClean="0">
                <a:latin typeface="Arial Narrow" pitchFamily="34" charset="0"/>
                <a:cs typeface="Times New Roman" panose="02020603050405020304" pitchFamily="18" charset="0"/>
              </a:rPr>
              <a:t> di </a:t>
            </a:r>
            <a:r>
              <a:rPr lang="en-US" altLang="ko-KR" sz="950" dirty="0" err="1" smtClean="0">
                <a:latin typeface="Arial Narrow" pitchFamily="34" charset="0"/>
                <a:cs typeface="Times New Roman" panose="02020603050405020304" pitchFamily="18" charset="0"/>
              </a:rPr>
              <a:t>chuyển</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ra</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phía</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cửa</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xả</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và</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xả</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mà</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không</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có</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sự</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thay</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đổi</a:t>
            </a:r>
            <a:r>
              <a:rPr lang="en-US" altLang="ko-KR" sz="950" dirty="0" smtClean="0">
                <a:latin typeface="Arial Narrow" pitchFamily="34" charset="0"/>
                <a:cs typeface="Times New Roman" panose="02020603050405020304" pitchFamily="18" charset="0"/>
              </a:rPr>
              <a:t> dung </a:t>
            </a:r>
            <a:r>
              <a:rPr lang="en-US" altLang="ko-KR" sz="950" dirty="0" err="1" smtClean="0">
                <a:latin typeface="Arial Narrow" pitchFamily="34" charset="0"/>
                <a:cs typeface="Times New Roman" panose="02020603050405020304" pitchFamily="18" charset="0"/>
              </a:rPr>
              <a:t>tích</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nào</a:t>
            </a:r>
            <a:r>
              <a:rPr lang="en-US" altLang="ko-KR" sz="950" dirty="0" smtClean="0">
                <a:latin typeface="Arial Narrow" pitchFamily="34" charset="0"/>
                <a:cs typeface="Times New Roman" panose="02020603050405020304" pitchFamily="18" charset="0"/>
              </a:rPr>
              <a:t>?</a:t>
            </a:r>
            <a:endParaRPr lang="en-US" altLang="ko-KR" sz="950" dirty="0">
              <a:latin typeface="Arial Narrow" pitchFamily="34" charset="0"/>
              <a:cs typeface="Times New Roman" panose="02020603050405020304" pitchFamily="18" charset="0"/>
            </a:endParaRPr>
          </a:p>
          <a:p>
            <a:pPr marL="228600" indent="-228600" eaLnBrk="1" hangingPunct="1">
              <a:buAutoNum type="alphaUcPeriod"/>
            </a:pPr>
            <a:r>
              <a:rPr lang="en-US" altLang="ko-KR" sz="950" smtClean="0">
                <a:latin typeface="Arial Narrow" pitchFamily="34" charset="0"/>
                <a:cs typeface="Times New Roman" panose="02020603050405020304" pitchFamily="18" charset="0"/>
              </a:rPr>
              <a:t>Máy </a:t>
            </a:r>
            <a:r>
              <a:rPr lang="en-US" altLang="ko-KR" sz="950" dirty="0" err="1" smtClean="0">
                <a:latin typeface="Arial Narrow" pitchFamily="34" charset="0"/>
                <a:cs typeface="Times New Roman" panose="02020603050405020304" pitchFamily="18" charset="0"/>
              </a:rPr>
              <a:t>nén</a:t>
            </a:r>
            <a:r>
              <a:rPr lang="en-US" altLang="ko-KR" sz="950" dirty="0" smtClean="0">
                <a:latin typeface="Arial Narrow" pitchFamily="34" charset="0"/>
                <a:cs typeface="Times New Roman" panose="02020603050405020304" pitchFamily="18" charset="0"/>
              </a:rPr>
              <a:t> </a:t>
            </a:r>
            <a:r>
              <a:rPr lang="en-US" altLang="ko-KR" sz="950" err="1" smtClean="0">
                <a:latin typeface="Arial Narrow" pitchFamily="34" charset="0"/>
                <a:cs typeface="Times New Roman" panose="02020603050405020304" pitchFamily="18" charset="0"/>
              </a:rPr>
              <a:t>khí</a:t>
            </a:r>
            <a:r>
              <a:rPr lang="en-US" altLang="ko-KR" sz="950" smtClean="0">
                <a:latin typeface="Arial Narrow" pitchFamily="34" charset="0"/>
                <a:cs typeface="Times New Roman" panose="02020603050405020304" pitchFamily="18" charset="0"/>
              </a:rPr>
              <a:t> piston </a:t>
            </a:r>
            <a:r>
              <a:rPr lang="en-US" altLang="ko-KR" sz="950" err="1" smtClean="0">
                <a:latin typeface="Arial Narrow" pitchFamily="34" charset="0"/>
                <a:cs typeface="Times New Roman" panose="02020603050405020304" pitchFamily="18" charset="0"/>
              </a:rPr>
              <a:t>đa</a:t>
            </a:r>
            <a:r>
              <a:rPr lang="en-US" altLang="ko-KR" sz="950" smtClean="0">
                <a:latin typeface="Arial Narrow" pitchFamily="34" charset="0"/>
                <a:cs typeface="Times New Roman" panose="02020603050405020304" pitchFamily="18" charset="0"/>
              </a:rPr>
              <a:t> tần</a:t>
            </a:r>
          </a:p>
          <a:p>
            <a:pPr marL="228600" indent="-228600" eaLnBrk="1" hangingPunct="1">
              <a:buAutoNum type="alphaUcPeriod"/>
            </a:pPr>
            <a:r>
              <a:rPr lang="en-US" altLang="ko-KR" sz="950" smtClean="0">
                <a:latin typeface="Arial Narrow" pitchFamily="34" charset="0"/>
                <a:cs typeface="Times New Roman" panose="02020603050405020304" pitchFamily="18" charset="0"/>
              </a:rPr>
              <a:t>Máy </a:t>
            </a:r>
            <a:r>
              <a:rPr lang="en-US" altLang="ko-KR" sz="950" dirty="0" err="1" smtClean="0">
                <a:latin typeface="Arial Narrow" pitchFamily="34" charset="0"/>
                <a:cs typeface="Times New Roman" panose="02020603050405020304" pitchFamily="18" charset="0"/>
              </a:rPr>
              <a:t>nén</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khí</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trục</a:t>
            </a:r>
            <a:r>
              <a:rPr lang="en-US" altLang="ko-KR" sz="950" dirty="0" smtClean="0">
                <a:latin typeface="Arial Narrow" pitchFamily="34" charset="0"/>
                <a:cs typeface="Times New Roman" panose="02020603050405020304" pitchFamily="18" charset="0"/>
              </a:rPr>
              <a:t> </a:t>
            </a:r>
            <a:r>
              <a:rPr lang="en-US" altLang="ko-KR" sz="950" err="1" smtClean="0">
                <a:latin typeface="Arial Narrow" pitchFamily="34" charset="0"/>
                <a:cs typeface="Times New Roman" panose="02020603050405020304" pitchFamily="18" charset="0"/>
              </a:rPr>
              <a:t>Vít</a:t>
            </a:r>
            <a:r>
              <a:rPr lang="en-US" altLang="ko-KR" sz="950" smtClean="0">
                <a:latin typeface="Arial Narrow" pitchFamily="34" charset="0"/>
                <a:cs typeface="Times New Roman" panose="02020603050405020304" pitchFamily="18" charset="0"/>
              </a:rPr>
              <a:t> Screw</a:t>
            </a:r>
            <a:endParaRPr lang="en-US" altLang="ko-KR" sz="950" dirty="0">
              <a:latin typeface="Arial Narrow" pitchFamily="34" charset="0"/>
              <a:cs typeface="Times New Roman" panose="02020603050405020304" pitchFamily="18" charset="0"/>
            </a:endParaRPr>
          </a:p>
          <a:p>
            <a:pPr marL="228600" indent="-228600" eaLnBrk="1" hangingPunct="1">
              <a:buAutoNum type="alphaUcPeriod"/>
            </a:pPr>
            <a:r>
              <a:rPr lang="en-US" altLang="ko-KR" sz="950" smtClean="0">
                <a:latin typeface="Arial Narrow" pitchFamily="34" charset="0"/>
                <a:cs typeface="Times New Roman" panose="02020603050405020304" pitchFamily="18" charset="0"/>
              </a:rPr>
              <a:t>Máy </a:t>
            </a:r>
            <a:r>
              <a:rPr lang="en-US" altLang="ko-KR" sz="950" dirty="0" err="1" smtClean="0">
                <a:latin typeface="Arial Narrow" pitchFamily="34" charset="0"/>
                <a:cs typeface="Times New Roman" panose="02020603050405020304" pitchFamily="18" charset="0"/>
              </a:rPr>
              <a:t>nén</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khí</a:t>
            </a:r>
            <a:r>
              <a:rPr lang="en-US" altLang="ko-KR" sz="950" dirty="0" smtClean="0">
                <a:latin typeface="Arial Narrow" pitchFamily="34" charset="0"/>
                <a:cs typeface="Times New Roman" panose="02020603050405020304" pitchFamily="18" charset="0"/>
              </a:rPr>
              <a:t> </a:t>
            </a:r>
            <a:r>
              <a:rPr lang="en-US" altLang="ko-KR" sz="950" dirty="0" err="1" smtClean="0">
                <a:latin typeface="Arial Narrow" pitchFamily="34" charset="0"/>
                <a:cs typeface="Times New Roman" panose="02020603050405020304" pitchFamily="18" charset="0"/>
              </a:rPr>
              <a:t>cánh</a:t>
            </a:r>
            <a:r>
              <a:rPr lang="en-US" altLang="ko-KR" sz="950" dirty="0" smtClean="0">
                <a:latin typeface="Arial Narrow" pitchFamily="34" charset="0"/>
                <a:cs typeface="Times New Roman" panose="02020603050405020304" pitchFamily="18" charset="0"/>
              </a:rPr>
              <a:t> </a:t>
            </a:r>
            <a:r>
              <a:rPr lang="en-US" altLang="ko-KR" sz="950" err="1" smtClean="0">
                <a:latin typeface="Arial Narrow" pitchFamily="34" charset="0"/>
                <a:cs typeface="Times New Roman" panose="02020603050405020304" pitchFamily="18" charset="0"/>
              </a:rPr>
              <a:t>quạt</a:t>
            </a:r>
            <a:r>
              <a:rPr lang="ko-KR" altLang="en-US" sz="950" smtClean="0">
                <a:latin typeface="Arial Narrow" pitchFamily="34" charset="0"/>
                <a:cs typeface="Times New Roman" panose="02020603050405020304" pitchFamily="18" charset="0"/>
              </a:rPr>
              <a:t>               </a:t>
            </a:r>
            <a:endParaRPr lang="en-US" altLang="ko-KR" sz="950" smtClean="0">
              <a:latin typeface="Arial Narrow" pitchFamily="34" charset="0"/>
              <a:cs typeface="Times New Roman" panose="02020603050405020304" pitchFamily="18" charset="0"/>
            </a:endParaRPr>
          </a:p>
          <a:p>
            <a:pPr marL="228600" indent="-228600" eaLnBrk="1" hangingPunct="1">
              <a:buAutoNum type="alphaUcPeriod"/>
            </a:pPr>
            <a:r>
              <a:rPr lang="en-US" altLang="ko-KR" sz="950" smtClean="0">
                <a:solidFill>
                  <a:srgbClr val="FF0000"/>
                </a:solidFill>
                <a:latin typeface="Arial Narrow" pitchFamily="34" charset="0"/>
                <a:cs typeface="Times New Roman" panose="02020603050405020304" pitchFamily="18" charset="0"/>
              </a:rPr>
              <a:t>Root </a:t>
            </a:r>
            <a:r>
              <a:rPr lang="en-US" altLang="ko-KR" sz="950" dirty="0" smtClean="0">
                <a:solidFill>
                  <a:srgbClr val="FF0000"/>
                </a:solidFill>
                <a:latin typeface="Arial Narrow" pitchFamily="34" charset="0"/>
                <a:cs typeface="Times New Roman" panose="02020603050405020304" pitchFamily="18" charset="0"/>
              </a:rPr>
              <a:t>Blower</a:t>
            </a:r>
            <a:endParaRPr lang="ko-KR" altLang="en-US" sz="950" dirty="0">
              <a:solidFill>
                <a:srgbClr val="FF0000"/>
              </a:solidFill>
              <a:latin typeface="Arial Narrow" pitchFamily="34" charset="0"/>
              <a:cs typeface="Times New Roman" panose="02020603050405020304" pitchFamily="18" charset="0"/>
            </a:endParaRPr>
          </a:p>
        </p:txBody>
      </p:sp>
      <p:grpSp>
        <p:nvGrpSpPr>
          <p:cNvPr id="29" name="Group 28"/>
          <p:cNvGrpSpPr/>
          <p:nvPr/>
        </p:nvGrpSpPr>
        <p:grpSpPr>
          <a:xfrm>
            <a:off x="3429000" y="8002782"/>
            <a:ext cx="3225232" cy="1495794"/>
            <a:chOff x="188640" y="4669405"/>
            <a:chExt cx="3225232" cy="1495794"/>
          </a:xfrm>
        </p:grpSpPr>
        <p:sp>
          <p:nvSpPr>
            <p:cNvPr id="30" name="Rectangle 45"/>
            <p:cNvSpPr>
              <a:spLocks noChangeArrowheads="1"/>
            </p:cNvSpPr>
            <p:nvPr/>
          </p:nvSpPr>
          <p:spPr bwMode="auto">
            <a:xfrm>
              <a:off x="188640" y="4669405"/>
              <a:ext cx="3124200" cy="149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lnSpc>
                  <a:spcPct val="120000"/>
                </a:lnSpc>
              </a:pPr>
              <a:r>
                <a:rPr lang="en-US" altLang="ko-KR" sz="950" dirty="0">
                  <a:latin typeface="Times New Roman" pitchFamily="18" charset="0"/>
                  <a:ea typeface="돋움" pitchFamily="50" charset="-127"/>
                  <a:cs typeface="Times New Roman" pitchFamily="18" charset="0"/>
                </a:rPr>
                <a:t>6</a:t>
              </a:r>
              <a:r>
                <a:rPr lang="en-US" altLang="ko-KR" sz="950" smtClean="0">
                  <a:latin typeface="Times New Roman" pitchFamily="18" charset="0"/>
                  <a:ea typeface="돋움" pitchFamily="50" charset="-127"/>
                  <a:cs typeface="Times New Roman" pitchFamily="18" charset="0"/>
                </a:rPr>
                <a:t>0</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giải</a:t>
              </a:r>
              <a:r>
                <a:rPr lang="en-US" altLang="ko-KR" sz="950" smtClean="0">
                  <a:latin typeface="Times New Roman" pitchFamily="18" charset="0"/>
                  <a:ea typeface="돋움" pitchFamily="50" charset="-127"/>
                  <a:cs typeface="Times New Roman" pitchFamily="18" charset="0"/>
                </a:rPr>
                <a:t> </a:t>
              </a:r>
            </a:p>
            <a:p>
              <a:pPr eaLnBrk="1" hangingPunct="1">
                <a:lnSpc>
                  <a:spcPct val="120000"/>
                </a:lnSpc>
              </a:pPr>
              <a:r>
                <a:rPr lang="en-US" altLang="ko-KR" sz="950" smtClean="0">
                  <a:latin typeface="Times New Roman" pitchFamily="18" charset="0"/>
                  <a:ea typeface="돋움" pitchFamily="50" charset="-127"/>
                  <a:cs typeface="Times New Roman" pitchFamily="18" charset="0"/>
                </a:rPr>
                <a:t>thích </a:t>
              </a:r>
              <a:r>
                <a:rPr lang="en-US" altLang="ko-KR" sz="950" dirty="0" err="1" smtClean="0">
                  <a:latin typeface="Times New Roman" pitchFamily="18" charset="0"/>
                  <a:ea typeface="돋움" pitchFamily="50" charset="-127"/>
                  <a:cs typeface="Times New Roman" pitchFamily="18" charset="0"/>
                </a:rPr>
                <a:t>bằng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sơ</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đồ</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mạch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kép</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latin typeface="Times New Roman" pitchFamily="18" charset="0"/>
                  <a:ea typeface="돋움" pitchFamily="50" charset="-127"/>
                  <a:cs typeface="Times New Roman" pitchFamily="18" charset="0"/>
                </a:rPr>
                <a:t>B. Là </a:t>
              </a:r>
              <a:r>
                <a:rPr lang="en-US" altLang="ko-KR" sz="950" dirty="0" err="1" smtClean="0">
                  <a:latin typeface="Times New Roman" pitchFamily="18" charset="0"/>
                  <a:ea typeface="돋움" pitchFamily="50" charset="-127"/>
                  <a:cs typeface="Times New Roman" pitchFamily="18" charset="0"/>
                </a:rPr>
                <a:t>mạch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theo</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phương</a:t>
              </a:r>
              <a:r>
                <a:rPr lang="en-US" altLang="ko-KR" sz="950" smtClean="0">
                  <a:latin typeface="Times New Roman" pitchFamily="18" charset="0"/>
                  <a:ea typeface="돋움" pitchFamily="50" charset="-127"/>
                  <a:cs typeface="Times New Roman" pitchFamily="18" charset="0"/>
                </a:rPr>
                <a:t> thức meter </a:t>
              </a:r>
            </a:p>
            <a:p>
              <a:pPr eaLnBrk="1" hangingPunct="1">
                <a:lnSpc>
                  <a:spcPct val="120000"/>
                </a:lnSpc>
              </a:pPr>
              <a:r>
                <a:rPr lang="en-US" altLang="ko-KR" sz="950" smtClean="0">
                  <a:latin typeface="Times New Roman" pitchFamily="18" charset="0"/>
                  <a:ea typeface="돋움" pitchFamily="50" charset="-127"/>
                  <a:cs typeface="Times New Roman" pitchFamily="18" charset="0"/>
                </a:rPr>
                <a:t>out . </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điều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khiển</a:t>
              </a:r>
              <a:r>
                <a:rPr lang="en-US" altLang="ko-KR" sz="950" dirty="0" smtClean="0">
                  <a:latin typeface="Times New Roman" pitchFamily="18" charset="0"/>
                  <a:ea typeface="돋움" pitchFamily="50" charset="-127"/>
                  <a:cs typeface="Times New Roman" pitchFamily="18" charset="0"/>
                </a:rPr>
                <a:t> air </a:t>
              </a:r>
              <a:r>
                <a:rPr lang="en-US" altLang="ko-KR" sz="950" dirty="0" err="1" smtClean="0">
                  <a:latin typeface="Times New Roman" pitchFamily="18" charset="0"/>
                  <a:ea typeface="돋움" pitchFamily="50" charset="-127"/>
                  <a:cs typeface="Times New Roman" pitchFamily="18" charset="0"/>
                </a:rPr>
                <a:t>phía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latin typeface="Times New Roman" pitchFamily="18" charset="0"/>
                  <a:ea typeface="돋움" pitchFamily="50" charset="-127"/>
                  <a:cs typeface="Times New Roman" pitchFamily="18" charset="0"/>
                </a:rPr>
                <a:t>C. Vị </a:t>
              </a:r>
              <a:r>
                <a:rPr lang="en-US" altLang="ko-KR" sz="950" dirty="0" err="1" smtClean="0">
                  <a:latin typeface="Times New Roman" pitchFamily="18" charset="0"/>
                  <a:ea typeface="돋움" pitchFamily="50" charset="-127"/>
                  <a:cs typeface="Times New Roman" pitchFamily="18" charset="0"/>
                </a:rPr>
                <a:t>trí</a:t>
              </a:r>
              <a:r>
                <a:rPr lang="en-US" altLang="ko-KR" sz="950" dirty="0" smtClean="0">
                  <a:latin typeface="Times New Roman" pitchFamily="18" charset="0"/>
                  <a:ea typeface="돋움" pitchFamily="50" charset="-127"/>
                  <a:cs typeface="Times New Roman" pitchFamily="18" charset="0"/>
                </a:rPr>
                <a:t> ban </a:t>
              </a:r>
              <a:r>
                <a:rPr lang="en-US" altLang="ko-KR" sz="950" dirty="0" err="1" smtClean="0">
                  <a:latin typeface="Times New Roman" pitchFamily="18" charset="0"/>
                  <a:ea typeface="돋움" pitchFamily="50" charset="-127"/>
                  <a:cs typeface="Times New Roman" pitchFamily="18" charset="0"/>
                </a:rPr>
                <a:t>đầu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đang</a:t>
              </a:r>
              <a:r>
                <a:rPr lang="en-US" altLang="ko-KR" sz="950" dirty="0" smtClean="0">
                  <a:latin typeface="Times New Roman" pitchFamily="18" charset="0"/>
                  <a:ea typeface="돋움" pitchFamily="50" charset="-127"/>
                  <a:cs typeface="Times New Roman" pitchFamily="18" charset="0"/>
                </a:rPr>
                <a:t> ở </a:t>
              </a:r>
              <a:r>
                <a:rPr lang="en-US" altLang="ko-KR" sz="950" err="1" smtClean="0">
                  <a:latin typeface="Times New Roman" pitchFamily="18" charset="0"/>
                  <a:ea typeface="돋움" pitchFamily="50" charset="-127"/>
                  <a:cs typeface="Times New Roman" pitchFamily="18" charset="0"/>
                </a:rPr>
                <a:t>trạng</a:t>
              </a:r>
              <a:r>
                <a:rPr lang="en-US" altLang="ko-KR" sz="950" smtClean="0">
                  <a:latin typeface="Times New Roman" pitchFamily="18" charset="0"/>
                  <a:ea typeface="돋움" pitchFamily="50" charset="-127"/>
                  <a:cs typeface="Times New Roman" pitchFamily="18" charset="0"/>
                </a:rPr>
                <a:t> thái</a:t>
              </a:r>
              <a:r>
                <a:rPr lang="en-US" altLang="ko-KR" sz="950" dirty="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lùi</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solidFill>
                    <a:srgbClr val="FF0000"/>
                  </a:solidFill>
                  <a:latin typeface="Times New Roman" pitchFamily="18" charset="0"/>
                  <a:ea typeface="돋움" pitchFamily="50" charset="-127"/>
                  <a:cs typeface="Times New Roman" pitchFamily="18" charset="0"/>
                </a:rPr>
                <a:t>D. Đang </a:t>
              </a:r>
              <a:r>
                <a:rPr lang="en-US" altLang="ko-KR" sz="950" dirty="0" err="1" smtClean="0">
                  <a:solidFill>
                    <a:srgbClr val="FF0000"/>
                  </a:solidFill>
                  <a:latin typeface="Times New Roman" pitchFamily="18" charset="0"/>
                  <a:ea typeface="돋움" pitchFamily="50" charset="-127"/>
                  <a:cs typeface="Times New Roman" pitchFamily="18" charset="0"/>
                </a:rPr>
                <a:t>sử</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dụng</a:t>
              </a:r>
              <a:r>
                <a:rPr lang="en-US" altLang="ko-KR" sz="950" dirty="0" smtClean="0">
                  <a:solidFill>
                    <a:srgbClr val="FF0000"/>
                  </a:solidFill>
                  <a:latin typeface="Times New Roman" pitchFamily="18" charset="0"/>
                  <a:ea typeface="돋움" pitchFamily="50" charset="-127"/>
                  <a:cs typeface="Times New Roman" pitchFamily="18" charset="0"/>
                </a:rPr>
                <a:t> 5/2 </a:t>
              </a:r>
              <a:r>
                <a:rPr lang="en-US" altLang="ko-KR" sz="950" dirty="0">
                  <a:solidFill>
                    <a:srgbClr val="FF0000"/>
                  </a:solidFill>
                  <a:latin typeface="Times New Roman" pitchFamily="18" charset="0"/>
                  <a:ea typeface="돋움" pitchFamily="50" charset="-127"/>
                  <a:cs typeface="Times New Roman" pitchFamily="18" charset="0"/>
                </a:rPr>
                <a:t>Way </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hai</a:t>
              </a:r>
              <a:r>
                <a:rPr lang="en-US" altLang="ko-KR" sz="950" dirty="0" smtClean="0">
                  <a:solidFill>
                    <a:srgbClr val="FF0000"/>
                  </a:solidFill>
                  <a:latin typeface="Times New Roman" pitchFamily="18" charset="0"/>
                  <a:ea typeface="돋움" pitchFamily="50" charset="-127"/>
                  <a:cs typeface="Times New Roman" pitchFamily="18" charset="0"/>
                </a:rPr>
                <a:t> solenoid</a:t>
              </a:r>
              <a:endParaRPr lang="en-US" altLang="ko-KR" sz="950" dirty="0">
                <a:solidFill>
                  <a:srgbClr val="FF0000"/>
                </a:solidFill>
                <a:latin typeface="Times New Roman" pitchFamily="18" charset="0"/>
                <a:ea typeface="돋움" pitchFamily="50" charset="-127"/>
                <a:cs typeface="Times New Roman" pitchFamily="18" charset="0"/>
              </a:endParaRPr>
            </a:p>
          </p:txBody>
        </p:sp>
        <p:pic>
          <p:nvPicPr>
            <p:cNvPr id="31" name="Picture 4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09800" y="4822381"/>
              <a:ext cx="1204072" cy="1045019"/>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grpSp>
      <p:grpSp>
        <p:nvGrpSpPr>
          <p:cNvPr id="32" name="Group 31"/>
          <p:cNvGrpSpPr/>
          <p:nvPr/>
        </p:nvGrpSpPr>
        <p:grpSpPr>
          <a:xfrm>
            <a:off x="288032" y="8049617"/>
            <a:ext cx="3429000" cy="1257300"/>
            <a:chOff x="3384550" y="7489826"/>
            <a:chExt cx="3429000" cy="1257300"/>
          </a:xfrm>
        </p:grpSpPr>
        <p:grpSp>
          <p:nvGrpSpPr>
            <p:cNvPr id="33" name="Group 40"/>
            <p:cNvGrpSpPr>
              <a:grpSpLocks/>
            </p:cNvGrpSpPr>
            <p:nvPr/>
          </p:nvGrpSpPr>
          <p:grpSpPr bwMode="auto">
            <a:xfrm>
              <a:off x="3709988" y="7623175"/>
              <a:ext cx="2057400" cy="1123951"/>
              <a:chOff x="397" y="4667"/>
              <a:chExt cx="1296" cy="708"/>
            </a:xfrm>
          </p:grpSpPr>
          <p:pic>
            <p:nvPicPr>
              <p:cNvPr id="35" name="Picture 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7" y="4667"/>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6" name="Picture 3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09" y="4667"/>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3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97" y="5003"/>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3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09" y="5003"/>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4" name="Rectangle 33"/>
            <p:cNvSpPr>
              <a:spLocks noChangeArrowheads="1"/>
            </p:cNvSpPr>
            <p:nvPr/>
          </p:nvSpPr>
          <p:spPr bwMode="auto">
            <a:xfrm>
              <a:off x="3384550" y="7489826"/>
              <a:ext cx="34290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6</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số</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hiệu</a:t>
              </a:r>
              <a:r>
                <a:rPr lang="en-US" altLang="ko-KR" sz="950" dirty="0" smtClean="0">
                  <a:latin typeface="Times New Roman" pitchFamily="18" charset="0"/>
                  <a:ea typeface="돋움" pitchFamily="50" charset="-127"/>
                  <a:cs typeface="Times New Roman" pitchFamily="18" charset="0"/>
                </a:rPr>
                <a:t> Valve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loại</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đúng </a:t>
              </a:r>
              <a:r>
                <a:rPr lang="en-US" altLang="ko-KR" sz="950" dirty="0" smtClean="0">
                  <a:latin typeface="Times New Roman" pitchFamily="18" charset="0"/>
                  <a:ea typeface="돋움" pitchFamily="50" charset="-127"/>
                  <a:cs typeface="Times New Roman" pitchFamily="18" charset="0"/>
                </a:rPr>
                <a:t>3/2 Way?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dirty="0">
                  <a:latin typeface="Times New Roman" pitchFamily="18" charset="0"/>
                  <a:ea typeface="돋움" pitchFamily="50" charset="-127"/>
                  <a:cs typeface="Times New Roman" pitchFamily="18" charset="0"/>
                </a:rPr>
                <a:t>  </a:t>
              </a: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B.</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                                              </a:t>
              </a:r>
              <a:r>
                <a:rPr lang="en-US" altLang="ko-KR" sz="950" smtClean="0">
                  <a:solidFill>
                    <a:srgbClr val="FF0000"/>
                  </a:solidFill>
                  <a:latin typeface="Times New Roman" pitchFamily="18" charset="0"/>
                  <a:ea typeface="돋움" pitchFamily="50" charset="-127"/>
                  <a:cs typeface="Times New Roman" pitchFamily="18" charset="0"/>
                </a:rPr>
                <a:t>D.</a:t>
              </a:r>
              <a:endParaRPr lang="en-US" altLang="ko-KR" sz="950" dirty="0">
                <a:solidFill>
                  <a:srgbClr val="FF0000"/>
                </a:solidFill>
                <a:latin typeface="Times New Roman" pitchFamily="18" charset="0"/>
                <a:ea typeface="돋움" pitchFamily="50" charset="-127"/>
                <a:cs typeface="Times New Roman" pitchFamily="18" charset="0"/>
              </a:endParaRPr>
            </a:p>
          </p:txBody>
        </p:sp>
      </p:grpSp>
      <p:sp>
        <p:nvSpPr>
          <p:cNvPr id="41" name="Rectangle 83"/>
          <p:cNvSpPr>
            <a:spLocks noChangeArrowheads="1"/>
          </p:cNvSpPr>
          <p:nvPr/>
        </p:nvSpPr>
        <p:spPr bwMode="auto">
          <a:xfrm>
            <a:off x="222977" y="927086"/>
            <a:ext cx="3113087"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1</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Những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bụi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nhỏ</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Air Filter </a:t>
            </a:r>
            <a:r>
              <a:rPr lang="en-US" altLang="ko-KR" sz="950" dirty="0" err="1" smtClean="0">
                <a:latin typeface="Times New Roman" pitchFamily="18" charset="0"/>
                <a:ea typeface="돋움" pitchFamily="50" charset="-127"/>
                <a:cs typeface="Times New Roman" pitchFamily="18" charset="0"/>
              </a:rPr>
              <a:t>sẽ</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lọc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bởi</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 filter </a:t>
            </a:r>
            <a:r>
              <a:rPr lang="en-US" altLang="ko-KR" sz="950" dirty="0" err="1" smtClean="0">
                <a:latin typeface="Times New Roman" pitchFamily="18" charset="0"/>
                <a:ea typeface="돋움" pitchFamily="50" charset="-127"/>
                <a:cs typeface="Times New Roman" pitchFamily="18" charset="0"/>
              </a:rPr>
              <a:t>sau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chất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dị</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vật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sẽ</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ra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cửa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xả</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đúng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điền</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vào</a:t>
            </a:r>
            <a:r>
              <a:rPr lang="en-US" altLang="ko-KR" sz="950" smtClean="0">
                <a:latin typeface="Times New Roman" pitchFamily="18" charset="0"/>
                <a:ea typeface="돋움" pitchFamily="50" charset="-127"/>
                <a:cs typeface="Times New Roman" pitchFamily="18" charset="0"/>
              </a:rPr>
              <a:t> trong ngoặc?</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Deflector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B</a:t>
            </a:r>
            <a:r>
              <a:rPr lang="en-US" altLang="ko-KR" sz="950" smtClean="0">
                <a:latin typeface="Times New Roman" pitchFamily="18" charset="0"/>
                <a:ea typeface="돋움" pitchFamily="50" charset="-127"/>
                <a:cs typeface="Times New Roman" pitchFamily="18" charset="0"/>
              </a:rPr>
              <a:t>affle</a:t>
            </a:r>
            <a:r>
              <a:rPr lang="ko-KR" altLang="en-US" sz="950" smtClean="0">
                <a:latin typeface="Times New Roman" pitchFamily="18" charset="0"/>
                <a:ea typeface="돋움" pitchFamily="50" charset="-127"/>
                <a:cs typeface="Times New Roman" pitchFamily="18" charset="0"/>
              </a:rPr>
              <a:t>    </a:t>
            </a:r>
            <a:endParaRPr lang="ko-KR" altLang="en-US"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Diaphramg</a:t>
            </a:r>
            <a:r>
              <a:rPr lang="ko-KR" altLang="en-US" sz="950" smtClean="0">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D.</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dirty="0">
                <a:solidFill>
                  <a:srgbClr val="FF0000"/>
                </a:solidFill>
                <a:latin typeface="Times New Roman" pitchFamily="18" charset="0"/>
                <a:ea typeface="돋움" pitchFamily="50" charset="-127"/>
                <a:cs typeface="Times New Roman" pitchFamily="18" charset="0"/>
              </a:rPr>
              <a:t>E</a:t>
            </a:r>
            <a:r>
              <a:rPr lang="en-US" altLang="ko-KR" sz="950" smtClean="0">
                <a:solidFill>
                  <a:srgbClr val="FF0000"/>
                </a:solidFill>
                <a:latin typeface="Times New Roman" pitchFamily="18" charset="0"/>
                <a:ea typeface="돋움" pitchFamily="50" charset="-127"/>
                <a:cs typeface="Times New Roman" pitchFamily="18" charset="0"/>
              </a:rPr>
              <a:t>lement</a:t>
            </a:r>
            <a:endParaRPr lang="ko-KR" altLang="en-US" sz="950" dirty="0">
              <a:solidFill>
                <a:srgbClr val="FF0000"/>
              </a:solidFill>
              <a:latin typeface="Times New Roman" pitchFamily="18" charset="0"/>
              <a:ea typeface="돋움" pitchFamily="50" charset="-127"/>
              <a:cs typeface="Times New Roman" pitchFamily="18" charset="0"/>
            </a:endParaRPr>
          </a:p>
        </p:txBody>
      </p:sp>
    </p:spTree>
    <p:extLst>
      <p:ext uri="{BB962C8B-B14F-4D97-AF65-F5344CB8AC3E}">
        <p14:creationId xmlns:p14="http://schemas.microsoft.com/office/powerpoint/2010/main" val="28316718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solidFill>
                  <a:srgbClr val="000000"/>
                </a:solidFill>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solidFill>
                  <a:srgbClr val="000000"/>
                </a:solidFill>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p:txBody>
      </p:sp>
      <p:sp>
        <p:nvSpPr>
          <p:cNvPr id="9" name="TextBox 8"/>
          <p:cNvSpPr txBox="1"/>
          <p:nvPr/>
        </p:nvSpPr>
        <p:spPr>
          <a:xfrm>
            <a:off x="3212976" y="9690720"/>
            <a:ext cx="627095" cy="238527"/>
          </a:xfrm>
          <a:prstGeom prst="rect">
            <a:avLst/>
          </a:prstGeom>
          <a:noFill/>
        </p:spPr>
        <p:txBody>
          <a:bodyPr wrap="none" rtlCol="0">
            <a:spAutoFit/>
          </a:body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sz="950" b="0" i="0" u="none" strike="noStrike" kern="1200" cap="none" spc="0" normalizeH="0" baseline="0" noProof="0" smtClean="0">
                <a:ln>
                  <a:noFill/>
                </a:ln>
                <a:solidFill>
                  <a:srgbClr val="000000"/>
                </a:solidFill>
                <a:effectLst/>
                <a:uLnTx/>
                <a:uFillTx/>
                <a:latin typeface="Times New Roman" pitchFamily="18" charset="0"/>
                <a:ea typeface="Dotum" pitchFamily="50" charset="-127"/>
                <a:cs typeface="Times New Roman" pitchFamily="18" charset="0"/>
              </a:rPr>
              <a:t>Trang 09</a:t>
            </a:r>
            <a:endParaRPr kumimoji="1" 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grpSp>
        <p:nvGrpSpPr>
          <p:cNvPr id="2" name="Group 1"/>
          <p:cNvGrpSpPr/>
          <p:nvPr/>
        </p:nvGrpSpPr>
        <p:grpSpPr>
          <a:xfrm>
            <a:off x="184150" y="2608613"/>
            <a:ext cx="3180502" cy="969496"/>
            <a:chOff x="184150" y="2608613"/>
            <a:chExt cx="3180502" cy="969496"/>
          </a:xfrm>
        </p:grpSpPr>
        <p:sp>
          <p:nvSpPr>
            <p:cNvPr id="37" name="Rectangle 7"/>
            <p:cNvSpPr>
              <a:spLocks noChangeArrowheads="1"/>
            </p:cNvSpPr>
            <p:nvPr/>
          </p:nvSpPr>
          <p:spPr bwMode="auto">
            <a:xfrm>
              <a:off x="184150" y="2608613"/>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Hình ảnh dưới </a:t>
              </a:r>
              <a:r>
                <a:rPr lang="en-US" altLang="ko-KR" sz="950">
                  <a:latin typeface="Times New Roman" pitchFamily="18" charset="0"/>
                  <a:ea typeface="LG Smart_H Regular" panose="020B0600000101010101" pitchFamily="34" charset="-127"/>
                  <a:cs typeface="Times New Roman" pitchFamily="18" charset="0"/>
                </a:rPr>
                <a:t>đ</a:t>
              </a:r>
              <a:r>
                <a:rPr lang="vi-VN" altLang="ko-KR" sz="950" smtClean="0">
                  <a:latin typeface="Times New Roman" pitchFamily="18" charset="0"/>
                  <a:ea typeface="LG Smart_H Regular" panose="020B0600000101010101" pitchFamily="34" charset="-127"/>
                  <a:cs typeface="Times New Roman" pitchFamily="18" charset="0"/>
                </a:rPr>
                <a:t>ây </a:t>
              </a:r>
              <a:r>
                <a:rPr lang="vi-VN" altLang="ko-KR" sz="950">
                  <a:latin typeface="Times New Roman" pitchFamily="18" charset="0"/>
                  <a:ea typeface="LG Smart_H Regular" panose="020B0600000101010101" pitchFamily="34" charset="-127"/>
                  <a:cs typeface="Times New Roman" pitchFamily="18" charset="0"/>
                </a:rPr>
                <a:t>là của mặt tiết xúc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Mặt </a:t>
              </a:r>
              <a:r>
                <a:rPr lang="vi-VN" altLang="ko-KR" sz="950">
                  <a:latin typeface="Times New Roman" pitchFamily="18" charset="0"/>
                  <a:ea typeface="LG Smart_H Regular" panose="020B0600000101010101" pitchFamily="34" charset="-127"/>
                  <a:cs typeface="Times New Roman" pitchFamily="18" charset="0"/>
                </a:rPr>
                <a:t>tiếp xúc trượt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Mặt tiếp xúc xoắn </a:t>
              </a:r>
              <a:r>
                <a:rPr lang="en-US" altLang="ko-KR" sz="950" smtClean="0">
                  <a:latin typeface="Times New Roman" pitchFamily="18" charset="0"/>
                  <a:ea typeface="LG Smart_H Regular" panose="020B0600000101010101" pitchFamily="34" charset="-127"/>
                  <a:cs typeface="Times New Roman" pitchFamily="18" charset="0"/>
                </a:rPr>
                <a:t>ốc</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Mặt tiếp xúc xoay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Mặt tiếp xúc tròn </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39" name="Picture 38"/>
            <p:cNvPicPr>
              <a:picLocks noChangeAspect="1" noChangeArrowheads="1"/>
            </p:cNvPicPr>
            <p:nvPr/>
          </p:nvPicPr>
          <p:blipFill>
            <a:blip r:embed="rId3">
              <a:extLst>
                <a:ext uri="{28A0092B-C50C-407E-A947-70E740481C1C}">
                  <a14:useLocalDpi xmlns:a14="http://schemas.microsoft.com/office/drawing/2010/main" val="0"/>
                </a:ext>
              </a:extLst>
            </a:blip>
            <a:srcRect b="-200"/>
            <a:stretch>
              <a:fillRect/>
            </a:stretch>
          </p:blipFill>
          <p:spPr bwMode="auto">
            <a:xfrm>
              <a:off x="1628800" y="2837845"/>
              <a:ext cx="1447357"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40" name="Rectangle 7"/>
          <p:cNvSpPr>
            <a:spLocks noChangeArrowheads="1"/>
          </p:cNvSpPr>
          <p:nvPr/>
        </p:nvSpPr>
        <p:spPr bwMode="auto">
          <a:xfrm>
            <a:off x="228600" y="60717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Khi đường kính trục quá lớn hay cần loại trục nhẹ, người ta sẽ sử dụng trục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Solid </a:t>
            </a:r>
            <a:r>
              <a:rPr lang="vi-VN" altLang="ko-KR" sz="950" smtClean="0">
                <a:latin typeface="Times New Roman" pitchFamily="18" charset="0"/>
                <a:ea typeface="LG Smart_H Regular" panose="020B0600000101010101" pitchFamily="34" charset="-127"/>
                <a:cs typeface="Times New Roman" pitchFamily="18" charset="0"/>
              </a:rPr>
              <a:t>Shaft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Hollow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Shaft</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Square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Hexagonal</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 name="Group 2"/>
          <p:cNvGrpSpPr/>
          <p:nvPr/>
        </p:nvGrpSpPr>
        <p:grpSpPr>
          <a:xfrm>
            <a:off x="204048" y="4376936"/>
            <a:ext cx="3180502" cy="969496"/>
            <a:chOff x="204048" y="4376936"/>
            <a:chExt cx="3180502" cy="969496"/>
          </a:xfrm>
        </p:grpSpPr>
        <p:sp>
          <p:nvSpPr>
            <p:cNvPr id="38" name="Rectangle 7"/>
            <p:cNvSpPr>
              <a:spLocks noChangeArrowheads="1"/>
            </p:cNvSpPr>
            <p:nvPr/>
          </p:nvSpPr>
          <p:spPr bwMode="auto">
            <a:xfrm>
              <a:off x="204048" y="43769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Cho số ký hiệu vòng bi dưới đây. Vậy đáp án nào </a:t>
              </a:r>
              <a:r>
                <a:rPr lang="vi-VN" altLang="ko-KR" sz="950" b="1">
                  <a:latin typeface="Times New Roman" pitchFamily="18" charset="0"/>
                  <a:ea typeface="LG Smart_H Regular" panose="020B0600000101010101" pitchFamily="34" charset="-127"/>
                  <a:cs typeface="Times New Roman" pitchFamily="18" charset="0"/>
                </a:rPr>
                <a:t>không phải</a:t>
              </a:r>
              <a:r>
                <a:rPr lang="vi-VN" altLang="ko-KR" sz="950">
                  <a:latin typeface="Times New Roman" pitchFamily="18" charset="0"/>
                  <a:ea typeface="LG Smart_H Regular" panose="020B0600000101010101" pitchFamily="34" charset="-127"/>
                  <a:cs typeface="Times New Roman" pitchFamily="18" charset="0"/>
                </a:rPr>
                <a:t> cách gọi của </a:t>
              </a:r>
              <a:r>
                <a:rPr lang="vi-VN" altLang="ko-KR" sz="950" smtClean="0">
                  <a:latin typeface="Times New Roman" pitchFamily="18" charset="0"/>
                  <a:ea typeface="LG Smart_H Regular" panose="020B0600000101010101" pitchFamily="34" charset="-127"/>
                  <a:cs typeface="Times New Roman" pitchFamily="18" charset="0"/>
                </a:rPr>
                <a:t>nó?</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Số hiệu ký hiệu.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fr-FR" altLang="ko-KR" sz="950">
                  <a:solidFill>
                    <a:srgbClr val="FF0000"/>
                  </a:solidFill>
                  <a:latin typeface="Times New Roman" pitchFamily="18" charset="0"/>
                  <a:ea typeface="LG Smart_H Regular" panose="020B0600000101010101" pitchFamily="34" charset="-127"/>
                  <a:cs typeface="Times New Roman" pitchFamily="18" charset="0"/>
                </a:rPr>
                <a:t>Đường kính trong là </a:t>
              </a:r>
              <a:r>
                <a:rPr lang="fr-FR" altLang="ko-KR" sz="950" smtClean="0">
                  <a:solidFill>
                    <a:srgbClr val="FF0000"/>
                  </a:solidFill>
                  <a:latin typeface="Times New Roman" pitchFamily="18" charset="0"/>
                  <a:ea typeface="LG Smart_H Regular" panose="020B0600000101010101" pitchFamily="34" charset="-127"/>
                  <a:cs typeface="Times New Roman" pitchFamily="18" charset="0"/>
                </a:rPr>
                <a:t>8mm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Ký hiệu khe hở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 chính xác gia công</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1" name="Picture 40"/>
            <p:cNvPicPr>
              <a:picLocks noChangeAspect="1"/>
            </p:cNvPicPr>
            <p:nvPr/>
          </p:nvPicPr>
          <p:blipFill>
            <a:blip r:embed="rId4"/>
            <a:stretch>
              <a:fillRect/>
            </a:stretch>
          </p:blipFill>
          <p:spPr>
            <a:xfrm>
              <a:off x="1830913" y="4736976"/>
              <a:ext cx="1526079" cy="436500"/>
            </a:xfrm>
            <a:prstGeom prst="rect">
              <a:avLst/>
            </a:prstGeom>
          </p:spPr>
        </p:pic>
      </p:grpSp>
      <p:sp>
        <p:nvSpPr>
          <p:cNvPr id="42" name="Rectangle 7"/>
          <p:cNvSpPr>
            <a:spLocks noChangeArrowheads="1"/>
          </p:cNvSpPr>
          <p:nvPr/>
        </p:nvSpPr>
        <p:spPr bwMode="auto">
          <a:xfrm>
            <a:off x="163885" y="78719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Đinh ốc thường thường được sử dụng nhiều </a:t>
            </a:r>
            <a:r>
              <a:rPr lang="en-US" altLang="ko-KR" sz="950" smtClean="0">
                <a:latin typeface="Times New Roman" pitchFamily="18" charset="0"/>
                <a:ea typeface="LG Smart_H Regular" panose="020B0600000101010101" pitchFamily="34" charset="-127"/>
                <a:cs typeface="Times New Roman" pitchFamily="18" charset="0"/>
              </a:rPr>
              <a:t> nhất </a:t>
            </a:r>
            <a:r>
              <a:rPr lang="vi-VN" altLang="ko-KR" sz="950" smtClean="0">
                <a:latin typeface="Times New Roman" pitchFamily="18" charset="0"/>
                <a:ea typeface="LG Smart_H Regular" panose="020B0600000101010101" pitchFamily="34" charset="-127"/>
                <a:cs typeface="Times New Roman" pitchFamily="18" charset="0"/>
              </a:rPr>
              <a:t>theo </a:t>
            </a:r>
            <a:r>
              <a:rPr lang="vi-VN" altLang="ko-KR" sz="950">
                <a:latin typeface="Times New Roman" pitchFamily="18" charset="0"/>
                <a:ea typeface="LG Smart_H Regular" panose="020B0600000101010101" pitchFamily="34" charset="-127"/>
                <a:cs typeface="Times New Roman" pitchFamily="18" charset="0"/>
              </a:rPr>
              <a:t>hướng xoắn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Hướng đa </a:t>
            </a:r>
            <a:r>
              <a:rPr lang="vi-VN" altLang="ko-KR" sz="950" smtClean="0">
                <a:latin typeface="Times New Roman" pitchFamily="18" charset="0"/>
                <a:ea typeface="LG Smart_H Regular" panose="020B0600000101010101" pitchFamily="34" charset="-127"/>
                <a:cs typeface="Times New Roman" pitchFamily="18" charset="0"/>
              </a:rPr>
              <a:t>xoắn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Hướng xoắn </a:t>
            </a:r>
            <a:r>
              <a:rPr lang="vi-VN" altLang="ko-KR" sz="950" smtClean="0">
                <a:latin typeface="Times New Roman" pitchFamily="18" charset="0"/>
                <a:ea typeface="LG Smart_H Regular" panose="020B0600000101010101" pitchFamily="34" charset="-127"/>
                <a:cs typeface="Times New Roman" pitchFamily="18" charset="0"/>
              </a:rPr>
              <a:t>phải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Hướng một </a:t>
            </a:r>
            <a:r>
              <a:rPr lang="vi-VN" altLang="ko-KR" sz="950" smtClean="0">
                <a:latin typeface="Times New Roman" pitchFamily="18" charset="0"/>
                <a:ea typeface="LG Smart_H Regular" panose="020B0600000101010101" pitchFamily="34" charset="-127"/>
                <a:cs typeface="Times New Roman" pitchFamily="18" charset="0"/>
              </a:rPr>
              <a:t>xoắn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Hướng xoắn trái</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304708"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Đâu là điểm hạn chế của Đinh ốc đa </a:t>
            </a:r>
            <a:r>
              <a:rPr lang="vi-VN" altLang="ko-KR" sz="950" smtClean="0">
                <a:latin typeface="Times New Roman" pitchFamily="18" charset="0"/>
                <a:ea typeface="LG Smart_H Regular" panose="020B0600000101010101" pitchFamily="34" charset="-127"/>
                <a:cs typeface="Times New Roman" pitchFamily="18" charset="0"/>
              </a:rPr>
              <a:t>xoắn?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số vòng xoắn ít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Dễ mở ra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fr-FR" altLang="ko-KR" sz="950">
                <a:latin typeface="Times New Roman" pitchFamily="18" charset="0"/>
                <a:ea typeface="LG Smart_H Regular" panose="020B0600000101010101" pitchFamily="34" charset="-127"/>
                <a:cs typeface="Times New Roman" pitchFamily="18" charset="0"/>
              </a:rPr>
              <a:t>Độ lệch pha là 120 </a:t>
            </a:r>
            <a:r>
              <a:rPr lang="fr-FR" altLang="ko-KR" sz="950" smtClean="0">
                <a:latin typeface="Times New Roman" pitchFamily="18" charset="0"/>
                <a:ea typeface="LG Smart_H Regular" panose="020B0600000101010101" pitchFamily="34" charset="-127"/>
                <a:cs typeface="Times New Roman" pitchFamily="18" charset="0"/>
              </a:rPr>
              <a:t>độ</a:t>
            </a:r>
          </a:p>
          <a:p>
            <a:pPr marL="228600" indent="-228600" eaLnBrk="1" fontAlgn="base" hangingPunct="1">
              <a:spcBef>
                <a:spcPct val="0"/>
              </a:spcBef>
              <a:spcAft>
                <a:spcPct val="0"/>
              </a:spcAft>
              <a:buAutoNum type="alphaUcPeriod"/>
            </a:pPr>
            <a:r>
              <a:rPr lang="fr-FR" altLang="ko-KR" sz="950">
                <a:latin typeface="Times New Roman" pitchFamily="18" charset="0"/>
                <a:ea typeface="LG Smart_H Regular" panose="020B0600000101010101" pitchFamily="34" charset="-127"/>
                <a:cs typeface="Times New Roman" pitchFamily="18" charset="0"/>
              </a:rPr>
              <a:t>Độ lệch pha là 180 độ</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Chọn đáp án đúng khi nói về đặc điểm máy giảm tốc bánh răng đa </a:t>
            </a:r>
            <a:r>
              <a:rPr lang="vi-VN" altLang="ko-KR" sz="950" smtClean="0">
                <a:latin typeface="Times New Roman" pitchFamily="18" charset="0"/>
                <a:ea typeface="LG Smart_H Regular" panose="020B0600000101010101" pitchFamily="34" charset="-127"/>
                <a:cs typeface="Times New Roman" pitchFamily="18" charset="0"/>
              </a:rPr>
              <a:t>hệ?</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Đạt tỷ lệ giảm tốc lớn trong máy giảm tốc 1 </a:t>
            </a:r>
            <a:r>
              <a:rPr lang="vi-VN" altLang="ko-KR" sz="950" smtClean="0">
                <a:latin typeface="Times New Roman" pitchFamily="18" charset="0"/>
                <a:ea typeface="LG Smart_H Regular" panose="020B0600000101010101" pitchFamily="34" charset="-127"/>
                <a:cs typeface="Times New Roman" pitchFamily="18" charset="0"/>
              </a:rPr>
              <a:t>thì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Kích thước nhỏ và </a:t>
            </a:r>
            <a:r>
              <a:rPr lang="vi-VN" altLang="ko-KR" sz="950" smtClean="0">
                <a:latin typeface="Times New Roman" pitchFamily="18" charset="0"/>
                <a:ea typeface="LG Smart_H Regular" panose="020B0600000101010101" pitchFamily="34" charset="-127"/>
                <a:cs typeface="Times New Roman" pitchFamily="18" charset="0"/>
              </a:rPr>
              <a:t>nhẹ</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Cấu tạo chắc chắn và tuổi thọ </a:t>
            </a:r>
            <a:r>
              <a:rPr lang="vi-VN" altLang="ko-KR" sz="950" smtClean="0">
                <a:latin typeface="Times New Roman" pitchFamily="18" charset="0"/>
                <a:ea typeface="LG Smart_H Regular" panose="020B0600000101010101" pitchFamily="34" charset="-127"/>
                <a:cs typeface="Times New Roman" pitchFamily="18" charset="0"/>
              </a:rPr>
              <a:t>cao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Có thể quay nhanh hay định tốc</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45" name="Rectangle 7"/>
          <p:cNvSpPr>
            <a:spLocks noChangeArrowheads="1"/>
          </p:cNvSpPr>
          <p:nvPr/>
        </p:nvSpPr>
        <p:spPr bwMode="auto">
          <a:xfrm>
            <a:off x="3395092" y="4417730"/>
            <a:ext cx="3180502"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a:t>
            </a:r>
            <a:r>
              <a:rPr lang="vi-VN" altLang="ko-KR" sz="950">
                <a:latin typeface="Times New Roman" pitchFamily="18" charset="0"/>
                <a:ea typeface="LG Smart_H Regular" panose="020B0600000101010101" pitchFamily="34" charset="-127"/>
                <a:cs typeface="Times New Roman" pitchFamily="18" charset="0"/>
              </a:rPr>
              <a:t>Chọn đáp án sai khi nói về Ball </a:t>
            </a:r>
            <a:r>
              <a:rPr lang="vi-VN" altLang="ko-KR" sz="950" smtClean="0">
                <a:latin typeface="Times New Roman" pitchFamily="18" charset="0"/>
                <a:ea typeface="LG Smart_H Regular" panose="020B0600000101010101" pitchFamily="34" charset="-127"/>
                <a:cs typeface="Times New Roman" pitchFamily="18" charset="0"/>
              </a:rPr>
              <a:t>Screw?</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Backlash cực </a:t>
            </a:r>
            <a:r>
              <a:rPr lang="vi-VN" altLang="ko-KR" sz="950" smtClean="0">
                <a:latin typeface="Times New Roman" pitchFamily="18" charset="0"/>
                <a:ea typeface="LG Smart_H Regular" panose="020B0600000101010101" pitchFamily="34" charset="-127"/>
                <a:cs typeface="Times New Roman" pitchFamily="18" charset="0"/>
              </a:rPr>
              <a:t>nhỏ</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Hiệu suất </a:t>
            </a:r>
            <a:r>
              <a:rPr lang="en-US" altLang="ko-KR" sz="950" smtClean="0">
                <a:latin typeface="Times New Roman" pitchFamily="18" charset="0"/>
                <a:ea typeface="LG Smart_H Regular" panose="020B0600000101010101" pitchFamily="34" charset="-127"/>
                <a:cs typeface="Times New Roman" pitchFamily="18" charset="0"/>
              </a:rPr>
              <a:t>cao</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 bền </a:t>
            </a:r>
            <a:r>
              <a:rPr lang="vi-VN" altLang="ko-KR" sz="950" smtClean="0">
                <a:latin typeface="Times New Roman" pitchFamily="18" charset="0"/>
                <a:ea typeface="LG Smart_H Regular" panose="020B0600000101010101" pitchFamily="34" charset="-127"/>
                <a:cs typeface="Times New Roman" pitchFamily="18" charset="0"/>
              </a:rPr>
              <a:t>cao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Lực kháng lăn cao</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3379882" y="6071736"/>
            <a:ext cx="3180502" cy="969496"/>
            <a:chOff x="3379882" y="5406769"/>
            <a:chExt cx="3180502" cy="969496"/>
          </a:xfrm>
        </p:grpSpPr>
        <p:sp>
          <p:nvSpPr>
            <p:cNvPr id="46" name="Rectangle 7"/>
            <p:cNvSpPr>
              <a:spLocks noChangeArrowheads="1"/>
            </p:cNvSpPr>
            <p:nvPr/>
          </p:nvSpPr>
          <p:spPr bwMode="auto">
            <a:xfrm>
              <a:off x="3379882" y="5406769"/>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a:t>
              </a:r>
              <a:r>
                <a:rPr lang="vi-VN" altLang="ko-KR" sz="950">
                  <a:latin typeface="Times New Roman" pitchFamily="18" charset="0"/>
                  <a:ea typeface="LG Smart_H Regular" panose="020B0600000101010101" pitchFamily="34" charset="-127"/>
                  <a:cs typeface="Times New Roman" pitchFamily="18" charset="0"/>
                </a:rPr>
                <a:t>Hình ảnh dưới đây là phương pháp Preload nào của Ball Screw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Offset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Preload</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Static </a:t>
              </a:r>
              <a:r>
                <a:rPr lang="en-US" altLang="ko-KR" sz="950" smtClean="0">
                  <a:latin typeface="Times New Roman" pitchFamily="18" charset="0"/>
                  <a:ea typeface="LG Smart_H Regular" panose="020B0600000101010101" pitchFamily="34" charset="-127"/>
                  <a:cs typeface="Times New Roman" pitchFamily="18" charset="0"/>
                </a:rPr>
                <a:t>Pressure</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Double </a:t>
              </a:r>
              <a:r>
                <a:rPr lang="vi-VN" altLang="ko-KR" sz="950" smtClean="0">
                  <a:latin typeface="Times New Roman" pitchFamily="18" charset="0"/>
                  <a:ea typeface="LG Smart_H Regular" panose="020B0600000101010101" pitchFamily="34" charset="-127"/>
                  <a:cs typeface="Times New Roman" pitchFamily="18" charset="0"/>
                </a:rPr>
                <a:t>Nut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Triple Nut</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8" name="Picture 47"/>
            <p:cNvPicPr>
              <a:picLocks noChangeAspect="1"/>
            </p:cNvPicPr>
            <p:nvPr/>
          </p:nvPicPr>
          <p:blipFill>
            <a:blip r:embed="rId5"/>
            <a:stretch>
              <a:fillRect/>
            </a:stretch>
          </p:blipFill>
          <p:spPr>
            <a:xfrm>
              <a:off x="4869160" y="5650886"/>
              <a:ext cx="1447800" cy="725144"/>
            </a:xfrm>
            <a:prstGeom prst="rect">
              <a:avLst/>
            </a:prstGeom>
          </p:spPr>
        </p:pic>
      </p:grpSp>
      <p:sp>
        <p:nvSpPr>
          <p:cNvPr id="29" name="Rectangle 7"/>
          <p:cNvSpPr>
            <a:spLocks noChangeArrowheads="1"/>
          </p:cNvSpPr>
          <p:nvPr/>
        </p:nvSpPr>
        <p:spPr bwMode="auto">
          <a:xfrm>
            <a:off x="3384550" y="7977336"/>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Đâu không phải là phương pháp chiếu góc nhìn vào vật </a:t>
            </a:r>
            <a:r>
              <a:rPr lang="vi-VN" altLang="ko-KR" sz="950" smtClean="0">
                <a:latin typeface="Times New Roman" pitchFamily="18" charset="0"/>
                <a:ea typeface="LG Smart_H Regular" panose="020B0600000101010101" pitchFamily="34" charset="-127"/>
                <a:cs typeface="Times New Roman" pitchFamily="18" charset="0"/>
              </a:rPr>
              <a:t>thể?</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Hình chiếu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nghiêng</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nb-NO" altLang="ko-KR" sz="950">
                <a:latin typeface="Times New Roman" pitchFamily="18" charset="0"/>
                <a:ea typeface="LG Smart_H Regular" panose="020B0600000101010101" pitchFamily="34" charset="-127"/>
                <a:cs typeface="Times New Roman" pitchFamily="18" charset="0"/>
              </a:rPr>
              <a:t>Hình chiếu </a:t>
            </a:r>
            <a:r>
              <a:rPr lang="nb-NO" altLang="ko-KR" sz="950" smtClean="0">
                <a:latin typeface="Times New Roman" pitchFamily="18" charset="0"/>
                <a:ea typeface="LG Smart_H Regular" panose="020B0600000101010101" pitchFamily="34" charset="-127"/>
                <a:cs typeface="Times New Roman" pitchFamily="18" charset="0"/>
              </a:rPr>
              <a:t>bằng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Hình chiếu </a:t>
            </a:r>
            <a:r>
              <a:rPr lang="vi-VN" altLang="ko-KR" sz="950" smtClean="0">
                <a:latin typeface="Times New Roman" pitchFamily="18" charset="0"/>
                <a:ea typeface="LG Smart_H Regular" panose="020B0600000101010101" pitchFamily="34" charset="-127"/>
                <a:cs typeface="Times New Roman" pitchFamily="18" charset="0"/>
              </a:rPr>
              <a:t>đứng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Hình chiếu cạnh</a:t>
            </a:r>
            <a:endParaRPr lang="en-US" altLang="ko-KR" sz="950" smtClean="0">
              <a:latin typeface="Times New Roman" pitchFamily="18" charset="0"/>
              <a:ea typeface="LG Smart_H Regular" panose="020B0600000101010101" pitchFamily="34" charset="-127"/>
              <a:cs typeface="Times New Roman" pitchFamily="18" charset="0"/>
            </a:endParaRPr>
          </a:p>
        </p:txBody>
      </p:sp>
      <p:grpSp>
        <p:nvGrpSpPr>
          <p:cNvPr id="30" name="Group 29"/>
          <p:cNvGrpSpPr/>
          <p:nvPr/>
        </p:nvGrpSpPr>
        <p:grpSpPr>
          <a:xfrm>
            <a:off x="155332" y="1233227"/>
            <a:ext cx="3229218" cy="969496"/>
            <a:chOff x="188640" y="1208584"/>
            <a:chExt cx="3229218" cy="969496"/>
          </a:xfrm>
        </p:grpSpPr>
        <p:sp>
          <p:nvSpPr>
            <p:cNvPr id="31" name="Rectangle 7"/>
            <p:cNvSpPr>
              <a:spLocks noChangeArrowheads="1"/>
            </p:cNvSpPr>
            <p:nvPr/>
          </p:nvSpPr>
          <p:spPr bwMode="auto">
            <a:xfrm>
              <a:off x="188640" y="1208584"/>
              <a:ext cx="3229218"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Hình ảnh dưới đây đang thể hiện khi lắp ghép dung sai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Lắp </a:t>
              </a:r>
              <a:r>
                <a:rPr lang="en-US" altLang="ko-KR" sz="950" smtClean="0">
                  <a:latin typeface="Times New Roman" pitchFamily="18" charset="0"/>
                  <a:ea typeface="LG Smart_H Regular" panose="020B0600000101010101" pitchFamily="34" charset="-127"/>
                  <a:cs typeface="Times New Roman" pitchFamily="18" charset="0"/>
                </a:rPr>
                <a:t>khít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Lắp </a:t>
              </a:r>
              <a:r>
                <a:rPr lang="en-US" altLang="ko-KR" sz="950" smtClean="0">
                  <a:latin typeface="Times New Roman" pitchFamily="18" charset="0"/>
                  <a:ea typeface="LG Smart_H Regular" panose="020B0600000101010101" pitchFamily="34" charset="-127"/>
                  <a:cs typeface="Times New Roman" pitchFamily="18" charset="0"/>
                </a:rPr>
                <a:t>chặt</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Lắp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lỏng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Lắp độ dôi</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33" name="Picture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00808" y="1496615"/>
              <a:ext cx="1134343" cy="634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82129750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228600" y="809164"/>
            <a:ext cx="3215481"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sp>
        <p:nvSpPr>
          <p:cNvPr id="16" name="Rectangle 15"/>
          <p:cNvSpPr/>
          <p:nvPr/>
        </p:nvSpPr>
        <p:spPr>
          <a:xfrm>
            <a:off x="3467726" y="6577970"/>
            <a:ext cx="3130550" cy="823302"/>
          </a:xfrm>
          <a:prstGeom prst="rect">
            <a:avLst/>
          </a:prstGeom>
        </p:spPr>
        <p:txBody>
          <a:bodyPr wrap="square">
            <a:spAutoFit/>
          </a:bodyPr>
          <a:lstStyle/>
          <a:p>
            <a:pPr marL="109538" lvl="0" indent="-109538" fontAlgn="base">
              <a:spcBef>
                <a:spcPct val="0"/>
              </a:spcBef>
              <a:spcAft>
                <a:spcPct val="0"/>
              </a:spcAft>
              <a:defRPr/>
            </a:pP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79.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Pin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nào được sử dụng để gắn kết bản lề và tránh nới lỏng của bu lông và đai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ốc</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a:t>
            </a:r>
          </a:p>
          <a:p>
            <a:pPr lvl="0" fontAlgn="base">
              <a:spcBef>
                <a:spcPct val="0"/>
              </a:spcBef>
              <a:spcAft>
                <a:spcPct val="0"/>
              </a:spcAft>
              <a:defRPr/>
            </a:pPr>
            <a:endParaRPr kumimoji="1"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lvl="0" fontAlgn="base">
              <a:spcBef>
                <a:spcPct val="0"/>
              </a:spcBef>
              <a:spcAft>
                <a:spcPct val="0"/>
              </a:spcAft>
              <a:defRPr/>
            </a:pPr>
            <a:r>
              <a:rPr kumimoji="1" lang="en-US" altLang="ko-KR" sz="950" smtClean="0">
                <a:solidFill>
                  <a:srgbClr val="FF0000"/>
                </a:solidFill>
                <a:latin typeface="Times New Roman" pitchFamily="18" charset="0"/>
                <a:ea typeface="LG Smart_H Regular" panose="020B0600000101010101" pitchFamily="34" charset="-127"/>
                <a:cs typeface="Times New Roman" pitchFamily="18" charset="0"/>
              </a:rPr>
              <a:t>A</a:t>
            </a:r>
            <a:r>
              <a:rPr kumimoji="1" lang="en-US" altLang="ko-KR" sz="950">
                <a:solidFill>
                  <a:srgbClr val="FF0000"/>
                </a:solidFill>
                <a:latin typeface="Times New Roman" pitchFamily="18" charset="0"/>
                <a:ea typeface="LG Smart_H Regular" panose="020B0600000101010101" pitchFamily="34" charset="-127"/>
                <a:cs typeface="Times New Roman" pitchFamily="18" charset="0"/>
              </a:rPr>
              <a:t>. </a:t>
            </a:r>
            <a:r>
              <a:rPr kumimoji="1" lang="vi-VN" altLang="ko-KR" sz="950">
                <a:solidFill>
                  <a:srgbClr val="FF0000"/>
                </a:solidFill>
                <a:latin typeface="Times New Roman" pitchFamily="18" charset="0"/>
                <a:ea typeface="LG Smart_H Regular" panose="020B0600000101010101" pitchFamily="34" charset="-127"/>
                <a:cs typeface="Times New Roman" pitchFamily="18" charset="0"/>
              </a:rPr>
              <a:t>Pin </a:t>
            </a:r>
            <a:r>
              <a:rPr kumimoji="1" lang="vi-VN" altLang="ko-KR" sz="950" smtClean="0">
                <a:solidFill>
                  <a:srgbClr val="FF0000"/>
                </a:solidFill>
                <a:latin typeface="Times New Roman" pitchFamily="18" charset="0"/>
                <a:ea typeface="LG Smart_H Regular" panose="020B0600000101010101" pitchFamily="34" charset="-127"/>
                <a:cs typeface="Times New Roman" pitchFamily="18" charset="0"/>
              </a:rPr>
              <a:t>spring</a:t>
            </a:r>
            <a:r>
              <a:rPr kumimoji="1" lang="en-US" altLang="ko-KR" sz="950">
                <a:solidFill>
                  <a:srgbClr val="FF0000"/>
                </a:solidFill>
                <a:latin typeface="Times New Roman" pitchFamily="18" charset="0"/>
                <a:ea typeface="LG Smart_H Regular" panose="020B0600000101010101" pitchFamily="34" charset="-127"/>
                <a:cs typeface="Times New Roman" pitchFamily="18" charset="0"/>
              </a:rPr>
              <a:t>	</a:t>
            </a:r>
            <a:r>
              <a:rPr kumimoji="1"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B</a:t>
            </a:r>
            <a:r>
              <a:rPr kumimoji="1" lang="en-US" altLang="ko-KR" sz="950">
                <a:solidFill>
                  <a:srgbClr val="000000"/>
                </a:solidFill>
                <a:latin typeface="Times New Roman" pitchFamily="18" charset="0"/>
                <a:ea typeface="LG Smart_H Regular" panose="020B0600000101010101" pitchFamily="34" charset="-127"/>
                <a:cs typeface="Times New Roman" pitchFamily="18" charset="0"/>
              </a:rPr>
              <a:t>.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Pin </a:t>
            </a:r>
            <a:r>
              <a:rPr kumimoji="1" lang="en-US" altLang="ko-KR" sz="950">
                <a:solidFill>
                  <a:srgbClr val="000000"/>
                </a:solidFill>
                <a:latin typeface="Times New Roman" pitchFamily="18" charset="0"/>
                <a:ea typeface="LG Smart_H Regular" panose="020B0600000101010101" pitchFamily="34" charset="-127"/>
                <a:cs typeface="Times New Roman" pitchFamily="18" charset="0"/>
              </a:rPr>
              <a:t>t</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aper</a:t>
            </a:r>
            <a:endParaRPr kumimoji="1" lang="en-US" altLang="ko-KR" sz="950">
              <a:solidFill>
                <a:srgbClr val="000000"/>
              </a:solidFill>
              <a:latin typeface="Times New Roman" pitchFamily="18" charset="0"/>
              <a:ea typeface="LG Smart_H Regular" panose="020B0600000101010101" pitchFamily="34" charset="-127"/>
              <a:cs typeface="Times New Roman" pitchFamily="18" charset="0"/>
            </a:endParaRPr>
          </a:p>
          <a:p>
            <a:pPr marL="457200" lvl="0" indent="-457200" fontAlgn="base">
              <a:spcBef>
                <a:spcPct val="0"/>
              </a:spcBef>
              <a:spcAft>
                <a:spcPct val="0"/>
              </a:spcAft>
              <a:defRPr/>
            </a:pP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C</a:t>
            </a:r>
            <a:r>
              <a:rPr kumimoji="1" lang="en-US" altLang="ko-KR" sz="950">
                <a:solidFill>
                  <a:srgbClr val="000000"/>
                </a:solidFill>
                <a:latin typeface="Times New Roman" pitchFamily="18" charset="0"/>
                <a:ea typeface="LG Smart_H Regular" panose="020B0600000101010101" pitchFamily="34" charset="-127"/>
                <a:cs typeface="Times New Roman" pitchFamily="18" charset="0"/>
              </a:rPr>
              <a:t>.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Pin tách</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kumimoji="1" lang="en-US" altLang="ko-KR" sz="950" smtClean="0">
                <a:latin typeface="Times New Roman" pitchFamily="18" charset="0"/>
                <a:ea typeface="LG Smart_H Regular" panose="020B0600000101010101" pitchFamily="34" charset="-127"/>
                <a:cs typeface="Times New Roman" pitchFamily="18" charset="0"/>
              </a:rPr>
              <a:t>D</a:t>
            </a:r>
            <a:r>
              <a:rPr kumimoji="1" lang="en-US" altLang="ko-KR" sz="950">
                <a:latin typeface="Times New Roman" pitchFamily="18" charset="0"/>
                <a:ea typeface="LG Smart_H Regular" panose="020B0600000101010101" pitchFamily="34" charset="-127"/>
                <a:cs typeface="Times New Roman" pitchFamily="18" charset="0"/>
              </a:rPr>
              <a:t>. </a:t>
            </a:r>
            <a:r>
              <a:rPr kumimoji="1" lang="vi-VN" altLang="ko-KR" sz="950">
                <a:latin typeface="Times New Roman" pitchFamily="18" charset="0"/>
                <a:ea typeface="LG Smart_H Regular" panose="020B0600000101010101" pitchFamily="34" charset="-127"/>
                <a:cs typeface="Times New Roman" pitchFamily="18" charset="0"/>
              </a:rPr>
              <a:t>Pin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song song</a:t>
            </a:r>
            <a:r>
              <a:rPr kumimoji="1" lang="ko-KR" altLang="en-US" sz="950">
                <a:solidFill>
                  <a:srgbClr val="000000"/>
                </a:solidFill>
                <a:latin typeface="Times New Roman" pitchFamily="18" charset="0"/>
                <a:ea typeface="LG Smart_H Regular" panose="020B0600000101010101" pitchFamily="34" charset="-127"/>
                <a:cs typeface="Times New Roman" pitchFamily="18" charset="0"/>
              </a:rPr>
              <a:t> </a:t>
            </a:r>
            <a:endParaRPr kumimoji="1"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3481086" y="7790127"/>
            <a:ext cx="3176081" cy="1627369"/>
            <a:chOff x="4362832" y="3589035"/>
            <a:chExt cx="3176081" cy="1627369"/>
          </a:xfrm>
        </p:grpSpPr>
        <p:sp>
          <p:nvSpPr>
            <p:cNvPr id="23" name="Rectangle 26"/>
            <p:cNvSpPr>
              <a:spLocks noChangeArrowheads="1"/>
            </p:cNvSpPr>
            <p:nvPr/>
          </p:nvSpPr>
          <p:spPr bwMode="auto">
            <a:xfrm>
              <a:off x="4362832" y="3589035"/>
              <a:ext cx="3124200" cy="162736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marL="109538" indent="-109538"/>
              <a:r>
                <a:rPr lang="en-US" altLang="ko-KR" sz="950" smtClean="0">
                  <a:latin typeface="Times New Roman" panose="02020603050405020304" pitchFamily="18" charset="0"/>
                  <a:ea typeface="돋움" pitchFamily="50" charset="-127"/>
                  <a:cs typeface="Times New Roman" panose="02020603050405020304" pitchFamily="18" charset="0"/>
                </a:rPr>
                <a:t>80. </a:t>
              </a:r>
              <a:r>
                <a:rPr lang="en-US" altLang="ko-KR" sz="950">
                  <a:latin typeface="Times New Roman" panose="02020603050405020304" pitchFamily="18" charset="0"/>
                  <a:ea typeface="돋움" pitchFamily="50" charset="-127"/>
                  <a:cs typeface="Times New Roman" panose="02020603050405020304" pitchFamily="18" charset="0"/>
                </a:rPr>
                <a:t>Chọn loại răng của Timing Belt mà mang lại thành công hiệu quả backlash tối thiểu, giảm tiếng ồn, độ tin cậy cao và tuổi thọ dài?</a:t>
              </a:r>
            </a:p>
            <a:p>
              <a:endParaRPr lang="en-US" altLang="ko-KR" sz="950">
                <a:latin typeface="Times New Roman" panose="02020603050405020304" pitchFamily="18" charset="0"/>
                <a:ea typeface="돋움" pitchFamily="50" charset="-127"/>
                <a:cs typeface="Times New Roman" panose="02020603050405020304" pitchFamily="18" charset="0"/>
              </a:endParaRPr>
            </a:p>
            <a:p>
              <a:r>
                <a:rPr lang="en-US" altLang="ko-KR" sz="950" smtClean="0">
                  <a:latin typeface="Times New Roman" panose="02020603050405020304" pitchFamily="18" charset="0"/>
                  <a:ea typeface="돋움" pitchFamily="50" charset="-127"/>
                  <a:cs typeface="Times New Roman" panose="02020603050405020304" pitchFamily="18" charset="0"/>
                </a:rPr>
                <a:t>A.                                                  B.</a:t>
              </a:r>
              <a:endParaRPr lang="en-US" altLang="ko-KR" sz="950">
                <a:latin typeface="Times New Roman" panose="02020603050405020304" pitchFamily="18" charset="0"/>
                <a:ea typeface="돋움" pitchFamily="50" charset="-127"/>
                <a:cs typeface="Times New Roman" panose="02020603050405020304" pitchFamily="18" charset="0"/>
              </a:endParaRPr>
            </a:p>
            <a:p>
              <a:endParaRPr lang="en-US" altLang="ko-KR" sz="950">
                <a:latin typeface="Times New Roman" panose="02020603050405020304" pitchFamily="18" charset="0"/>
                <a:ea typeface="돋움" pitchFamily="50" charset="-127"/>
                <a:cs typeface="Times New Roman" panose="02020603050405020304" pitchFamily="18" charset="0"/>
              </a:endParaRPr>
            </a:p>
            <a:p>
              <a:endParaRPr lang="en-US" altLang="ko-KR" sz="950">
                <a:latin typeface="Times New Roman" panose="02020603050405020304" pitchFamily="18" charset="0"/>
                <a:ea typeface="돋움" pitchFamily="50" charset="-127"/>
                <a:cs typeface="Times New Roman" panose="02020603050405020304" pitchFamily="18" charset="0"/>
              </a:endParaRPr>
            </a:p>
            <a:p>
              <a:endParaRPr lang="en-US" altLang="ko-KR" sz="950">
                <a:latin typeface="Times New Roman" panose="02020603050405020304" pitchFamily="18" charset="0"/>
                <a:ea typeface="돋움" pitchFamily="50" charset="-127"/>
                <a:cs typeface="Times New Roman" panose="02020603050405020304" pitchFamily="18" charset="0"/>
              </a:endParaRPr>
            </a:p>
            <a:p>
              <a:r>
                <a:rPr lang="en-US" altLang="ko-KR" sz="950" smtClean="0">
                  <a:latin typeface="Times New Roman" panose="02020603050405020304" pitchFamily="18" charset="0"/>
                  <a:ea typeface="돋움" pitchFamily="50" charset="-127"/>
                  <a:cs typeface="Times New Roman" panose="02020603050405020304" pitchFamily="18" charset="0"/>
                </a:rPr>
                <a:t>C.                                                  </a:t>
              </a:r>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D.</a:t>
              </a:r>
              <a:r>
                <a:rPr lang="en-US" altLang="ko-KR" sz="950" smtClean="0">
                  <a:latin typeface="Times New Roman" panose="02020603050405020304" pitchFamily="18" charset="0"/>
                  <a:ea typeface="돋움" pitchFamily="50" charset="-127"/>
                  <a:cs typeface="Times New Roman" panose="02020603050405020304" pitchFamily="18" charset="0"/>
                </a:rPr>
                <a:t>   </a:t>
              </a:r>
              <a:endParaRPr lang="en-US" altLang="ko-KR" sz="950">
                <a:latin typeface="Times New Roman" panose="02020603050405020304" pitchFamily="18" charset="0"/>
                <a:ea typeface="돋움" pitchFamily="50" charset="-127"/>
                <a:cs typeface="Times New Roman" panose="02020603050405020304" pitchFamily="18" charset="0"/>
              </a:endParaRPr>
            </a:p>
            <a:p>
              <a:pPr>
                <a:spcBef>
                  <a:spcPct val="50000"/>
                </a:spcBef>
              </a:pPr>
              <a:endParaRPr lang="en-US" altLang="ko-KR" sz="950">
                <a:latin typeface="Times New Roman" panose="02020603050405020304" pitchFamily="18" charset="0"/>
                <a:ea typeface="돋움" pitchFamily="50" charset="-127"/>
                <a:cs typeface="Times New Roman" panose="02020603050405020304" pitchFamily="18" charset="0"/>
              </a:endParaRPr>
            </a:p>
          </p:txBody>
        </p:sp>
        <p:pic>
          <p:nvPicPr>
            <p:cNvPr id="24"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59" y="4124849"/>
              <a:ext cx="11430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 name="Picture 28"/>
            <p:cNvPicPr>
              <a:picLocks noChangeAspect="1" noChangeArrowheads="1"/>
            </p:cNvPicPr>
            <p:nvPr/>
          </p:nvPicPr>
          <p:blipFill>
            <a:blip r:embed="rId4">
              <a:extLst>
                <a:ext uri="{28A0092B-C50C-407E-A947-70E740481C1C}">
                  <a14:useLocalDpi xmlns:a14="http://schemas.microsoft.com/office/drawing/2010/main" val="0"/>
                </a:ext>
              </a:extLst>
            </a:blip>
            <a:srcRect t="47430" r="16853"/>
            <a:stretch>
              <a:fillRect/>
            </a:stretch>
          </p:blipFill>
          <p:spPr bwMode="auto">
            <a:xfrm>
              <a:off x="6243513" y="3993275"/>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 name="Picture 29"/>
            <p:cNvPicPr>
              <a:picLocks noChangeAspect="1" noChangeArrowheads="1"/>
            </p:cNvPicPr>
            <p:nvPr/>
          </p:nvPicPr>
          <p:blipFill>
            <a:blip r:embed="rId4">
              <a:extLst>
                <a:ext uri="{28A0092B-C50C-407E-A947-70E740481C1C}">
                  <a14:useLocalDpi xmlns:a14="http://schemas.microsoft.com/office/drawing/2010/main" val="0"/>
                </a:ext>
              </a:extLst>
            </a:blip>
            <a:srcRect r="16853" b="52174"/>
            <a:stretch>
              <a:fillRect/>
            </a:stretch>
          </p:blipFill>
          <p:spPr bwMode="auto">
            <a:xfrm>
              <a:off x="4663064" y="4612477"/>
              <a:ext cx="1066800"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7" name="Picture 30"/>
            <p:cNvPicPr>
              <a:picLocks noChangeAspect="1" noChangeArrowheads="1"/>
            </p:cNvPicPr>
            <p:nvPr/>
          </p:nvPicPr>
          <p:blipFill>
            <a:blip r:embed="rId5" cstate="print">
              <a:extLst>
                <a:ext uri="{28A0092B-C50C-407E-A947-70E740481C1C}">
                  <a14:useLocalDpi xmlns:a14="http://schemas.microsoft.com/office/drawing/2010/main" val="0"/>
                </a:ext>
              </a:extLst>
            </a:blip>
            <a:srcRect b="30864"/>
            <a:stretch>
              <a:fillRect/>
            </a:stretch>
          </p:blipFill>
          <p:spPr bwMode="auto">
            <a:xfrm>
              <a:off x="6319713" y="4639960"/>
              <a:ext cx="1143000" cy="361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0" name="Rectangle 19"/>
          <p:cNvSpPr/>
          <p:nvPr/>
        </p:nvSpPr>
        <p:spPr>
          <a:xfrm>
            <a:off x="3467726" y="3008784"/>
            <a:ext cx="3145562" cy="969496"/>
          </a:xfrm>
          <a:prstGeom prst="rect">
            <a:avLst/>
          </a:prstGeom>
        </p:spPr>
        <p:txBody>
          <a:bodyPr wrap="square">
            <a:spAutoFit/>
          </a:bodyPr>
          <a:lstStyle/>
          <a:p>
            <a:pPr lvl="0" fontAlgn="base">
              <a:spcBef>
                <a:spcPct val="0"/>
              </a:spcBef>
              <a:spcAft>
                <a:spcPct val="0"/>
              </a:spcAft>
            </a:pPr>
            <a:r>
              <a:rPr kumimoji="1" lang="en-US" altLang="ko-KR" sz="950">
                <a:solidFill>
                  <a:srgbClr val="000000"/>
                </a:solidFill>
                <a:latin typeface="Times New Roman" pitchFamily="18" charset="0"/>
                <a:ea typeface="LG Smart_H Regular" panose="020B0600000101010101" pitchFamily="34" charset="-127"/>
                <a:cs typeface="Times New Roman" pitchFamily="18" charset="0"/>
              </a:rPr>
              <a:t>7</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7.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Đâu </a:t>
            </a:r>
            <a:r>
              <a:rPr kumimoji="1" lang="vi-VN" altLang="ko-KR" sz="950" b="1">
                <a:solidFill>
                  <a:srgbClr val="000000"/>
                </a:solidFill>
                <a:latin typeface="Times New Roman" pitchFamily="18" charset="0"/>
                <a:ea typeface="LG Smart_H Regular" panose="020B0600000101010101" pitchFamily="34" charset="-127"/>
                <a:cs typeface="Times New Roman" pitchFamily="18" charset="0"/>
              </a:rPr>
              <a:t>không phải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là đặc tính </a:t>
            </a:r>
            <a:r>
              <a:rPr kumimoji="1" lang="en-US" altLang="ko-KR" sz="950">
                <a:solidFill>
                  <a:srgbClr val="000000"/>
                </a:solidFill>
                <a:latin typeface="Times New Roman" pitchFamily="18" charset="0"/>
                <a:ea typeface="LG Smart_H Regular" panose="020B0600000101010101" pitchFamily="34" charset="-127"/>
                <a:cs typeface="Times New Roman" pitchFamily="18" charset="0"/>
              </a:rPr>
              <a:t>Ball Screw</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a:t>
            </a:r>
            <a:endParaRPr kumimoji="1" lang="en-US" altLang="ko-KR" sz="95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endPar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Hiệu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quả cao do chuyển động bằng ma sát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lăn</a:t>
            </a:r>
            <a:endPar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Có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thể giảm thiểu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backlash</a:t>
            </a:r>
            <a:endPar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ko-KR" sz="950" smtClean="0">
                <a:solidFill>
                  <a:srgbClr val="FF0000"/>
                </a:solidFill>
                <a:latin typeface="Times New Roman" pitchFamily="18" charset="0"/>
                <a:ea typeface="LG Smart_H Regular" panose="020B0600000101010101" pitchFamily="34" charset="-127"/>
                <a:cs typeface="Times New Roman" pitchFamily="18" charset="0"/>
              </a:rPr>
              <a:t>Khả </a:t>
            </a:r>
            <a:r>
              <a:rPr kumimoji="1" lang="vi-VN" altLang="ko-KR" sz="950">
                <a:solidFill>
                  <a:srgbClr val="FF0000"/>
                </a:solidFill>
                <a:latin typeface="Times New Roman" pitchFamily="18" charset="0"/>
                <a:ea typeface="LG Smart_H Regular" panose="020B0600000101010101" pitchFamily="34" charset="-127"/>
                <a:cs typeface="Times New Roman" pitchFamily="18" charset="0"/>
              </a:rPr>
              <a:t>năng chống lăn </a:t>
            </a:r>
            <a:r>
              <a:rPr kumimoji="1" lang="vi-VN" altLang="ko-KR" sz="950" smtClean="0">
                <a:solidFill>
                  <a:srgbClr val="FF0000"/>
                </a:solidFill>
                <a:latin typeface="Times New Roman" pitchFamily="18" charset="0"/>
                <a:ea typeface="LG Smart_H Regular" panose="020B0600000101010101" pitchFamily="34" charset="-127"/>
                <a:cs typeface="Times New Roman" pitchFamily="18" charset="0"/>
              </a:rPr>
              <a:t>cao</a:t>
            </a:r>
            <a:endParaRPr kumimoji="1"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pP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Tuổi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thọ cao hơn so với ma sát trượt</a:t>
            </a:r>
            <a:endParaRPr kumimoji="1" lang="en-US" altLang="ko-KR" sz="950" dirty="0">
              <a:solidFill>
                <a:srgbClr val="000000"/>
              </a:solidFill>
              <a:latin typeface="Times New Roman" pitchFamily="18" charset="0"/>
              <a:ea typeface="LG Smart_H Regular" panose="020B0600000101010101" pitchFamily="34" charset="-127"/>
              <a:cs typeface="Times New Roman" pitchFamily="18" charset="0"/>
            </a:endParaRPr>
          </a:p>
        </p:txBody>
      </p:sp>
      <p:sp>
        <p:nvSpPr>
          <p:cNvPr id="28" name="Rectangle 27"/>
          <p:cNvSpPr/>
          <p:nvPr/>
        </p:nvSpPr>
        <p:spPr>
          <a:xfrm>
            <a:off x="225216" y="1208584"/>
            <a:ext cx="3299118" cy="677108"/>
          </a:xfrm>
          <a:prstGeom prst="rect">
            <a:avLst/>
          </a:prstGeom>
        </p:spPr>
        <p:txBody>
          <a:bodyPr wrap="square">
            <a:spAutoFit/>
          </a:bodyPr>
          <a:lstStyle/>
          <a:p>
            <a:pPr lvl="0" fontAlgn="base">
              <a:spcBef>
                <a:spcPct val="0"/>
              </a:spcBef>
              <a:spcAft>
                <a:spcPct val="0"/>
              </a:spcAft>
              <a:defRPr/>
            </a:pPr>
            <a:r>
              <a:rPr kumimoji="1" lang="en-US" altLang="ko-KR" sz="950">
                <a:solidFill>
                  <a:srgbClr val="000000"/>
                </a:solidFill>
                <a:latin typeface="Times New Roman" pitchFamily="18" charset="0"/>
                <a:ea typeface="LG Smart_H Regular" panose="020B0600000101010101" pitchFamily="34" charset="-127"/>
                <a:cs typeface="Times New Roman" pitchFamily="18" charset="0"/>
              </a:rPr>
              <a:t>7</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1.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Đâu </a:t>
            </a:r>
            <a:r>
              <a:rPr kumimoji="1" lang="vi-VN" altLang="ko-KR" sz="950" b="1">
                <a:solidFill>
                  <a:srgbClr val="000000"/>
                </a:solidFill>
                <a:latin typeface="Times New Roman" pitchFamily="18" charset="0"/>
                <a:ea typeface="LG Smart_H Regular" panose="020B0600000101010101" pitchFamily="34" charset="-127"/>
                <a:cs typeface="Times New Roman" pitchFamily="18" charset="0"/>
              </a:rPr>
              <a:t>không phải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là yếu tố cấu thành của Harmonic Driver? </a:t>
            </a:r>
            <a:endParaRPr kumimoji="1" lang="en-US" altLang="ko-KR" sz="950">
              <a:solidFill>
                <a:srgbClr val="000000"/>
              </a:solidFill>
              <a:latin typeface="Times New Roman" pitchFamily="18" charset="0"/>
              <a:ea typeface="LG Smart_H Regular" panose="020B0600000101010101" pitchFamily="34" charset="-127"/>
              <a:cs typeface="Times New Roman" pitchFamily="18" charset="0"/>
            </a:endParaRPr>
          </a:p>
          <a:p>
            <a:pPr lvl="0" fontAlgn="base">
              <a:spcBef>
                <a:spcPct val="0"/>
              </a:spcBef>
              <a:spcAft>
                <a:spcPct val="0"/>
              </a:spcAft>
              <a:defRPr/>
            </a:pPr>
            <a:r>
              <a:rPr kumimoji="1" lang="en-US" altLang="ko-KR" sz="950" b="0" i="0" u="none" strike="noStrike" kern="1200" cap="none" spc="0" normalizeH="0" baseline="0" noProof="0" smtClean="0">
                <a:ln>
                  <a:noFill/>
                </a:ln>
                <a:solidFill>
                  <a:srgbClr val="000000"/>
                </a:solidFill>
                <a:effectLst/>
                <a:uLnTx/>
                <a:uFillTx/>
                <a:latin typeface="Times New Roman" pitchFamily="18" charset="0"/>
                <a:ea typeface="LG Smart_H Regular" panose="020B0600000101010101" pitchFamily="34" charset="-127"/>
                <a:cs typeface="Times New Roman" pitchFamily="18" charset="0"/>
              </a:rPr>
              <a:t>   </a:t>
            </a:r>
          </a:p>
          <a:p>
            <a:pPr lvl="0" fontAlgn="base">
              <a:spcBef>
                <a:spcPct val="0"/>
              </a:spcBef>
              <a:spcAft>
                <a:spcPct val="0"/>
              </a:spcAft>
              <a:defRPr/>
            </a:pPr>
            <a:r>
              <a:rPr kumimoji="1" lang="en-US" altLang="ko-KR" sz="950" b="0" i="0" u="none" strike="noStrike" kern="1200" cap="none" spc="0" normalizeH="0" baseline="0" noProof="0" smtClean="0">
                <a:ln>
                  <a:noFill/>
                </a:ln>
                <a:solidFill>
                  <a:srgbClr val="000000"/>
                </a:solidFill>
                <a:effectLst/>
                <a:uLnTx/>
                <a:uFillTx/>
                <a:latin typeface="Times New Roman" pitchFamily="18" charset="0"/>
                <a:ea typeface="LG Smart_H Regular" panose="020B0600000101010101" pitchFamily="34" charset="-127"/>
                <a:cs typeface="Times New Roman" pitchFamily="18" charset="0"/>
              </a:rPr>
              <a:t> </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A. </a:t>
            </a:r>
            <a:r>
              <a:rPr kumimoji="1" lang="en-US" altLang="ko-KR" sz="950">
                <a:solidFill>
                  <a:srgbClr val="000000"/>
                </a:solidFill>
                <a:latin typeface="Times New Roman" pitchFamily="18" charset="0"/>
                <a:ea typeface="LG Smart_H Regular" panose="020B0600000101010101" pitchFamily="34" charset="-127"/>
                <a:cs typeface="Times New Roman" pitchFamily="18" charset="0"/>
              </a:rPr>
              <a:t>Circular spline </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kumimoji="1" lang="en-US" altLang="ko-KR" sz="950">
                <a:latin typeface="Times New Roman" pitchFamily="18" charset="0"/>
                <a:ea typeface="LG Smart_H Regular" panose="020B0600000101010101" pitchFamily="34" charset="-127"/>
                <a:cs typeface="Times New Roman" pitchFamily="18" charset="0"/>
              </a:rPr>
              <a:t>B. Máy tạo sóng</a:t>
            </a:r>
          </a:p>
          <a:p>
            <a:pPr lvl="0" fontAlgn="base">
              <a:spcBef>
                <a:spcPct val="0"/>
              </a:spcBef>
              <a:spcAft>
                <a:spcPct val="0"/>
              </a:spcAft>
              <a:defRPr/>
            </a:pPr>
            <a:r>
              <a:rPr kumimoji="1" lang="en-US" altLang="ko-KR" sz="950" smtClean="0">
                <a:solidFill>
                  <a:srgbClr val="FF0000"/>
                </a:solidFill>
                <a:latin typeface="Times New Roman" pitchFamily="18" charset="0"/>
                <a:ea typeface="LG Smart_H Regular" panose="020B0600000101010101" pitchFamily="34" charset="-127"/>
                <a:cs typeface="Times New Roman" pitchFamily="18" charset="0"/>
              </a:rPr>
              <a:t> C. </a:t>
            </a:r>
            <a:r>
              <a:rPr kumimoji="1" lang="en-US" altLang="ko-KR" sz="950">
                <a:solidFill>
                  <a:srgbClr val="FF0000"/>
                </a:solidFill>
                <a:latin typeface="Times New Roman" pitchFamily="18" charset="0"/>
                <a:ea typeface="LG Smart_H Regular" panose="020B0600000101010101" pitchFamily="34" charset="-127"/>
                <a:cs typeface="Times New Roman" pitchFamily="18" charset="0"/>
              </a:rPr>
              <a:t>Ổ Momen –xoắn </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	D.</a:t>
            </a:r>
            <a:r>
              <a:rPr kumimoji="1" lang="ko-KR" altLang="en-US" sz="950" b="0" i="0" u="none" strike="noStrike" kern="1200" cap="none" spc="0" normalizeH="0" baseline="0" noProof="0" smtClean="0">
                <a:ln>
                  <a:noFill/>
                </a:ln>
                <a:solidFill>
                  <a:srgbClr val="000000"/>
                </a:solidFill>
                <a:effectLst/>
                <a:uLnTx/>
                <a:uFillTx/>
                <a:latin typeface="Times New Roman" pitchFamily="18" charset="0"/>
                <a:ea typeface="LG Smart_H Regular" panose="020B0600000101010101" pitchFamily="34" charset="-127"/>
                <a:cs typeface="Times New Roman" pitchFamily="18" charset="0"/>
              </a:rPr>
              <a:t> </a:t>
            </a:r>
            <a:r>
              <a:rPr kumimoji="1" lang="en-US" altLang="ko-KR" sz="950">
                <a:solidFill>
                  <a:srgbClr val="000000"/>
                </a:solidFill>
                <a:latin typeface="Times New Roman" pitchFamily="18" charset="0"/>
                <a:ea typeface="LG Smart_H Regular" panose="020B0600000101010101" pitchFamily="34" charset="-127"/>
                <a:cs typeface="Times New Roman" pitchFamily="18" charset="0"/>
              </a:rPr>
              <a:t>Flex spline</a:t>
            </a:r>
          </a:p>
        </p:txBody>
      </p:sp>
      <p:sp>
        <p:nvSpPr>
          <p:cNvPr id="29" name="TextBox 28"/>
          <p:cNvSpPr txBox="1"/>
          <p:nvPr/>
        </p:nvSpPr>
        <p:spPr>
          <a:xfrm>
            <a:off x="257962" y="2975392"/>
            <a:ext cx="3124200" cy="969496"/>
          </a:xfrm>
          <a:prstGeom prst="rect">
            <a:avLst/>
          </a:prstGeom>
          <a:noFill/>
        </p:spPr>
        <p:txBody>
          <a:bodyPr wrap="square" rtlCol="0">
            <a:spAutoFit/>
          </a:bodyPr>
          <a:lstStyle/>
          <a:p>
            <a:pPr marL="231775" lvl="0" indent="-231775" fontAlgn="base">
              <a:spcBef>
                <a:spcPct val="0"/>
              </a:spcBef>
              <a:spcAft>
                <a:spcPct val="0"/>
              </a:spcAft>
              <a:tabLst>
                <a:tab pos="0" algn="l"/>
              </a:tabLst>
              <a:defRPr/>
            </a:pPr>
            <a:r>
              <a:rPr kumimoji="1" lang="en-US" altLang="ko-KR" sz="950">
                <a:solidFill>
                  <a:srgbClr val="000000"/>
                </a:solidFill>
                <a:latin typeface="Times New Roman" pitchFamily="18" charset="0"/>
                <a:ea typeface="LG Smart_H Regular" panose="020B0600000101010101" pitchFamily="34" charset="-127"/>
                <a:cs typeface="Times New Roman" pitchFamily="18" charset="0"/>
              </a:rPr>
              <a:t>7</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2.   Giá</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trị đo tối thiểu của một thước kẹp </a:t>
            </a:r>
            <a:r>
              <a:rPr kumimoji="1" lang="en-US" altLang="ko-KR" sz="950">
                <a:solidFill>
                  <a:srgbClr val="000000"/>
                </a:solidFill>
                <a:latin typeface="Times New Roman" pitchFamily="18" charset="0"/>
                <a:ea typeface="LG Smart_H Regular" panose="020B0600000101010101" pitchFamily="34" charset="-127"/>
                <a:cs typeface="Times New Roman" pitchFamily="18" charset="0"/>
              </a:rPr>
              <a:t>Vernier calipers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khi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chia thành 20 phần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bằng</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nhau</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là bao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nhiêu</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endParaRPr kumimoji="1" lang="en-US" altLang="ko-KR" sz="95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tabLst>
                <a:tab pos="0" algn="l"/>
              </a:tabLst>
              <a:defRPr/>
            </a:pP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0.01 ㎜</a:t>
            </a:r>
          </a:p>
          <a:p>
            <a:pPr marL="228600" lvl="0" indent="-228600" fontAlgn="base">
              <a:spcBef>
                <a:spcPct val="0"/>
              </a:spcBef>
              <a:spcAft>
                <a:spcPct val="0"/>
              </a:spcAft>
              <a:buFont typeface="+mj-lt"/>
              <a:buAutoNum type="alphaUcPeriod"/>
              <a:tabLst>
                <a:tab pos="0" algn="l"/>
              </a:tabLst>
              <a:defRPr/>
            </a:pPr>
            <a:r>
              <a:rPr kumimoji="1" lang="en-US" altLang="ko-KR" sz="950" smtClean="0">
                <a:solidFill>
                  <a:srgbClr val="FF0000"/>
                </a:solidFill>
                <a:latin typeface="Times New Roman" pitchFamily="18" charset="0"/>
                <a:ea typeface="LG Smart_H Regular" panose="020B0600000101010101" pitchFamily="34" charset="-127"/>
                <a:cs typeface="Times New Roman" pitchFamily="18" charset="0"/>
              </a:rPr>
              <a:t>0.05 ㎜</a:t>
            </a:r>
          </a:p>
          <a:p>
            <a:pPr marL="228600" lvl="0" indent="-228600" fontAlgn="base">
              <a:spcBef>
                <a:spcPct val="0"/>
              </a:spcBef>
              <a:spcAft>
                <a:spcPct val="0"/>
              </a:spcAft>
              <a:buFont typeface="+mj-lt"/>
              <a:buAutoNum type="alphaUcPeriod"/>
              <a:tabLst>
                <a:tab pos="0" algn="l"/>
              </a:tabLst>
              <a:defRPr/>
            </a:pP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0.04 ㎜</a:t>
            </a:r>
          </a:p>
          <a:p>
            <a:pPr marL="228600" lvl="0" indent="-228600" fontAlgn="base">
              <a:spcBef>
                <a:spcPct val="0"/>
              </a:spcBef>
              <a:spcAft>
                <a:spcPct val="0"/>
              </a:spcAft>
              <a:buFont typeface="+mj-lt"/>
              <a:buAutoNum type="alphaUcPeriod"/>
              <a:tabLst>
                <a:tab pos="0" algn="l"/>
              </a:tabLst>
              <a:defRPr/>
            </a:pPr>
            <a:r>
              <a:rPr kumimoji="1" lang="en-US" altLang="ko-KR" sz="950" smtClean="0">
                <a:latin typeface="Times New Roman" pitchFamily="18" charset="0"/>
                <a:ea typeface="LG Smart_H Regular" panose="020B0600000101010101" pitchFamily="34" charset="-127"/>
                <a:cs typeface="Times New Roman" pitchFamily="18" charset="0"/>
              </a:rPr>
              <a:t>0.06 </a:t>
            </a:r>
            <a:r>
              <a:rPr kumimoji="1" lang="en-US" altLang="ko-KR" sz="950">
                <a:latin typeface="Times New Roman" pitchFamily="18" charset="0"/>
                <a:ea typeface="LG Smart_H Regular" panose="020B0600000101010101" pitchFamily="34" charset="-127"/>
                <a:cs typeface="Times New Roman" pitchFamily="18" charset="0"/>
              </a:rPr>
              <a:t>㎜</a:t>
            </a:r>
          </a:p>
        </p:txBody>
      </p:sp>
      <p:sp>
        <p:nvSpPr>
          <p:cNvPr id="30" name="Rectangle 29"/>
          <p:cNvSpPr/>
          <p:nvPr/>
        </p:nvSpPr>
        <p:spPr>
          <a:xfrm>
            <a:off x="3457058" y="1220269"/>
            <a:ext cx="3123902" cy="1115690"/>
          </a:xfrm>
          <a:prstGeom prst="rect">
            <a:avLst/>
          </a:prstGeom>
        </p:spPr>
        <p:txBody>
          <a:bodyPr wrap="square">
            <a:spAutoFit/>
          </a:bodyPr>
          <a:lstStyle/>
          <a:p>
            <a:pPr lvl="0" fontAlgn="base">
              <a:spcBef>
                <a:spcPct val="0"/>
              </a:spcBef>
              <a:spcAft>
                <a:spcPct val="0"/>
              </a:spcAft>
              <a:defRPr/>
            </a:pPr>
            <a:r>
              <a:rPr kumimoji="1" lang="en-US" altLang="ko-KR" sz="950">
                <a:solidFill>
                  <a:srgbClr val="000000"/>
                </a:solidFill>
                <a:latin typeface="Times New Roman" pitchFamily="18" charset="0"/>
                <a:ea typeface="LG Smart_H Regular" panose="020B0600000101010101" pitchFamily="34" charset="-127"/>
                <a:cs typeface="Times New Roman" pitchFamily="18" charset="0"/>
              </a:rPr>
              <a:t>7</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6.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Câu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nào </a:t>
            </a:r>
            <a:r>
              <a:rPr kumimoji="1" lang="vi-VN" altLang="ko-KR" sz="950" b="1">
                <a:solidFill>
                  <a:srgbClr val="000000"/>
                </a:solidFill>
                <a:latin typeface="Times New Roman" pitchFamily="18" charset="0"/>
                <a:ea typeface="LG Smart_H Regular" panose="020B0600000101010101" pitchFamily="34" charset="-127"/>
                <a:cs typeface="Times New Roman" pitchFamily="18" charset="0"/>
              </a:rPr>
              <a:t>sai</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 khi nói về đặc tính </a:t>
            </a:r>
            <a:r>
              <a:rPr kumimoji="1" lang="en-US" altLang="ko-KR" sz="950">
                <a:solidFill>
                  <a:srgbClr val="000000"/>
                </a:solidFill>
                <a:latin typeface="Times New Roman" pitchFamily="18" charset="0"/>
                <a:ea typeface="LG Smart_H Regular" panose="020B0600000101010101" pitchFamily="34" charset="-127"/>
                <a:cs typeface="Times New Roman" pitchFamily="18" charset="0"/>
              </a:rPr>
              <a:t>LM Guide ? </a:t>
            </a:r>
          </a:p>
          <a:p>
            <a:pPr marL="228600" lvl="0" indent="-228600" fontAlgn="base">
              <a:spcBef>
                <a:spcPct val="0"/>
              </a:spcBef>
              <a:spcAft>
                <a:spcPct val="0"/>
              </a:spcAft>
              <a:buFont typeface="+mj-lt"/>
              <a:buAutoNum type="alphaUcPeriod"/>
              <a:defRPr/>
            </a:pPr>
            <a:endPar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Có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thể tạo ra độ cứng cao bằng cách đặt tải trước</a:t>
            </a:r>
            <a:endParaRPr kumimoji="1" lang="en-US" altLang="ko-KR" sz="95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Khả năng duy trì trong thời gian dài </a:t>
            </a:r>
            <a:endPar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defRPr/>
            </a:pPr>
            <a:r>
              <a:rPr kumimoji="1" lang="vi-VN" altLang="ko-KR" sz="950">
                <a:solidFill>
                  <a:srgbClr val="FF0000"/>
                </a:solidFill>
                <a:latin typeface="Times New Roman" pitchFamily="18" charset="0"/>
                <a:ea typeface="LG Smart_H Regular" panose="020B0600000101010101" pitchFamily="34" charset="-127"/>
                <a:cs typeface="Times New Roman" pitchFamily="18" charset="0"/>
              </a:rPr>
              <a:t>Xuất hiện hiện tượng stick slip</a:t>
            </a:r>
            <a:r>
              <a:rPr kumimoji="1" lang="en-US" altLang="ko-KR" sz="950">
                <a:solidFill>
                  <a:srgbClr val="FF0000"/>
                </a:solidFill>
                <a:latin typeface="Times New Roman" pitchFamily="18" charset="0"/>
                <a:ea typeface="LG Smart_H Regular" panose="020B0600000101010101" pitchFamily="34" charset="-127"/>
                <a:cs typeface="Times New Roman" pitchFamily="18" charset="0"/>
              </a:rPr>
              <a:t> </a:t>
            </a:r>
            <a:r>
              <a:rPr kumimoji="1" lang="vi-VN" altLang="ko-KR" sz="950">
                <a:solidFill>
                  <a:srgbClr val="FF0000"/>
                </a:solidFill>
                <a:latin typeface="Times New Roman" pitchFamily="18" charset="0"/>
                <a:ea typeface="LG Smart_H Regular" panose="020B0600000101010101" pitchFamily="34" charset="-127"/>
                <a:cs typeface="Times New Roman" pitchFamily="18" charset="0"/>
              </a:rPr>
              <a:t>( trượt thanh) mà không bị mất chuyển động roast</a:t>
            </a:r>
            <a:endParaRPr kumimoji="1" lang="en-US" altLang="ko-KR" sz="950">
              <a:solidFill>
                <a:srgbClr val="FF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Hệ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số ma sát thấp sẽ tiết kiệm chi phí vận hành máy</a:t>
            </a:r>
          </a:p>
        </p:txBody>
      </p:sp>
      <p:sp>
        <p:nvSpPr>
          <p:cNvPr id="31" name="Rectangle 30"/>
          <p:cNvSpPr/>
          <p:nvPr/>
        </p:nvSpPr>
        <p:spPr>
          <a:xfrm>
            <a:off x="214083" y="6359768"/>
            <a:ext cx="3314199" cy="969496"/>
          </a:xfrm>
          <a:prstGeom prst="rect">
            <a:avLst/>
          </a:prstGeom>
        </p:spPr>
        <p:txBody>
          <a:bodyPr wrap="square">
            <a:spAutoFit/>
          </a:bodyPr>
          <a:lstStyle/>
          <a:p>
            <a:pPr lvl="0" fontAlgn="base">
              <a:spcBef>
                <a:spcPct val="0"/>
              </a:spcBef>
              <a:spcAft>
                <a:spcPct val="0"/>
              </a:spcAft>
              <a:tabLst>
                <a:tab pos="0" algn="l"/>
              </a:tabLst>
              <a:defRPr/>
            </a:pPr>
            <a:r>
              <a:rPr kumimoji="1" lang="en-US" altLang="ko-KR" sz="950">
                <a:solidFill>
                  <a:srgbClr val="000000"/>
                </a:solidFill>
                <a:latin typeface="Times New Roman" pitchFamily="18" charset="0"/>
                <a:ea typeface="LG Smart_H Regular" panose="020B0600000101010101" pitchFamily="34" charset="-127"/>
                <a:cs typeface="Times New Roman" pitchFamily="18" charset="0"/>
              </a:rPr>
              <a:t>7</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4.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Câu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nào giải thích </a:t>
            </a:r>
            <a:r>
              <a:rPr kumimoji="1" lang="vi-VN" altLang="ko-KR" sz="950" b="1">
                <a:solidFill>
                  <a:srgbClr val="000000"/>
                </a:solidFill>
                <a:latin typeface="Times New Roman" pitchFamily="18" charset="0"/>
                <a:ea typeface="LG Smart_H Regular" panose="020B0600000101010101" pitchFamily="34" charset="-127"/>
                <a:cs typeface="Times New Roman" pitchFamily="18" charset="0"/>
              </a:rPr>
              <a:t>không đúng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về chất bôi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trơn</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a:t>
            </a:r>
            <a:endParaRPr kumimoji="1" lang="en-US" altLang="ko-KR" sz="95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tabLst>
                <a:tab pos="0" algn="l"/>
              </a:tabLst>
              <a:defRPr/>
            </a:pPr>
            <a:endPar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tabLst>
                <a:tab pos="0" algn="l"/>
              </a:tabLst>
              <a:defRPr/>
            </a:pP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Hầu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hết chất bôi trơn đều có nguồn gốc từ dầu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khoáng</a:t>
            </a:r>
            <a:endPar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tabLst>
                <a:tab pos="0" algn="l"/>
              </a:tabLst>
              <a:defRPr/>
            </a:pPr>
            <a:r>
              <a:rPr kumimoji="1" lang="vi-VN" altLang="ko-KR" sz="950">
                <a:solidFill>
                  <a:srgbClr val="FF0000"/>
                </a:solidFill>
                <a:latin typeface="Times New Roman" pitchFamily="18" charset="0"/>
                <a:ea typeface="LG Smart_H Regular" panose="020B0600000101010101" pitchFamily="34" charset="-127"/>
                <a:cs typeface="Times New Roman" pitchFamily="18" charset="0"/>
              </a:rPr>
              <a:t>Phải có độ nhớt chịu được trong trạng thái bôi trơn hạn </a:t>
            </a:r>
            <a:r>
              <a:rPr kumimoji="1" lang="vi-VN" altLang="ko-KR" sz="950" smtClean="0">
                <a:solidFill>
                  <a:srgbClr val="FF0000"/>
                </a:solidFill>
                <a:latin typeface="Times New Roman" pitchFamily="18" charset="0"/>
                <a:ea typeface="LG Smart_H Regular" panose="020B0600000101010101" pitchFamily="34" charset="-127"/>
                <a:cs typeface="Times New Roman" pitchFamily="18" charset="0"/>
              </a:rPr>
              <a:t>chế</a:t>
            </a:r>
            <a:endParaRPr kumimoji="1" lang="en-US" altLang="ko-KR" sz="95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tabLst>
                <a:tab pos="0" algn="l"/>
              </a:tabLst>
              <a:defRPr/>
            </a:pP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Cần có đủ độ nhớt</a:t>
            </a:r>
            <a:endParaRPr kumimoji="1" lang="en-US" altLang="ko-KR" sz="95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tabLst>
                <a:tab pos="0" algn="l"/>
              </a:tabLst>
              <a:defRPr/>
            </a:pP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Có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độ ổn định cao trong quá trình oxy hóa hoặc chịu nhiệt</a:t>
            </a:r>
            <a:endParaRPr kumimoji="1" lang="en-US" altLang="ko-KR" sz="950">
              <a:solidFill>
                <a:srgbClr val="000000"/>
              </a:solidFill>
              <a:latin typeface="Times New Roman" pitchFamily="18" charset="0"/>
              <a:ea typeface="LG Smart_H Regular" panose="020B0600000101010101" pitchFamily="34" charset="-127"/>
              <a:cs typeface="Times New Roman" pitchFamily="18" charset="0"/>
            </a:endParaRPr>
          </a:p>
        </p:txBody>
      </p:sp>
      <p:sp>
        <p:nvSpPr>
          <p:cNvPr id="32" name="Rectangle 31"/>
          <p:cNvSpPr/>
          <p:nvPr/>
        </p:nvSpPr>
        <p:spPr>
          <a:xfrm>
            <a:off x="223113" y="7761312"/>
            <a:ext cx="3205887" cy="1408078"/>
          </a:xfrm>
          <a:prstGeom prst="rect">
            <a:avLst/>
          </a:prstGeom>
        </p:spPr>
        <p:txBody>
          <a:bodyPr wrap="square">
            <a:spAutoFit/>
          </a:bodyPr>
          <a:lstStyle/>
          <a:p>
            <a:pPr lvl="0" fontAlgn="base">
              <a:spcBef>
                <a:spcPct val="0"/>
              </a:spcBef>
              <a:spcAft>
                <a:spcPct val="0"/>
              </a:spcAft>
              <a:defRPr/>
            </a:pPr>
            <a:r>
              <a:rPr kumimoji="1" lang="en-US" altLang="ko-KR" sz="950">
                <a:solidFill>
                  <a:srgbClr val="000000"/>
                </a:solidFill>
                <a:latin typeface="Times New Roman" pitchFamily="18" charset="0"/>
                <a:ea typeface="LG Smart_H Regular" panose="020B0600000101010101" pitchFamily="34" charset="-127"/>
                <a:cs typeface="Times New Roman" pitchFamily="18" charset="0"/>
              </a:rPr>
              <a:t>7</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5.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Loại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key nào được giải thích dưới đây?</a:t>
            </a:r>
          </a:p>
          <a:p>
            <a:pPr marL="171450" lvl="0" indent="-171450" fontAlgn="base">
              <a:spcBef>
                <a:spcPct val="0"/>
              </a:spcBef>
              <a:spcAft>
                <a:spcPct val="0"/>
              </a:spcAft>
              <a:defRPr/>
            </a:pP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Còn được gọi là khóa chôn,là chìa có tiết diện hình vuông hoặc chữ nhật được sử dụng bằng cách gia công rãnh then trên cả trục và box và là chìa thông dụng nhất</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a:t>
            </a:r>
            <a:endPar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defRPr/>
            </a:pPr>
            <a:endParaRPr kumimoji="1"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defRPr/>
            </a:pPr>
            <a:r>
              <a:rPr kumimoji="1" lang="vi-VN" altLang="ko-KR" sz="950" smtClean="0">
                <a:solidFill>
                  <a:srgbClr val="FF0000"/>
                </a:solidFill>
                <a:latin typeface="Times New Roman" pitchFamily="18" charset="0"/>
                <a:ea typeface="LG Smart_H Regular" panose="020B0600000101010101" pitchFamily="34" charset="-127"/>
                <a:cs typeface="Times New Roman" pitchFamily="18" charset="0"/>
              </a:rPr>
              <a:t>Khóa </a:t>
            </a:r>
            <a:r>
              <a:rPr kumimoji="1" lang="vi-VN" altLang="ko-KR" sz="950">
                <a:solidFill>
                  <a:srgbClr val="FF0000"/>
                </a:solidFill>
                <a:latin typeface="Times New Roman" pitchFamily="18" charset="0"/>
                <a:ea typeface="LG Smart_H Regular" panose="020B0600000101010101" pitchFamily="34" charset="-127"/>
                <a:cs typeface="Times New Roman" pitchFamily="18" charset="0"/>
              </a:rPr>
              <a:t>chìm (sunk key</a:t>
            </a:r>
            <a:r>
              <a:rPr kumimoji="1"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Key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tròn(round </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key</a:t>
            </a: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a:t>
            </a:r>
          </a:p>
          <a:p>
            <a:pPr marL="228600" lvl="0" indent="-228600" fontAlgn="base">
              <a:spcBef>
                <a:spcPct val="0"/>
              </a:spcBef>
              <a:spcAft>
                <a:spcPct val="0"/>
              </a:spcAft>
              <a:buFont typeface="+mj-lt"/>
              <a:buAutoNum type="alphaUcPeriod"/>
              <a:defRPr/>
            </a:pP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Key bán nguyệt(woodruff key)</a:t>
            </a:r>
          </a:p>
          <a:p>
            <a:pPr marL="228600" lvl="0" indent="-228600" fontAlgn="base">
              <a:spcBef>
                <a:spcPct val="0"/>
              </a:spcBef>
              <a:spcAft>
                <a:spcPct val="0"/>
              </a:spcAft>
              <a:buFont typeface="+mj-lt"/>
              <a:buAutoNum type="alphaUcPeriod"/>
              <a:defRPr/>
            </a:pP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Khóa trượt(sliding key</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a:t>
            </a:r>
            <a:endParaRPr kumimoji="1" lang="vi-VN" altLang="ko-KR" sz="950">
              <a:solidFill>
                <a:srgbClr val="000000"/>
              </a:solidFill>
              <a:latin typeface="Times New Roman" pitchFamily="18" charset="0"/>
              <a:ea typeface="LG Smart_H Regular" panose="020B0600000101010101" pitchFamily="34" charset="-127"/>
              <a:cs typeface="Times New Roman" pitchFamily="18" charset="0"/>
            </a:endParaRPr>
          </a:p>
        </p:txBody>
      </p:sp>
      <p:grpSp>
        <p:nvGrpSpPr>
          <p:cNvPr id="3" name="Group 2"/>
          <p:cNvGrpSpPr/>
          <p:nvPr/>
        </p:nvGrpSpPr>
        <p:grpSpPr>
          <a:xfrm>
            <a:off x="242433" y="4398755"/>
            <a:ext cx="3124200" cy="1130309"/>
            <a:chOff x="242433" y="3124274"/>
            <a:chExt cx="3124200" cy="1130309"/>
          </a:xfrm>
        </p:grpSpPr>
        <p:sp>
          <p:nvSpPr>
            <p:cNvPr id="33" name="Rectangle 36"/>
            <p:cNvSpPr>
              <a:spLocks noChangeArrowheads="1"/>
            </p:cNvSpPr>
            <p:nvPr/>
          </p:nvSpPr>
          <p:spPr bwMode="auto">
            <a:xfrm>
              <a:off x="242433" y="3124274"/>
              <a:ext cx="3124200" cy="113030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ko-KR" sz="950">
                  <a:latin typeface="Times New Roman" panose="02020603050405020304" pitchFamily="18" charset="0"/>
                  <a:cs typeface="Times New Roman" panose="02020603050405020304" pitchFamily="18" charset="0"/>
                </a:rPr>
                <a:t>7</a:t>
              </a:r>
              <a:r>
                <a:rPr lang="en-US" altLang="ko-KR" sz="950" smtClean="0">
                  <a:latin typeface="Times New Roman" panose="02020603050405020304" pitchFamily="18" charset="0"/>
                  <a:cs typeface="Times New Roman" panose="02020603050405020304" pitchFamily="18" charset="0"/>
                </a:rPr>
                <a:t>3. </a:t>
              </a:r>
              <a:r>
                <a:rPr lang="en-US" altLang="ko-KR" sz="950">
                  <a:latin typeface="Times New Roman" panose="02020603050405020304" pitchFamily="18" charset="0"/>
                  <a:cs typeface="Times New Roman" panose="02020603050405020304" pitchFamily="18" charset="0"/>
                </a:rPr>
                <a:t>Tên gọi của phần A ở hình sau là gì</a:t>
              </a:r>
              <a:r>
                <a:rPr lang="ko-KR" altLang="en-US" sz="950">
                  <a:latin typeface="Times New Roman" panose="02020603050405020304" pitchFamily="18" charset="0"/>
                  <a:cs typeface="Times New Roman" panose="02020603050405020304" pitchFamily="18" charset="0"/>
                </a:rPr>
                <a:t> </a:t>
              </a:r>
              <a:r>
                <a:rPr lang="en-US" altLang="ko-KR" sz="950" smtClean="0">
                  <a:latin typeface="Times New Roman" panose="02020603050405020304" pitchFamily="18" charset="0"/>
                  <a:cs typeface="Times New Roman" panose="02020603050405020304" pitchFamily="18" charset="0"/>
                </a:rPr>
                <a:t>?</a:t>
              </a:r>
              <a:endParaRPr lang="en-US" altLang="ko-KR" sz="950">
                <a:latin typeface="Times New Roman" panose="02020603050405020304" pitchFamily="18" charset="0"/>
                <a:cs typeface="Times New Roman" panose="02020603050405020304" pitchFamily="18" charset="0"/>
              </a:endParaRPr>
            </a:p>
            <a:p>
              <a:pPr>
                <a:lnSpc>
                  <a:spcPct val="70000"/>
                </a:lnSpc>
                <a:spcBef>
                  <a:spcPct val="50000"/>
                </a:spcBef>
              </a:pPr>
              <a:endParaRPr lang="en-US" altLang="ko-KR" sz="950" smtClean="0">
                <a:latin typeface="Times New Roman" panose="02020603050405020304" pitchFamily="18" charset="0"/>
                <a:ea typeface="돋움" pitchFamily="50" charset="-127"/>
                <a:cs typeface="Times New Roman" panose="02020603050405020304" pitchFamily="18" charset="0"/>
              </a:endParaRPr>
            </a:p>
            <a:p>
              <a:pPr>
                <a:lnSpc>
                  <a:spcPct val="70000"/>
                </a:lnSpc>
                <a:spcBef>
                  <a:spcPct val="50000"/>
                </a:spcBef>
              </a:pPr>
              <a:r>
                <a:rPr lang="en-US" altLang="ko-KR" sz="950" smtClean="0">
                  <a:latin typeface="Times New Roman" panose="02020603050405020304" pitchFamily="18" charset="0"/>
                  <a:ea typeface="돋움" pitchFamily="50" charset="-127"/>
                  <a:cs typeface="Times New Roman" panose="02020603050405020304" pitchFamily="18" charset="0"/>
                </a:rPr>
                <a:t>A. </a:t>
              </a:r>
              <a:r>
                <a:rPr lang="en-US" altLang="ko-KR" sz="950">
                  <a:latin typeface="Times New Roman" panose="02020603050405020304" pitchFamily="18" charset="0"/>
                  <a:ea typeface="돋움" pitchFamily="50" charset="-127"/>
                  <a:cs typeface="Times New Roman" panose="02020603050405020304" pitchFamily="18" charset="0"/>
                </a:rPr>
                <a:t>C</a:t>
              </a:r>
              <a:r>
                <a:rPr lang="ko-KR" altLang="en-US" sz="950">
                  <a:latin typeface="Times New Roman" panose="02020603050405020304" pitchFamily="18" charset="0"/>
                  <a:ea typeface="돋움" pitchFamily="50" charset="-127"/>
                  <a:cs typeface="Times New Roman" panose="02020603050405020304" pitchFamily="18" charset="0"/>
                </a:rPr>
                <a:t> </a:t>
              </a:r>
              <a:r>
                <a:rPr lang="en-US" altLang="ko-KR" sz="950">
                  <a:latin typeface="Times New Roman" panose="02020603050405020304" pitchFamily="18" charset="0"/>
                  <a:ea typeface="돋움" pitchFamily="50" charset="-127"/>
                  <a:cs typeface="Times New Roman" panose="02020603050405020304" pitchFamily="18" charset="0"/>
                </a:rPr>
                <a:t>cap</a:t>
              </a:r>
              <a:endParaRPr lang="ko-KR" altLang="en-US" sz="950">
                <a:latin typeface="Times New Roman" panose="02020603050405020304" pitchFamily="18" charset="0"/>
                <a:ea typeface="돋움" pitchFamily="50" charset="-127"/>
                <a:cs typeface="Times New Roman" panose="02020603050405020304" pitchFamily="18" charset="0"/>
              </a:endParaRPr>
            </a:p>
            <a:p>
              <a:pPr>
                <a:lnSpc>
                  <a:spcPct val="70000"/>
                </a:lnSpc>
                <a:spcBef>
                  <a:spcPct val="50000"/>
                </a:spcBef>
              </a:pPr>
              <a:r>
                <a:rPr lang="en-US" altLang="ko-KR" sz="950" smtClean="0">
                  <a:latin typeface="Times New Roman" panose="02020603050405020304" pitchFamily="18" charset="0"/>
                  <a:ea typeface="돋움" pitchFamily="50" charset="-127"/>
                  <a:cs typeface="Times New Roman" panose="02020603050405020304" pitchFamily="18" charset="0"/>
                </a:rPr>
                <a:t>B.</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a:latin typeface="Times New Roman" panose="02020603050405020304" pitchFamily="18" charset="0"/>
                  <a:ea typeface="돋움" pitchFamily="50" charset="-127"/>
                  <a:cs typeface="Times New Roman" panose="02020603050405020304" pitchFamily="18" charset="0"/>
                </a:rPr>
                <a:t>Ống ngoài</a:t>
              </a:r>
              <a:endParaRPr lang="ko-KR" altLang="en-US" sz="950">
                <a:latin typeface="Times New Roman" panose="02020603050405020304" pitchFamily="18" charset="0"/>
                <a:ea typeface="돋움" pitchFamily="50" charset="-127"/>
                <a:cs typeface="Times New Roman" panose="02020603050405020304" pitchFamily="18" charset="0"/>
              </a:endParaRPr>
            </a:p>
            <a:p>
              <a:pPr>
                <a:lnSpc>
                  <a:spcPct val="70000"/>
                </a:lnSpc>
                <a:spcBef>
                  <a:spcPct val="50000"/>
                </a:spcBef>
              </a:pPr>
              <a:r>
                <a:rPr lang="en-US" altLang="ko-KR" sz="950" smtClean="0">
                  <a:latin typeface="Times New Roman" panose="02020603050405020304" pitchFamily="18" charset="0"/>
                  <a:ea typeface="돋움" pitchFamily="50" charset="-127"/>
                  <a:cs typeface="Times New Roman" panose="02020603050405020304" pitchFamily="18" charset="0"/>
                </a:rPr>
                <a:t>C.</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smtClean="0">
                  <a:latin typeface="Times New Roman" panose="02020603050405020304" pitchFamily="18" charset="0"/>
                  <a:ea typeface="돋움" pitchFamily="50" charset="-127"/>
                  <a:cs typeface="Times New Roman" panose="02020603050405020304" pitchFamily="18" charset="0"/>
                </a:rPr>
                <a:t>End </a:t>
              </a:r>
              <a:r>
                <a:rPr lang="en-US" altLang="ko-KR" sz="950">
                  <a:latin typeface="Times New Roman" panose="02020603050405020304" pitchFamily="18" charset="0"/>
                  <a:ea typeface="돋움" pitchFamily="50" charset="-127"/>
                  <a:cs typeface="Times New Roman" panose="02020603050405020304" pitchFamily="18" charset="0"/>
                </a:rPr>
                <a:t>Plate</a:t>
              </a:r>
              <a:endParaRPr lang="ko-KR" altLang="en-US" sz="950">
                <a:latin typeface="Times New Roman" panose="02020603050405020304" pitchFamily="18" charset="0"/>
                <a:ea typeface="돋움" pitchFamily="50" charset="-127"/>
                <a:cs typeface="Times New Roman" panose="02020603050405020304" pitchFamily="18" charset="0"/>
              </a:endParaRPr>
            </a:p>
            <a:p>
              <a:pPr>
                <a:lnSpc>
                  <a:spcPct val="70000"/>
                </a:lnSpc>
                <a:spcBef>
                  <a:spcPct val="50000"/>
                </a:spcBef>
              </a:pPr>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D.</a:t>
              </a:r>
              <a:r>
                <a:rPr lang="ko-KR" altLang="en-US" sz="95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Base Plate</a:t>
              </a:r>
              <a:endParaRPr lang="ko-KR" altLang="en-US" sz="950">
                <a:solidFill>
                  <a:srgbClr val="FF0000"/>
                </a:solidFill>
                <a:latin typeface="Times New Roman" panose="02020603050405020304" pitchFamily="18" charset="0"/>
                <a:ea typeface="돋움" pitchFamily="50" charset="-127"/>
                <a:cs typeface="Times New Roman" panose="02020603050405020304" pitchFamily="18" charset="0"/>
              </a:endParaRPr>
            </a:p>
          </p:txBody>
        </p:sp>
        <p:grpSp>
          <p:nvGrpSpPr>
            <p:cNvPr id="34" name="Group 37"/>
            <p:cNvGrpSpPr>
              <a:grpSpLocks/>
            </p:cNvGrpSpPr>
            <p:nvPr/>
          </p:nvGrpSpPr>
          <p:grpSpPr bwMode="auto">
            <a:xfrm>
              <a:off x="1922008" y="3324299"/>
              <a:ext cx="1295400" cy="855663"/>
              <a:chOff x="1056" y="848"/>
              <a:chExt cx="816" cy="539"/>
            </a:xfrm>
          </p:grpSpPr>
          <p:sp>
            <p:nvSpPr>
              <p:cNvPr id="35" name="Rectangle 38"/>
              <p:cNvSpPr>
                <a:spLocks noChangeArrowheads="1"/>
              </p:cNvSpPr>
              <p:nvPr/>
            </p:nvSpPr>
            <p:spPr bwMode="auto">
              <a:xfrm>
                <a:off x="1580" y="1279"/>
                <a:ext cx="208" cy="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sz="950">
                  <a:latin typeface="Times New Roman" panose="02020603050405020304" pitchFamily="18" charset="0"/>
                  <a:cs typeface="Times New Roman" panose="02020603050405020304" pitchFamily="18" charset="0"/>
                </a:endParaRPr>
              </a:p>
            </p:txBody>
          </p:sp>
          <p:pic>
            <p:nvPicPr>
              <p:cNvPr id="36" name="Picture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 y="848"/>
                <a:ext cx="816" cy="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Rectangle 40"/>
              <p:cNvSpPr>
                <a:spLocks noChangeArrowheads="1"/>
              </p:cNvSpPr>
              <p:nvPr/>
            </p:nvSpPr>
            <p:spPr bwMode="auto">
              <a:xfrm>
                <a:off x="1436" y="1292"/>
                <a:ext cx="238" cy="60"/>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950">
                    <a:latin typeface="Times New Roman" panose="02020603050405020304" pitchFamily="18" charset="0"/>
                    <a:cs typeface="Times New Roman" panose="02020603050405020304" pitchFamily="18" charset="0"/>
                  </a:rPr>
                  <a:t>A</a:t>
                </a:r>
              </a:p>
            </p:txBody>
          </p:sp>
        </p:grpSp>
      </p:grpSp>
      <p:grpSp>
        <p:nvGrpSpPr>
          <p:cNvPr id="5" name="Group 4"/>
          <p:cNvGrpSpPr/>
          <p:nvPr/>
        </p:nvGrpSpPr>
        <p:grpSpPr>
          <a:xfrm>
            <a:off x="3446970" y="4404662"/>
            <a:ext cx="3429000" cy="1700466"/>
            <a:chOff x="3446970" y="4404662"/>
            <a:chExt cx="3429000" cy="1700466"/>
          </a:xfrm>
        </p:grpSpPr>
        <p:sp>
          <p:nvSpPr>
            <p:cNvPr id="19" name="Rectangle 18"/>
            <p:cNvSpPr/>
            <p:nvPr/>
          </p:nvSpPr>
          <p:spPr>
            <a:xfrm>
              <a:off x="3446970" y="4404662"/>
              <a:ext cx="3429000" cy="1700466"/>
            </a:xfrm>
            <a:prstGeom prst="rect">
              <a:avLst/>
            </a:prstGeom>
          </p:spPr>
          <p:txBody>
            <a:bodyPr>
              <a:spAutoFit/>
            </a:bodyPr>
            <a:lstStyle/>
            <a:p>
              <a:pPr fontAlgn="base">
                <a:spcBef>
                  <a:spcPct val="0"/>
                </a:spcBef>
                <a:spcAft>
                  <a:spcPct val="0"/>
                </a:spcAft>
                <a:defRPr/>
              </a:pPr>
              <a:r>
                <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rPr>
                <a:t>78.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Tên gọi linh kiện dưới đây là gì ? </a:t>
              </a:r>
            </a:p>
            <a:p>
              <a:pPr lvl="0" fontAlgn="base">
                <a:spcBef>
                  <a:spcPct val="0"/>
                </a:spcBef>
                <a:spcAft>
                  <a:spcPct val="0"/>
                </a:spcAft>
                <a:defRPr/>
              </a:pPr>
              <a:endPar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endPar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endParaRPr kumimoji="1" lang="en-US" altLang="ko-KR" sz="95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endPar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endPar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endParaRPr kumimoji="1" lang="en-US" altLang="ko-KR" sz="95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Khớp </a:t>
              </a: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nối Muff(Muff Coupling) </a:t>
              </a:r>
            </a:p>
            <a:p>
              <a:pPr marL="228600" lvl="0" indent="-228600" fontAlgn="base">
                <a:spcBef>
                  <a:spcPct val="0"/>
                </a:spcBef>
                <a:spcAft>
                  <a:spcPct val="0"/>
                </a:spcAft>
                <a:buFont typeface="+mj-lt"/>
                <a:buAutoNum type="alphaUcPeriod"/>
                <a:defRPr/>
              </a:pP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Khớp nối Seller’s (Seller’s Coupling</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a:t>
              </a:r>
              <a:endParaRPr kumimoji="1"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fontAlgn="base">
                <a:spcBef>
                  <a:spcPct val="0"/>
                </a:spcBef>
                <a:spcAft>
                  <a:spcPct val="0"/>
                </a:spcAft>
                <a:buFont typeface="+mj-lt"/>
                <a:buAutoNum type="alphaUcPeriod"/>
                <a:defRPr/>
              </a:pPr>
              <a:r>
                <a:rPr kumimoji="1" lang="vi-VN" altLang="ko-KR" sz="950">
                  <a:solidFill>
                    <a:srgbClr val="FF0000"/>
                  </a:solidFill>
                  <a:latin typeface="Times New Roman" pitchFamily="18" charset="0"/>
                  <a:ea typeface="LG Smart_H Regular" panose="020B0600000101010101" pitchFamily="34" charset="-127"/>
                  <a:cs typeface="Times New Roman" pitchFamily="18" charset="0"/>
                </a:rPr>
                <a:t>Khớp nối kẹp (Clamp Coupling</a:t>
              </a:r>
              <a:r>
                <a:rPr kumimoji="1" lang="vi-VN" altLang="ko-KR" sz="950" smtClean="0">
                  <a:solidFill>
                    <a:srgbClr val="000000"/>
                  </a:solidFill>
                  <a:latin typeface="Times New Roman" pitchFamily="18" charset="0"/>
                  <a:ea typeface="LG Smart_H Regular" panose="020B0600000101010101" pitchFamily="34" charset="-127"/>
                  <a:cs typeface="Times New Roman" pitchFamily="18" charset="0"/>
                </a:rPr>
                <a:t>) </a:t>
              </a:r>
              <a:endParaRPr kumimoji="1" lang="vi-VN" altLang="ko-KR" sz="950">
                <a:solidFill>
                  <a:srgbClr val="000000"/>
                </a:solidFill>
                <a:latin typeface="Times New Roman" pitchFamily="18" charset="0"/>
                <a:ea typeface="LG Smart_H Regular" panose="020B0600000101010101" pitchFamily="34" charset="-127"/>
                <a:cs typeface="Times New Roman" pitchFamily="18" charset="0"/>
              </a:endParaRPr>
            </a:p>
            <a:p>
              <a:pPr marL="228600" lvl="0" indent="-228600" fontAlgn="base">
                <a:spcBef>
                  <a:spcPct val="0"/>
                </a:spcBef>
                <a:spcAft>
                  <a:spcPct val="0"/>
                </a:spcAft>
                <a:buFont typeface="+mj-lt"/>
                <a:buAutoNum type="alphaUcPeriod"/>
                <a:defRPr/>
              </a:pPr>
              <a:r>
                <a:rPr kumimoji="1" lang="vi-VN" altLang="ko-KR" sz="950">
                  <a:solidFill>
                    <a:srgbClr val="000000"/>
                  </a:solidFill>
                  <a:latin typeface="Times New Roman" pitchFamily="18" charset="0"/>
                  <a:ea typeface="LG Smart_H Regular" panose="020B0600000101010101" pitchFamily="34" charset="-127"/>
                  <a:cs typeface="Times New Roman" pitchFamily="18" charset="0"/>
                </a:rPr>
                <a:t>Khớp nối mặt bích(Flange Coupling</a:t>
              </a:r>
              <a:endParaRPr kumimoji="1" lang="ko-KR" altLang="en-US" sz="950">
                <a:solidFill>
                  <a:srgbClr val="000000"/>
                </a:solidFill>
                <a:latin typeface="Times New Roman" pitchFamily="18" charset="0"/>
                <a:ea typeface="LG Smart_H Regular" panose="020B0600000101010101" pitchFamily="34" charset="-127"/>
                <a:cs typeface="Times New Roman" pitchFamily="18" charset="0"/>
              </a:endParaRPr>
            </a:p>
          </p:txBody>
        </p:sp>
        <p:pic>
          <p:nvPicPr>
            <p:cNvPr id="17" name="Picture 1" descr="2-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66382" y="4781908"/>
              <a:ext cx="3014578" cy="5311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87618473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2573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60" name="Rectangle 7"/>
          <p:cNvSpPr>
            <a:spLocks noChangeArrowheads="1"/>
          </p:cNvSpPr>
          <p:nvPr/>
        </p:nvSpPr>
        <p:spPr bwMode="auto">
          <a:xfrm>
            <a:off x="188640" y="319141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 </a:t>
            </a:r>
            <a:r>
              <a:rPr lang="vi-VN" altLang="ko-KR" sz="950">
                <a:latin typeface="Times New Roman" pitchFamily="18" charset="0"/>
                <a:ea typeface="LG Smart_H Regular" panose="020B0600000101010101" pitchFamily="34" charset="-127"/>
                <a:cs typeface="Times New Roman" pitchFamily="18" charset="0"/>
              </a:rPr>
              <a:t>Độ cao thấp của dòng điện được gọi là </a:t>
            </a:r>
            <a:r>
              <a:rPr lang="vi-VN" altLang="ko-KR" sz="950" smtClean="0">
                <a:latin typeface="Times New Roman" pitchFamily="18" charset="0"/>
                <a:ea typeface="LG Smart_H Regular" panose="020B0600000101010101" pitchFamily="34" charset="-127"/>
                <a:cs typeface="Times New Roman" pitchFamily="18" charset="0"/>
              </a:rPr>
              <a:t>gì</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Điện thế(electric potential</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Hiệu điện thế(potential difference)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Điện áp(electric voltage</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Lực điện động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116632" y="4775592"/>
            <a:ext cx="3384376"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Loại nào sau đây là thiết bị ngắt quá </a:t>
            </a:r>
            <a:r>
              <a:rPr lang="vi-VN" altLang="ko-KR" sz="950" smtClean="0">
                <a:latin typeface="Times New Roman" pitchFamily="18" charset="0"/>
                <a:ea typeface="LG Smart_H Regular" panose="020B0600000101010101" pitchFamily="34" charset="-127"/>
                <a:cs typeface="Times New Roman" pitchFamily="18" charset="0"/>
              </a:rPr>
              <a:t>tải?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ELB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en-US" altLang="ko-KR" sz="950" smtClean="0">
                <a:latin typeface="Times New Roman" pitchFamily="18" charset="0"/>
                <a:ea typeface="LG Smart_H Regular" panose="020B0600000101010101" pitchFamily="34" charset="-127"/>
                <a:cs typeface="Times New Roman" pitchFamily="18" charset="0"/>
              </a:rPr>
              <a:t>ELCC</a:t>
            </a:r>
          </a:p>
          <a:p>
            <a:pPr marL="228600" indent="-228600" eaLnBrk="1" fontAlgn="base" hangingPunct="1">
              <a:spcBef>
                <a:spcPct val="0"/>
              </a:spcBef>
              <a:spcAft>
                <a:spcPct val="0"/>
              </a:spcAft>
              <a:buAutoNum type="alphaUcPeriod"/>
              <a:tabLst>
                <a:tab pos="228600" algn="l"/>
              </a:tabLst>
            </a:pPr>
            <a:r>
              <a:rPr lang="vi-VN" altLang="ko-KR" sz="950" smtClean="0">
                <a:latin typeface="Times New Roman" pitchFamily="18" charset="0"/>
                <a:ea typeface="LG Smart_H Regular" panose="020B0600000101010101" pitchFamily="34" charset="-127"/>
                <a:cs typeface="Times New Roman" pitchFamily="18" charset="0"/>
              </a:rPr>
              <a:t>MELB</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solidFill>
                  <a:srgbClr val="FF0000"/>
                </a:solidFill>
                <a:latin typeface="Times New Roman" pitchFamily="18" charset="0"/>
                <a:ea typeface="LG Smart_H Regular" panose="020B0600000101010101" pitchFamily="34" charset="-127"/>
                <a:cs typeface="Times New Roman" pitchFamily="18" charset="0"/>
              </a:rPr>
              <a:t>MCCB</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69" name="Rectangle 7"/>
          <p:cNvSpPr>
            <a:spLocks noChangeArrowheads="1"/>
          </p:cNvSpPr>
          <p:nvPr/>
        </p:nvSpPr>
        <p:spPr bwMode="auto">
          <a:xfrm>
            <a:off x="3448472" y="2685182"/>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 </a:t>
            </a:r>
            <a:r>
              <a:rPr lang="vi-VN" altLang="ko-KR" sz="950">
                <a:latin typeface="Times New Roman" pitchFamily="18" charset="0"/>
                <a:ea typeface="LG Smart_H Regular" panose="020B0600000101010101" pitchFamily="34" charset="-127"/>
                <a:cs typeface="Times New Roman" pitchFamily="18" charset="0"/>
              </a:rPr>
              <a:t>Chọn đáp án đúng cho ký hiệu khoảng cách giữa 2 bản điện cực của tụ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C</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F</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K</a:t>
            </a: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68" name="Rectangle 7"/>
          <p:cNvSpPr>
            <a:spLocks noChangeArrowheads="1"/>
          </p:cNvSpPr>
          <p:nvPr/>
        </p:nvSpPr>
        <p:spPr bwMode="auto">
          <a:xfrm>
            <a:off x="162099" y="819336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Giá trị đỉnh: là  giá trị lớn nhất trong giá trị tức thời. Có ký hiệu </a:t>
            </a:r>
            <a:r>
              <a:rPr lang="vi-VN" altLang="ko-KR" sz="950" smtClean="0">
                <a:latin typeface="Times New Roman" pitchFamily="18" charset="0"/>
                <a:ea typeface="LG Smart_H Regular" panose="020B0600000101010101" pitchFamily="34" charset="-127"/>
                <a:cs typeface="Times New Roman" pitchFamily="18" charset="0"/>
              </a:rPr>
              <a:t>là?</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VM</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VP_P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V</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VRMS</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1" name="Rectangle 7"/>
          <p:cNvSpPr>
            <a:spLocks noChangeArrowheads="1"/>
          </p:cNvSpPr>
          <p:nvPr/>
        </p:nvSpPr>
        <p:spPr bwMode="auto">
          <a:xfrm>
            <a:off x="3429000" y="1156142"/>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Chọn đáp án đúng nói về chức năng sau: "Chức năng vận hành trôi chảy mạch điện bằng việc giới hạn dòng điện và là một trong những linh kiện không thể thiếu của một mạch 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Điện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trở</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Tụ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Cuộn </a:t>
            </a:r>
            <a:r>
              <a:rPr lang="en-US" altLang="ko-KR" sz="950" smtClean="0">
                <a:latin typeface="Times New Roman" pitchFamily="18" charset="0"/>
                <a:ea typeface="LG Smart_H Regular" panose="020B0600000101010101" pitchFamily="34" charset="-127"/>
                <a:cs typeface="Times New Roman" pitchFamily="18" charset="0"/>
              </a:rPr>
              <a:t>cảm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Điot</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 name="Group 2"/>
          <p:cNvGrpSpPr/>
          <p:nvPr/>
        </p:nvGrpSpPr>
        <p:grpSpPr>
          <a:xfrm>
            <a:off x="184076" y="6681192"/>
            <a:ext cx="3239810" cy="969496"/>
            <a:chOff x="184076" y="6969224"/>
            <a:chExt cx="3239810" cy="969496"/>
          </a:xfrm>
        </p:grpSpPr>
        <p:sp>
          <p:nvSpPr>
            <p:cNvPr id="57" name="Rectangle 7"/>
            <p:cNvSpPr>
              <a:spLocks noChangeArrowheads="1"/>
            </p:cNvSpPr>
            <p:nvPr/>
          </p:nvSpPr>
          <p:spPr bwMode="auto">
            <a:xfrm>
              <a:off x="184076" y="696922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4</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Lượng điện tích của hạt trung tính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0 </a:t>
              </a:r>
              <a:r>
                <a:rPr lang="vi-VN" altLang="ko-KR" sz="950">
                  <a:latin typeface="Times New Roman" pitchFamily="18" charset="0"/>
                  <a:ea typeface="LG Smart_H Regular" panose="020B0600000101010101" pitchFamily="34" charset="-127"/>
                  <a:cs typeface="Times New Roman" pitchFamily="18" charset="0"/>
                </a:rPr>
                <a:t>[V</a:t>
              </a:r>
              <a:r>
                <a:rPr lang="vi-VN" altLang="ko-KR" sz="950" smtClean="0">
                  <a:latin typeface="Times New Roman" pitchFamily="18" charset="0"/>
                  <a:ea typeface="LG Smart_H Regular" panose="020B0600000101010101" pitchFamily="34" charset="-127"/>
                  <a:cs typeface="Times New Roman" pitchFamily="18" charset="0"/>
                </a:rPr>
                <a:t>]</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C.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a:t>
              </a:r>
              <a:r>
                <a:rPr lang="en-US" altLang="ko-KR" sz="950">
                  <a:solidFill>
                    <a:srgbClr val="FF0000"/>
                  </a:solidFill>
                  <a:latin typeface="Times New Roman" pitchFamily="18" charset="0"/>
                  <a:ea typeface="LG Smart_H Regular" panose="020B0600000101010101" pitchFamily="34" charset="-127"/>
                  <a:cs typeface="Times New Roman" pitchFamily="18" charset="0"/>
                </a:rPr>
                <a:t>. 0 [C]</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35" name="Group 34"/>
            <p:cNvGrpSpPr>
              <a:grpSpLocks noChangeAspect="1"/>
            </p:cNvGrpSpPr>
            <p:nvPr/>
          </p:nvGrpSpPr>
          <p:grpSpPr bwMode="auto">
            <a:xfrm>
              <a:off x="1982793" y="7288253"/>
              <a:ext cx="1374199" cy="187062"/>
              <a:chOff x="0" y="-4"/>
              <a:chExt cx="145" cy="45"/>
            </a:xfrm>
          </p:grpSpPr>
          <p:sp>
            <p:nvSpPr>
              <p:cNvPr id="36" name="AutoShape 2"/>
              <p:cNvSpPr>
                <a:spLocks noChangeAspect="1" noChangeArrowheads="1" noTextEdit="1"/>
              </p:cNvSpPr>
              <p:nvPr/>
            </p:nvSpPr>
            <p:spPr bwMode="auto">
              <a:xfrm>
                <a:off x="0" y="0"/>
                <a:ext cx="14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000"/>
              </a:p>
            </p:txBody>
          </p:sp>
          <p:sp>
            <p:nvSpPr>
              <p:cNvPr id="37" name="Rectangle 36"/>
              <p:cNvSpPr>
                <a:spLocks noChangeArrowheads="1"/>
              </p:cNvSpPr>
              <p:nvPr/>
            </p:nvSpPr>
            <p:spPr bwMode="auto">
              <a:xfrm>
                <a:off x="129" y="4"/>
                <a:ext cx="5"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38" name="Rectangle 37"/>
              <p:cNvSpPr>
                <a:spLocks noChangeArrowheads="1"/>
              </p:cNvSpPr>
              <p:nvPr/>
            </p:nvSpPr>
            <p:spPr bwMode="auto">
              <a:xfrm>
                <a:off x="114" y="4"/>
                <a:ext cx="5"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39" name="Rectangle 38"/>
              <p:cNvSpPr>
                <a:spLocks noChangeArrowheads="1"/>
              </p:cNvSpPr>
              <p:nvPr/>
            </p:nvSpPr>
            <p:spPr bwMode="auto">
              <a:xfrm>
                <a:off x="73" y="4"/>
                <a:ext cx="1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10</a:t>
                </a:r>
              </a:p>
            </p:txBody>
          </p:sp>
          <p:sp>
            <p:nvSpPr>
              <p:cNvPr id="40" name="Rectangle 39"/>
              <p:cNvSpPr>
                <a:spLocks noChangeArrowheads="1"/>
              </p:cNvSpPr>
              <p:nvPr/>
            </p:nvSpPr>
            <p:spPr bwMode="auto">
              <a:xfrm>
                <a:off x="27" y="4"/>
                <a:ext cx="3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60219</a:t>
                </a:r>
              </a:p>
            </p:txBody>
          </p:sp>
          <p:sp>
            <p:nvSpPr>
              <p:cNvPr id="41" name="Rectangle 40"/>
              <p:cNvSpPr>
                <a:spLocks noChangeArrowheads="1"/>
              </p:cNvSpPr>
              <p:nvPr/>
            </p:nvSpPr>
            <p:spPr bwMode="auto">
              <a:xfrm>
                <a:off x="23" y="4"/>
                <a:ext cx="3"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42" name="Rectangle 41"/>
              <p:cNvSpPr>
                <a:spLocks noChangeArrowheads="1"/>
              </p:cNvSpPr>
              <p:nvPr/>
            </p:nvSpPr>
            <p:spPr bwMode="auto">
              <a:xfrm>
                <a:off x="14" y="4"/>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a:t>
                </a:r>
              </a:p>
            </p:txBody>
          </p:sp>
          <p:sp>
            <p:nvSpPr>
              <p:cNvPr id="43" name="Rectangle 42"/>
              <p:cNvSpPr>
                <a:spLocks noChangeArrowheads="1"/>
              </p:cNvSpPr>
              <p:nvPr/>
            </p:nvSpPr>
            <p:spPr bwMode="auto">
              <a:xfrm>
                <a:off x="99" y="1"/>
                <a:ext cx="1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19</a:t>
                </a:r>
              </a:p>
            </p:txBody>
          </p:sp>
          <p:sp>
            <p:nvSpPr>
              <p:cNvPr id="44" name="Rectangle 43"/>
              <p:cNvSpPr>
                <a:spLocks noChangeArrowheads="1"/>
              </p:cNvSpPr>
              <p:nvPr/>
            </p:nvSpPr>
            <p:spPr bwMode="auto">
              <a:xfrm>
                <a:off x="118" y="4"/>
                <a:ext cx="9"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1" u="none" strike="noStrike" baseline="0">
                    <a:solidFill>
                      <a:srgbClr val="000000"/>
                    </a:solidFill>
                    <a:latin typeface="Times New Roman"/>
                    <a:cs typeface="Times New Roman"/>
                  </a:rPr>
                  <a:t>C</a:t>
                </a:r>
              </a:p>
            </p:txBody>
          </p:sp>
          <p:sp>
            <p:nvSpPr>
              <p:cNvPr id="45" name="Rectangle 44"/>
              <p:cNvSpPr>
                <a:spLocks noChangeArrowheads="1"/>
              </p:cNvSpPr>
              <p:nvPr/>
            </p:nvSpPr>
            <p:spPr bwMode="auto">
              <a:xfrm>
                <a:off x="91" y="-4"/>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sp>
            <p:nvSpPr>
              <p:cNvPr id="46" name="Rectangle 45"/>
              <p:cNvSpPr>
                <a:spLocks noChangeArrowheads="1"/>
              </p:cNvSpPr>
              <p:nvPr/>
            </p:nvSpPr>
            <p:spPr bwMode="auto">
              <a:xfrm>
                <a:off x="61" y="1"/>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sp>
            <p:nvSpPr>
              <p:cNvPr id="47" name="Rectangle 46"/>
              <p:cNvSpPr>
                <a:spLocks noChangeArrowheads="1"/>
              </p:cNvSpPr>
              <p:nvPr/>
            </p:nvSpPr>
            <p:spPr bwMode="auto">
              <a:xfrm>
                <a:off x="3" y="1"/>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grpSp>
        <p:grpSp>
          <p:nvGrpSpPr>
            <p:cNvPr id="48" name="Group 47"/>
            <p:cNvGrpSpPr>
              <a:grpSpLocks noChangeAspect="1"/>
            </p:cNvGrpSpPr>
            <p:nvPr/>
          </p:nvGrpSpPr>
          <p:grpSpPr bwMode="auto">
            <a:xfrm>
              <a:off x="476672" y="7699402"/>
              <a:ext cx="1260472" cy="187956"/>
              <a:chOff x="0" y="-2"/>
              <a:chExt cx="145" cy="33"/>
            </a:xfrm>
          </p:grpSpPr>
          <p:sp>
            <p:nvSpPr>
              <p:cNvPr id="49" name="AutoShape 2"/>
              <p:cNvSpPr>
                <a:spLocks noChangeAspect="1" noChangeArrowheads="1" noTextEdit="1"/>
              </p:cNvSpPr>
              <p:nvPr/>
            </p:nvSpPr>
            <p:spPr bwMode="auto">
              <a:xfrm>
                <a:off x="0" y="0"/>
                <a:ext cx="14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000"/>
              </a:p>
            </p:txBody>
          </p:sp>
          <p:sp>
            <p:nvSpPr>
              <p:cNvPr id="50" name="Rectangle 49"/>
              <p:cNvSpPr>
                <a:spLocks noChangeArrowheads="1"/>
              </p:cNvSpPr>
              <p:nvPr/>
            </p:nvSpPr>
            <p:spPr bwMode="auto">
              <a:xfrm>
                <a:off x="129" y="4"/>
                <a:ext cx="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51" name="Rectangle 50"/>
              <p:cNvSpPr>
                <a:spLocks noChangeArrowheads="1"/>
              </p:cNvSpPr>
              <p:nvPr/>
            </p:nvSpPr>
            <p:spPr bwMode="auto">
              <a:xfrm>
                <a:off x="113" y="4"/>
                <a:ext cx="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52" name="Rectangle 51"/>
              <p:cNvSpPr>
                <a:spLocks noChangeArrowheads="1"/>
              </p:cNvSpPr>
              <p:nvPr/>
            </p:nvSpPr>
            <p:spPr bwMode="auto">
              <a:xfrm>
                <a:off x="73" y="4"/>
                <a:ext cx="1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10</a:t>
                </a:r>
              </a:p>
            </p:txBody>
          </p:sp>
          <p:sp>
            <p:nvSpPr>
              <p:cNvPr id="53" name="Rectangle 52"/>
              <p:cNvSpPr>
                <a:spLocks noChangeArrowheads="1"/>
              </p:cNvSpPr>
              <p:nvPr/>
            </p:nvSpPr>
            <p:spPr bwMode="auto">
              <a:xfrm>
                <a:off x="27" y="4"/>
                <a:ext cx="37"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60219</a:t>
                </a:r>
              </a:p>
            </p:txBody>
          </p:sp>
          <p:sp>
            <p:nvSpPr>
              <p:cNvPr id="54" name="Rectangle 53"/>
              <p:cNvSpPr>
                <a:spLocks noChangeArrowheads="1"/>
              </p:cNvSpPr>
              <p:nvPr/>
            </p:nvSpPr>
            <p:spPr bwMode="auto">
              <a:xfrm>
                <a:off x="23" y="4"/>
                <a:ext cx="4"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55" name="Rectangle 54"/>
              <p:cNvSpPr>
                <a:spLocks noChangeArrowheads="1"/>
              </p:cNvSpPr>
              <p:nvPr/>
            </p:nvSpPr>
            <p:spPr bwMode="auto">
              <a:xfrm>
                <a:off x="14" y="4"/>
                <a:ext cx="7"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a:t>
                </a:r>
              </a:p>
            </p:txBody>
          </p:sp>
          <p:sp>
            <p:nvSpPr>
              <p:cNvPr id="56" name="Rectangle 55"/>
              <p:cNvSpPr>
                <a:spLocks noChangeArrowheads="1"/>
              </p:cNvSpPr>
              <p:nvPr/>
            </p:nvSpPr>
            <p:spPr bwMode="auto">
              <a:xfrm>
                <a:off x="98" y="1"/>
                <a:ext cx="1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19</a:t>
                </a:r>
              </a:p>
            </p:txBody>
          </p:sp>
          <p:sp>
            <p:nvSpPr>
              <p:cNvPr id="58" name="Rectangle 57"/>
              <p:cNvSpPr>
                <a:spLocks noChangeArrowheads="1"/>
              </p:cNvSpPr>
              <p:nvPr/>
            </p:nvSpPr>
            <p:spPr bwMode="auto">
              <a:xfrm>
                <a:off x="117" y="4"/>
                <a:ext cx="10"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1" u="none" strike="noStrike" baseline="0">
                    <a:solidFill>
                      <a:srgbClr val="000000"/>
                    </a:solidFill>
                    <a:latin typeface="Times New Roman"/>
                    <a:cs typeface="Times New Roman"/>
                  </a:rPr>
                  <a:t>C</a:t>
                </a:r>
              </a:p>
            </p:txBody>
          </p:sp>
          <p:sp>
            <p:nvSpPr>
              <p:cNvPr id="62" name="Rectangle 61"/>
              <p:cNvSpPr>
                <a:spLocks noChangeArrowheads="1"/>
              </p:cNvSpPr>
              <p:nvPr/>
            </p:nvSpPr>
            <p:spPr bwMode="auto">
              <a:xfrm>
                <a:off x="91" y="-2"/>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sp>
            <p:nvSpPr>
              <p:cNvPr id="63" name="Rectangle 62"/>
              <p:cNvSpPr>
                <a:spLocks noChangeArrowheads="1"/>
              </p:cNvSpPr>
              <p:nvPr/>
            </p:nvSpPr>
            <p:spPr bwMode="auto">
              <a:xfrm>
                <a:off x="63" y="1"/>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sp>
            <p:nvSpPr>
              <p:cNvPr id="64" name="Rectangle 63"/>
              <p:cNvSpPr>
                <a:spLocks noChangeArrowheads="1"/>
              </p:cNvSpPr>
              <p:nvPr/>
            </p:nvSpPr>
            <p:spPr bwMode="auto">
              <a:xfrm>
                <a:off x="3" y="1"/>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grpSp>
      </p:grpSp>
      <p:grpSp>
        <p:nvGrpSpPr>
          <p:cNvPr id="4" name="Group 3"/>
          <p:cNvGrpSpPr/>
          <p:nvPr/>
        </p:nvGrpSpPr>
        <p:grpSpPr>
          <a:xfrm>
            <a:off x="3429000" y="6393160"/>
            <a:ext cx="3239810" cy="1046053"/>
            <a:chOff x="3429000" y="6431776"/>
            <a:chExt cx="3239810" cy="1046053"/>
          </a:xfrm>
        </p:grpSpPr>
        <p:sp>
          <p:nvSpPr>
            <p:cNvPr id="73" name="Rectangle 7"/>
            <p:cNvSpPr>
              <a:spLocks noChangeArrowheads="1"/>
            </p:cNvSpPr>
            <p:nvPr/>
          </p:nvSpPr>
          <p:spPr bwMode="auto">
            <a:xfrm>
              <a:off x="3429000" y="643177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Đâu là kí hiệu của "Light-Emitting Diode</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a:t>
              </a:r>
              <a:r>
                <a:rPr lang="en-US" altLang="ko-KR" sz="950" smtClean="0">
                  <a:latin typeface="Times New Roman" pitchFamily="18" charset="0"/>
                  <a:ea typeface="LG Smart_H Regular" panose="020B0600000101010101" pitchFamily="34" charset="-127"/>
                  <a:cs typeface="Times New Roman" pitchFamily="18" charset="0"/>
                </a:rPr>
                <a:t>                                             B. </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C.                                              D.</a:t>
              </a:r>
            </a:p>
          </p:txBody>
        </p:sp>
        <p:pic>
          <p:nvPicPr>
            <p:cNvPr id="65" name="Picture 64" descr="l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6921" y="6681192"/>
              <a:ext cx="582199" cy="381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Picture 65" descr="zen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1601" y="6693963"/>
              <a:ext cx="497679" cy="388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66" descr="brid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9230" y="7104337"/>
              <a:ext cx="563323" cy="37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Picture 71" descr="shottok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3216" y="7041232"/>
              <a:ext cx="575499" cy="4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83" name="Rectangle 7"/>
          <p:cNvSpPr>
            <a:spLocks noChangeArrowheads="1"/>
          </p:cNvSpPr>
          <p:nvPr/>
        </p:nvSpPr>
        <p:spPr bwMode="auto">
          <a:xfrm>
            <a:off x="142443" y="147095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1</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Vật có độ dẫn điện ở mức trung gian so với vật dẫn điện và vật cách điện là loại nào sau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đây? </a:t>
            </a:r>
            <a:endParaRPr lang="en-US" altLang="ko-KR" sz="950" dirty="0">
              <a:solidFill>
                <a:srgbClr val="00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A. Conductor</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Non-Conductor</a:t>
            </a: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 Semi-Conductor</a:t>
            </a:r>
          </a:p>
          <a:p>
            <a:pPr eaLnBrk="1" fontAlgn="base" hangingPunct="1">
              <a:spcBef>
                <a:spcPct val="0"/>
              </a:spcBef>
              <a:spcAft>
                <a:spcPct val="0"/>
              </a:spcAft>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D. Non</a:t>
            </a:r>
            <a:r>
              <a:rPr lang="en-US" altLang="ko-KR" sz="950">
                <a:solidFill>
                  <a:srgbClr val="000000"/>
                </a:solidFill>
                <a:latin typeface="Times New Roman" pitchFamily="18" charset="0"/>
                <a:ea typeface="LG Smart_H Regular" panose="020B0600000101010101" pitchFamily="34" charset="-127"/>
                <a:cs typeface="Times New Roman" pitchFamily="18" charset="0"/>
              </a:rPr>
              <a:t>, Semi-Conductor</a:t>
            </a:r>
            <a:endParaRPr lang="en-US" altLang="ko-KR" sz="950" dirty="0">
              <a:solidFill>
                <a:srgbClr val="000000"/>
              </a:solidFill>
              <a:latin typeface="Times New Roman" pitchFamily="18" charset="0"/>
              <a:ea typeface="LG Smart_H Regular" panose="020B0600000101010101" pitchFamily="34" charset="-127"/>
              <a:cs typeface="Times New Roman" pitchFamily="18" charset="0"/>
            </a:endParaRPr>
          </a:p>
        </p:txBody>
      </p:sp>
      <p:sp>
        <p:nvSpPr>
          <p:cNvPr id="84" name="Rectangle 7"/>
          <p:cNvSpPr>
            <a:spLocks noChangeArrowheads="1"/>
          </p:cNvSpPr>
          <p:nvPr/>
        </p:nvSpPr>
        <p:spPr bwMode="auto">
          <a:xfrm>
            <a:off x="3425736" y="8214949"/>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"Tốc độ đóng mở cực lớn, nên được sử dụng cho đóng mở tốc độ cao hoặc máy trộn có sóng cực ngắn. Có đặc điểm là sụt áp chiều thuận thấp khoảng 0.2 V" là đặc điểm của Diode nào</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Diode PIN</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Diode Schottky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Barrier</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Diode thông </a:t>
            </a:r>
            <a:r>
              <a:rPr lang="vi-VN" altLang="ko-KR" sz="950" smtClean="0">
                <a:latin typeface="Times New Roman" pitchFamily="18" charset="0"/>
                <a:ea typeface="LG Smart_H Regular" panose="020B0600000101010101" pitchFamily="34" charset="-127"/>
                <a:cs typeface="Times New Roman" pitchFamily="18" charset="0"/>
              </a:rPr>
              <a:t>thường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Diode zener </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85" name="Group 84"/>
          <p:cNvGrpSpPr/>
          <p:nvPr/>
        </p:nvGrpSpPr>
        <p:grpSpPr>
          <a:xfrm>
            <a:off x="3926921" y="4313252"/>
            <a:ext cx="2738624" cy="1215812"/>
            <a:chOff x="4869160" y="3460140"/>
            <a:chExt cx="6264146" cy="1060812"/>
          </a:xfrm>
        </p:grpSpPr>
        <p:sp>
          <p:nvSpPr>
            <p:cNvPr id="86" name="Rectangle 7"/>
            <p:cNvSpPr>
              <a:spLocks noChangeArrowheads="1"/>
            </p:cNvSpPr>
            <p:nvPr/>
          </p:nvSpPr>
          <p:spPr bwMode="auto">
            <a:xfrm>
              <a:off x="7893496" y="3460140"/>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8</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Chọn đáp án đúng cho mạch bên dưới?</a:t>
              </a: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A. Smoothing circuit</a:t>
              </a:r>
            </a:p>
            <a:p>
              <a:pPr eaLnBrk="1" fontAlgn="base" hangingPunct="1">
                <a:spcBef>
                  <a:spcPct val="0"/>
                </a:spcBef>
                <a:spcAft>
                  <a:spcPct val="0"/>
                </a:spcAft>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B. Timer circuit</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Low-pass </a:t>
              </a:r>
              <a:r>
                <a:rPr lang="vi-VN" altLang="ko-KR" sz="950" smtClean="0">
                  <a:latin typeface="Times New Roman" pitchFamily="18" charset="0"/>
                  <a:ea typeface="LG Smart_H Regular" panose="020B0600000101010101" pitchFamily="34" charset="-127"/>
                  <a:cs typeface="Times New Roman" pitchFamily="18" charset="0"/>
                </a:rPr>
                <a:t>Filter</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 </a:t>
              </a:r>
              <a:r>
                <a:rPr lang="vi-VN" altLang="ko-KR" sz="950">
                  <a:solidFill>
                    <a:srgbClr val="FF0000"/>
                  </a:solidFill>
                  <a:latin typeface="Times New Roman" pitchFamily="18" charset="0"/>
                  <a:ea typeface="LG Smart_H Regular" panose="020B0600000101010101" pitchFamily="34" charset="-127"/>
                  <a:cs typeface="Times New Roman" pitchFamily="18" charset="0"/>
                </a:rPr>
                <a:t>High-pass Filter</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pic>
          <p:nvPicPr>
            <p:cNvPr id="87" name="Picture 86"/>
            <p:cNvPicPr>
              <a:picLocks noChangeAspect="1"/>
            </p:cNvPicPr>
            <p:nvPr/>
          </p:nvPicPr>
          <p:blipFill rotWithShape="1">
            <a:blip r:embed="rId7">
              <a:extLst>
                <a:ext uri="{28A0092B-C50C-407E-A947-70E740481C1C}">
                  <a14:useLocalDpi xmlns:a14="http://schemas.microsoft.com/office/drawing/2010/main" val="0"/>
                </a:ext>
              </a:extLst>
            </a:blip>
            <a:srcRect t="38355"/>
            <a:stretch/>
          </p:blipFill>
          <p:spPr>
            <a:xfrm>
              <a:off x="4869160" y="3944888"/>
              <a:ext cx="1584176" cy="576064"/>
            </a:xfrm>
            <a:prstGeom prst="rect">
              <a:avLst/>
            </a:prstGeom>
          </p:spPr>
        </p:pic>
      </p:grpSp>
    </p:spTree>
    <p:extLst>
      <p:ext uri="{BB962C8B-B14F-4D97-AF65-F5344CB8AC3E}">
        <p14:creationId xmlns:p14="http://schemas.microsoft.com/office/powerpoint/2010/main" val="197113546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3752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4100" name="Rectangle 4"/>
          <p:cNvSpPr>
            <a:spLocks noChangeArrowheads="1"/>
          </p:cNvSpPr>
          <p:nvPr/>
        </p:nvSpPr>
        <p:spPr bwMode="auto">
          <a:xfrm>
            <a:off x="3460960" y="776288"/>
            <a:ext cx="324383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6" name="Rectangle 132"/>
          <p:cNvSpPr>
            <a:spLocks noChangeArrowheads="1"/>
          </p:cNvSpPr>
          <p:nvPr/>
        </p:nvSpPr>
        <p:spPr bwMode="auto">
          <a:xfrm>
            <a:off x="147512" y="2644969"/>
            <a:ext cx="3125788" cy="6463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itchFamily="34" charset="0"/>
                <a:cs typeface="Arial" panose="020B0604020202020204" pitchFamily="34" charset="0"/>
              </a:rPr>
              <a:t>12. </a:t>
            </a:r>
            <a:r>
              <a:rPr lang="en-US" altLang="ko-KR" sz="900" dirty="0" smtClean="0">
                <a:latin typeface="Arial" panose="020B0604020202020204" pitchFamily="34" charset="0"/>
                <a:cs typeface="Arial" panose="020B0604020202020204" pitchFamily="34" charset="0"/>
              </a:rPr>
              <a:t>TRANSISTOR </a:t>
            </a:r>
            <a:r>
              <a:rPr lang="en-US" altLang="ko-KR" sz="900" dirty="0" err="1" smtClean="0">
                <a:latin typeface="Arial" panose="020B0604020202020204" pitchFamily="34" charset="0"/>
                <a:cs typeface="Arial" panose="020B0604020202020204" pitchFamily="34" charset="0"/>
              </a:rPr>
              <a:t>tần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số</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thấp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theo</a:t>
            </a:r>
            <a:r>
              <a:rPr lang="en-US" altLang="ko-KR" sz="900" dirty="0" smtClean="0">
                <a:latin typeface="Arial" panose="020B0604020202020204" pitchFamily="34" charset="0"/>
                <a:cs typeface="Arial" panose="020B0604020202020204" pitchFamily="34" charset="0"/>
              </a:rPr>
              <a:t> PNP Type </a:t>
            </a:r>
            <a:r>
              <a:rPr lang="en-US" altLang="ko-KR" sz="900" dirty="0" err="1" smtClean="0">
                <a:latin typeface="Arial" panose="020B0604020202020204" pitchFamily="34" charset="0"/>
                <a:cs typeface="Arial" panose="020B0604020202020204" pitchFamily="34" charset="0"/>
              </a:rPr>
              <a:t>khi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phân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loại</a:t>
            </a:r>
            <a:r>
              <a:rPr lang="en-US" altLang="ko-KR" sz="900" dirty="0">
                <a:latin typeface="Arial" panose="020B0604020202020204" pitchFamily="34" charset="0"/>
                <a:cs typeface="Arial" panose="020B0604020202020204" pitchFamily="34" charset="0"/>
              </a:rPr>
              <a:t> TRANSISTOR </a:t>
            </a:r>
            <a:r>
              <a:rPr lang="en-US" altLang="ko-KR" sz="900" dirty="0" err="1" smtClean="0">
                <a:latin typeface="Arial" panose="020B0604020202020204" pitchFamily="34" charset="0"/>
                <a:cs typeface="Arial" panose="020B0604020202020204" pitchFamily="34" charset="0"/>
              </a:rPr>
              <a:t>theo</a:t>
            </a:r>
            <a:r>
              <a:rPr lang="en-US" altLang="ko-KR" sz="900" dirty="0" smtClean="0">
                <a:latin typeface="Arial" panose="020B0604020202020204" pitchFamily="34" charset="0"/>
                <a:cs typeface="Arial" panose="020B0604020202020204" pitchFamily="34" charset="0"/>
              </a:rPr>
              <a:t> Part No </a:t>
            </a:r>
            <a:r>
              <a:rPr lang="en-US" altLang="ko-KR" sz="900" dirty="0" err="1" smtClean="0">
                <a:latin typeface="Arial" panose="020B0604020202020204" pitchFamily="34" charset="0"/>
                <a:cs typeface="Arial" panose="020B0604020202020204" pitchFamily="34" charset="0"/>
              </a:rPr>
              <a:t>là</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gì</a:t>
            </a:r>
            <a:r>
              <a:rPr lang="en-US" altLang="ko-KR" sz="900" smtClean="0">
                <a:latin typeface="Arial" panose="020B0604020202020204" pitchFamily="34" charset="0"/>
                <a:cs typeface="Arial" panose="020B0604020202020204" pitchFamily="34" charset="0"/>
              </a:rPr>
              <a:t>?</a:t>
            </a:r>
            <a:endParaRPr lang="en-US" altLang="ko-KR" sz="900" dirty="0">
              <a:latin typeface="Arial" panose="020B0604020202020204" pitchFamily="34" charset="0"/>
              <a:cs typeface="Arial" panose="020B0604020202020204" pitchFamily="34" charset="0"/>
            </a:endParaRPr>
          </a:p>
          <a:p>
            <a:pPr eaLnBrk="1" hangingPunct="1"/>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 A. </a:t>
            </a:r>
            <a:r>
              <a:rPr lang="en-US" altLang="ko-KR" sz="900">
                <a:latin typeface="Arial" panose="020B0604020202020204" pitchFamily="34" charset="0"/>
                <a:cs typeface="Arial" panose="020B0604020202020204" pitchFamily="34" charset="0"/>
              </a:rPr>
              <a:t>2SAxx     </a:t>
            </a:r>
            <a:r>
              <a:rPr lang="en-US" altLang="ko-KR" sz="900" smtClean="0">
                <a:solidFill>
                  <a:srgbClr val="FF0000"/>
                </a:solidFill>
                <a:latin typeface="Arial" panose="020B0604020202020204" pitchFamily="34" charset="0"/>
                <a:cs typeface="Arial" panose="020B0604020202020204" pitchFamily="34" charset="0"/>
              </a:rPr>
              <a:t>B. </a:t>
            </a:r>
            <a:r>
              <a:rPr lang="en-US" altLang="ko-KR" sz="900">
                <a:solidFill>
                  <a:srgbClr val="FF0000"/>
                </a:solidFill>
                <a:latin typeface="Arial" panose="020B0604020202020204" pitchFamily="34" charset="0"/>
                <a:cs typeface="Arial" panose="020B0604020202020204" pitchFamily="34" charset="0"/>
              </a:rPr>
              <a:t>2SBxx     </a:t>
            </a:r>
            <a:r>
              <a:rPr lang="en-US" altLang="ko-KR" sz="900" smtClean="0">
                <a:latin typeface="Arial" panose="020B0604020202020204" pitchFamily="34" charset="0"/>
                <a:cs typeface="Arial" panose="020B0604020202020204" pitchFamily="34" charset="0"/>
              </a:rPr>
              <a:t>C. </a:t>
            </a:r>
            <a:r>
              <a:rPr lang="en-US" altLang="ko-KR" sz="900">
                <a:latin typeface="Arial" panose="020B0604020202020204" pitchFamily="34" charset="0"/>
                <a:cs typeface="Arial" panose="020B0604020202020204" pitchFamily="34" charset="0"/>
              </a:rPr>
              <a:t>2SCxx      </a:t>
            </a:r>
            <a:r>
              <a:rPr lang="en-US" altLang="ko-KR" sz="900" smtClean="0">
                <a:latin typeface="Arial" panose="020B0604020202020204" pitchFamily="34" charset="0"/>
                <a:cs typeface="Arial" panose="020B0604020202020204" pitchFamily="34" charset="0"/>
              </a:rPr>
              <a:t>D. </a:t>
            </a:r>
            <a:r>
              <a:rPr lang="en-US" altLang="ko-KR" sz="900" dirty="0">
                <a:latin typeface="Arial" panose="020B0604020202020204" pitchFamily="34" charset="0"/>
                <a:cs typeface="Arial" panose="020B0604020202020204" pitchFamily="34" charset="0"/>
              </a:rPr>
              <a:t>2SDxx</a:t>
            </a:r>
          </a:p>
        </p:txBody>
      </p:sp>
      <p:sp>
        <p:nvSpPr>
          <p:cNvPr id="7" name="Rectangle 166"/>
          <p:cNvSpPr>
            <a:spLocks noChangeArrowheads="1"/>
          </p:cNvSpPr>
          <p:nvPr/>
        </p:nvSpPr>
        <p:spPr bwMode="auto">
          <a:xfrm>
            <a:off x="3438436" y="931604"/>
            <a:ext cx="3181350" cy="6463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anose="020B0604020202020204" pitchFamily="34" charset="0"/>
                <a:cs typeface="Arial" panose="020B0604020202020204" pitchFamily="34" charset="0"/>
              </a:rPr>
              <a:t>16.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Sensor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thể</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phát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hiện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được</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mặt</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gương</a:t>
            </a:r>
            <a:r>
              <a:rPr lang="en-US" altLang="ko-KR" sz="900" dirty="0" smtClean="0">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 </a:t>
            </a:r>
            <a:r>
              <a:rPr lang="en-US" altLang="ko-KR" sz="900">
                <a:latin typeface="Arial" panose="020B0604020202020204" pitchFamily="34" charset="0"/>
                <a:cs typeface="Arial" panose="020B0604020202020204" pitchFamily="34" charset="0"/>
              </a:rPr>
              <a:t> </a:t>
            </a:r>
            <a:endParaRPr lang="en-US" altLang="ko-KR" sz="900" smtClean="0">
              <a:latin typeface="Arial" panose="020B0604020202020204" pitchFamily="34" charset="0"/>
              <a:cs typeface="Arial" panose="020B0604020202020204" pitchFamily="34" charset="0"/>
            </a:endParaRPr>
          </a:p>
          <a:p>
            <a:pPr eaLnBrk="1" hangingPunct="1"/>
            <a:endParaRPr lang="en-US" altLang="ko-KR" sz="900" smtClean="0">
              <a:solidFill>
                <a:srgbClr val="FF0000"/>
              </a:solidFill>
              <a:latin typeface="Arial" panose="020B0604020202020204" pitchFamily="34" charset="0"/>
              <a:cs typeface="Arial" panose="020B0604020202020204" pitchFamily="34" charset="0"/>
            </a:endParaRPr>
          </a:p>
          <a:p>
            <a:pPr eaLnBrk="1" hangingPunct="1"/>
            <a:r>
              <a:rPr lang="en-US" altLang="ko-KR" sz="900" smtClean="0">
                <a:solidFill>
                  <a:srgbClr val="FF0000"/>
                </a:solidFill>
                <a:latin typeface="Arial" panose="020B0604020202020204" pitchFamily="34" charset="0"/>
                <a:cs typeface="Arial" panose="020B0604020202020204" pitchFamily="34" charset="0"/>
              </a:rPr>
              <a:t>A. Loại </a:t>
            </a:r>
            <a:r>
              <a:rPr lang="en-US" altLang="ko-KR" sz="900" dirty="0" err="1" smtClean="0">
                <a:solidFill>
                  <a:srgbClr val="FF0000"/>
                </a:solidFill>
                <a:latin typeface="Arial" panose="020B0604020202020204" pitchFamily="34" charset="0"/>
                <a:cs typeface="Arial" panose="020B0604020202020204" pitchFamily="34" charset="0"/>
              </a:rPr>
              <a:t>phản</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xạ</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hồi</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err="1" smtClean="0">
                <a:solidFill>
                  <a:srgbClr val="FF0000"/>
                </a:solidFill>
                <a:latin typeface="Arial" panose="020B0604020202020204" pitchFamily="34" charset="0"/>
                <a:cs typeface="Arial" panose="020B0604020202020204" pitchFamily="34" charset="0"/>
              </a:rPr>
              <a:t>quy</a:t>
            </a:r>
            <a:r>
              <a:rPr lang="en-US" altLang="ko-KR" sz="900" smtClean="0">
                <a:solidFill>
                  <a:srgbClr val="FF0000"/>
                </a:solidFill>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B.</a:t>
            </a:r>
            <a:r>
              <a:rPr lang="ko-KR" altLang="en-US" sz="90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Loại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xuyên</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thấu</a:t>
            </a:r>
            <a:r>
              <a:rPr lang="ko-KR" altLang="en-US" sz="900" smtClean="0">
                <a:latin typeface="Arial" panose="020B0604020202020204" pitchFamily="34" charset="0"/>
                <a:cs typeface="Arial" panose="020B0604020202020204" pitchFamily="34" charset="0"/>
              </a:rPr>
              <a:t>   </a:t>
            </a:r>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C.</a:t>
            </a:r>
            <a:r>
              <a:rPr lang="ko-KR" altLang="en-US" sz="90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Phản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xạ</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khuếch</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tán</a:t>
            </a:r>
            <a:r>
              <a:rPr lang="ko-KR" altLang="en-US" sz="900" smtClean="0">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D.</a:t>
            </a:r>
            <a:r>
              <a:rPr lang="ko-KR" altLang="en-US" sz="900" smtClean="0">
                <a:latin typeface="Arial" panose="020B0604020202020204" pitchFamily="34" charset="0"/>
                <a:cs typeface="Arial" panose="020B0604020202020204" pitchFamily="34" charset="0"/>
              </a:rPr>
              <a:t> </a:t>
            </a:r>
            <a:r>
              <a:rPr lang="en-US" altLang="ko-KR" sz="900" dirty="0" smtClean="0">
                <a:latin typeface="Arial" panose="020B0604020202020204" pitchFamily="34" charset="0"/>
                <a:cs typeface="Arial" panose="020B0604020202020204" pitchFamily="34" charset="0"/>
              </a:rPr>
              <a:t>Sensor </a:t>
            </a:r>
            <a:r>
              <a:rPr lang="en-US" altLang="ko-KR" sz="900" dirty="0" err="1" smtClean="0">
                <a:latin typeface="Arial" panose="020B0604020202020204" pitchFamily="34" charset="0"/>
                <a:cs typeface="Arial" panose="020B0604020202020204" pitchFamily="34" charset="0"/>
              </a:rPr>
              <a:t>móng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ngựa</a:t>
            </a:r>
            <a:endParaRPr lang="ko-KR" altLang="en-US" sz="900" dirty="0">
              <a:latin typeface="Arial" panose="020B0604020202020204" pitchFamily="34" charset="0"/>
              <a:cs typeface="Arial" panose="020B0604020202020204" pitchFamily="34" charset="0"/>
            </a:endParaRPr>
          </a:p>
        </p:txBody>
      </p:sp>
      <p:sp>
        <p:nvSpPr>
          <p:cNvPr id="8" name="Rectangle 103"/>
          <p:cNvSpPr>
            <a:spLocks noChangeArrowheads="1"/>
          </p:cNvSpPr>
          <p:nvPr/>
        </p:nvSpPr>
        <p:spPr bwMode="auto">
          <a:xfrm>
            <a:off x="140359" y="8051085"/>
            <a:ext cx="3080690" cy="7848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cs typeface="Arial" panose="020B0604020202020204" pitchFamily="34" charset="0"/>
              </a:rPr>
              <a:t>15</a:t>
            </a:r>
            <a:r>
              <a:rPr lang="en-US" altLang="ko-KR" sz="900" dirty="0">
                <a:latin typeface="Arial" panose="020B0604020202020204" pitchFamily="34" charset="0"/>
                <a:cs typeface="Arial" panose="020B0604020202020204" pitchFamily="34" charset="0"/>
              </a:rPr>
              <a:t>. </a:t>
            </a:r>
            <a:r>
              <a:rPr lang="en-US" altLang="ko-KR" sz="900" dirty="0" smtClean="0">
                <a:latin typeface="Arial" panose="020B0604020202020204" pitchFamily="34" charset="0"/>
                <a:cs typeface="Arial" panose="020B0604020202020204" pitchFamily="34" charset="0"/>
              </a:rPr>
              <a:t>‘</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giá</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trị</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độ</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được</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gọi</a:t>
            </a:r>
            <a:r>
              <a:rPr lang="en-US" altLang="ko-KR" sz="900" smtClean="0">
                <a:latin typeface="Arial" panose="020B0604020202020204" pitchFamily="34" charset="0"/>
                <a:cs typeface="Arial" panose="020B0604020202020204" pitchFamily="34" charset="0"/>
              </a:rPr>
              <a:t>  là </a:t>
            </a:r>
            <a:r>
              <a:rPr lang="en-US" altLang="ko-KR" sz="900" err="1" smtClean="0">
                <a:latin typeface="Arial" panose="020B0604020202020204" pitchFamily="34" charset="0"/>
                <a:cs typeface="Arial" panose="020B0604020202020204" pitchFamily="34" charset="0"/>
              </a:rPr>
              <a:t>gì</a:t>
            </a:r>
            <a:r>
              <a:rPr lang="en-US" altLang="ko-KR" sz="900" smtClean="0">
                <a:latin typeface="Arial" panose="020B0604020202020204" pitchFamily="34" charset="0"/>
                <a:cs typeface="Arial" panose="020B0604020202020204" pitchFamily="34" charset="0"/>
              </a:rPr>
              <a:t> ?</a:t>
            </a:r>
            <a:endParaRPr lang="en-US" altLang="ko-KR" sz="900" dirty="0">
              <a:latin typeface="Arial" panose="020B0604020202020204" pitchFamily="34" charset="0"/>
              <a:cs typeface="Arial" panose="020B0604020202020204" pitchFamily="34" charset="0"/>
            </a:endParaRPr>
          </a:p>
          <a:p>
            <a:pPr eaLnBrk="1" hangingPunct="1"/>
            <a:r>
              <a:rPr lang="en-US" altLang="ko-KR" sz="900">
                <a:latin typeface="Arial" panose="020B0604020202020204" pitchFamily="34" charset="0"/>
                <a:cs typeface="Arial" panose="020B0604020202020204" pitchFamily="34" charset="0"/>
              </a:rPr>
              <a:t> </a:t>
            </a:r>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 A. </a:t>
            </a:r>
            <a:r>
              <a:rPr lang="en-US" altLang="ko-KR" sz="900">
                <a:latin typeface="Arial" panose="020B0604020202020204" pitchFamily="34" charset="0"/>
                <a:cs typeface="Arial" panose="020B0604020202020204" pitchFamily="34" charset="0"/>
              </a:rPr>
              <a:t>CTR  </a:t>
            </a:r>
            <a:r>
              <a:rPr lang="en-US" altLang="ko-KR" sz="900" smtClean="0">
                <a:latin typeface="Arial" panose="020B0604020202020204" pitchFamily="34" charset="0"/>
                <a:cs typeface="Arial" panose="020B0604020202020204" pitchFamily="34" charset="0"/>
              </a:rPr>
              <a:t>        B. </a:t>
            </a:r>
            <a:r>
              <a:rPr lang="en-US" altLang="ko-KR" sz="900">
                <a:latin typeface="Arial" panose="020B0604020202020204" pitchFamily="34" charset="0"/>
                <a:cs typeface="Arial" panose="020B0604020202020204" pitchFamily="34" charset="0"/>
              </a:rPr>
              <a:t>NTC </a:t>
            </a:r>
            <a:r>
              <a:rPr lang="en-US" altLang="ko-KR" sz="900" smtClean="0">
                <a:latin typeface="Arial" panose="020B0604020202020204" pitchFamily="34" charset="0"/>
                <a:cs typeface="Arial" panose="020B0604020202020204" pitchFamily="34" charset="0"/>
              </a:rPr>
              <a:t>          </a:t>
            </a:r>
            <a:r>
              <a:rPr lang="en-US" altLang="ko-KR" sz="900" smtClean="0">
                <a:solidFill>
                  <a:srgbClr val="FF0000"/>
                </a:solidFill>
                <a:latin typeface="Arial" panose="020B0604020202020204" pitchFamily="34" charset="0"/>
                <a:cs typeface="Arial" panose="020B0604020202020204" pitchFamily="34" charset="0"/>
              </a:rPr>
              <a:t>C. </a:t>
            </a:r>
            <a:r>
              <a:rPr lang="en-US" altLang="ko-KR" sz="900">
                <a:solidFill>
                  <a:srgbClr val="FF0000"/>
                </a:solidFill>
                <a:latin typeface="Arial" panose="020B0604020202020204" pitchFamily="34" charset="0"/>
                <a:cs typeface="Arial" panose="020B0604020202020204" pitchFamily="34" charset="0"/>
              </a:rPr>
              <a:t>PTC </a:t>
            </a:r>
            <a:r>
              <a:rPr lang="en-US" altLang="ko-KR" sz="900" smtClean="0">
                <a:solidFill>
                  <a:srgbClr val="FF0000"/>
                </a:solidFill>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D. </a:t>
            </a:r>
            <a:r>
              <a:rPr lang="en-US" altLang="ko-KR" sz="900" dirty="0">
                <a:latin typeface="Arial" panose="020B0604020202020204" pitchFamily="34" charset="0"/>
                <a:cs typeface="Arial" panose="020B0604020202020204" pitchFamily="34" charset="0"/>
              </a:rPr>
              <a:t>TTR</a:t>
            </a:r>
          </a:p>
          <a:p>
            <a:pPr eaLnBrk="1" hangingPunct="1"/>
            <a:endParaRPr lang="en-US" altLang="ko-KR" sz="900" dirty="0">
              <a:latin typeface="Arial" panose="020B0604020202020204" pitchFamily="34" charset="0"/>
              <a:cs typeface="Arial" panose="020B0604020202020204" pitchFamily="34" charset="0"/>
            </a:endParaRPr>
          </a:p>
        </p:txBody>
      </p:sp>
      <p:sp>
        <p:nvSpPr>
          <p:cNvPr id="9" name="Rectangle 8"/>
          <p:cNvSpPr/>
          <p:nvPr/>
        </p:nvSpPr>
        <p:spPr>
          <a:xfrm>
            <a:off x="134017" y="920552"/>
            <a:ext cx="3429000" cy="646331"/>
          </a:xfrm>
          <a:prstGeom prst="rect">
            <a:avLst/>
          </a:prstGeom>
        </p:spPr>
        <p:txBody>
          <a:bodyPr>
            <a:spAutoFit/>
          </a:bodyPr>
          <a:lstStyle/>
          <a:p>
            <a:r>
              <a:rPr lang="vi-VN" altLang="ko-KR" sz="900" smtClean="0">
                <a:latin typeface="Arial" pitchFamily="34" charset="0"/>
                <a:ea typeface="돋움" pitchFamily="50" charset="-127"/>
                <a:cs typeface="Arial" pitchFamily="34" charset="0"/>
              </a:rPr>
              <a:t>1</a:t>
            </a:r>
            <a:r>
              <a:rPr lang="en-US" altLang="ko-KR" sz="900" smtClean="0">
                <a:latin typeface="Arial" pitchFamily="34" charset="0"/>
                <a:ea typeface="돋움" pitchFamily="50" charset="-127"/>
                <a:cs typeface="Arial" pitchFamily="34" charset="0"/>
              </a:rPr>
              <a:t>1</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Điện áp ngưỡng thuận của diode Zener 9.1V / </a:t>
            </a:r>
            <a:r>
              <a:rPr lang="vi-VN" altLang="ko-KR" sz="900" smtClean="0">
                <a:latin typeface="Arial" pitchFamily="34" charset="0"/>
                <a:ea typeface="돋움" pitchFamily="50" charset="-127"/>
                <a:cs typeface="Arial" pitchFamily="34" charset="0"/>
              </a:rPr>
              <a:t>Si </a:t>
            </a:r>
            <a:r>
              <a:rPr lang="vi-VN" altLang="ko-KR" sz="900">
                <a:latin typeface="Arial" pitchFamily="34" charset="0"/>
                <a:ea typeface="돋움" pitchFamily="50" charset="-127"/>
                <a:cs typeface="Arial" pitchFamily="34" charset="0"/>
              </a:rPr>
              <a:t>là bao nhiêu?</a:t>
            </a:r>
            <a:endParaRPr lang="en-US" altLang="ko-KR" sz="900">
              <a:latin typeface="Arial" pitchFamily="34" charset="0"/>
              <a:ea typeface="돋움" pitchFamily="50" charset="-127"/>
              <a:cs typeface="Arial" pitchFamily="34" charset="0"/>
            </a:endParaRP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 </a:t>
            </a:r>
          </a:p>
          <a:p>
            <a:r>
              <a:rPr lang="en-US" altLang="ko-KR" sz="900" smtClean="0">
                <a:latin typeface="Arial" pitchFamily="34" charset="0"/>
                <a:ea typeface="돋움" pitchFamily="50" charset="-127"/>
                <a:cs typeface="Arial" pitchFamily="34" charset="0"/>
              </a:rPr>
              <a:t>A </a:t>
            </a:r>
            <a:r>
              <a:rPr lang="en-US" altLang="ko-KR" sz="900">
                <a:latin typeface="Arial" pitchFamily="34" charset="0"/>
                <a:ea typeface="돋움" pitchFamily="50" charset="-127"/>
                <a:cs typeface="Arial" pitchFamily="34" charset="0"/>
              </a:rPr>
              <a:t>0,2V        </a:t>
            </a:r>
            <a:r>
              <a:rPr lang="en-US" altLang="ko-KR" sz="900" smtClean="0">
                <a:latin typeface="Arial" pitchFamily="34" charset="0"/>
                <a:ea typeface="돋움" pitchFamily="50" charset="-127"/>
                <a:cs typeface="Arial" pitchFamily="34" charset="0"/>
              </a:rPr>
              <a:t>    </a:t>
            </a:r>
            <a:r>
              <a:rPr lang="en-US" altLang="ko-KR" sz="900" smtClean="0">
                <a:solidFill>
                  <a:srgbClr val="FF0000"/>
                </a:solidFill>
                <a:latin typeface="Arial" pitchFamily="34" charset="0"/>
                <a:ea typeface="돋움" pitchFamily="50" charset="-127"/>
                <a:cs typeface="Arial" pitchFamily="34" charset="0"/>
              </a:rPr>
              <a:t>B 0,7V       </a:t>
            </a:r>
            <a:r>
              <a:rPr lang="en-US" altLang="ko-KR" sz="900" smtClean="0">
                <a:latin typeface="Arial" pitchFamily="34" charset="0"/>
                <a:ea typeface="돋움" pitchFamily="50" charset="-127"/>
                <a:cs typeface="Arial" pitchFamily="34" charset="0"/>
              </a:rPr>
              <a:t>  C </a:t>
            </a:r>
            <a:r>
              <a:rPr lang="en-US" altLang="ko-KR" sz="900">
                <a:latin typeface="Arial" pitchFamily="34" charset="0"/>
                <a:ea typeface="돋움" pitchFamily="50" charset="-127"/>
                <a:cs typeface="Arial" pitchFamily="34" charset="0"/>
              </a:rPr>
              <a:t>2,9V               </a:t>
            </a:r>
            <a:r>
              <a:rPr lang="en-US" altLang="ko-KR" sz="900" smtClean="0">
                <a:latin typeface="Arial" pitchFamily="34" charset="0"/>
                <a:ea typeface="돋움" pitchFamily="50" charset="-127"/>
                <a:cs typeface="Arial" pitchFamily="34" charset="0"/>
              </a:rPr>
              <a:t>D </a:t>
            </a:r>
            <a:r>
              <a:rPr lang="en-US" altLang="ko-KR" sz="900">
                <a:latin typeface="Arial" pitchFamily="34" charset="0"/>
                <a:ea typeface="돋움" pitchFamily="50" charset="-127"/>
                <a:cs typeface="Arial" pitchFamily="34" charset="0"/>
              </a:rPr>
              <a:t>9.1V</a:t>
            </a:r>
          </a:p>
        </p:txBody>
      </p:sp>
      <p:sp>
        <p:nvSpPr>
          <p:cNvPr id="10" name="Rectangle 9"/>
          <p:cNvSpPr/>
          <p:nvPr/>
        </p:nvSpPr>
        <p:spPr>
          <a:xfrm>
            <a:off x="116632" y="4306669"/>
            <a:ext cx="3429000" cy="646331"/>
          </a:xfrm>
          <a:prstGeom prst="rect">
            <a:avLst/>
          </a:prstGeom>
        </p:spPr>
        <p:txBody>
          <a:bodyPr>
            <a:spAutoFit/>
          </a:bodyPr>
          <a:lstStyle/>
          <a:p>
            <a:r>
              <a:rPr lang="en-US" altLang="ko-KR" sz="900" smtClean="0">
                <a:latin typeface="Arial" pitchFamily="34" charset="0"/>
                <a:ea typeface="돋움" pitchFamily="50" charset="-127"/>
                <a:cs typeface="Arial" pitchFamily="34" charset="0"/>
              </a:rPr>
              <a:t>13</a:t>
            </a:r>
            <a:r>
              <a:rPr lang="vi-VN"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G</a:t>
            </a:r>
            <a:r>
              <a:rPr lang="vi-VN" altLang="ko-KR" sz="900">
                <a:latin typeface="Arial" pitchFamily="34" charset="0"/>
                <a:ea typeface="돋움" pitchFamily="50" charset="-127"/>
                <a:cs typeface="Arial" pitchFamily="34" charset="0"/>
              </a:rPr>
              <a:t>iá trị đỉnh</a:t>
            </a:r>
            <a:r>
              <a:rPr lang="en-US" altLang="ko-KR" sz="90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 đỉnh là 10V</a:t>
            </a:r>
            <a:r>
              <a:rPr lang="en-US" altLang="ko-KR" sz="900">
                <a:latin typeface="Arial" pitchFamily="34" charset="0"/>
                <a:ea typeface="돋움" pitchFamily="50" charset="-127"/>
                <a:cs typeface="Arial" pitchFamily="34" charset="0"/>
              </a:rPr>
              <a:t>. Vậy giá trị Vave</a:t>
            </a:r>
            <a:r>
              <a:rPr lang="vi-VN" altLang="ko-KR" sz="900">
                <a:latin typeface="Arial" pitchFamily="34" charset="0"/>
                <a:ea typeface="돋움" pitchFamily="50" charset="-127"/>
                <a:cs typeface="Arial" pitchFamily="34" charset="0"/>
              </a:rPr>
              <a:t> là bao nhiêu?</a:t>
            </a:r>
          </a:p>
          <a:p>
            <a:endParaRPr lang="en-US" altLang="ko-KR" sz="900">
              <a:latin typeface="Arial" pitchFamily="34" charset="0"/>
              <a:ea typeface="돋움" pitchFamily="50" charset="-127"/>
              <a:cs typeface="Arial" pitchFamily="34" charset="0"/>
            </a:endParaRP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A. </a:t>
            </a:r>
            <a:r>
              <a:rPr lang="en-US" altLang="ko-KR" sz="900">
                <a:latin typeface="Arial" pitchFamily="34" charset="0"/>
                <a:ea typeface="돋움" pitchFamily="50" charset="-127"/>
                <a:cs typeface="Arial" pitchFamily="34" charset="0"/>
              </a:rPr>
              <a:t>7,07    </a:t>
            </a:r>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6,37  </a:t>
            </a:r>
            <a:r>
              <a:rPr lang="en-US" altLang="ko-KR" sz="900" smtClean="0">
                <a:latin typeface="Arial" pitchFamily="34" charset="0"/>
                <a:ea typeface="돋움" pitchFamily="50" charset="-127"/>
                <a:cs typeface="Arial" pitchFamily="34" charset="0"/>
              </a:rPr>
              <a:t>         C. 3,535              </a:t>
            </a:r>
            <a:r>
              <a:rPr lang="en-US" altLang="ko-KR" sz="900" smtClean="0">
                <a:solidFill>
                  <a:srgbClr val="FF0000"/>
                </a:solidFill>
                <a:latin typeface="Arial" pitchFamily="34" charset="0"/>
                <a:ea typeface="돋움" pitchFamily="50" charset="-127"/>
                <a:cs typeface="Arial" pitchFamily="34" charset="0"/>
              </a:rPr>
              <a:t>D. </a:t>
            </a:r>
            <a:r>
              <a:rPr lang="en-US" altLang="ko-KR" sz="900">
                <a:solidFill>
                  <a:srgbClr val="FF0000"/>
                </a:solidFill>
                <a:latin typeface="Arial" pitchFamily="34" charset="0"/>
                <a:ea typeface="돋움" pitchFamily="50" charset="-127"/>
                <a:cs typeface="Arial" pitchFamily="34" charset="0"/>
              </a:rPr>
              <a:t>3,185</a:t>
            </a:r>
          </a:p>
          <a:p>
            <a:endParaRPr lang="en-US" altLang="ko-KR" sz="900">
              <a:latin typeface="Arial" pitchFamily="34" charset="0"/>
              <a:ea typeface="돋움" pitchFamily="50" charset="-127"/>
              <a:cs typeface="Arial" pitchFamily="34" charset="0"/>
            </a:endParaRPr>
          </a:p>
        </p:txBody>
      </p:sp>
      <p:sp>
        <p:nvSpPr>
          <p:cNvPr id="11" name="Rectangle 10"/>
          <p:cNvSpPr/>
          <p:nvPr/>
        </p:nvSpPr>
        <p:spPr>
          <a:xfrm>
            <a:off x="124329" y="6045894"/>
            <a:ext cx="3429000" cy="923330"/>
          </a:xfrm>
          <a:prstGeom prst="rect">
            <a:avLst/>
          </a:prstGeom>
        </p:spPr>
        <p:txBody>
          <a:bodyPr>
            <a:spAutoFit/>
          </a:bodyPr>
          <a:lstStyle/>
          <a:p>
            <a:r>
              <a:rPr lang="vi-VN" altLang="ko-KR" sz="900" smtClean="0">
                <a:latin typeface="Arial" pitchFamily="34" charset="0"/>
                <a:ea typeface="돋움" pitchFamily="50" charset="-127"/>
                <a:cs typeface="Arial" pitchFamily="34" charset="0"/>
              </a:rPr>
              <a:t>1</a:t>
            </a:r>
            <a:r>
              <a:rPr lang="en-US" altLang="ko-KR" sz="900" smtClean="0">
                <a:latin typeface="Arial" pitchFamily="34" charset="0"/>
                <a:ea typeface="돋움" pitchFamily="50" charset="-127"/>
                <a:cs typeface="Arial" pitchFamily="34" charset="0"/>
              </a:rPr>
              <a:t>4</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Đ</a:t>
            </a:r>
            <a:r>
              <a:rPr lang="en-US" altLang="ko-KR" sz="900">
                <a:latin typeface="Arial" pitchFamily="34" charset="0"/>
                <a:ea typeface="돋움" pitchFamily="50" charset="-127"/>
                <a:cs typeface="Arial" pitchFamily="34" charset="0"/>
              </a:rPr>
              <a:t>âu</a:t>
            </a:r>
            <a:r>
              <a:rPr lang="vi-VN" altLang="ko-KR" sz="900">
                <a:latin typeface="Arial" pitchFamily="34" charset="0"/>
                <a:ea typeface="돋움" pitchFamily="50" charset="-127"/>
                <a:cs typeface="Arial" pitchFamily="34" charset="0"/>
              </a:rPr>
              <a:t> không phải là đặc điểm của Photo Coupler?</a:t>
            </a:r>
          </a:p>
          <a:p>
            <a:r>
              <a:rPr lang="en-US" altLang="ko-KR" sz="900">
                <a:latin typeface="Arial" pitchFamily="34" charset="0"/>
                <a:ea typeface="돋움" pitchFamily="50" charset="-127"/>
                <a:cs typeface="Arial" pitchFamily="34" charset="0"/>
              </a:rPr>
              <a:t>  </a:t>
            </a:r>
          </a:p>
          <a:p>
            <a:r>
              <a:rPr lang="vi-VN" altLang="ko-KR" sz="90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A</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Tốc độ phản hồi nhanh</a:t>
            </a:r>
          </a:p>
          <a:p>
            <a:r>
              <a:rPr lang="en-US" altLang="ko-KR" sz="900">
                <a:latin typeface="Arial" pitchFamily="34" charset="0"/>
                <a:ea typeface="돋움" pitchFamily="50" charset="-127"/>
                <a:cs typeface="Arial" pitchFamily="34" charset="0"/>
              </a:rPr>
              <a:t>  </a:t>
            </a:r>
            <a:r>
              <a:rPr lang="en-US" altLang="ko-KR" sz="900" smtClean="0">
                <a:solidFill>
                  <a:srgbClr val="FF0000"/>
                </a:solidFill>
                <a:latin typeface="Arial" pitchFamily="34" charset="0"/>
                <a:ea typeface="돋움" pitchFamily="50" charset="-127"/>
                <a:cs typeface="Arial" pitchFamily="34" charset="0"/>
              </a:rPr>
              <a:t>B </a:t>
            </a:r>
            <a:r>
              <a:rPr lang="en-US" altLang="ko-KR" sz="900">
                <a:solidFill>
                  <a:srgbClr val="FF0000"/>
                </a:solidFill>
                <a:latin typeface="Arial" pitchFamily="34" charset="0"/>
                <a:ea typeface="돋움" pitchFamily="50" charset="-127"/>
                <a:cs typeface="Arial" pitchFamily="34" charset="0"/>
              </a:rPr>
              <a:t>Truyền tín hiệu dạng hai chiều</a:t>
            </a:r>
          </a:p>
          <a:p>
            <a:r>
              <a:rPr lang="vi-VN"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Có độ tin cậy cao</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D </a:t>
            </a:r>
            <a:r>
              <a:rPr lang="en-US" altLang="ko-KR" sz="900">
                <a:latin typeface="Arial" pitchFamily="34" charset="0"/>
                <a:ea typeface="돋움" pitchFamily="50" charset="-127"/>
                <a:cs typeface="Arial" pitchFamily="34" charset="0"/>
              </a:rPr>
              <a:t>Chống </a:t>
            </a:r>
            <a:r>
              <a:rPr lang="en-US" altLang="ko-KR" sz="900" smtClean="0">
                <a:latin typeface="Arial" pitchFamily="34" charset="0"/>
                <a:ea typeface="돋움" pitchFamily="50" charset="-127"/>
                <a:cs typeface="Arial" pitchFamily="34" charset="0"/>
              </a:rPr>
              <a:t>ồn</a:t>
            </a:r>
            <a:endParaRPr lang="en-US" altLang="ko-KR" sz="900">
              <a:latin typeface="Arial" pitchFamily="34" charset="0"/>
              <a:ea typeface="돋움" pitchFamily="50" charset="-127"/>
              <a:cs typeface="Arial" pitchFamily="34" charset="0"/>
            </a:endParaRPr>
          </a:p>
        </p:txBody>
      </p:sp>
      <p:sp>
        <p:nvSpPr>
          <p:cNvPr id="12" name="Rectangle 161"/>
          <p:cNvSpPr>
            <a:spLocks noChangeArrowheads="1"/>
          </p:cNvSpPr>
          <p:nvPr/>
        </p:nvSpPr>
        <p:spPr bwMode="auto">
          <a:xfrm>
            <a:off x="3460960" y="2589510"/>
            <a:ext cx="3268220" cy="10618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anose="020B0604020202020204" pitchFamily="34" charset="0"/>
                <a:cs typeface="Arial" panose="020B0604020202020204" pitchFamily="34" charset="0"/>
              </a:rPr>
              <a:t>17.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đáp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án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không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phải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là</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đặc</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điểm</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của</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smtClean="0">
                <a:latin typeface="Arial" panose="020B0604020202020204" pitchFamily="34" charset="0"/>
                <a:cs typeface="Arial" panose="020B0604020202020204" pitchFamily="34" charset="0"/>
              </a:rPr>
              <a:t>? </a:t>
            </a:r>
            <a:endParaRPr lang="en-US" altLang="ko-KR" sz="900" dirty="0">
              <a:latin typeface="Arial" panose="020B0604020202020204" pitchFamily="34" charset="0"/>
              <a:cs typeface="Arial" panose="020B0604020202020204" pitchFamily="34" charset="0"/>
            </a:endParaRPr>
          </a:p>
          <a:p>
            <a:pPr eaLnBrk="1" hangingPunct="1"/>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A. </a:t>
            </a:r>
            <a:r>
              <a:rPr lang="en-US" altLang="ko-KR" sz="900" dirty="0" err="1" smtClean="0">
                <a:latin typeface="Arial" panose="020B0604020202020204" pitchFamily="34" charset="0"/>
                <a:cs typeface="Arial" panose="020B0604020202020204" pitchFamily="34" charset="0"/>
              </a:rPr>
              <a:t>Cấu</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trúc</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đơn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giản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nên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thể</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thiết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kế</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nhỏ</a:t>
            </a:r>
            <a:r>
              <a:rPr lang="en-US" altLang="ko-KR" sz="900" dirty="0" smtClean="0">
                <a:latin typeface="Arial" panose="020B0604020202020204" pitchFamily="34" charset="0"/>
                <a:cs typeface="Arial" panose="020B0604020202020204" pitchFamily="34" charset="0"/>
              </a:rPr>
              <a:t>.       </a:t>
            </a:r>
            <a:endParaRPr lang="en-US" altLang="ko-KR" sz="900" dirty="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B.Không nhạy với áp suất và từ tính</a:t>
            </a:r>
            <a:endParaRPr lang="en-US" altLang="ko-KR" sz="900" dirty="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C.  </a:t>
            </a:r>
            <a:r>
              <a:rPr lang="en-US" altLang="ko-KR" sz="900" dirty="0" err="1" smtClean="0">
                <a:latin typeface="Arial" panose="020B0604020202020204" pitchFamily="34" charset="0"/>
                <a:cs typeface="Arial" panose="020B0604020202020204" pitchFamily="34" charset="0"/>
              </a:rPr>
              <a:t>Tính</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sản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xuất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đại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trà</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tốt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khả</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cung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cấp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số</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lượng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lớn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với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giá</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ổn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định</a:t>
            </a:r>
            <a:endParaRPr lang="ko-KR" altLang="en-US" sz="900" dirty="0">
              <a:latin typeface="Arial" panose="020B0604020202020204" pitchFamily="34" charset="0"/>
              <a:cs typeface="Arial" panose="020B0604020202020204" pitchFamily="34" charset="0"/>
            </a:endParaRPr>
          </a:p>
          <a:p>
            <a:pPr eaLnBrk="1" hangingPunct="1"/>
            <a:r>
              <a:rPr lang="en-US" altLang="ko-KR" sz="900" smtClean="0">
                <a:solidFill>
                  <a:srgbClr val="FF0000"/>
                </a:solidFill>
                <a:latin typeface="Arial" panose="020B0604020202020204" pitchFamily="34" charset="0"/>
                <a:cs typeface="Arial" panose="020B0604020202020204" pitchFamily="34" charset="0"/>
              </a:rPr>
              <a:t>D.</a:t>
            </a:r>
            <a:r>
              <a:rPr lang="ko-KR" altLang="en-US" sz="90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Là</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tiếp</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điểm</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cơ</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nên</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tính</a:t>
            </a:r>
            <a:r>
              <a:rPr lang="en-US" altLang="ko-KR" sz="900" dirty="0" smtClean="0">
                <a:solidFill>
                  <a:srgbClr val="FF0000"/>
                </a:solidFill>
                <a:latin typeface="Arial" panose="020B0604020202020204" pitchFamily="34" charset="0"/>
                <a:cs typeface="Arial" panose="020B0604020202020204" pitchFamily="34" charset="0"/>
              </a:rPr>
              <a:t> tin </a:t>
            </a:r>
            <a:r>
              <a:rPr lang="en-US" altLang="ko-KR" sz="900" dirty="0" err="1" smtClean="0">
                <a:solidFill>
                  <a:srgbClr val="FF0000"/>
                </a:solidFill>
                <a:latin typeface="Arial" panose="020B0604020202020204" pitchFamily="34" charset="0"/>
                <a:cs typeface="Arial" panose="020B0604020202020204" pitchFamily="34" charset="0"/>
              </a:rPr>
              <a:t>cậy</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cao</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và</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ít</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bị</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biến</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đổi</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nhỏ</a:t>
            </a:r>
            <a:r>
              <a:rPr lang="en-US" altLang="ko-KR" sz="900" dirty="0" smtClean="0">
                <a:solidFill>
                  <a:srgbClr val="FF0000"/>
                </a:solidFill>
                <a:latin typeface="Arial" panose="020B0604020202020204" pitchFamily="34" charset="0"/>
                <a:cs typeface="Arial" panose="020B0604020202020204" pitchFamily="34" charset="0"/>
              </a:rPr>
              <a:t>.</a:t>
            </a:r>
            <a:endParaRPr lang="en-US" altLang="ko-KR" sz="900" dirty="0">
              <a:solidFill>
                <a:srgbClr val="FF0000"/>
              </a:solidFill>
              <a:latin typeface="Arial" panose="020B0604020202020204" pitchFamily="34" charset="0"/>
              <a:cs typeface="Arial" panose="020B0604020202020204" pitchFamily="34" charset="0"/>
            </a:endParaRPr>
          </a:p>
        </p:txBody>
      </p:sp>
      <p:sp>
        <p:nvSpPr>
          <p:cNvPr id="13" name="Rectangle 196"/>
          <p:cNvSpPr>
            <a:spLocks noChangeArrowheads="1"/>
          </p:cNvSpPr>
          <p:nvPr/>
        </p:nvSpPr>
        <p:spPr bwMode="auto">
          <a:xfrm>
            <a:off x="3456384" y="4304928"/>
            <a:ext cx="3429000" cy="5078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itchFamily="34" charset="0"/>
                <a:cs typeface="Arial" panose="020B0604020202020204" pitchFamily="34" charset="0"/>
              </a:rPr>
              <a:t>18.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kí</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hiệu</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của</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mạch</a:t>
            </a:r>
            <a:r>
              <a:rPr lang="en-US" altLang="ko-KR" sz="900" dirty="0" smtClean="0">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SCR?</a:t>
            </a:r>
            <a:endParaRPr lang="en-US" altLang="ko-KR" sz="900" dirty="0">
              <a:latin typeface="Arial" panose="020B0604020202020204" pitchFamily="34" charset="0"/>
              <a:cs typeface="Arial" panose="020B0604020202020204" pitchFamily="34" charset="0"/>
            </a:endParaRPr>
          </a:p>
          <a:p>
            <a:pPr eaLnBrk="1" hangingPunct="1"/>
            <a:endParaRPr lang="en-US" altLang="ko-KR" sz="900" smtClean="0">
              <a:solidFill>
                <a:srgbClr val="FF0000"/>
              </a:solidFill>
              <a:latin typeface="Arial" panose="020B0604020202020204" pitchFamily="34" charset="0"/>
              <a:cs typeface="Arial" panose="020B0604020202020204" pitchFamily="34" charset="0"/>
            </a:endParaRPr>
          </a:p>
          <a:p>
            <a:pPr eaLnBrk="1" hangingPunct="1"/>
            <a:r>
              <a:rPr lang="en-US" altLang="ko-KR" sz="900" smtClean="0">
                <a:solidFill>
                  <a:srgbClr val="FF0000"/>
                </a:solidFill>
                <a:latin typeface="Arial" panose="020B0604020202020204" pitchFamily="34" charset="0"/>
                <a:cs typeface="Arial" panose="020B0604020202020204" pitchFamily="34" charset="0"/>
              </a:rPr>
              <a:t>A.</a:t>
            </a:r>
            <a:r>
              <a:rPr lang="en-US" altLang="ko-KR" sz="900" smtClean="0">
                <a:latin typeface="Arial" panose="020B0604020202020204" pitchFamily="34" charset="0"/>
                <a:cs typeface="Arial" panose="020B0604020202020204" pitchFamily="34" charset="0"/>
              </a:rPr>
              <a:t>                    B.                      C.                     D.</a:t>
            </a:r>
            <a:endParaRPr lang="en-US" altLang="ko-KR" sz="900" dirty="0">
              <a:latin typeface="Arial" panose="020B0604020202020204" pitchFamily="34" charset="0"/>
              <a:cs typeface="Arial" panose="020B0604020202020204" pitchFamily="34" charset="0"/>
            </a:endParaRPr>
          </a:p>
        </p:txBody>
      </p:sp>
      <p:pic>
        <p:nvPicPr>
          <p:cNvPr id="14" name="Picture 19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4474" y="4754809"/>
            <a:ext cx="617538"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9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89984" y="4764829"/>
            <a:ext cx="688975"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9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6546" y="4755306"/>
            <a:ext cx="466725"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0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96584" y="4771256"/>
            <a:ext cx="396864"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213"/>
          <p:cNvSpPr>
            <a:spLocks noChangeArrowheads="1"/>
          </p:cNvSpPr>
          <p:nvPr/>
        </p:nvSpPr>
        <p:spPr bwMode="auto">
          <a:xfrm>
            <a:off x="3428614" y="6062444"/>
            <a:ext cx="3179763" cy="133882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itchFamily="34" charset="0"/>
                <a:cs typeface="Arial" panose="020B0604020202020204" pitchFamily="34" charset="0"/>
              </a:rPr>
              <a:t>19.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đáp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án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đúng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với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áp</a:t>
            </a:r>
            <a:r>
              <a:rPr lang="en-US" altLang="ko-KR" sz="900" dirty="0" smtClean="0">
                <a:latin typeface="Arial" panose="020B0604020202020204" pitchFamily="34" charset="0"/>
                <a:cs typeface="Arial" panose="020B0604020202020204" pitchFamily="34" charset="0"/>
              </a:rPr>
              <a:t> ở </a:t>
            </a:r>
            <a:r>
              <a:rPr lang="en-US" altLang="ko-KR" sz="900" dirty="0" err="1" smtClean="0">
                <a:latin typeface="Arial" panose="020B0604020202020204" pitchFamily="34" charset="0"/>
                <a:cs typeface="Arial" panose="020B0604020202020204" pitchFamily="34" charset="0"/>
              </a:rPr>
              <a:t>hai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đầu</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điểm</a:t>
            </a:r>
            <a:r>
              <a:rPr lang="en-US" altLang="ko-KR" sz="900" dirty="0" smtClean="0">
                <a:latin typeface="Arial" panose="020B0604020202020204" pitchFamily="34" charset="0"/>
                <a:cs typeface="Arial" panose="020B0604020202020204" pitchFamily="34" charset="0"/>
              </a:rPr>
              <a:t> A </a:t>
            </a:r>
            <a:r>
              <a:rPr lang="en-US" altLang="ko-KR" sz="900" dirty="0" err="1" smtClean="0">
                <a:latin typeface="Arial" panose="020B0604020202020204" pitchFamily="34" charset="0"/>
                <a:cs typeface="Arial" panose="020B0604020202020204" pitchFamily="34" charset="0"/>
              </a:rPr>
              <a:t>trong</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mạch</a:t>
            </a:r>
            <a:r>
              <a:rPr lang="en-US" altLang="ko-KR" sz="900" smtClean="0">
                <a:latin typeface="Arial" panose="020B0604020202020204" pitchFamily="34" charset="0"/>
                <a:cs typeface="Arial" panose="020B0604020202020204" pitchFamily="34" charset="0"/>
              </a:rPr>
              <a:t> sau?</a:t>
            </a:r>
            <a:endParaRPr lang="en-US" altLang="ko-KR" sz="900" dirty="0">
              <a:latin typeface="Arial" panose="020B0604020202020204" pitchFamily="34" charset="0"/>
              <a:cs typeface="Arial" panose="020B0604020202020204" pitchFamily="34" charset="0"/>
            </a:endParaRPr>
          </a:p>
          <a:p>
            <a:pPr eaLnBrk="1" hangingPunct="1"/>
            <a:endParaRPr lang="en-US" altLang="ko-KR" sz="900" dirty="0">
              <a:latin typeface="Arial" panose="020B0604020202020204" pitchFamily="34" charset="0"/>
              <a:cs typeface="Arial" panose="020B0604020202020204" pitchFamily="34" charset="0"/>
            </a:endParaRPr>
          </a:p>
          <a:p>
            <a:pPr eaLnBrk="1" hangingPunct="1"/>
            <a:r>
              <a:rPr lang="en-US" altLang="ko-KR" sz="900" smtClean="0">
                <a:solidFill>
                  <a:srgbClr val="FF0000"/>
                </a:solidFill>
                <a:latin typeface="Arial" panose="020B0604020202020204" pitchFamily="34" charset="0"/>
                <a:cs typeface="Arial" panose="020B0604020202020204" pitchFamily="34" charset="0"/>
              </a:rPr>
              <a:t>A. 0V</a:t>
            </a:r>
          </a:p>
          <a:p>
            <a:pPr eaLnBrk="1" hangingPunct="1"/>
            <a:r>
              <a:rPr lang="en-US" altLang="ko-KR" sz="900" smtClean="0">
                <a:latin typeface="Arial" panose="020B0604020202020204" pitchFamily="34" charset="0"/>
                <a:cs typeface="Arial" panose="020B0604020202020204" pitchFamily="34" charset="0"/>
              </a:rPr>
              <a:t>B. 15V</a:t>
            </a:r>
          </a:p>
          <a:p>
            <a:pPr eaLnBrk="1" hangingPunct="1"/>
            <a:r>
              <a:rPr lang="en-US" altLang="ko-KR" sz="900" smtClean="0">
                <a:latin typeface="Arial" panose="020B0604020202020204" pitchFamily="34" charset="0"/>
                <a:cs typeface="Arial" panose="020B0604020202020204" pitchFamily="34" charset="0"/>
              </a:rPr>
              <a:t>C. 0.7V</a:t>
            </a:r>
          </a:p>
          <a:p>
            <a:pPr eaLnBrk="1" hangingPunct="1"/>
            <a:r>
              <a:rPr lang="en-US" altLang="ko-KR" sz="900" smtClean="0">
                <a:latin typeface="Arial" panose="020B0604020202020204" pitchFamily="34" charset="0"/>
                <a:cs typeface="Arial" panose="020B0604020202020204" pitchFamily="34" charset="0"/>
              </a:rPr>
              <a:t>D. 14.3V</a:t>
            </a:r>
          </a:p>
          <a:p>
            <a:pPr eaLnBrk="1" hangingPunct="1"/>
            <a:endParaRPr lang="en-US" altLang="ko-KR" sz="900" dirty="0">
              <a:latin typeface="Arial" panose="020B0604020202020204" pitchFamily="34" charset="0"/>
              <a:cs typeface="Arial" panose="020B0604020202020204" pitchFamily="34" charset="0"/>
            </a:endParaRPr>
          </a:p>
          <a:p>
            <a:pPr eaLnBrk="1" hangingPunct="1"/>
            <a:endParaRPr lang="en-US" altLang="ko-KR" sz="900" dirty="0">
              <a:latin typeface="Arial" panose="020B0604020202020204" pitchFamily="34" charset="0"/>
              <a:cs typeface="Arial" panose="020B0604020202020204" pitchFamily="34" charset="0"/>
            </a:endParaRPr>
          </a:p>
        </p:txBody>
      </p:sp>
      <p:grpSp>
        <p:nvGrpSpPr>
          <p:cNvPr id="19" name="Group 214"/>
          <p:cNvGrpSpPr>
            <a:grpSpLocks/>
          </p:cNvGrpSpPr>
          <p:nvPr/>
        </p:nvGrpSpPr>
        <p:grpSpPr bwMode="auto">
          <a:xfrm>
            <a:off x="4967533" y="6350484"/>
            <a:ext cx="1409700" cy="952500"/>
            <a:chOff x="3095" y="2537"/>
            <a:chExt cx="888" cy="600"/>
          </a:xfrm>
        </p:grpSpPr>
        <p:sp>
          <p:nvSpPr>
            <p:cNvPr id="20" name="Line 215"/>
            <p:cNvSpPr>
              <a:spLocks noChangeShapeType="1"/>
            </p:cNvSpPr>
            <p:nvPr/>
          </p:nvSpPr>
          <p:spPr bwMode="auto">
            <a:xfrm>
              <a:off x="3392" y="2546"/>
              <a:ext cx="0" cy="287"/>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1" name="Line 216"/>
            <p:cNvSpPr>
              <a:spLocks noChangeShapeType="1"/>
            </p:cNvSpPr>
            <p:nvPr/>
          </p:nvSpPr>
          <p:spPr bwMode="auto">
            <a:xfrm>
              <a:off x="3388" y="2546"/>
              <a:ext cx="32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2" name="Line 217"/>
            <p:cNvSpPr>
              <a:spLocks noChangeShapeType="1"/>
            </p:cNvSpPr>
            <p:nvPr/>
          </p:nvSpPr>
          <p:spPr bwMode="auto">
            <a:xfrm>
              <a:off x="3711" y="2546"/>
              <a:ext cx="0" cy="87"/>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grpSp>
          <p:nvGrpSpPr>
            <p:cNvPr id="23" name="Group 218"/>
            <p:cNvGrpSpPr>
              <a:grpSpLocks/>
            </p:cNvGrpSpPr>
            <p:nvPr/>
          </p:nvGrpSpPr>
          <p:grpSpPr bwMode="auto">
            <a:xfrm>
              <a:off x="3679" y="2633"/>
              <a:ext cx="64" cy="109"/>
              <a:chOff x="1488" y="1152"/>
              <a:chExt cx="192" cy="336"/>
            </a:xfrm>
          </p:grpSpPr>
          <p:sp>
            <p:nvSpPr>
              <p:cNvPr id="39" name="Line 219"/>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0" name="Line 220"/>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1" name="Line 221"/>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2" name="Line 222"/>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3" name="Line 223"/>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4" name="Line 224"/>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5" name="Line 225"/>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grpSp>
        <p:sp>
          <p:nvSpPr>
            <p:cNvPr id="24" name="Line 226"/>
            <p:cNvSpPr>
              <a:spLocks noChangeShapeType="1"/>
            </p:cNvSpPr>
            <p:nvPr/>
          </p:nvSpPr>
          <p:spPr bwMode="auto">
            <a:xfrm>
              <a:off x="3711" y="2742"/>
              <a:ext cx="0" cy="19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5" name="AutoShape 227"/>
            <p:cNvSpPr>
              <a:spLocks noChangeArrowheads="1"/>
            </p:cNvSpPr>
            <p:nvPr/>
          </p:nvSpPr>
          <p:spPr bwMode="auto">
            <a:xfrm flipV="1">
              <a:off x="3668" y="2932"/>
              <a:ext cx="85" cy="54"/>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00">
                <a:latin typeface="Arial" pitchFamily="34" charset="0"/>
                <a:cs typeface="Arial" panose="020B0604020202020204" pitchFamily="34" charset="0"/>
              </a:endParaRPr>
            </a:p>
          </p:txBody>
        </p:sp>
        <p:sp>
          <p:nvSpPr>
            <p:cNvPr id="26" name="Line 228"/>
            <p:cNvSpPr>
              <a:spLocks noChangeShapeType="1"/>
            </p:cNvSpPr>
            <p:nvPr/>
          </p:nvSpPr>
          <p:spPr bwMode="auto">
            <a:xfrm>
              <a:off x="3392" y="3137"/>
              <a:ext cx="319"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7" name="Line 229"/>
            <p:cNvSpPr>
              <a:spLocks noChangeShapeType="1"/>
            </p:cNvSpPr>
            <p:nvPr/>
          </p:nvSpPr>
          <p:spPr bwMode="auto">
            <a:xfrm>
              <a:off x="3711" y="2984"/>
              <a:ext cx="0" cy="153"/>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8" name="Line 230"/>
            <p:cNvSpPr>
              <a:spLocks noChangeShapeType="1"/>
            </p:cNvSpPr>
            <p:nvPr/>
          </p:nvSpPr>
          <p:spPr bwMode="auto">
            <a:xfrm flipV="1">
              <a:off x="3392" y="2846"/>
              <a:ext cx="0" cy="282"/>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9" name="Line 231"/>
            <p:cNvSpPr>
              <a:spLocks noChangeShapeType="1"/>
            </p:cNvSpPr>
            <p:nvPr/>
          </p:nvSpPr>
          <p:spPr bwMode="auto">
            <a:xfrm>
              <a:off x="3352" y="2828"/>
              <a:ext cx="83"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0" name="Line 232"/>
            <p:cNvSpPr>
              <a:spLocks noChangeShapeType="1"/>
            </p:cNvSpPr>
            <p:nvPr/>
          </p:nvSpPr>
          <p:spPr bwMode="auto">
            <a:xfrm>
              <a:off x="3324" y="2849"/>
              <a:ext cx="156"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1" name="Text Box 233"/>
            <p:cNvSpPr txBox="1">
              <a:spLocks noChangeArrowheads="1"/>
            </p:cNvSpPr>
            <p:nvPr/>
          </p:nvSpPr>
          <p:spPr bwMode="auto">
            <a:xfrm>
              <a:off x="3095" y="2695"/>
              <a:ext cx="328"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b="1">
                  <a:latin typeface="Arial" pitchFamily="34" charset="0"/>
                  <a:ea typeface="돋움" pitchFamily="50" charset="-127"/>
                  <a:cs typeface="Arial" panose="020B0604020202020204" pitchFamily="34" charset="0"/>
                </a:rPr>
                <a:t>    +5V</a:t>
              </a:r>
            </a:p>
          </p:txBody>
        </p:sp>
        <p:grpSp>
          <p:nvGrpSpPr>
            <p:cNvPr id="32" name="Group 234"/>
            <p:cNvGrpSpPr>
              <a:grpSpLocks/>
            </p:cNvGrpSpPr>
            <p:nvPr/>
          </p:nvGrpSpPr>
          <p:grpSpPr bwMode="auto">
            <a:xfrm rot="10800000">
              <a:off x="3667" y="2932"/>
              <a:ext cx="86" cy="54"/>
              <a:chOff x="3667" y="2932"/>
              <a:chExt cx="86" cy="54"/>
            </a:xfrm>
          </p:grpSpPr>
          <p:sp>
            <p:nvSpPr>
              <p:cNvPr id="37" name="Line 235"/>
              <p:cNvSpPr>
                <a:spLocks noChangeShapeType="1"/>
              </p:cNvSpPr>
              <p:nvPr/>
            </p:nvSpPr>
            <p:spPr bwMode="auto">
              <a:xfrm flipV="1">
                <a:off x="3668" y="2986"/>
                <a:ext cx="8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8" name="Line 236"/>
              <p:cNvSpPr>
                <a:spLocks noChangeShapeType="1"/>
              </p:cNvSpPr>
              <p:nvPr/>
            </p:nvSpPr>
            <p:spPr bwMode="auto">
              <a:xfrm flipV="1">
                <a:off x="3667" y="2932"/>
                <a:ext cx="86"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grpSp>
        <p:sp>
          <p:nvSpPr>
            <p:cNvPr id="33" name="Text Box 237"/>
            <p:cNvSpPr txBox="1">
              <a:spLocks noChangeArrowheads="1"/>
            </p:cNvSpPr>
            <p:nvPr/>
          </p:nvSpPr>
          <p:spPr bwMode="auto">
            <a:xfrm>
              <a:off x="3458" y="2930"/>
              <a:ext cx="225"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b="1">
                  <a:latin typeface="Arial" pitchFamily="34" charset="0"/>
                  <a:ea typeface="돋움" pitchFamily="50" charset="-127"/>
                  <a:cs typeface="Arial" panose="020B0604020202020204" pitchFamily="34" charset="0"/>
                </a:rPr>
                <a:t>  Si</a:t>
              </a:r>
            </a:p>
          </p:txBody>
        </p:sp>
        <p:sp>
          <p:nvSpPr>
            <p:cNvPr id="34" name="Line 238"/>
            <p:cNvSpPr>
              <a:spLocks noChangeShapeType="1"/>
            </p:cNvSpPr>
            <p:nvPr/>
          </p:nvSpPr>
          <p:spPr bwMode="auto">
            <a:xfrm flipH="1" flipV="1">
              <a:off x="3744" y="2537"/>
              <a:ext cx="80" cy="99"/>
            </a:xfrm>
            <a:prstGeom prst="line">
              <a:avLst/>
            </a:prstGeom>
            <a:noFill/>
            <a:ln w="9525">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5" name="Line 239"/>
            <p:cNvSpPr>
              <a:spLocks noChangeShapeType="1"/>
            </p:cNvSpPr>
            <p:nvPr/>
          </p:nvSpPr>
          <p:spPr bwMode="auto">
            <a:xfrm flipH="1">
              <a:off x="3744" y="2767"/>
              <a:ext cx="105" cy="66"/>
            </a:xfrm>
            <a:prstGeom prst="line">
              <a:avLst/>
            </a:prstGeom>
            <a:noFill/>
            <a:ln w="9525">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6" name="Text Box 240"/>
            <p:cNvSpPr txBox="1">
              <a:spLocks noChangeArrowheads="1"/>
            </p:cNvSpPr>
            <p:nvPr/>
          </p:nvSpPr>
          <p:spPr bwMode="auto">
            <a:xfrm>
              <a:off x="3693" y="2640"/>
              <a:ext cx="290"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b="1">
                  <a:latin typeface="Arial" pitchFamily="34" charset="0"/>
                  <a:ea typeface="돋움" pitchFamily="50" charset="-127"/>
                  <a:cs typeface="Arial" panose="020B0604020202020204" pitchFamily="34" charset="0"/>
                </a:rPr>
                <a:t>     A </a:t>
              </a:r>
            </a:p>
          </p:txBody>
        </p:sp>
      </p:grpSp>
      <p:sp>
        <p:nvSpPr>
          <p:cNvPr id="46" name="Rectangle 45"/>
          <p:cNvSpPr/>
          <p:nvPr/>
        </p:nvSpPr>
        <p:spPr>
          <a:xfrm>
            <a:off x="4363936" y="4779823"/>
            <a:ext cx="323563" cy="126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Drain</a:t>
            </a:r>
            <a:endParaRPr lang="en-US" sz="900" dirty="0">
              <a:solidFill>
                <a:schemeClr val="tx1"/>
              </a:solidFill>
              <a:latin typeface="Arial" pitchFamily="34" charset="0"/>
              <a:cs typeface="Arial" pitchFamily="34" charset="0"/>
            </a:endParaRPr>
          </a:p>
        </p:txBody>
      </p:sp>
      <p:sp>
        <p:nvSpPr>
          <p:cNvPr id="47" name="Rectangle 46"/>
          <p:cNvSpPr/>
          <p:nvPr/>
        </p:nvSpPr>
        <p:spPr>
          <a:xfrm>
            <a:off x="4098840" y="5070295"/>
            <a:ext cx="266686" cy="815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Gate</a:t>
            </a:r>
            <a:endParaRPr lang="en-US" sz="900" dirty="0">
              <a:solidFill>
                <a:schemeClr val="tx1"/>
              </a:solidFill>
              <a:latin typeface="Arial" pitchFamily="34" charset="0"/>
              <a:cs typeface="Arial" pitchFamily="34" charset="0"/>
            </a:endParaRPr>
          </a:p>
        </p:txBody>
      </p:sp>
      <p:sp>
        <p:nvSpPr>
          <p:cNvPr id="48" name="Rectangle 47"/>
          <p:cNvSpPr/>
          <p:nvPr/>
        </p:nvSpPr>
        <p:spPr>
          <a:xfrm>
            <a:off x="4386879" y="5243457"/>
            <a:ext cx="380779" cy="1357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Source</a:t>
            </a:r>
            <a:endParaRPr lang="en-US" sz="900" dirty="0">
              <a:solidFill>
                <a:schemeClr val="tx1"/>
              </a:solidFill>
              <a:latin typeface="Arial" pitchFamily="34" charset="0"/>
              <a:cs typeface="Arial" pitchFamily="34" charset="0"/>
            </a:endParaRPr>
          </a:p>
        </p:txBody>
      </p:sp>
      <p:sp>
        <p:nvSpPr>
          <p:cNvPr id="49" name="Rectangle 48"/>
          <p:cNvSpPr/>
          <p:nvPr/>
        </p:nvSpPr>
        <p:spPr>
          <a:xfrm>
            <a:off x="5472664" y="4751245"/>
            <a:ext cx="366875" cy="2067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Emitter</a:t>
            </a:r>
            <a:endParaRPr lang="en-US" sz="900" dirty="0">
              <a:solidFill>
                <a:schemeClr val="tx1"/>
              </a:solidFill>
              <a:latin typeface="Arial" pitchFamily="34" charset="0"/>
              <a:cs typeface="Arial" pitchFamily="34" charset="0"/>
            </a:endParaRPr>
          </a:p>
        </p:txBody>
      </p:sp>
      <p:sp>
        <p:nvSpPr>
          <p:cNvPr id="50" name="Rectangle 49"/>
          <p:cNvSpPr/>
          <p:nvPr/>
        </p:nvSpPr>
        <p:spPr>
          <a:xfrm>
            <a:off x="6076303" y="4736956"/>
            <a:ext cx="476511" cy="2124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Collector</a:t>
            </a:r>
            <a:endParaRPr lang="en-US" sz="900" dirty="0">
              <a:solidFill>
                <a:schemeClr val="tx1"/>
              </a:solidFill>
              <a:latin typeface="Arial" pitchFamily="34" charset="0"/>
              <a:cs typeface="Arial" pitchFamily="34" charset="0"/>
            </a:endParaRPr>
          </a:p>
        </p:txBody>
      </p:sp>
      <p:sp>
        <p:nvSpPr>
          <p:cNvPr id="51" name="Rectangle 50"/>
          <p:cNvSpPr/>
          <p:nvPr/>
        </p:nvSpPr>
        <p:spPr>
          <a:xfrm>
            <a:off x="5805726" y="5169016"/>
            <a:ext cx="266686" cy="1707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Base</a:t>
            </a:r>
            <a:endParaRPr lang="en-US" sz="900" dirty="0">
              <a:solidFill>
                <a:schemeClr val="tx1"/>
              </a:solidFill>
              <a:latin typeface="Arial" pitchFamily="34" charset="0"/>
              <a:cs typeface="Arial" pitchFamily="34" charset="0"/>
            </a:endParaRPr>
          </a:p>
        </p:txBody>
      </p:sp>
      <p:sp>
        <p:nvSpPr>
          <p:cNvPr id="52" name="Rectangle 51"/>
          <p:cNvSpPr/>
          <p:nvPr/>
        </p:nvSpPr>
        <p:spPr>
          <a:xfrm>
            <a:off x="3428614" y="8049344"/>
            <a:ext cx="3429000" cy="923330"/>
          </a:xfrm>
          <a:prstGeom prst="rect">
            <a:avLst/>
          </a:prstGeom>
        </p:spPr>
        <p:txBody>
          <a:bodyPr>
            <a:spAutoFit/>
          </a:bodyPr>
          <a:lstStyle/>
          <a:p>
            <a:r>
              <a:rPr lang="en-US" altLang="ko-KR" sz="900" smtClean="0">
                <a:latin typeface="Arial" pitchFamily="34" charset="0"/>
                <a:ea typeface="돋움" pitchFamily="50" charset="-127"/>
                <a:cs typeface="Arial" pitchFamily="34" charset="0"/>
              </a:rPr>
              <a:t>20</a:t>
            </a:r>
            <a:r>
              <a:rPr lang="vi-VN"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Đáp án</a:t>
            </a:r>
            <a:r>
              <a:rPr lang="vi-VN" altLang="ko-KR" sz="900">
                <a:latin typeface="Arial" pitchFamily="34" charset="0"/>
                <a:ea typeface="돋움" pitchFamily="50" charset="-127"/>
                <a:cs typeface="Arial" pitchFamily="34" charset="0"/>
              </a:rPr>
              <a:t> nào sau đây không phải là </a:t>
            </a:r>
            <a:r>
              <a:rPr lang="en-US" altLang="ko-KR" sz="900">
                <a:latin typeface="Arial" pitchFamily="34" charset="0"/>
                <a:ea typeface="돋움" pitchFamily="50" charset="-127"/>
                <a:cs typeface="Arial" pitchFamily="34" charset="0"/>
              </a:rPr>
              <a:t>một loại </a:t>
            </a:r>
            <a:r>
              <a:rPr lang="vi-VN" altLang="ko-KR" sz="900">
                <a:latin typeface="Arial" pitchFamily="34" charset="0"/>
                <a:ea typeface="돋움" pitchFamily="50" charset="-127"/>
                <a:cs typeface="Arial" pitchFamily="34" charset="0"/>
              </a:rPr>
              <a:t>của biến trở?</a:t>
            </a:r>
          </a:p>
          <a:p>
            <a:r>
              <a:rPr lang="en-US" altLang="ko-KR" sz="900">
                <a:latin typeface="Arial" pitchFamily="34" charset="0"/>
                <a:ea typeface="돋움" pitchFamily="50" charset="-127"/>
                <a:cs typeface="Arial" pitchFamily="34" charset="0"/>
              </a:rPr>
              <a:t>  </a:t>
            </a:r>
          </a:p>
          <a:p>
            <a:r>
              <a:rPr lang="en-US" altLang="ko-KR" sz="900">
                <a:latin typeface="Arial" pitchFamily="34" charset="0"/>
                <a:ea typeface="돋움" pitchFamily="50" charset="-127"/>
                <a:cs typeface="Arial" pitchFamily="34" charset="0"/>
              </a:rPr>
              <a:t>  A</a:t>
            </a:r>
            <a:r>
              <a:rPr lang="en-US"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Màng carbon</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Màng kim loại</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 </a:t>
            </a:r>
            <a:r>
              <a:rPr lang="en-US" altLang="ko-KR" sz="900">
                <a:latin typeface="Arial" pitchFamily="34" charset="0"/>
                <a:ea typeface="돋움" pitchFamily="50" charset="-127"/>
                <a:cs typeface="Arial" pitchFamily="34" charset="0"/>
              </a:rPr>
              <a:t>Cuộn dây</a:t>
            </a:r>
          </a:p>
          <a:p>
            <a:r>
              <a:rPr lang="en-US" altLang="ko-KR" sz="900">
                <a:latin typeface="Arial" pitchFamily="34" charset="0"/>
                <a:ea typeface="돋움" pitchFamily="50" charset="-127"/>
                <a:cs typeface="Arial" pitchFamily="34" charset="0"/>
              </a:rPr>
              <a:t>  </a:t>
            </a:r>
            <a:r>
              <a:rPr lang="en-US" altLang="ko-KR" sz="900" smtClean="0">
                <a:solidFill>
                  <a:srgbClr val="FF0000"/>
                </a:solidFill>
                <a:latin typeface="Arial" pitchFamily="34" charset="0"/>
                <a:ea typeface="돋움" pitchFamily="50" charset="-127"/>
                <a:cs typeface="Arial" pitchFamily="34" charset="0"/>
              </a:rPr>
              <a:t>D </a:t>
            </a:r>
            <a:r>
              <a:rPr lang="en-US" altLang="ko-KR" sz="900">
                <a:solidFill>
                  <a:srgbClr val="FF0000"/>
                </a:solidFill>
                <a:latin typeface="Arial" pitchFamily="34" charset="0"/>
                <a:ea typeface="돋움" pitchFamily="50" charset="-127"/>
                <a:cs typeface="Arial" pitchFamily="34" charset="0"/>
              </a:rPr>
              <a:t>Silicone</a:t>
            </a:r>
          </a:p>
        </p:txBody>
      </p:sp>
    </p:spTree>
    <p:extLst>
      <p:ext uri="{BB962C8B-B14F-4D97-AF65-F5344CB8AC3E}">
        <p14:creationId xmlns:p14="http://schemas.microsoft.com/office/powerpoint/2010/main" val="7476636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latin typeface="Times New Roman" pitchFamily="18" charset="0"/>
              <a:cs typeface="Times New Roman" pitchFamily="18" charset="0"/>
            </a:endParaRPr>
          </a:p>
          <a:p>
            <a:pPr eaLnBrk="1" fontAlgn="base" hangingPunct="1">
              <a:spcBef>
                <a:spcPct val="0"/>
              </a:spcBef>
              <a:spcAft>
                <a:spcPct val="0"/>
              </a:spcAft>
            </a:pPr>
            <a:endParaRPr lang="en-US" altLang="ko-KR" smtClean="0">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PLC :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40</a:t>
            </a:r>
            <a:endParaRPr lang="ko-KR" altLang="en-US" sz="950" b="1" dirty="0" smtClean="0">
              <a:latin typeface="Times New Roman" pitchFamily="18" charset="0"/>
              <a:cs typeface="Times New Roman" pitchFamily="18" charset="0"/>
            </a:endParaRPr>
          </a:p>
        </p:txBody>
      </p:sp>
      <p:sp>
        <p:nvSpPr>
          <p:cNvPr id="107" name="Rectangle 7"/>
          <p:cNvSpPr>
            <a:spLocks noChangeArrowheads="1"/>
          </p:cNvSpPr>
          <p:nvPr/>
        </p:nvSpPr>
        <p:spPr bwMode="auto">
          <a:xfrm>
            <a:off x="201890" y="4016896"/>
            <a:ext cx="3239810"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 </a:t>
            </a:r>
            <a:r>
              <a:rPr lang="vi-VN" altLang="ko-KR" sz="950">
                <a:latin typeface="Times New Roman" pitchFamily="18" charset="0"/>
                <a:ea typeface="LG Smart_H Regular" panose="020B0600000101010101" pitchFamily="34" charset="-127"/>
                <a:cs typeface="Times New Roman" pitchFamily="18" charset="0"/>
              </a:rPr>
              <a:t>Chọn giải thích đúng về Device </a:t>
            </a:r>
            <a:r>
              <a:rPr lang="vi-VN" altLang="ko-KR" sz="950" smtClean="0">
                <a:latin typeface="Times New Roman" pitchFamily="18" charset="0"/>
                <a:ea typeface="LG Smart_H Regular" panose="020B0600000101010101" pitchFamily="34" charset="-127"/>
                <a:cs typeface="Times New Roman" pitchFamily="18" charset="0"/>
              </a:rPr>
              <a:t>Timer?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khả năng hoán đổi thông tin Data giữa các Local Station,  Master Station →  Local Station, Local Station → Master Station trong Link Register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DATA REGISTER lưu trữ kết quả tính toán của  mệnh lệnh ứng dụng , mệnh lệnh cơ bản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Là bộ đếm thời gian Timer công thức cộng, và có 3 loại là 100ms Timer,10ms Timer, và Timer hơn 100ms</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Có 2 loại là Interrupt sử dụng Interrupt Sequence Program và Counter sử dụng  Sequence Program trong công thức cộng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3449862" y="1251556"/>
            <a:ext cx="323981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Khi muốn sửa Program hiện tại thì sử dụng phím tắt nào sau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F1              B. F</a:t>
            </a:r>
            <a:r>
              <a:rPr lang="en-US" altLang="ko-KR" sz="950">
                <a:latin typeface="Times New Roman" pitchFamily="18" charset="0"/>
                <a:ea typeface="LG Smart_H Regular" panose="020B0600000101010101" pitchFamily="34" charset="-127"/>
                <a:cs typeface="Times New Roman" pitchFamily="18" charset="0"/>
              </a:rPr>
              <a:t>2</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F</a:t>
            </a:r>
            <a:r>
              <a:rPr lang="en-US" altLang="ko-KR" sz="950">
                <a:solidFill>
                  <a:srgbClr val="FF0000"/>
                </a:solidFill>
                <a:latin typeface="Times New Roman" pitchFamily="18" charset="0"/>
                <a:ea typeface="LG Smart_H Regular" panose="020B0600000101010101" pitchFamily="34" charset="-127"/>
                <a:cs typeface="Times New Roman" pitchFamily="18" charset="0"/>
              </a:rPr>
              <a:t>3</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smtClean="0">
                <a:latin typeface="Times New Roman" pitchFamily="18" charset="0"/>
                <a:ea typeface="LG Smart_H Regular" panose="020B0600000101010101" pitchFamily="34" charset="-127"/>
                <a:cs typeface="Times New Roman" pitchFamily="18" charset="0"/>
              </a:rPr>
              <a:t>F4</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2394972"/>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"Là nơi cài đặt thời gian Scan lớn nhất, trong trường hợp thời gian Run Scan chậm  hơn thời gian cài đặt sẽ phát sinh PLC Error" là định nghĩa nào sau đây</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Cài đặt Mode vận hành khi có </a:t>
            </a:r>
            <a:r>
              <a:rPr lang="vi-VN" altLang="ko-KR" sz="950" smtClean="0">
                <a:latin typeface="Times New Roman" pitchFamily="18" charset="0"/>
                <a:ea typeface="LG Smart_H Regular" panose="020B0600000101010101" pitchFamily="34" charset="-127"/>
                <a:cs typeface="Times New Roman" pitchFamily="18" charset="0"/>
              </a:rPr>
              <a:t>Error </a:t>
            </a:r>
            <a:r>
              <a:rPr lang="vi-VN" altLang="ko-KR" sz="95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Cài đặt WDT.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Constant Scan.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Error Check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2" name="Rectangle 7"/>
          <p:cNvSpPr>
            <a:spLocks noChangeArrowheads="1"/>
          </p:cNvSpPr>
          <p:nvPr/>
        </p:nvSpPr>
        <p:spPr bwMode="auto">
          <a:xfrm>
            <a:off x="3419475" y="4413374"/>
            <a:ext cx="3233208"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Phương pháp cài đặt PLC File: trường hợp sử dụng File Register R giới hạn cài    đặt dung lượng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1~1018M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1~1024M</a:t>
            </a: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1~1018K</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1~1024K</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4" name="Rectangle 7"/>
          <p:cNvSpPr>
            <a:spLocks noChangeArrowheads="1"/>
          </p:cNvSpPr>
          <p:nvPr/>
        </p:nvSpPr>
        <p:spPr bwMode="auto">
          <a:xfrm>
            <a:off x="163863" y="6177136"/>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vi-VN" altLang="ko-KR" sz="950">
                <a:latin typeface="Times New Roman" pitchFamily="18" charset="0"/>
                <a:ea typeface="LG Smart_H Regular" panose="020B0600000101010101" pitchFamily="34" charset="-127"/>
                <a:cs typeface="Times New Roman" pitchFamily="18" charset="0"/>
              </a:rPr>
              <a:t>Thao tác nào sau đây có thể Để Clear trạng thái duy trì tĩnh điện (Lacth) của Device?</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Fomat PLC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ON/OFF </a:t>
            </a:r>
            <a:r>
              <a:rPr lang="vi-VN" altLang="ko-KR" sz="950">
                <a:latin typeface="Times New Roman" pitchFamily="18" charset="0"/>
                <a:ea typeface="LG Smart_H Regular" panose="020B0600000101010101" pitchFamily="34" charset="-127"/>
                <a:cs typeface="Times New Roman" pitchFamily="18" charset="0"/>
              </a:rPr>
              <a:t>nguồn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Reset </a:t>
            </a:r>
            <a:r>
              <a:rPr lang="en-US" altLang="ko-KR" sz="950" smtClean="0">
                <a:latin typeface="Times New Roman" pitchFamily="18" charset="0"/>
                <a:ea typeface="LG Smart_H Regular" panose="020B0600000101010101" pitchFamily="34" charset="-127"/>
                <a:cs typeface="Times New Roman" pitchFamily="18" charset="0"/>
              </a:rPr>
              <a:t>PLC</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Thao tác Latch Clear</a:t>
            </a:r>
            <a:endParaRPr lang="vi-VN" altLang="ko-KR" sz="95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82542" y="2504728"/>
            <a:ext cx="3239810" cy="1408078"/>
            <a:chOff x="182542" y="2504728"/>
            <a:chExt cx="3239810" cy="1408078"/>
          </a:xfrm>
        </p:grpSpPr>
        <p:sp>
          <p:nvSpPr>
            <p:cNvPr id="26" name="Rectangle 7"/>
            <p:cNvSpPr>
              <a:spLocks noChangeArrowheads="1"/>
            </p:cNvSpPr>
            <p:nvPr/>
          </p:nvSpPr>
          <p:spPr bwMode="auto">
            <a:xfrm>
              <a:off x="182542" y="2504728"/>
              <a:ext cx="3239810"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22. </a:t>
              </a:r>
              <a:r>
                <a:rPr lang="vi-VN" altLang="ko-KR" sz="950">
                  <a:latin typeface="Times New Roman" pitchFamily="18" charset="0"/>
                  <a:ea typeface="LG Smart_H Regular" panose="020B0600000101010101" pitchFamily="34" charset="-127"/>
                  <a:cs typeface="Times New Roman" pitchFamily="18" charset="0"/>
                </a:rPr>
                <a:t>"Slot trống" dưới đây có I/O kết thúc là bao nhiêu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2F               B. 30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 3</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F</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D. 40</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7" name="Group 26"/>
            <p:cNvGrpSpPr/>
            <p:nvPr/>
          </p:nvGrpSpPr>
          <p:grpSpPr>
            <a:xfrm>
              <a:off x="192365" y="2792760"/>
              <a:ext cx="3227110" cy="773991"/>
              <a:chOff x="-14824" y="-1"/>
              <a:chExt cx="5022370" cy="1157242"/>
            </a:xfrm>
          </p:grpSpPr>
          <p:sp>
            <p:nvSpPr>
              <p:cNvPr id="28" name="Rectangle 27"/>
              <p:cNvSpPr>
                <a:spLocks noChangeArrowheads="1"/>
              </p:cNvSpPr>
              <p:nvPr/>
            </p:nvSpPr>
            <p:spPr bwMode="auto">
              <a:xfrm>
                <a:off x="1395413" y="-1"/>
                <a:ext cx="693737" cy="115724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90000"/>
                  </a:lnSpc>
                  <a:spcBef>
                    <a:spcPct val="50000"/>
                  </a:spcBef>
                  <a:buFontTx/>
                  <a:buNone/>
                </a:pPr>
                <a:r>
                  <a:rPr lang="en-US" altLang="ko-KR" sz="800">
                    <a:latin typeface="Times New Roman" panose="02020603050405020304" pitchFamily="18" charset="0"/>
                    <a:cs typeface="Times New Roman" panose="02020603050405020304" pitchFamily="18" charset="0"/>
                  </a:rPr>
                  <a:t>QX41 </a:t>
                </a:r>
              </a:p>
            </p:txBody>
          </p:sp>
          <p:sp>
            <p:nvSpPr>
              <p:cNvPr id="29" name="Rectangle 28"/>
              <p:cNvSpPr>
                <a:spLocks noChangeArrowheads="1"/>
              </p:cNvSpPr>
              <p:nvPr/>
            </p:nvSpPr>
            <p:spPr bwMode="auto">
              <a:xfrm>
                <a:off x="2102192" y="856"/>
                <a:ext cx="693737" cy="114300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800">
                    <a:latin typeface="Times New Roman" panose="02020603050405020304" pitchFamily="18" charset="0"/>
                    <a:cs typeface="Times New Roman" panose="02020603050405020304" pitchFamily="18" charset="0"/>
                  </a:rPr>
                  <a:t>QY40</a:t>
                </a:r>
              </a:p>
            </p:txBody>
          </p:sp>
          <p:sp>
            <p:nvSpPr>
              <p:cNvPr id="30" name="Rectangle 29"/>
              <p:cNvSpPr>
                <a:spLocks noChangeArrowheads="1"/>
              </p:cNvSpPr>
              <p:nvPr/>
            </p:nvSpPr>
            <p:spPr bwMode="auto">
              <a:xfrm>
                <a:off x="2788342" y="856"/>
                <a:ext cx="630671"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ko-KR" altLang="en-US" sz="800">
                    <a:latin typeface="Times New Roman" panose="02020603050405020304" pitchFamily="18" charset="0"/>
                    <a:cs typeface="Times New Roman" panose="02020603050405020304" pitchFamily="18" charset="0"/>
                  </a:rPr>
                  <a:t> </a:t>
                </a:r>
                <a:r>
                  <a:rPr lang="en-US" altLang="ko-KR" sz="800">
                    <a:latin typeface="Times New Roman" panose="02020603050405020304" pitchFamily="18" charset="0"/>
                    <a:cs typeface="Times New Roman" panose="02020603050405020304" pitchFamily="18" charset="0"/>
                  </a:rPr>
                  <a:t>Slot trống</a:t>
                </a:r>
              </a:p>
            </p:txBody>
          </p:sp>
          <p:sp>
            <p:nvSpPr>
              <p:cNvPr id="31" name="Rectangle 30"/>
              <p:cNvSpPr>
                <a:spLocks noChangeArrowheads="1"/>
              </p:cNvSpPr>
              <p:nvPr/>
            </p:nvSpPr>
            <p:spPr bwMode="auto">
              <a:xfrm>
                <a:off x="3424464" y="856"/>
                <a:ext cx="800653"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800">
                    <a:latin typeface="Times New Roman" panose="02020603050405020304" pitchFamily="18" charset="0"/>
                    <a:cs typeface="Times New Roman" panose="02020603050405020304" pitchFamily="18" charset="0"/>
                  </a:rPr>
                  <a:t>Q64AD</a:t>
                </a:r>
              </a:p>
            </p:txBody>
          </p:sp>
          <p:sp>
            <p:nvSpPr>
              <p:cNvPr id="32" name="Rectangle 31"/>
              <p:cNvSpPr>
                <a:spLocks noChangeArrowheads="1"/>
              </p:cNvSpPr>
              <p:nvPr/>
            </p:nvSpPr>
            <p:spPr bwMode="auto">
              <a:xfrm>
                <a:off x="4222525" y="856"/>
                <a:ext cx="785021"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70000"/>
                  </a:lnSpc>
                  <a:spcBef>
                    <a:spcPct val="50000"/>
                  </a:spcBef>
                  <a:buFontTx/>
                  <a:buNone/>
                </a:pPr>
                <a:r>
                  <a:rPr lang="en-US" altLang="ko-KR" sz="800">
                    <a:latin typeface="Times New Roman" panose="02020603050405020304" pitchFamily="18" charset="0"/>
                    <a:cs typeface="Times New Roman" panose="02020603050405020304" pitchFamily="18" charset="0"/>
                  </a:rPr>
                  <a:t>Q62DA</a:t>
                </a:r>
              </a:p>
            </p:txBody>
          </p:sp>
          <p:sp>
            <p:nvSpPr>
              <p:cNvPr id="33" name="Text Box 12"/>
              <p:cNvSpPr txBox="1">
                <a:spLocks noChangeArrowheads="1"/>
              </p:cNvSpPr>
              <p:nvPr/>
            </p:nvSpPr>
            <p:spPr bwMode="auto">
              <a:xfrm>
                <a:off x="33050" y="300969"/>
                <a:ext cx="697219" cy="540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700">
                    <a:latin typeface="Times New Roman" panose="02020603050405020304" pitchFamily="18" charset="0"/>
                    <a:cs typeface="Times New Roman" panose="02020603050405020304" pitchFamily="18" charset="0"/>
                  </a:rPr>
                  <a:t>Nguồn</a:t>
                </a:r>
              </a:p>
              <a:p>
                <a:pPr algn="ctr" eaLnBrk="1" hangingPunct="1">
                  <a:lnSpc>
                    <a:spcPct val="100000"/>
                  </a:lnSpc>
                  <a:spcBef>
                    <a:spcPct val="50000"/>
                  </a:spcBef>
                  <a:buFontTx/>
                  <a:buNone/>
                </a:pPr>
                <a:r>
                  <a:rPr lang="en-US" altLang="ko-KR" sz="700">
                    <a:latin typeface="Times New Roman" panose="02020603050405020304" pitchFamily="18" charset="0"/>
                    <a:cs typeface="Times New Roman" panose="02020603050405020304" pitchFamily="18" charset="0"/>
                  </a:rPr>
                  <a:t>Cấp</a:t>
                </a:r>
                <a:endParaRPr lang="ko-KR" altLang="en-US" sz="700">
                  <a:latin typeface="Times New Roman" panose="02020603050405020304" pitchFamily="18" charset="0"/>
                  <a:cs typeface="Times New Roman" panose="02020603050405020304" pitchFamily="18" charset="0"/>
                </a:endParaRPr>
              </a:p>
            </p:txBody>
          </p:sp>
          <p:sp>
            <p:nvSpPr>
              <p:cNvPr id="34" name="Text Box 13"/>
              <p:cNvSpPr txBox="1">
                <a:spLocks noChangeArrowheads="1"/>
              </p:cNvSpPr>
              <p:nvPr/>
            </p:nvSpPr>
            <p:spPr bwMode="auto">
              <a:xfrm>
                <a:off x="704186" y="413444"/>
                <a:ext cx="691146" cy="264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800">
                    <a:latin typeface="Times New Roman" panose="02020603050405020304" pitchFamily="18" charset="0"/>
                    <a:cs typeface="Times New Roman" panose="02020603050405020304" pitchFamily="18" charset="0"/>
                  </a:rPr>
                  <a:t>CPU</a:t>
                </a:r>
              </a:p>
            </p:txBody>
          </p:sp>
          <p:sp>
            <p:nvSpPr>
              <p:cNvPr id="35" name="Rectangle 34"/>
              <p:cNvSpPr>
                <a:spLocks noChangeArrowheads="1"/>
              </p:cNvSpPr>
              <p:nvPr/>
            </p:nvSpPr>
            <p:spPr bwMode="auto">
              <a:xfrm>
                <a:off x="700088" y="856"/>
                <a:ext cx="693738"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90000"/>
                  </a:lnSpc>
                  <a:spcBef>
                    <a:spcPct val="50000"/>
                  </a:spcBef>
                  <a:buFontTx/>
                  <a:buNone/>
                </a:pPr>
                <a:endParaRPr lang="ko-KR" altLang="en-US" sz="800">
                  <a:latin typeface="Times New Roman" panose="02020603050405020304" pitchFamily="18" charset="0"/>
                  <a:cs typeface="Times New Roman" panose="02020603050405020304" pitchFamily="18" charset="0"/>
                </a:endParaRPr>
              </a:p>
            </p:txBody>
          </p:sp>
          <p:sp>
            <p:nvSpPr>
              <p:cNvPr id="36" name="Rectangle 35"/>
              <p:cNvSpPr>
                <a:spLocks noChangeArrowheads="1"/>
              </p:cNvSpPr>
              <p:nvPr/>
            </p:nvSpPr>
            <p:spPr bwMode="auto">
              <a:xfrm>
                <a:off x="-14824" y="857"/>
                <a:ext cx="693737" cy="114300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90000"/>
                  </a:lnSpc>
                  <a:spcBef>
                    <a:spcPct val="50000"/>
                  </a:spcBef>
                  <a:buFontTx/>
                  <a:buNone/>
                </a:pPr>
                <a:endParaRPr lang="ko-KR" altLang="en-US" sz="800">
                  <a:latin typeface="Times New Roman" panose="02020603050405020304" pitchFamily="18" charset="0"/>
                  <a:cs typeface="Times New Roman" panose="02020603050405020304" pitchFamily="18" charset="0"/>
                </a:endParaRPr>
              </a:p>
            </p:txBody>
          </p:sp>
        </p:grpSp>
      </p:grpSp>
      <p:sp>
        <p:nvSpPr>
          <p:cNvPr id="37" name="Rectangle 7"/>
          <p:cNvSpPr>
            <a:spLocks noChangeArrowheads="1"/>
          </p:cNvSpPr>
          <p:nvPr/>
        </p:nvSpPr>
        <p:spPr bwMode="auto">
          <a:xfrm>
            <a:off x="155622" y="7905328"/>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Tiến hành "Memory Clear". Thao thác nào là đúng?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(1) Kết nối GX Word 2 với CPU PLC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-&gt; </a:t>
            </a:r>
            <a:r>
              <a:rPr lang="en-US" altLang="ko-KR" sz="950">
                <a:solidFill>
                  <a:srgbClr val="FF0000"/>
                </a:solidFill>
                <a:latin typeface="Times New Roman" pitchFamily="18" charset="0"/>
                <a:ea typeface="LG Smart_H Regular" panose="020B0600000101010101" pitchFamily="34" charset="-127"/>
                <a:cs typeface="Times New Roman" pitchFamily="18" charset="0"/>
              </a:rPr>
              <a:t>(2) Stop PLC -&gt;  PLC Memory Clear -&gt; Reset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PLC</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 Kết nối GX Word 2 với CPU PLC -&gt; (2) Stop PLC -&gt;  (3)PLC Memory Clear -&gt; (4)Reset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Kết nối GX Word 2 với CPU PLC -&gt; (2) Stop PLC -&gt;  (3)Reset PLC-&gt;  (4)PLC Memory Clear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Kết nối GX Word 2 với CPU PLC -&gt; (2) PLC Memory Clear -&gt; (3)Stop PLC -&gt;  (4)Reset PLC</a:t>
            </a:r>
            <a:endParaRPr lang="vi-VN" altLang="ko-KR" sz="950">
              <a:latin typeface="Times New Roman" pitchFamily="18" charset="0"/>
              <a:ea typeface="LG Smart_H Regular" panose="020B0600000101010101" pitchFamily="34" charset="-127"/>
              <a:cs typeface="Times New Roman" pitchFamily="18" charset="0"/>
            </a:endParaRPr>
          </a:p>
        </p:txBody>
      </p:sp>
      <p:sp>
        <p:nvSpPr>
          <p:cNvPr id="38" name="Rectangle 7"/>
          <p:cNvSpPr>
            <a:spLocks noChangeArrowheads="1"/>
          </p:cNvSpPr>
          <p:nvPr/>
        </p:nvSpPr>
        <p:spPr bwMode="auto">
          <a:xfrm>
            <a:off x="3429000" y="5601072"/>
            <a:ext cx="3233208"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Phương pháp cài đặt PLC File: trường hợp sử dụng File Register R giới hạn cài </a:t>
            </a:r>
            <a:r>
              <a:rPr lang="vi-VN" altLang="ko-KR" sz="950" smtClean="0">
                <a:latin typeface="Times New Roman" pitchFamily="18" charset="0"/>
                <a:ea typeface="LG Smart_H Regular" panose="020B0600000101010101" pitchFamily="34" charset="-127"/>
                <a:cs typeface="Times New Roman" pitchFamily="18" charset="0"/>
              </a:rPr>
              <a:t>đặt </a:t>
            </a:r>
            <a:r>
              <a:rPr lang="vi-VN" altLang="ko-KR" sz="950">
                <a:latin typeface="Times New Roman" pitchFamily="18" charset="0"/>
                <a:ea typeface="LG Smart_H Regular" panose="020B0600000101010101" pitchFamily="34" charset="-127"/>
                <a:cs typeface="Times New Roman" pitchFamily="18" charset="0"/>
              </a:rPr>
              <a:t>dung lượng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Giá trị cài đặt Timer là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K1~K32768</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Nếu cài đặt trực tiếp giá trị cài đặt </a:t>
            </a:r>
            <a:r>
              <a:rPr lang="vi-VN" altLang="ko-KR" sz="950" smtClean="0">
                <a:latin typeface="Times New Roman" pitchFamily="18" charset="0"/>
                <a:ea typeface="LG Smart_H Regular" panose="020B0600000101010101" pitchFamily="34" charset="-127"/>
                <a:cs typeface="Times New Roman" pitchFamily="18" charset="0"/>
              </a:rPr>
              <a:t>thì </a:t>
            </a:r>
            <a:r>
              <a:rPr lang="vi-VN" altLang="ko-KR" sz="950">
                <a:latin typeface="Times New Roman" pitchFamily="18" charset="0"/>
                <a:ea typeface="LG Smart_H Regular" panose="020B0600000101010101" pitchFamily="34" charset="-127"/>
                <a:cs typeface="Times New Roman" pitchFamily="18" charset="0"/>
              </a:rPr>
              <a:t>chỉ có thể cài đặt bằng </a:t>
            </a:r>
            <a:r>
              <a:rPr lang="vi-VN" altLang="ko-KR" sz="950" smtClean="0">
                <a:latin typeface="Times New Roman" pitchFamily="18" charset="0"/>
                <a:ea typeface="LG Smart_H Regular" panose="020B0600000101010101" pitchFamily="34" charset="-127"/>
                <a:cs typeface="Times New Roman" pitchFamily="18" charset="0"/>
              </a:rPr>
              <a:t>K</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Timer là lệnh 4 Step. (Tuy nhiên </a:t>
            </a:r>
            <a:r>
              <a:rPr lang="vi-VN" altLang="ko-KR" sz="950" smtClean="0">
                <a:latin typeface="Times New Roman" pitchFamily="18" charset="0"/>
                <a:ea typeface="LG Smart_H Regular" panose="020B0600000101010101" pitchFamily="34" charset="-127"/>
                <a:cs typeface="Times New Roman" pitchFamily="18" charset="0"/>
              </a:rPr>
              <a:t>tiếp</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điểm </a:t>
            </a:r>
            <a:r>
              <a:rPr lang="vi-VN" altLang="ko-KR" sz="950">
                <a:latin typeface="Times New Roman" pitchFamily="18" charset="0"/>
                <a:ea typeface="LG Smart_H Regular" panose="020B0600000101010101" pitchFamily="34" charset="-127"/>
                <a:cs typeface="Times New Roman" pitchFamily="18" charset="0"/>
              </a:rPr>
              <a:t>của Timer chỉ là 1 Step)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Parameter có thể biến đổi đơn </a:t>
            </a:r>
            <a:r>
              <a:rPr lang="vi-VN" altLang="ko-KR" sz="950" smtClean="0">
                <a:latin typeface="Times New Roman" pitchFamily="18" charset="0"/>
                <a:ea typeface="LG Smart_H Regular" panose="020B0600000101010101" pitchFamily="34" charset="-127"/>
                <a:cs typeface="Times New Roman" pitchFamily="18" charset="0"/>
              </a:rPr>
              <a:t>vị </a:t>
            </a:r>
            <a:r>
              <a:rPr lang="vi-VN" altLang="ko-KR" sz="950">
                <a:latin typeface="Times New Roman" pitchFamily="18" charset="0"/>
                <a:ea typeface="LG Smart_H Regular" panose="020B0600000101010101" pitchFamily="34" charset="-127"/>
                <a:cs typeface="Times New Roman" pitchFamily="18" charset="0"/>
              </a:rPr>
              <a:t>của từng Timer</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0" name="Rectangle 7"/>
          <p:cNvSpPr>
            <a:spLocks noChangeArrowheads="1"/>
          </p:cNvSpPr>
          <p:nvPr/>
        </p:nvSpPr>
        <p:spPr bwMode="auto">
          <a:xfrm>
            <a:off x="189190" y="131920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Chọn đáp án sai khi nói về bộ nhớ ROM</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Có </a:t>
            </a:r>
            <a:r>
              <a:rPr lang="vi-VN" altLang="ko-KR" sz="950">
                <a:solidFill>
                  <a:srgbClr val="FF0000"/>
                </a:solidFill>
                <a:latin typeface="Times New Roman" pitchFamily="18" charset="0"/>
                <a:ea typeface="LG Smart_H Regular" panose="020B0600000101010101" pitchFamily="34" charset="-127"/>
                <a:cs typeface="Times New Roman" pitchFamily="18" charset="0"/>
              </a:rPr>
              <a:t>thể thay đổi nội dung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Memory</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Không bị mất dữ liệu ngay cả khi mất </a:t>
            </a:r>
            <a:r>
              <a:rPr lang="vi-VN" altLang="ko-KR" sz="950" smtClean="0">
                <a:latin typeface="Times New Roman" pitchFamily="18" charset="0"/>
                <a:ea typeface="LG Smart_H Regular" panose="020B0600000101010101" pitchFamily="34" charset="-127"/>
                <a:cs typeface="Times New Roman" pitchFamily="18" charset="0"/>
              </a:rPr>
              <a:t>nguồn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smtClean="0">
                <a:latin typeface="Times New Roman" pitchFamily="18" charset="0"/>
                <a:ea typeface="LG Smart_H Regular" panose="020B0600000101010101" pitchFamily="34" charset="-127"/>
                <a:cs typeface="Times New Roman" pitchFamily="18" charset="0"/>
              </a:rPr>
              <a:t>Là </a:t>
            </a:r>
            <a:r>
              <a:rPr lang="vi-VN" altLang="ko-KR" sz="950">
                <a:latin typeface="Times New Roman" pitchFamily="18" charset="0"/>
                <a:ea typeface="LG Smart_H Regular" panose="020B0600000101010101" pitchFamily="34" charset="-127"/>
                <a:cs typeface="Times New Roman" pitchFamily="18" charset="0"/>
              </a:rPr>
              <a:t>bộ nhớ chuyên dùng để </a:t>
            </a:r>
            <a:r>
              <a:rPr lang="vi-VN" altLang="ko-KR" sz="950" smtClean="0">
                <a:latin typeface="Times New Roman" pitchFamily="18" charset="0"/>
                <a:ea typeface="LG Smart_H Regular" panose="020B0600000101010101" pitchFamily="34" charset="-127"/>
                <a:cs typeface="Times New Roman" pitchFamily="18" charset="0"/>
              </a:rPr>
              <a:t>đọc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Là IC Memory</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1" name="Group 40"/>
          <p:cNvGrpSpPr/>
          <p:nvPr/>
        </p:nvGrpSpPr>
        <p:grpSpPr>
          <a:xfrm>
            <a:off x="3455294" y="7113240"/>
            <a:ext cx="3254621" cy="2285241"/>
            <a:chOff x="3455294" y="4816575"/>
            <a:chExt cx="3254621" cy="2285241"/>
          </a:xfrm>
        </p:grpSpPr>
        <p:sp>
          <p:nvSpPr>
            <p:cNvPr id="42" name="Rectangle 7"/>
            <p:cNvSpPr>
              <a:spLocks noChangeArrowheads="1"/>
            </p:cNvSpPr>
            <p:nvPr/>
          </p:nvSpPr>
          <p:spPr bwMode="auto">
            <a:xfrm>
              <a:off x="3455294" y="4816575"/>
              <a:ext cx="3148706" cy="228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vi-VN" altLang="ko-KR" sz="950">
                  <a:latin typeface="Times New Roman" pitchFamily="18" charset="0"/>
                  <a:ea typeface="LG Smart_H Regular" panose="020B0600000101010101" pitchFamily="34" charset="-127"/>
                  <a:cs typeface="Times New Roman" pitchFamily="18" charset="0"/>
                </a:rPr>
                <a:t>Tìm đáp án thích hợp để điền vào (?) sao cho chương trình hoạt động theo time Chart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X1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solidFill>
                    <a:srgbClr val="FF0000"/>
                  </a:solidFill>
                  <a:latin typeface="Times New Roman" pitchFamily="18" charset="0"/>
                  <a:ea typeface="LG Smart_H Regular" panose="020B0600000101010101" pitchFamily="34" charset="-127"/>
                  <a:cs typeface="Times New Roman" pitchFamily="18" charset="0"/>
                </a:rPr>
                <a:t>B. X2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C</a:t>
              </a:r>
              <a:r>
                <a:rPr lang="en-US" altLang="ko-KR" sz="950">
                  <a:latin typeface="Times New Roman" pitchFamily="18" charset="0"/>
                  <a:ea typeface="LG Smart_H Regular" panose="020B0600000101010101" pitchFamily="34" charset="-127"/>
                  <a:cs typeface="Times New Roman" pitchFamily="18" charset="0"/>
                </a:rPr>
                <a:t>. M0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D. Y0</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3" name="그림 3"/>
            <p:cNvPicPr>
              <a:picLocks noChangeAspect="1"/>
            </p:cNvPicPr>
            <p:nvPr/>
          </p:nvPicPr>
          <p:blipFill>
            <a:blip r:embed="rId3"/>
            <a:stretch>
              <a:fillRect/>
            </a:stretch>
          </p:blipFill>
          <p:spPr>
            <a:xfrm>
              <a:off x="3562969" y="5226081"/>
              <a:ext cx="3146946" cy="1466227"/>
            </a:xfrm>
            <a:prstGeom prst="rect">
              <a:avLst/>
            </a:prstGeom>
          </p:spPr>
        </p:pic>
      </p:grpSp>
    </p:spTree>
    <p:extLst>
      <p:ext uri="{BB962C8B-B14F-4D97-AF65-F5344CB8AC3E}">
        <p14:creationId xmlns:p14="http://schemas.microsoft.com/office/powerpoint/2010/main" val="363948897"/>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grpSp>
        <p:nvGrpSpPr>
          <p:cNvPr id="7" name="Group 6"/>
          <p:cNvGrpSpPr/>
          <p:nvPr/>
        </p:nvGrpSpPr>
        <p:grpSpPr>
          <a:xfrm>
            <a:off x="188640" y="2936776"/>
            <a:ext cx="3183502" cy="1892826"/>
            <a:chOff x="3306989" y="6950075"/>
            <a:chExt cx="3429000" cy="1892826"/>
          </a:xfrm>
        </p:grpSpPr>
        <p:sp>
          <p:nvSpPr>
            <p:cNvPr id="8" name="Rectangle 101"/>
            <p:cNvSpPr>
              <a:spLocks noChangeArrowheads="1"/>
            </p:cNvSpPr>
            <p:nvPr/>
          </p:nvSpPr>
          <p:spPr bwMode="auto">
            <a:xfrm>
              <a:off x="3306989" y="6950075"/>
              <a:ext cx="3429000"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3</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2. </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P/B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số</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1</a:t>
              </a:r>
              <a:r>
                <a:rPr lang="ko-KR" altLang="en-US"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ON → P/B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số</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2</a:t>
              </a:r>
              <a:r>
                <a:rPr lang="ko-KR" altLang="en-US"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ON → P/B </a:t>
              </a:r>
            </a:p>
            <a:p>
              <a:pPr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Số 1</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OFF </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 P/B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số</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2</a:t>
              </a:r>
              <a:r>
                <a:rPr lang="ko-KR" altLang="en-US"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ON.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Rơ</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le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nào</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sẽ</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hoạt</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động</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a:t>
              </a:r>
              <a:r>
                <a:rPr lang="en-US" altLang="ko-KR" sz="900">
                  <a:latin typeface="Times New Roman" panose="02020603050405020304" pitchFamily="18" charset="0"/>
                  <a:ea typeface="돋움" pitchFamily="50" charset="-127"/>
                  <a:cs typeface="Times New Roman" panose="02020603050405020304" pitchFamily="18" charset="0"/>
                </a:rPr>
                <a:t> </a:t>
              </a:r>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     A</a:t>
              </a:r>
              <a:r>
                <a:rPr lang="en-US" altLang="ko-KR" sz="900">
                  <a:latin typeface="Times New Roman" panose="02020603050405020304" pitchFamily="18" charset="0"/>
                  <a:ea typeface="돋움" pitchFamily="50" charset="-127"/>
                  <a:cs typeface="Times New Roman" panose="02020603050405020304" pitchFamily="18" charset="0"/>
                </a:rPr>
                <a:t>.  R1    </a:t>
              </a:r>
              <a:r>
                <a:rPr lang="en-US" altLang="ko-KR" sz="900">
                  <a:solidFill>
                    <a:srgbClr val="FF0000"/>
                  </a:solidFill>
                  <a:latin typeface="Times New Roman" panose="02020603050405020304" pitchFamily="18" charset="0"/>
                  <a:ea typeface="돋움" pitchFamily="50" charset="-127"/>
                  <a:cs typeface="Times New Roman" panose="02020603050405020304" pitchFamily="18" charset="0"/>
                </a:rPr>
                <a:t>B.  R2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C.  Cả R1,R2</a:t>
              </a:r>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D. </a:t>
              </a:r>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Không có</a:t>
              </a:r>
              <a:endParaRPr lang="ko-KR" altLang="en-US"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pic>
          <p:nvPicPr>
            <p:cNvPr id="9" name="Picture 1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4900" y="7337425"/>
              <a:ext cx="2554288" cy="1101725"/>
            </a:xfrm>
            <a:prstGeom prst="rect">
              <a:avLst/>
            </a:prstGeom>
            <a:noFill/>
            <a:ln>
              <a:noFill/>
            </a:ln>
            <a:effectLst/>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grpSp>
      <p:sp>
        <p:nvSpPr>
          <p:cNvPr id="31" name="Rectangle 44"/>
          <p:cNvSpPr>
            <a:spLocks noChangeArrowheads="1"/>
          </p:cNvSpPr>
          <p:nvPr/>
        </p:nvSpPr>
        <p:spPr bwMode="auto">
          <a:xfrm>
            <a:off x="3405750" y="4607828"/>
            <a:ext cx="309708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3</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8</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Đây</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giải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thích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cho</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điều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chương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trình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chỉ</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được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tiến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hành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ở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Thời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gian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tiến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hành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Program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chạy</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tốc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độ</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thấp</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được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cài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đặt</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ở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Thời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gian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dư</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của</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Constant Scan).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trường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hợp</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ưu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tiên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mức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độ</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điều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khiển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thời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gian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Scan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được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quy</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định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cài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đặt</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thời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gian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Constant Scan]</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A.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Program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loại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tiến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hành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ban đầu</a:t>
            </a: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B. </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Program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tiến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hành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theo</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chu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kỳ</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cố</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định</a:t>
            </a:r>
            <a:endPar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 C.  Program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loại</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tiến</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hành</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tốc</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độ</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err="1" smtClean="0">
                <a:solidFill>
                  <a:srgbClr val="FF0000"/>
                </a:solidFill>
                <a:latin typeface="Times New Roman" panose="02020603050405020304" pitchFamily="18" charset="0"/>
                <a:ea typeface="돋움" pitchFamily="50" charset="-127"/>
                <a:cs typeface="Times New Roman" panose="02020603050405020304" pitchFamily="18" charset="0"/>
              </a:rPr>
              <a:t>thấp</a:t>
            </a:r>
            <a:r>
              <a:rPr lang="ko-KR" altLang="en-US" sz="900" smtClean="0">
                <a:solidFill>
                  <a:srgbClr val="FF0000"/>
                </a:solidFill>
                <a:latin typeface="Times New Roman" panose="02020603050405020304" pitchFamily="18" charset="0"/>
                <a:ea typeface="돋움" pitchFamily="50" charset="-127"/>
                <a:cs typeface="Times New Roman" panose="02020603050405020304" pitchFamily="18" charset="0"/>
              </a:rPr>
              <a:t>  </a:t>
            </a:r>
            <a:endParaRPr lang="en-US" altLang="ko-KR" sz="900">
              <a:solidFill>
                <a:srgbClr val="FF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D. </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Program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loại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tiến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hành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Scan</a:t>
            </a:r>
            <a:endPar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sp>
        <p:nvSpPr>
          <p:cNvPr id="57" name="Rectangle 101"/>
          <p:cNvSpPr>
            <a:spLocks noChangeArrowheads="1"/>
          </p:cNvSpPr>
          <p:nvPr/>
        </p:nvSpPr>
        <p:spPr bwMode="auto">
          <a:xfrm>
            <a:off x="3428622" y="8049344"/>
            <a:ext cx="3312746"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4</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0. Đáp án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nào</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sai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những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giải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thích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về</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MC/MCR</a:t>
            </a:r>
            <a:r>
              <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sau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A.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Trường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hợp</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lệnh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MC</a:t>
            </a:r>
            <a:r>
              <a:rPr lang="ko-KR" altLang="en-US"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OFF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giá</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trị</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COUNT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MC tương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ứng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được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duy</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B.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Trường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hợp</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MC</a:t>
            </a:r>
            <a:r>
              <a:rPr lang="ko-KR" altLang="en-US"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OFF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tất</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cả</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lệnh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OUT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MC tương ứng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đều</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OFF </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C.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Trường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hợp</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MC</a:t>
            </a:r>
            <a:r>
              <a:rPr lang="ko-KR" altLang="en-US"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OFF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lệnh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SET/RST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MC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tương</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ứng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được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duy</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D.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Trường</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hợp</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MC</a:t>
            </a:r>
            <a:r>
              <a:rPr lang="ko-KR" altLang="en-US"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OFF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10ms Timer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trong</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MC </a:t>
            </a:r>
            <a:r>
              <a:rPr lang="en-US" altLang="ko-KR" sz="900" err="1" smtClean="0">
                <a:solidFill>
                  <a:srgbClr val="FF0000"/>
                </a:solidFill>
                <a:latin typeface="Times New Roman" panose="02020603050405020304" pitchFamily="18" charset="0"/>
                <a:ea typeface="돋움" pitchFamily="50" charset="-127"/>
                <a:cs typeface="Times New Roman" panose="02020603050405020304" pitchFamily="18" charset="0"/>
              </a:rPr>
              <a:t>tương</a:t>
            </a:r>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 ứng vẫn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duy</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trì</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giá</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trị</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a:t>
            </a:r>
            <a:endParaRPr lang="en-US" altLang="ko-KR" sz="900" dirty="0">
              <a:solidFill>
                <a:srgbClr val="FF0000"/>
              </a:solidFill>
              <a:latin typeface="Times New Roman" panose="02020603050405020304" pitchFamily="18" charset="0"/>
              <a:ea typeface="돋움" pitchFamily="50" charset="-127"/>
              <a:cs typeface="Times New Roman" panose="02020603050405020304" pitchFamily="18" charset="0"/>
            </a:endParaRPr>
          </a:p>
        </p:txBody>
      </p:sp>
      <p:sp>
        <p:nvSpPr>
          <p:cNvPr id="58" name="Line 6"/>
          <p:cNvSpPr>
            <a:spLocks noChangeShapeType="1"/>
          </p:cNvSpPr>
          <p:nvPr/>
        </p:nvSpPr>
        <p:spPr bwMode="auto">
          <a:xfrm>
            <a:off x="8786018" y="5575595"/>
            <a:ext cx="176839"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Times New Roman" panose="02020603050405020304" pitchFamily="18" charset="0"/>
              <a:cs typeface="Times New Roman" panose="02020603050405020304" pitchFamily="18" charset="0"/>
            </a:endParaRPr>
          </a:p>
        </p:txBody>
      </p:sp>
      <p:sp>
        <p:nvSpPr>
          <p:cNvPr id="59" name="Line 7"/>
          <p:cNvSpPr>
            <a:spLocks noChangeShapeType="1"/>
          </p:cNvSpPr>
          <p:nvPr/>
        </p:nvSpPr>
        <p:spPr bwMode="auto">
          <a:xfrm>
            <a:off x="8786018" y="5499395"/>
            <a:ext cx="176839"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Times New Roman" panose="02020603050405020304" pitchFamily="18" charset="0"/>
              <a:cs typeface="Times New Roman" panose="02020603050405020304" pitchFamily="18" charset="0"/>
            </a:endParaRPr>
          </a:p>
        </p:txBody>
      </p:sp>
      <p:grpSp>
        <p:nvGrpSpPr>
          <p:cNvPr id="60" name="Group 59"/>
          <p:cNvGrpSpPr/>
          <p:nvPr/>
        </p:nvGrpSpPr>
        <p:grpSpPr>
          <a:xfrm>
            <a:off x="3458171" y="6264739"/>
            <a:ext cx="3111500" cy="1754326"/>
            <a:chOff x="3424651" y="1547580"/>
            <a:chExt cx="3111500" cy="1754326"/>
          </a:xfrm>
        </p:grpSpPr>
        <p:sp>
          <p:nvSpPr>
            <p:cNvPr id="61" name="Rectangle 104"/>
            <p:cNvSpPr>
              <a:spLocks noChangeArrowheads="1"/>
            </p:cNvSpPr>
            <p:nvPr/>
          </p:nvSpPr>
          <p:spPr bwMode="auto">
            <a:xfrm>
              <a:off x="3424651" y="1547580"/>
              <a:ext cx="3111500" cy="175432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39</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Nếu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định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viết</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mạch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tự</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duy</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ở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sẽ</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gì</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a:t>
              </a: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A. CO            </a:t>
              </a:r>
              <a:r>
                <a:rPr lang="en-US" altLang="ko-KR" sz="900">
                  <a:solidFill>
                    <a:srgbClr val="FF0000"/>
                  </a:solidFill>
                  <a:latin typeface="Times New Roman" panose="02020603050405020304" pitchFamily="18" charset="0"/>
                  <a:ea typeface="돋움" pitchFamily="50" charset="-127"/>
                  <a:cs typeface="Times New Roman" panose="02020603050405020304" pitchFamily="18" charset="0"/>
                </a:rPr>
                <a:t>B.  Y40</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C.  SET T40</a:t>
              </a:r>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D.</a:t>
              </a:r>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X1</a:t>
              </a:r>
              <a:endParaRPr lang="ko-KR" altLang="en-US"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pic>
          <p:nvPicPr>
            <p:cNvPr id="62" name="Picture 6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3132" y="1820153"/>
              <a:ext cx="2828636" cy="1047896"/>
            </a:xfrm>
            <a:prstGeom prst="rect">
              <a:avLst/>
            </a:prstGeom>
          </p:spPr>
        </p:pic>
      </p:grpSp>
      <p:grpSp>
        <p:nvGrpSpPr>
          <p:cNvPr id="72" name="Group 71"/>
          <p:cNvGrpSpPr/>
          <p:nvPr/>
        </p:nvGrpSpPr>
        <p:grpSpPr>
          <a:xfrm>
            <a:off x="165991" y="4879591"/>
            <a:ext cx="3095625" cy="2577629"/>
            <a:chOff x="-27384" y="3013059"/>
            <a:chExt cx="3095625" cy="2577629"/>
          </a:xfrm>
        </p:grpSpPr>
        <p:sp>
          <p:nvSpPr>
            <p:cNvPr id="73" name="Rectangle 2"/>
            <p:cNvSpPr>
              <a:spLocks noChangeArrowheads="1"/>
            </p:cNvSpPr>
            <p:nvPr/>
          </p:nvSpPr>
          <p:spPr bwMode="auto">
            <a:xfrm>
              <a:off x="-27384" y="3013059"/>
              <a:ext cx="3095625" cy="2577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smtClean="0">
                  <a:latin typeface="Times New Roman" pitchFamily="18" charset="0"/>
                  <a:ea typeface="돋움" pitchFamily="50" charset="-127"/>
                  <a:cs typeface="Times New Roman" pitchFamily="18" charset="0"/>
                </a:rPr>
                <a:t>Câu 33. Sơ </a:t>
              </a:r>
              <a:r>
                <a:rPr lang="en-US" altLang="ko-KR" sz="950">
                  <a:latin typeface="Times New Roman" pitchFamily="18" charset="0"/>
                  <a:ea typeface="돋움" pitchFamily="50" charset="-127"/>
                  <a:cs typeface="Times New Roman" pitchFamily="18" charset="0"/>
                </a:rPr>
                <a:t>đồ Sequence sau là sơ đồ mạch nào?</a:t>
              </a: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algn="just" eaLnBrk="1" hangingPunct="1">
                <a:spcBef>
                  <a:spcPct val="50000"/>
                </a:spcBef>
                <a:buFontTx/>
                <a:buNone/>
              </a:pPr>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a:solidFill>
                    <a:srgbClr val="FF0000"/>
                  </a:solidFill>
                  <a:latin typeface="Times New Roman" pitchFamily="18" charset="0"/>
                  <a:ea typeface="돋움" pitchFamily="50" charset="-127"/>
                  <a:cs typeface="Times New Roman" pitchFamily="18" charset="0"/>
                </a:rPr>
                <a:t>Mạch ưu tiên khởi </a:t>
              </a:r>
              <a:r>
                <a:rPr lang="en-US" altLang="ko-KR" sz="950" smtClean="0">
                  <a:solidFill>
                    <a:srgbClr val="FF0000"/>
                  </a:solidFill>
                  <a:latin typeface="Times New Roman" pitchFamily="18" charset="0"/>
                  <a:ea typeface="돋움" pitchFamily="50" charset="-127"/>
                  <a:cs typeface="Times New Roman" pitchFamily="18" charset="0"/>
                </a:rPr>
                <a:t>động</a:t>
              </a:r>
            </a:p>
            <a:p>
              <a:pPr algn="just" eaLnBrk="1" hangingPunct="1">
                <a:spcBef>
                  <a:spcPct val="50000"/>
                </a:spcBef>
                <a:buFontTx/>
                <a:buNone/>
              </a:pPr>
              <a:r>
                <a:rPr lang="en-US" altLang="ko-KR" sz="950" smtClean="0">
                  <a:latin typeface="Times New Roman" pitchFamily="18" charset="0"/>
                  <a:ea typeface="돋움" pitchFamily="50" charset="-127"/>
                  <a:cs typeface="Times New Roman" pitchFamily="18" charset="0"/>
                </a:rPr>
                <a:t>B.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Mạch ưu tiên dừng </a:t>
              </a:r>
              <a:endParaRPr lang="en-US" altLang="ko-KR" sz="950" smtClean="0">
                <a:latin typeface="Times New Roman" pitchFamily="18" charset="0"/>
                <a:ea typeface="돋움" pitchFamily="50" charset="-127"/>
                <a:cs typeface="Times New Roman" pitchFamily="18" charset="0"/>
              </a:endParaRPr>
            </a:p>
            <a:p>
              <a:pPr algn="just" eaLnBrk="1" hangingPunct="1">
                <a:spcBef>
                  <a:spcPct val="50000"/>
                </a:spcBef>
                <a:buFontTx/>
                <a:buNone/>
              </a:pPr>
              <a:r>
                <a:rPr lang="en-US" altLang="ko-KR" sz="950" smtClean="0">
                  <a:latin typeface="Times New Roman" pitchFamily="18" charset="0"/>
                  <a:ea typeface="돋움" pitchFamily="50" charset="-127"/>
                  <a:cs typeface="Times New Roman" pitchFamily="18" charset="0"/>
                </a:rPr>
                <a:t>C.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Mạch </a:t>
              </a:r>
              <a:r>
                <a:rPr lang="en-US" altLang="ko-KR" sz="950" smtClean="0">
                  <a:latin typeface="Times New Roman" pitchFamily="18" charset="0"/>
                  <a:ea typeface="돋움" pitchFamily="50" charset="-127"/>
                  <a:cs typeface="Times New Roman" pitchFamily="18" charset="0"/>
                </a:rPr>
                <a:t>OR</a:t>
              </a:r>
            </a:p>
            <a:p>
              <a:pPr algn="just" eaLnBrk="1" hangingPunct="1">
                <a:spcBef>
                  <a:spcPct val="50000"/>
                </a:spcBef>
                <a:buFontTx/>
                <a:buNone/>
              </a:pPr>
              <a:r>
                <a:rPr lang="en-US" altLang="ko-KR" sz="950" smtClean="0">
                  <a:latin typeface="Times New Roman" pitchFamily="18" charset="0"/>
                  <a:ea typeface="돋움" pitchFamily="50" charset="-127"/>
                  <a:cs typeface="Times New Roman" pitchFamily="18" charset="0"/>
                </a:rPr>
                <a:t>D.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Mạch Inter Lock</a:t>
              </a:r>
              <a:endParaRPr lang="ko-KR" altLang="en-US" sz="950">
                <a:latin typeface="Times New Roman" pitchFamily="18" charset="0"/>
                <a:ea typeface="돋움" pitchFamily="50" charset="-127"/>
                <a:cs typeface="Times New Roman" pitchFamily="18" charset="0"/>
              </a:endParaRPr>
            </a:p>
          </p:txBody>
        </p:sp>
        <p:grpSp>
          <p:nvGrpSpPr>
            <p:cNvPr id="74" name="Group 153"/>
            <p:cNvGrpSpPr>
              <a:grpSpLocks/>
            </p:cNvGrpSpPr>
            <p:nvPr/>
          </p:nvGrpSpPr>
          <p:grpSpPr bwMode="auto">
            <a:xfrm>
              <a:off x="266576" y="3368824"/>
              <a:ext cx="2742660" cy="1368425"/>
              <a:chOff x="3368" y="1165"/>
              <a:chExt cx="2275" cy="950"/>
            </a:xfrm>
          </p:grpSpPr>
          <p:sp>
            <p:nvSpPr>
              <p:cNvPr id="75" name="Line 73"/>
              <p:cNvSpPr>
                <a:spLocks noChangeShapeType="1"/>
              </p:cNvSpPr>
              <p:nvPr/>
            </p:nvSpPr>
            <p:spPr bwMode="auto">
              <a:xfrm>
                <a:off x="3368" y="1233"/>
                <a:ext cx="0" cy="88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76" name="Line 74"/>
              <p:cNvSpPr>
                <a:spLocks noChangeShapeType="1"/>
              </p:cNvSpPr>
              <p:nvPr/>
            </p:nvSpPr>
            <p:spPr bwMode="auto">
              <a:xfrm>
                <a:off x="5643" y="1225"/>
                <a:ext cx="0" cy="88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77" name="Oval 75"/>
              <p:cNvSpPr>
                <a:spLocks noChangeArrowheads="1"/>
              </p:cNvSpPr>
              <p:nvPr/>
            </p:nvSpPr>
            <p:spPr bwMode="auto">
              <a:xfrm>
                <a:off x="3685" y="1373"/>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78" name="Oval 76"/>
              <p:cNvSpPr>
                <a:spLocks noChangeArrowheads="1"/>
              </p:cNvSpPr>
              <p:nvPr/>
            </p:nvSpPr>
            <p:spPr bwMode="auto">
              <a:xfrm>
                <a:off x="3821" y="1373"/>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79" name="Line 77"/>
              <p:cNvSpPr>
                <a:spLocks noChangeShapeType="1"/>
              </p:cNvSpPr>
              <p:nvPr/>
            </p:nvSpPr>
            <p:spPr bwMode="auto">
              <a:xfrm>
                <a:off x="3685" y="1345"/>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0" name="Line 78"/>
              <p:cNvSpPr>
                <a:spLocks noChangeShapeType="1"/>
              </p:cNvSpPr>
              <p:nvPr/>
            </p:nvSpPr>
            <p:spPr bwMode="auto">
              <a:xfrm flipV="1">
                <a:off x="3775" y="1317"/>
                <a:ext cx="0" cy="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2" name="Oval 80"/>
              <p:cNvSpPr>
                <a:spLocks noChangeArrowheads="1"/>
              </p:cNvSpPr>
              <p:nvPr/>
            </p:nvSpPr>
            <p:spPr bwMode="auto">
              <a:xfrm>
                <a:off x="3685" y="1908"/>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83" name="Oval 81"/>
              <p:cNvSpPr>
                <a:spLocks noChangeArrowheads="1"/>
              </p:cNvSpPr>
              <p:nvPr/>
            </p:nvSpPr>
            <p:spPr bwMode="auto">
              <a:xfrm>
                <a:off x="3821" y="1908"/>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84" name="Line 82"/>
              <p:cNvSpPr>
                <a:spLocks noChangeShapeType="1"/>
              </p:cNvSpPr>
              <p:nvPr/>
            </p:nvSpPr>
            <p:spPr bwMode="auto">
              <a:xfrm>
                <a:off x="3685" y="1880"/>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grpSp>
            <p:nvGrpSpPr>
              <p:cNvPr id="85" name="Group 83"/>
              <p:cNvGrpSpPr>
                <a:grpSpLocks/>
              </p:cNvGrpSpPr>
              <p:nvPr/>
            </p:nvGrpSpPr>
            <p:grpSpPr bwMode="auto">
              <a:xfrm>
                <a:off x="4997" y="1282"/>
                <a:ext cx="238" cy="192"/>
                <a:chOff x="2928" y="1832"/>
                <a:chExt cx="252" cy="297"/>
              </a:xfrm>
            </p:grpSpPr>
            <p:sp>
              <p:nvSpPr>
                <p:cNvPr id="110" name="Oval 84"/>
                <p:cNvSpPr>
                  <a:spLocks noChangeArrowheads="1"/>
                </p:cNvSpPr>
                <p:nvPr/>
              </p:nvSpPr>
              <p:spPr bwMode="auto">
                <a:xfrm>
                  <a:off x="2928" y="1872"/>
                  <a:ext cx="240" cy="2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11" name="Text Box 85"/>
                <p:cNvSpPr txBox="1">
                  <a:spLocks noChangeArrowheads="1"/>
                </p:cNvSpPr>
                <p:nvPr/>
              </p:nvSpPr>
              <p:spPr bwMode="auto">
                <a:xfrm>
                  <a:off x="2939" y="1832"/>
                  <a:ext cx="241"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R</a:t>
                  </a:r>
                </a:p>
              </p:txBody>
            </p:sp>
          </p:grpSp>
          <p:sp>
            <p:nvSpPr>
              <p:cNvPr id="86" name="Line 86"/>
              <p:cNvSpPr>
                <a:spLocks noChangeShapeType="1"/>
              </p:cNvSpPr>
              <p:nvPr/>
            </p:nvSpPr>
            <p:spPr bwMode="auto">
              <a:xfrm flipH="1">
                <a:off x="3368" y="1388"/>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7" name="Line 87"/>
              <p:cNvSpPr>
                <a:spLocks noChangeShapeType="1"/>
              </p:cNvSpPr>
              <p:nvPr/>
            </p:nvSpPr>
            <p:spPr bwMode="auto">
              <a:xfrm>
                <a:off x="5224" y="1388"/>
                <a:ext cx="40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8" name="Line 88"/>
              <p:cNvSpPr>
                <a:spLocks noChangeShapeType="1"/>
              </p:cNvSpPr>
              <p:nvPr/>
            </p:nvSpPr>
            <p:spPr bwMode="auto">
              <a:xfrm flipH="1">
                <a:off x="3368" y="1923"/>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9" name="Text Box 89"/>
              <p:cNvSpPr txBox="1">
                <a:spLocks noChangeArrowheads="1"/>
              </p:cNvSpPr>
              <p:nvPr/>
            </p:nvSpPr>
            <p:spPr bwMode="auto">
              <a:xfrm>
                <a:off x="3587" y="1165"/>
                <a:ext cx="4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P/B A</a:t>
                </a:r>
              </a:p>
            </p:txBody>
          </p:sp>
          <p:sp>
            <p:nvSpPr>
              <p:cNvPr id="90" name="Text Box 90"/>
              <p:cNvSpPr txBox="1">
                <a:spLocks noChangeArrowheads="1"/>
              </p:cNvSpPr>
              <p:nvPr/>
            </p:nvSpPr>
            <p:spPr bwMode="auto">
              <a:xfrm>
                <a:off x="4183" y="1507"/>
                <a:ext cx="3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R</a:t>
                </a:r>
              </a:p>
            </p:txBody>
          </p:sp>
          <p:grpSp>
            <p:nvGrpSpPr>
              <p:cNvPr id="91" name="Group 91"/>
              <p:cNvGrpSpPr>
                <a:grpSpLocks/>
              </p:cNvGrpSpPr>
              <p:nvPr/>
            </p:nvGrpSpPr>
            <p:grpSpPr bwMode="auto">
              <a:xfrm>
                <a:off x="4997" y="1802"/>
                <a:ext cx="238" cy="192"/>
                <a:chOff x="2928" y="1826"/>
                <a:chExt cx="252" cy="297"/>
              </a:xfrm>
            </p:grpSpPr>
            <p:sp>
              <p:nvSpPr>
                <p:cNvPr id="108" name="Oval 92"/>
                <p:cNvSpPr>
                  <a:spLocks noChangeArrowheads="1"/>
                </p:cNvSpPr>
                <p:nvPr/>
              </p:nvSpPr>
              <p:spPr bwMode="auto">
                <a:xfrm>
                  <a:off x="2928" y="1872"/>
                  <a:ext cx="240" cy="2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09" name="Text Box 93"/>
                <p:cNvSpPr txBox="1">
                  <a:spLocks noChangeArrowheads="1"/>
                </p:cNvSpPr>
                <p:nvPr/>
              </p:nvSpPr>
              <p:spPr bwMode="auto">
                <a:xfrm>
                  <a:off x="2939" y="1826"/>
                  <a:ext cx="241"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L</a:t>
                  </a:r>
                </a:p>
              </p:txBody>
            </p:sp>
          </p:grpSp>
          <p:sp>
            <p:nvSpPr>
              <p:cNvPr id="92" name="Line 94"/>
              <p:cNvSpPr>
                <a:spLocks noChangeShapeType="1"/>
              </p:cNvSpPr>
              <p:nvPr/>
            </p:nvSpPr>
            <p:spPr bwMode="auto">
              <a:xfrm>
                <a:off x="3866" y="1923"/>
                <a:ext cx="11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3" name="Line 95"/>
              <p:cNvSpPr>
                <a:spLocks noChangeShapeType="1"/>
              </p:cNvSpPr>
              <p:nvPr/>
            </p:nvSpPr>
            <p:spPr bwMode="auto">
              <a:xfrm flipV="1">
                <a:off x="5224" y="1913"/>
                <a:ext cx="419" cy="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4" name="Oval 96"/>
              <p:cNvSpPr>
                <a:spLocks noChangeArrowheads="1"/>
              </p:cNvSpPr>
              <p:nvPr/>
            </p:nvSpPr>
            <p:spPr bwMode="auto">
              <a:xfrm>
                <a:off x="3692" y="1679"/>
                <a:ext cx="46" cy="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95" name="Oval 97"/>
              <p:cNvSpPr>
                <a:spLocks noChangeArrowheads="1"/>
              </p:cNvSpPr>
              <p:nvPr/>
            </p:nvSpPr>
            <p:spPr bwMode="auto">
              <a:xfrm>
                <a:off x="3828" y="1679"/>
                <a:ext cx="45" cy="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96" name="Line 98"/>
              <p:cNvSpPr>
                <a:spLocks noChangeShapeType="1"/>
              </p:cNvSpPr>
              <p:nvPr/>
            </p:nvSpPr>
            <p:spPr bwMode="auto">
              <a:xfrm>
                <a:off x="3692" y="1721"/>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7" name="Line 99"/>
              <p:cNvSpPr>
                <a:spLocks noChangeShapeType="1"/>
              </p:cNvSpPr>
              <p:nvPr/>
            </p:nvSpPr>
            <p:spPr bwMode="auto">
              <a:xfrm flipV="1">
                <a:off x="3783" y="1685"/>
                <a:ext cx="0" cy="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8" name="Text Box 100"/>
              <p:cNvSpPr txBox="1">
                <a:spLocks noChangeArrowheads="1"/>
              </p:cNvSpPr>
              <p:nvPr/>
            </p:nvSpPr>
            <p:spPr bwMode="auto">
              <a:xfrm>
                <a:off x="3587" y="1525"/>
                <a:ext cx="5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P/B B</a:t>
                </a:r>
              </a:p>
            </p:txBody>
          </p:sp>
          <p:sp>
            <p:nvSpPr>
              <p:cNvPr id="99" name="Line 101"/>
              <p:cNvSpPr>
                <a:spLocks noChangeShapeType="1"/>
              </p:cNvSpPr>
              <p:nvPr/>
            </p:nvSpPr>
            <p:spPr bwMode="auto">
              <a:xfrm flipH="1">
                <a:off x="3368" y="1700"/>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0" name="Line 102"/>
              <p:cNvSpPr>
                <a:spLocks noChangeShapeType="1"/>
              </p:cNvSpPr>
              <p:nvPr/>
            </p:nvSpPr>
            <p:spPr bwMode="auto">
              <a:xfrm flipH="1">
                <a:off x="3866" y="1700"/>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1" name="Oval 104"/>
              <p:cNvSpPr>
                <a:spLocks noChangeArrowheads="1"/>
              </p:cNvSpPr>
              <p:nvPr/>
            </p:nvSpPr>
            <p:spPr bwMode="auto">
              <a:xfrm>
                <a:off x="4183" y="1685"/>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02" name="Oval 105"/>
              <p:cNvSpPr>
                <a:spLocks noChangeArrowheads="1"/>
              </p:cNvSpPr>
              <p:nvPr/>
            </p:nvSpPr>
            <p:spPr bwMode="auto">
              <a:xfrm>
                <a:off x="4319" y="1685"/>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03" name="Line 106"/>
              <p:cNvSpPr>
                <a:spLocks noChangeShapeType="1"/>
              </p:cNvSpPr>
              <p:nvPr/>
            </p:nvSpPr>
            <p:spPr bwMode="auto">
              <a:xfrm>
                <a:off x="4183" y="1657"/>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4" name="Text Box 107"/>
              <p:cNvSpPr txBox="1">
                <a:spLocks noChangeArrowheads="1"/>
              </p:cNvSpPr>
              <p:nvPr/>
            </p:nvSpPr>
            <p:spPr bwMode="auto">
              <a:xfrm>
                <a:off x="3684" y="1738"/>
                <a:ext cx="3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R</a:t>
                </a:r>
              </a:p>
            </p:txBody>
          </p:sp>
          <p:sp>
            <p:nvSpPr>
              <p:cNvPr id="105" name="Line 108"/>
              <p:cNvSpPr>
                <a:spLocks noChangeShapeType="1"/>
              </p:cNvSpPr>
              <p:nvPr/>
            </p:nvSpPr>
            <p:spPr bwMode="auto">
              <a:xfrm>
                <a:off x="4364" y="1700"/>
                <a:ext cx="13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6" name="Line 109"/>
              <p:cNvSpPr>
                <a:spLocks noChangeShapeType="1"/>
              </p:cNvSpPr>
              <p:nvPr/>
            </p:nvSpPr>
            <p:spPr bwMode="auto">
              <a:xfrm flipV="1">
                <a:off x="4499" y="1389"/>
                <a:ext cx="0" cy="3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7" name="Line 110"/>
              <p:cNvSpPr>
                <a:spLocks noChangeShapeType="1"/>
              </p:cNvSpPr>
              <p:nvPr/>
            </p:nvSpPr>
            <p:spPr bwMode="auto">
              <a:xfrm>
                <a:off x="3866" y="1389"/>
                <a:ext cx="11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grpSp>
      </p:grpSp>
      <p:sp>
        <p:nvSpPr>
          <p:cNvPr id="112" name="Rectangle 31"/>
          <p:cNvSpPr>
            <a:spLocks noChangeArrowheads="1"/>
          </p:cNvSpPr>
          <p:nvPr/>
        </p:nvSpPr>
        <p:spPr bwMode="auto">
          <a:xfrm>
            <a:off x="193886" y="7545288"/>
            <a:ext cx="3141663" cy="1588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00" smtClean="0">
                <a:latin typeface="Times New Roman" pitchFamily="18" charset="0"/>
                <a:ea typeface="돋움" pitchFamily="50" charset="-127"/>
                <a:cs typeface="Times New Roman" pitchFamily="18" charset="0"/>
              </a:rPr>
              <a:t>34.</a:t>
            </a:r>
            <a:r>
              <a:rPr lang="en-US" altLang="ko-KR" sz="90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Đây </a:t>
            </a:r>
            <a:r>
              <a:rPr lang="en-US" altLang="ko-KR" sz="900">
                <a:latin typeface="Times New Roman" pitchFamily="18" charset="0"/>
                <a:ea typeface="돋움" pitchFamily="50" charset="-127"/>
                <a:cs typeface="Times New Roman" pitchFamily="18" charset="0"/>
              </a:rPr>
              <a:t>là giải thích về LED của CPU PLC. Giải thích nào </a:t>
            </a:r>
            <a:r>
              <a:rPr lang="en-US" altLang="ko-KR" sz="900" u="sng">
                <a:latin typeface="Times New Roman" pitchFamily="18" charset="0"/>
                <a:ea typeface="돋움" pitchFamily="50" charset="-127"/>
                <a:cs typeface="Times New Roman" pitchFamily="18" charset="0"/>
              </a:rPr>
              <a:t>sai</a:t>
            </a:r>
            <a:r>
              <a:rPr lang="en-US" altLang="ko-KR" sz="900">
                <a:latin typeface="Times New Roman" pitchFamily="18" charset="0"/>
                <a:ea typeface="돋움" pitchFamily="50" charset="-127"/>
                <a:cs typeface="Times New Roman" pitchFamily="18" charset="0"/>
              </a:rPr>
              <a: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lnSpc>
                <a:spcPct val="150000"/>
              </a:lnSpc>
              <a:spcBef>
                <a:spcPct val="0"/>
              </a:spcBef>
              <a:buFontTx/>
              <a:buNone/>
            </a:pPr>
            <a:r>
              <a:rPr lang="en-US" altLang="ko-KR" sz="900" smtClean="0">
                <a:latin typeface="Times New Roman" pitchFamily="18" charset="0"/>
                <a:ea typeface="돋움" pitchFamily="50" charset="-127"/>
                <a:cs typeface="Times New Roman" pitchFamily="18" charset="0"/>
              </a:rPr>
              <a:t>A.  </a:t>
            </a:r>
            <a:r>
              <a:rPr lang="en-US" altLang="ko-KR" sz="900">
                <a:latin typeface="Times New Roman" pitchFamily="18" charset="0"/>
                <a:ea typeface="돋움" pitchFamily="50" charset="-127"/>
                <a:cs typeface="Times New Roman" pitchFamily="18" charset="0"/>
              </a:rPr>
              <a:t>RUN LED : Sáng đèn khi đang vận hành bằng RUN.</a:t>
            </a:r>
          </a:p>
          <a:p>
            <a:pPr eaLnBrk="1" hangingPunct="1">
              <a:lnSpc>
                <a:spcPct val="150000"/>
              </a:lnSpc>
              <a:spcBef>
                <a:spcPct val="0"/>
              </a:spcBef>
              <a:buFontTx/>
              <a:buNone/>
            </a:pPr>
            <a:r>
              <a:rPr lang="en-US" altLang="ko-KR" sz="900" smtClean="0">
                <a:latin typeface="Times New Roman" pitchFamily="18" charset="0"/>
                <a:ea typeface="돋움" pitchFamily="50" charset="-127"/>
                <a:cs typeface="Times New Roman" pitchFamily="18" charset="0"/>
              </a:rPr>
              <a:t>B.  </a:t>
            </a:r>
            <a:r>
              <a:rPr lang="en-US" altLang="ko-KR" sz="900">
                <a:latin typeface="Times New Roman" pitchFamily="18" charset="0"/>
                <a:ea typeface="돋움" pitchFamily="50" charset="-127"/>
                <a:cs typeface="Times New Roman" pitchFamily="18" charset="0"/>
              </a:rPr>
              <a:t>USER LED : Nhấp nháy khi thực hiện Latch Clear. </a:t>
            </a:r>
          </a:p>
          <a:p>
            <a:pPr eaLnBrk="1" hangingPunct="1">
              <a:lnSpc>
                <a:spcPct val="150000"/>
              </a:lnSpc>
              <a:spcBef>
                <a:spcPct val="0"/>
              </a:spcBef>
              <a:buFontTx/>
              <a:buNone/>
            </a:pPr>
            <a:r>
              <a:rPr lang="en-US" altLang="ko-KR" sz="900" smtClean="0">
                <a:latin typeface="Times New Roman" pitchFamily="18" charset="0"/>
                <a:ea typeface="돋움" pitchFamily="50" charset="-127"/>
                <a:cs typeface="Times New Roman" pitchFamily="18" charset="0"/>
              </a:rPr>
              <a:t>C.  </a:t>
            </a:r>
            <a:r>
              <a:rPr lang="en-US" altLang="ko-KR" sz="900">
                <a:latin typeface="Times New Roman" pitchFamily="18" charset="0"/>
                <a:ea typeface="돋움" pitchFamily="50" charset="-127"/>
                <a:cs typeface="Times New Roman" pitchFamily="18" charset="0"/>
              </a:rPr>
              <a:t>BAT. LED : Nhấp nháy khi điện áp Battery của thân máy CPU và Memory Card thấp đi làm phát sinh Error của Battery.</a:t>
            </a:r>
          </a:p>
          <a:p>
            <a:pPr eaLnBrk="1" hangingPunct="1">
              <a:lnSpc>
                <a:spcPct val="150000"/>
              </a:lnSpc>
              <a:spcBef>
                <a:spcPct val="0"/>
              </a:spcBef>
              <a:buFontTx/>
              <a:buNone/>
            </a:pPr>
            <a:r>
              <a:rPr lang="en-US" altLang="ko-KR" sz="900" smtClean="0">
                <a:solidFill>
                  <a:srgbClr val="FF0000"/>
                </a:solidFill>
                <a:latin typeface="Times New Roman" pitchFamily="18" charset="0"/>
                <a:ea typeface="돋움" pitchFamily="50" charset="-127"/>
                <a:cs typeface="Times New Roman" pitchFamily="18" charset="0"/>
              </a:rPr>
              <a:t>D. </a:t>
            </a:r>
            <a:r>
              <a:rPr lang="en-US" altLang="ko-KR" sz="900">
                <a:solidFill>
                  <a:srgbClr val="FF0000"/>
                </a:solidFill>
                <a:latin typeface="Times New Roman" pitchFamily="18" charset="0"/>
                <a:ea typeface="돋움" pitchFamily="50" charset="-127"/>
                <a:cs typeface="Times New Roman" pitchFamily="18" charset="0"/>
              </a:rPr>
              <a:t>MODE LED : Nếu sáng đèn màu da cam thì là</a:t>
            </a:r>
            <a:r>
              <a:rPr lang="ko-KR" altLang="en-US" sz="900">
                <a:solidFill>
                  <a:srgbClr val="FF0000"/>
                </a:solidFill>
                <a:latin typeface="Times New Roman" pitchFamily="18" charset="0"/>
                <a:ea typeface="돋움" pitchFamily="50" charset="-127"/>
                <a:cs typeface="Times New Roman" pitchFamily="18" charset="0"/>
              </a:rPr>
              <a:t> </a:t>
            </a:r>
            <a:r>
              <a:rPr lang="en-US" altLang="ko-KR" sz="900">
                <a:solidFill>
                  <a:srgbClr val="FF0000"/>
                </a:solidFill>
                <a:latin typeface="Times New Roman" pitchFamily="18" charset="0"/>
                <a:ea typeface="돋움" pitchFamily="50" charset="-127"/>
                <a:cs typeface="Times New Roman" pitchFamily="18" charset="0"/>
              </a:rPr>
              <a:t>Q</a:t>
            </a:r>
            <a:r>
              <a:rPr lang="ko-KR" altLang="en-US" sz="900">
                <a:solidFill>
                  <a:srgbClr val="FF0000"/>
                </a:solidFill>
                <a:latin typeface="Times New Roman" pitchFamily="18" charset="0"/>
                <a:ea typeface="돋움" pitchFamily="50" charset="-127"/>
                <a:cs typeface="Times New Roman" pitchFamily="18" charset="0"/>
              </a:rPr>
              <a:t> </a:t>
            </a:r>
            <a:r>
              <a:rPr lang="en-US" altLang="ko-KR" sz="900">
                <a:solidFill>
                  <a:srgbClr val="FF0000"/>
                </a:solidFill>
                <a:latin typeface="Times New Roman" pitchFamily="18" charset="0"/>
                <a:ea typeface="돋움" pitchFamily="50" charset="-127"/>
                <a:cs typeface="Times New Roman" pitchFamily="18" charset="0"/>
              </a:rPr>
              <a:t>Mode. </a:t>
            </a:r>
          </a:p>
          <a:p>
            <a:pPr eaLnBrk="1" hangingPunct="1">
              <a:lnSpc>
                <a:spcPct val="130000"/>
              </a:lnSpc>
              <a:spcBef>
                <a:spcPct val="0"/>
              </a:spcBef>
              <a:buFontTx/>
              <a:buNone/>
            </a:pPr>
            <a:endParaRPr lang="en-US" altLang="ko-KR" sz="900">
              <a:solidFill>
                <a:srgbClr val="FF0000"/>
              </a:solidFill>
              <a:latin typeface="Times New Roman" pitchFamily="18" charset="0"/>
              <a:ea typeface="돋움" pitchFamily="50" charset="-127"/>
              <a:cs typeface="Times New Roman" pitchFamily="18" charset="0"/>
            </a:endParaRPr>
          </a:p>
        </p:txBody>
      </p:sp>
      <p:sp>
        <p:nvSpPr>
          <p:cNvPr id="113" name="Rectangle 112"/>
          <p:cNvSpPr/>
          <p:nvPr/>
        </p:nvSpPr>
        <p:spPr>
          <a:xfrm>
            <a:off x="3428622" y="920552"/>
            <a:ext cx="3198018" cy="677108"/>
          </a:xfrm>
          <a:prstGeom prst="rect">
            <a:avLst/>
          </a:prstGeom>
        </p:spPr>
        <p:txBody>
          <a:bodyPr wrap="square">
            <a:spAutoFit/>
          </a:bodyPr>
          <a:lstStyle/>
          <a:p>
            <a:pPr>
              <a:defRPr/>
            </a:pPr>
            <a:r>
              <a:rPr lang="en-US" altLang="ko-KR" sz="950" smtClean="0">
                <a:latin typeface="Times New Roman" pitchFamily="18" charset="0"/>
                <a:cs typeface="Times New Roman" pitchFamily="18" charset="0"/>
              </a:rPr>
              <a:t>35. Relay chuyên </a:t>
            </a:r>
            <a:r>
              <a:rPr lang="en-US" altLang="ko-KR" sz="950">
                <a:latin typeface="Times New Roman" pitchFamily="18" charset="0"/>
                <a:cs typeface="Times New Roman" pitchFamily="18" charset="0"/>
              </a:rPr>
              <a:t>sử dụng cho Data link là </a:t>
            </a:r>
            <a:r>
              <a:rPr lang="en-US" altLang="ko-KR" sz="950" smtClean="0">
                <a:latin typeface="Times New Roman" pitchFamily="18" charset="0"/>
                <a:cs typeface="Times New Roman" pitchFamily="18" charset="0"/>
              </a:rPr>
              <a:t>Bit </a:t>
            </a:r>
            <a:r>
              <a:rPr lang="en-US" altLang="ko-KR" sz="950">
                <a:latin typeface="Times New Roman" pitchFamily="18" charset="0"/>
                <a:cs typeface="Times New Roman" pitchFamily="18" charset="0"/>
              </a:rPr>
              <a:t>device nào dưới đây? </a:t>
            </a:r>
          </a:p>
          <a:p>
            <a:pPr>
              <a:defRPr/>
            </a:pPr>
            <a:endParaRPr lang="en-US" altLang="ko-KR" sz="950">
              <a:latin typeface="Times New Roman" pitchFamily="18" charset="0"/>
              <a:cs typeface="Times New Roman" pitchFamily="18" charset="0"/>
            </a:endParaRPr>
          </a:p>
          <a:p>
            <a:pPr>
              <a:defRPr/>
            </a:pPr>
            <a:r>
              <a:rPr lang="en-US" altLang="ko-KR" sz="950" smtClean="0">
                <a:solidFill>
                  <a:srgbClr val="FF0000"/>
                </a:solidFill>
                <a:latin typeface="Times New Roman" pitchFamily="18" charset="0"/>
                <a:cs typeface="Times New Roman" pitchFamily="18" charset="0"/>
              </a:rPr>
              <a:t>A. </a:t>
            </a:r>
            <a:r>
              <a:rPr lang="en-US" altLang="ko-KR" sz="950" b="1" smtClean="0">
                <a:solidFill>
                  <a:srgbClr val="FF0000"/>
                </a:solidFill>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B                   </a:t>
            </a:r>
            <a:r>
              <a:rPr lang="en-US" altLang="ko-KR" sz="950" smtClean="0">
                <a:latin typeface="Times New Roman" pitchFamily="18" charset="0"/>
                <a:cs typeface="Times New Roman" pitchFamily="18" charset="0"/>
              </a:rPr>
              <a:t>B. </a:t>
            </a:r>
            <a:r>
              <a:rPr lang="ko-KR" altLang="en-US" sz="950" smtClean="0">
                <a:latin typeface="Times New Roman" pitchFamily="18" charset="0"/>
                <a:cs typeface="Times New Roman" pitchFamily="18" charset="0"/>
              </a:rPr>
              <a:t> </a:t>
            </a:r>
            <a:r>
              <a:rPr lang="en-US" altLang="ko-KR" sz="950" smtClean="0">
                <a:solidFill>
                  <a:srgbClr val="404040"/>
                </a:solidFill>
                <a:latin typeface="Times New Roman" pitchFamily="18" charset="0"/>
                <a:cs typeface="Times New Roman" pitchFamily="18" charset="0"/>
              </a:rPr>
              <a:t>Z                     </a:t>
            </a:r>
            <a:r>
              <a:rPr lang="en-US" altLang="ko-KR" sz="950" smtClean="0">
                <a:latin typeface="Times New Roman" pitchFamily="18" charset="0"/>
                <a:cs typeface="Times New Roman" pitchFamily="18" charset="0"/>
              </a:rPr>
              <a:t>C. </a:t>
            </a:r>
            <a:r>
              <a:rPr lang="ko-KR" altLang="en-US" sz="950" smtClean="0">
                <a:latin typeface="Times New Roman" pitchFamily="18" charset="0"/>
                <a:cs typeface="Times New Roman" pitchFamily="18" charset="0"/>
              </a:rPr>
              <a:t> </a:t>
            </a:r>
            <a:r>
              <a:rPr lang="en-US" altLang="ko-KR" sz="950">
                <a:solidFill>
                  <a:srgbClr val="404040"/>
                </a:solidFill>
                <a:latin typeface="Times New Roman" pitchFamily="18" charset="0"/>
                <a:cs typeface="Times New Roman" pitchFamily="18" charset="0"/>
              </a:rPr>
              <a:t>R                  </a:t>
            </a:r>
            <a:r>
              <a:rPr lang="en-US" altLang="ko-KR" sz="950" smtClean="0">
                <a:solidFill>
                  <a:srgbClr val="40404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smtClean="0">
                <a:solidFill>
                  <a:srgbClr val="404040"/>
                </a:solidFill>
                <a:latin typeface="Times New Roman" pitchFamily="18" charset="0"/>
                <a:cs typeface="Times New Roman" pitchFamily="18" charset="0"/>
              </a:rPr>
              <a:t> </a:t>
            </a:r>
            <a:r>
              <a:rPr lang="en-US" altLang="ko-KR" sz="950">
                <a:solidFill>
                  <a:srgbClr val="404040"/>
                </a:solidFill>
                <a:latin typeface="Times New Roman" pitchFamily="18" charset="0"/>
                <a:cs typeface="Times New Roman" pitchFamily="18" charset="0"/>
              </a:rPr>
              <a:t>W</a:t>
            </a:r>
            <a:r>
              <a:rPr lang="ko-KR" altLang="en-US" sz="950">
                <a:latin typeface="Times New Roman" pitchFamily="18" charset="0"/>
                <a:cs typeface="Times New Roman" pitchFamily="18" charset="0"/>
              </a:rPr>
              <a:t> </a:t>
            </a:r>
          </a:p>
        </p:txBody>
      </p:sp>
      <p:sp>
        <p:nvSpPr>
          <p:cNvPr id="114" name="Rectangle 8"/>
          <p:cNvSpPr>
            <a:spLocks noChangeArrowheads="1"/>
          </p:cNvSpPr>
          <p:nvPr/>
        </p:nvSpPr>
        <p:spPr bwMode="auto">
          <a:xfrm>
            <a:off x="3459181" y="2936776"/>
            <a:ext cx="314166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00" smtClean="0">
                <a:latin typeface="Times New Roman" panose="02020603050405020304" pitchFamily="18" charset="0"/>
                <a:ea typeface="돋움" pitchFamily="50" charset="-127"/>
                <a:cs typeface="Times New Roman" pitchFamily="18" charset="0"/>
              </a:rPr>
              <a:t>37.  </a:t>
            </a:r>
            <a:r>
              <a:rPr lang="en-US" altLang="ko-KR" sz="900">
                <a:latin typeface="Times New Roman" pitchFamily="18" charset="0"/>
                <a:ea typeface="돋움" pitchFamily="50" charset="-127"/>
                <a:cs typeface="Times New Roman" pitchFamily="18" charset="0"/>
              </a:rPr>
              <a:t>Address cuối cùng của Slot </a:t>
            </a:r>
            <a:r>
              <a:rPr lang="en-US" altLang="ko-KR" sz="900" smtClean="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ở ảnh cấu tạo PLC dưới đây là gì?</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smtClean="0">
                <a:latin typeface="Times New Roman" pitchFamily="18" charset="0"/>
                <a:ea typeface="돋움" pitchFamily="50" charset="-127"/>
                <a:cs typeface="Times New Roman" pitchFamily="18" charset="0"/>
              </a:rPr>
              <a:t>A. </a:t>
            </a:r>
            <a:r>
              <a:rPr lang="en-US" altLang="ko-KR" sz="900">
                <a:latin typeface="Times New Roman" pitchFamily="18" charset="0"/>
                <a:ea typeface="돋움" pitchFamily="50" charset="-127"/>
                <a:cs typeface="Times New Roman" pitchFamily="18" charset="0"/>
              </a:rPr>
              <a:t>CF         </a:t>
            </a:r>
            <a:r>
              <a:rPr lang="en-US" altLang="ko-KR" sz="900" smtClean="0">
                <a:solidFill>
                  <a:srgbClr val="FF0000"/>
                </a:solidFill>
                <a:latin typeface="Times New Roman" pitchFamily="18" charset="0"/>
                <a:ea typeface="돋움" pitchFamily="50" charset="-127"/>
                <a:cs typeface="Times New Roman" pitchFamily="18" charset="0"/>
              </a:rPr>
              <a:t>B.  </a:t>
            </a:r>
            <a:r>
              <a:rPr lang="en-US" altLang="ko-KR" sz="900">
                <a:solidFill>
                  <a:srgbClr val="FF0000"/>
                </a:solidFill>
                <a:latin typeface="Times New Roman" pitchFamily="18" charset="0"/>
                <a:ea typeface="돋움" pitchFamily="50" charset="-127"/>
                <a:cs typeface="Times New Roman" pitchFamily="18" charset="0"/>
              </a:rPr>
              <a:t>DF         </a:t>
            </a:r>
            <a:r>
              <a:rPr lang="en-US" altLang="ko-KR" sz="900" smtClean="0">
                <a:latin typeface="Times New Roman" pitchFamily="18" charset="0"/>
                <a:ea typeface="돋움" pitchFamily="50" charset="-127"/>
                <a:cs typeface="Times New Roman" pitchFamily="18" charset="0"/>
              </a:rPr>
              <a:t>C.  </a:t>
            </a:r>
            <a:r>
              <a:rPr lang="en-US" altLang="ko-KR" sz="900">
                <a:latin typeface="Times New Roman" pitchFamily="18" charset="0"/>
                <a:ea typeface="돋움" pitchFamily="50" charset="-127"/>
                <a:cs typeface="Times New Roman" pitchFamily="18" charset="0"/>
              </a:rPr>
              <a:t>EF         </a:t>
            </a:r>
            <a:r>
              <a:rPr lang="en-US" altLang="ko-KR" sz="900" smtClean="0">
                <a:latin typeface="Times New Roman" pitchFamily="18" charset="0"/>
                <a:ea typeface="돋움" pitchFamily="50" charset="-127"/>
                <a:cs typeface="Times New Roman" pitchFamily="18" charset="0"/>
              </a:rPr>
              <a:t>D. </a:t>
            </a:r>
            <a:r>
              <a:rPr lang="en-US" altLang="ko-KR" sz="900">
                <a:latin typeface="Times New Roman" pitchFamily="18" charset="0"/>
                <a:ea typeface="돋움" pitchFamily="50" charset="-127"/>
                <a:cs typeface="Times New Roman" pitchFamily="18" charset="0"/>
              </a:rPr>
              <a:t>FF</a:t>
            </a:r>
          </a:p>
        </p:txBody>
      </p:sp>
      <p:grpSp>
        <p:nvGrpSpPr>
          <p:cNvPr id="115" name="Group 114"/>
          <p:cNvGrpSpPr/>
          <p:nvPr/>
        </p:nvGrpSpPr>
        <p:grpSpPr>
          <a:xfrm>
            <a:off x="3589264" y="3312832"/>
            <a:ext cx="2936080" cy="631825"/>
            <a:chOff x="373063" y="2144713"/>
            <a:chExt cx="2936080" cy="631825"/>
          </a:xfrm>
        </p:grpSpPr>
        <p:sp>
          <p:nvSpPr>
            <p:cNvPr id="116" name="Rectangle 9"/>
            <p:cNvSpPr>
              <a:spLocks noChangeArrowheads="1"/>
            </p:cNvSpPr>
            <p:nvPr/>
          </p:nvSpPr>
          <p:spPr bwMode="auto">
            <a:xfrm>
              <a:off x="496888" y="2200275"/>
              <a:ext cx="2665412" cy="5762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endParaRPr lang="ko-KR" altLang="ko-KR" sz="800">
                <a:latin typeface="Times New Roman" panose="02020603050405020304" pitchFamily="18" charset="0"/>
                <a:ea typeface="돋움" pitchFamily="50" charset="-127"/>
                <a:cs typeface="Times New Roman" pitchFamily="18" charset="0"/>
              </a:endParaRPr>
            </a:p>
          </p:txBody>
        </p:sp>
        <p:sp>
          <p:nvSpPr>
            <p:cNvPr id="117" name="Line 10"/>
            <p:cNvSpPr>
              <a:spLocks noChangeShapeType="1"/>
            </p:cNvSpPr>
            <p:nvPr/>
          </p:nvSpPr>
          <p:spPr bwMode="auto">
            <a:xfrm>
              <a:off x="755650"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18" name="Line 11"/>
            <p:cNvSpPr>
              <a:spLocks noChangeShapeType="1"/>
            </p:cNvSpPr>
            <p:nvPr/>
          </p:nvSpPr>
          <p:spPr bwMode="auto">
            <a:xfrm>
              <a:off x="1003300"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19" name="Line 12"/>
            <p:cNvSpPr>
              <a:spLocks noChangeShapeType="1"/>
            </p:cNvSpPr>
            <p:nvPr/>
          </p:nvSpPr>
          <p:spPr bwMode="auto">
            <a:xfrm>
              <a:off x="1312863"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0" name="Line 13"/>
            <p:cNvSpPr>
              <a:spLocks noChangeShapeType="1"/>
            </p:cNvSpPr>
            <p:nvPr/>
          </p:nvSpPr>
          <p:spPr bwMode="auto">
            <a:xfrm>
              <a:off x="1622425"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1" name="Line 14"/>
            <p:cNvSpPr>
              <a:spLocks noChangeShapeType="1"/>
            </p:cNvSpPr>
            <p:nvPr/>
          </p:nvSpPr>
          <p:spPr bwMode="auto">
            <a:xfrm>
              <a:off x="1931988"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2" name="Text Box 15"/>
            <p:cNvSpPr txBox="1">
              <a:spLocks noChangeArrowheads="1"/>
            </p:cNvSpPr>
            <p:nvPr/>
          </p:nvSpPr>
          <p:spPr bwMode="auto">
            <a:xfrm>
              <a:off x="373063" y="2144713"/>
              <a:ext cx="4635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UNIT</a:t>
              </a:r>
            </a:p>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điện</a:t>
              </a:r>
            </a:p>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nguồn</a:t>
              </a:r>
            </a:p>
          </p:txBody>
        </p:sp>
        <p:sp>
          <p:nvSpPr>
            <p:cNvPr id="123" name="Text Box 16"/>
            <p:cNvSpPr txBox="1">
              <a:spLocks noChangeArrowheads="1"/>
            </p:cNvSpPr>
            <p:nvPr/>
          </p:nvSpPr>
          <p:spPr bwMode="auto">
            <a:xfrm>
              <a:off x="687388" y="2201863"/>
              <a:ext cx="500062"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CPU</a:t>
              </a:r>
            </a:p>
          </p:txBody>
        </p:sp>
        <p:sp>
          <p:nvSpPr>
            <p:cNvPr id="124" name="Text Box 17"/>
            <p:cNvSpPr txBox="1">
              <a:spLocks noChangeArrowheads="1"/>
            </p:cNvSpPr>
            <p:nvPr/>
          </p:nvSpPr>
          <p:spPr bwMode="auto">
            <a:xfrm>
              <a:off x="936625" y="2197100"/>
              <a:ext cx="554038"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QX41</a:t>
              </a:r>
            </a:p>
          </p:txBody>
        </p:sp>
        <p:sp>
          <p:nvSpPr>
            <p:cNvPr id="125" name="Text Box 18"/>
            <p:cNvSpPr txBox="1">
              <a:spLocks noChangeArrowheads="1"/>
            </p:cNvSpPr>
            <p:nvPr/>
          </p:nvSpPr>
          <p:spPr bwMode="auto">
            <a:xfrm>
              <a:off x="1555750" y="2198688"/>
              <a:ext cx="48260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QX41</a:t>
              </a:r>
            </a:p>
          </p:txBody>
        </p:sp>
        <p:sp>
          <p:nvSpPr>
            <p:cNvPr id="126" name="Text Box 19"/>
            <p:cNvSpPr txBox="1">
              <a:spLocks noChangeArrowheads="1"/>
            </p:cNvSpPr>
            <p:nvPr/>
          </p:nvSpPr>
          <p:spPr bwMode="auto">
            <a:xfrm>
              <a:off x="1246188" y="2198688"/>
              <a:ext cx="454025"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QY42</a:t>
              </a:r>
            </a:p>
          </p:txBody>
        </p:sp>
        <p:sp>
          <p:nvSpPr>
            <p:cNvPr id="127" name="Text Box 20"/>
            <p:cNvSpPr txBox="1">
              <a:spLocks noChangeArrowheads="1"/>
            </p:cNvSpPr>
            <p:nvPr/>
          </p:nvSpPr>
          <p:spPr bwMode="auto">
            <a:xfrm>
              <a:off x="2804318" y="2216945"/>
              <a:ext cx="50482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QY40</a:t>
              </a:r>
            </a:p>
          </p:txBody>
        </p:sp>
        <p:sp>
          <p:nvSpPr>
            <p:cNvPr id="128" name="Line 21"/>
            <p:cNvSpPr>
              <a:spLocks noChangeShapeType="1"/>
            </p:cNvSpPr>
            <p:nvPr/>
          </p:nvSpPr>
          <p:spPr bwMode="auto">
            <a:xfrm>
              <a:off x="2243138"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9" name="Text Box 22"/>
            <p:cNvSpPr txBox="1">
              <a:spLocks noChangeArrowheads="1"/>
            </p:cNvSpPr>
            <p:nvPr/>
          </p:nvSpPr>
          <p:spPr bwMode="auto">
            <a:xfrm>
              <a:off x="1797050" y="2216945"/>
              <a:ext cx="581025"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Slot</a:t>
              </a:r>
            </a:p>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trống</a:t>
              </a:r>
            </a:p>
          </p:txBody>
        </p:sp>
        <p:sp>
          <p:nvSpPr>
            <p:cNvPr id="130" name="Line 23"/>
            <p:cNvSpPr>
              <a:spLocks noChangeShapeType="1"/>
            </p:cNvSpPr>
            <p:nvPr/>
          </p:nvSpPr>
          <p:spPr bwMode="auto">
            <a:xfrm>
              <a:off x="2551113"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1" name="Text Box 24"/>
            <p:cNvSpPr txBox="1">
              <a:spLocks noChangeArrowheads="1"/>
            </p:cNvSpPr>
            <p:nvPr/>
          </p:nvSpPr>
          <p:spPr bwMode="auto">
            <a:xfrm>
              <a:off x="2192338" y="2200275"/>
              <a:ext cx="4476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Q64</a:t>
              </a:r>
            </a:p>
            <a:p>
              <a:pP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AD</a:t>
              </a:r>
            </a:p>
          </p:txBody>
        </p:sp>
        <p:sp>
          <p:nvSpPr>
            <p:cNvPr id="132" name="Text Box 25"/>
            <p:cNvSpPr txBox="1">
              <a:spLocks noChangeArrowheads="1"/>
            </p:cNvSpPr>
            <p:nvPr/>
          </p:nvSpPr>
          <p:spPr bwMode="auto">
            <a:xfrm>
              <a:off x="2478088" y="2200275"/>
              <a:ext cx="49847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QX42</a:t>
              </a:r>
            </a:p>
          </p:txBody>
        </p:sp>
        <p:sp>
          <p:nvSpPr>
            <p:cNvPr id="133" name="Line 26"/>
            <p:cNvSpPr>
              <a:spLocks noChangeShapeType="1"/>
            </p:cNvSpPr>
            <p:nvPr/>
          </p:nvSpPr>
          <p:spPr bwMode="auto">
            <a:xfrm>
              <a:off x="2862263"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4" name="Rectangle 38"/>
            <p:cNvSpPr>
              <a:spLocks noChangeArrowheads="1"/>
            </p:cNvSpPr>
            <p:nvPr/>
          </p:nvSpPr>
          <p:spPr bwMode="auto">
            <a:xfrm>
              <a:off x="2551113" y="2489200"/>
              <a:ext cx="4651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 ? )</a:t>
              </a:r>
            </a:p>
          </p:txBody>
        </p:sp>
      </p:grpSp>
      <p:sp>
        <p:nvSpPr>
          <p:cNvPr id="138" name="Rectangle 137"/>
          <p:cNvSpPr/>
          <p:nvPr/>
        </p:nvSpPr>
        <p:spPr>
          <a:xfrm>
            <a:off x="186888" y="913656"/>
            <a:ext cx="3358744" cy="1919756"/>
          </a:xfrm>
          <a:prstGeom prst="rect">
            <a:avLst/>
          </a:prstGeom>
        </p:spPr>
        <p:txBody>
          <a:bodyPr wrap="square">
            <a:spAutoFit/>
          </a:bodyPr>
          <a:lstStyle/>
          <a:p>
            <a:pPr lvl="0" fontAlgn="base">
              <a:spcBef>
                <a:spcPct val="0"/>
              </a:spcBef>
              <a:spcAft>
                <a:spcPct val="0"/>
              </a:spcAft>
            </a:pPr>
            <a:r>
              <a:rPr lang="en-US" altLang="ko-KR" sz="950" smtClean="0">
                <a:solidFill>
                  <a:srgbClr val="000000"/>
                </a:solidFill>
                <a:latin typeface="Arial" pitchFamily="34" charset="0"/>
                <a:ea typeface="LG Smart_H Regular" panose="020B0600000101010101" pitchFamily="34" charset="-127"/>
                <a:cs typeface="Arial" pitchFamily="34" charset="0"/>
              </a:rPr>
              <a:t>31. </a:t>
            </a:r>
            <a:r>
              <a:rPr lang="vi-VN" altLang="ko-KR" sz="950">
                <a:solidFill>
                  <a:srgbClr val="000000"/>
                </a:solidFill>
                <a:latin typeface="Arial" pitchFamily="34" charset="0"/>
                <a:ea typeface="LG Smart_H Regular" panose="020B0600000101010101" pitchFamily="34" charset="-127"/>
                <a:cs typeface="Arial" pitchFamily="34" charset="0"/>
              </a:rPr>
              <a:t>Điều gì đúng khi giải thích về </a:t>
            </a:r>
            <a:r>
              <a:rPr lang="en-US" altLang="ko-KR" sz="950">
                <a:solidFill>
                  <a:srgbClr val="000000"/>
                </a:solidFill>
                <a:latin typeface="Arial" pitchFamily="34" charset="0"/>
                <a:ea typeface="LG Smart_H Regular" panose="020B0600000101010101" pitchFamily="34" charset="-127"/>
                <a:cs typeface="Arial" pitchFamily="34" charset="0"/>
              </a:rPr>
              <a:t>DEVICE "Y</a:t>
            </a:r>
            <a:r>
              <a:rPr lang="vi-VN" altLang="ko-KR" sz="950">
                <a:solidFill>
                  <a:srgbClr val="000000"/>
                </a:solidFill>
                <a:latin typeface="Arial" pitchFamily="34" charset="0"/>
                <a:ea typeface="LG Smart_H Regular" panose="020B0600000101010101" pitchFamily="34" charset="-127"/>
                <a:cs typeface="Arial" pitchFamily="34" charset="0"/>
              </a:rPr>
              <a:t>’’ đầu ra</a:t>
            </a:r>
            <a:r>
              <a:rPr lang="en-US" altLang="ko-KR" sz="950">
                <a:solidFill>
                  <a:srgbClr val="000000"/>
                </a:solidFill>
                <a:latin typeface="Arial" pitchFamily="34" charset="0"/>
                <a:ea typeface="LG Smart_H Regular" panose="020B0600000101010101" pitchFamily="34" charset="-127"/>
                <a:cs typeface="Arial" pitchFamily="34" charset="0"/>
              </a:rPr>
              <a:t>?   </a:t>
            </a:r>
            <a:endParaRPr lang="en-US" altLang="ko-KR" sz="950" smtClean="0">
              <a:solidFill>
                <a:srgbClr val="000000"/>
              </a:solidFill>
              <a:latin typeface="Arial" pitchFamily="34" charset="0"/>
              <a:ea typeface="LG Smart_H Regular" panose="020B0600000101010101" pitchFamily="34" charset="-127"/>
              <a:cs typeface="Arial" pitchFamily="34" charset="0"/>
            </a:endParaRPr>
          </a:p>
          <a:p>
            <a:pPr lvl="0" fontAlgn="base">
              <a:spcBef>
                <a:spcPct val="0"/>
              </a:spcBef>
              <a:spcAft>
                <a:spcPct val="0"/>
              </a:spcAft>
            </a:pPr>
            <a:endParaRPr lang="en-US" altLang="ko-KR" sz="950">
              <a:solidFill>
                <a:srgbClr val="000000"/>
              </a:solidFill>
              <a:latin typeface="Arial" pitchFamily="34" charset="0"/>
              <a:ea typeface="LG Smart_H Regular" panose="020B0600000101010101" pitchFamily="34" charset="-127"/>
              <a:cs typeface="Arial" pitchFamily="34" charset="0"/>
            </a:endParaRPr>
          </a:p>
          <a:p>
            <a:pPr fontAlgn="base">
              <a:spcBef>
                <a:spcPct val="0"/>
              </a:spcBef>
              <a:spcAft>
                <a:spcPct val="0"/>
              </a:spcAft>
              <a:buFontTx/>
              <a:buAutoNum type="alphaUcPeriod"/>
            </a:pPr>
            <a:r>
              <a:rPr lang="vi-VN" altLang="ko-KR" sz="950">
                <a:solidFill>
                  <a:srgbClr val="000000"/>
                </a:solidFill>
                <a:latin typeface="Arial" pitchFamily="34" charset="0"/>
                <a:ea typeface="LG Smart_H Regular" panose="020B0600000101010101" pitchFamily="34" charset="-127"/>
                <a:cs typeface="Arial" pitchFamily="34" charset="0"/>
              </a:rPr>
              <a:t>Khi sử dụng Relay M bên trong Y có khả năng duy trì tĩnh điện</a:t>
            </a:r>
            <a:endParaRPr lang="ko-KR" altLang="en-US" sz="950">
              <a:solidFill>
                <a:srgbClr val="000000"/>
              </a:solidFill>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en-US" altLang="ko-KR" sz="950" smtClean="0">
                <a:solidFill>
                  <a:srgbClr val="000000"/>
                </a:solidFill>
                <a:latin typeface="Arial" pitchFamily="34" charset="0"/>
                <a:ea typeface="LG Smart_H Regular" panose="020B0600000101010101" pitchFamily="34" charset="-127"/>
                <a:cs typeface="Arial" pitchFamily="34" charset="0"/>
              </a:rPr>
              <a:t>B. </a:t>
            </a:r>
            <a:r>
              <a:rPr lang="ko-KR" altLang="en-US" sz="950" smtClean="0">
                <a:solidFill>
                  <a:srgbClr val="000000"/>
                </a:solidFill>
                <a:latin typeface="Arial" pitchFamily="34" charset="0"/>
                <a:ea typeface="LG Smart_H Regular" panose="020B0600000101010101" pitchFamily="34" charset="-127"/>
                <a:cs typeface="Arial" pitchFamily="34" charset="0"/>
              </a:rPr>
              <a:t> </a:t>
            </a:r>
            <a:r>
              <a:rPr lang="vi-VN" altLang="ko-KR" sz="950">
                <a:solidFill>
                  <a:srgbClr val="000000"/>
                </a:solidFill>
                <a:latin typeface="Arial" pitchFamily="34" charset="0"/>
                <a:ea typeface="LG Smart_H Regular" panose="020B0600000101010101" pitchFamily="34" charset="-127"/>
                <a:cs typeface="Arial" pitchFamily="34" charset="0"/>
              </a:rPr>
              <a:t>Kết quả được tạo ra trong quá trình hoạt động của </a:t>
            </a:r>
            <a:endParaRPr lang="en-US" altLang="ko-KR" sz="950">
              <a:solidFill>
                <a:srgbClr val="000000"/>
              </a:solidFill>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en-US" altLang="ko-KR" sz="950">
                <a:solidFill>
                  <a:srgbClr val="000000"/>
                </a:solidFill>
                <a:latin typeface="Arial" pitchFamily="34" charset="0"/>
                <a:ea typeface="LG Smart_H Regular" panose="020B0600000101010101" pitchFamily="34" charset="-127"/>
                <a:cs typeface="Arial" pitchFamily="34" charset="0"/>
              </a:rPr>
              <a:t>c</a:t>
            </a:r>
            <a:r>
              <a:rPr lang="vi-VN" altLang="ko-KR" sz="950">
                <a:solidFill>
                  <a:srgbClr val="000000"/>
                </a:solidFill>
                <a:latin typeface="Arial" pitchFamily="34" charset="0"/>
                <a:ea typeface="LG Smart_H Regular" panose="020B0600000101010101" pitchFamily="34" charset="-127"/>
                <a:cs typeface="Arial" pitchFamily="34" charset="0"/>
              </a:rPr>
              <a:t>hương trình chính được lưu trong vùng đầu ra.</a:t>
            </a:r>
            <a:endParaRPr lang="ko-KR" altLang="en-US" sz="950">
              <a:solidFill>
                <a:srgbClr val="000000"/>
              </a:solidFill>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en-US" altLang="ko-KR" sz="950">
                <a:solidFill>
                  <a:srgbClr val="000000"/>
                </a:solidFill>
                <a:latin typeface="Arial" pitchFamily="34" charset="0"/>
                <a:ea typeface="LG Smart_H Regular" panose="020B0600000101010101" pitchFamily="34" charset="-127"/>
                <a:cs typeface="Arial" pitchFamily="34" charset="0"/>
              </a:rPr>
              <a:t>C</a:t>
            </a:r>
            <a:r>
              <a:rPr lang="en-US" altLang="ko-KR" sz="950" smtClean="0">
                <a:solidFill>
                  <a:srgbClr val="000000"/>
                </a:solidFill>
                <a:latin typeface="Arial" pitchFamily="34" charset="0"/>
                <a:ea typeface="LG Smart_H Regular" panose="020B0600000101010101" pitchFamily="34" charset="-127"/>
                <a:cs typeface="Arial" pitchFamily="34" charset="0"/>
              </a:rPr>
              <a:t>. </a:t>
            </a:r>
            <a:r>
              <a:rPr lang="ko-KR" altLang="en-US" sz="950" smtClean="0">
                <a:solidFill>
                  <a:srgbClr val="000000"/>
                </a:solidFill>
                <a:latin typeface="Arial" pitchFamily="34" charset="0"/>
                <a:ea typeface="LG Smart_H Regular" panose="020B0600000101010101" pitchFamily="34" charset="-127"/>
                <a:cs typeface="Arial" pitchFamily="34" charset="0"/>
              </a:rPr>
              <a:t> </a:t>
            </a:r>
            <a:r>
              <a:rPr lang="vi-VN" altLang="ko-KR" sz="950">
                <a:solidFill>
                  <a:srgbClr val="000000"/>
                </a:solidFill>
                <a:latin typeface="Arial" pitchFamily="34" charset="0"/>
                <a:ea typeface="LG Smart_H Regular" panose="020B0600000101010101" pitchFamily="34" charset="-127"/>
                <a:cs typeface="Arial" pitchFamily="34" charset="0"/>
              </a:rPr>
              <a:t>Y không thể được sử dụng làm tiếp điểm  trong </a:t>
            </a:r>
            <a:endParaRPr lang="en-US" altLang="ko-KR" sz="950">
              <a:solidFill>
                <a:srgbClr val="000000"/>
              </a:solidFill>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vi-VN" altLang="ko-KR" sz="950">
                <a:solidFill>
                  <a:srgbClr val="000000"/>
                </a:solidFill>
                <a:latin typeface="Arial" pitchFamily="34" charset="0"/>
                <a:ea typeface="LG Smart_H Regular" panose="020B0600000101010101" pitchFamily="34" charset="-127"/>
                <a:cs typeface="Arial" pitchFamily="34" charset="0"/>
              </a:rPr>
              <a:t>chương trình.</a:t>
            </a:r>
            <a:endParaRPr lang="ko-KR" altLang="en-US" sz="950">
              <a:solidFill>
                <a:srgbClr val="000000"/>
              </a:solidFill>
              <a:latin typeface="Arial" pitchFamily="34" charset="0"/>
              <a:ea typeface="LG Smart_H Regular" panose="020B0600000101010101" pitchFamily="34" charset="-127"/>
              <a:cs typeface="Arial" pitchFamily="34" charset="0"/>
            </a:endParaRPr>
          </a:p>
          <a:p>
            <a:pPr lvl="0" fontAlgn="base">
              <a:spcBef>
                <a:spcPct val="0"/>
              </a:spcBef>
              <a:spcAft>
                <a:spcPct val="0"/>
              </a:spcAft>
            </a:pPr>
            <a:r>
              <a:rPr lang="en-US" altLang="ko-KR" sz="950" smtClean="0">
                <a:solidFill>
                  <a:srgbClr val="FF0000"/>
                </a:solidFill>
                <a:latin typeface="Arial" pitchFamily="34" charset="0"/>
                <a:ea typeface="LG Smart_H Regular" panose="020B0600000101010101" pitchFamily="34" charset="-127"/>
                <a:cs typeface="Arial" pitchFamily="34" charset="0"/>
              </a:rPr>
              <a:t>D. </a:t>
            </a:r>
            <a:r>
              <a:rPr lang="ko-KR" altLang="en-US" sz="950" smtClean="0">
                <a:solidFill>
                  <a:srgbClr val="FF0000"/>
                </a:solidFill>
                <a:latin typeface="Arial" pitchFamily="34" charset="0"/>
                <a:ea typeface="LG Smart_H Regular" panose="020B0600000101010101" pitchFamily="34" charset="-127"/>
                <a:cs typeface="Arial" pitchFamily="34" charset="0"/>
              </a:rPr>
              <a:t> </a:t>
            </a:r>
            <a:r>
              <a:rPr lang="vi-VN" altLang="ko-KR" sz="950">
                <a:solidFill>
                  <a:srgbClr val="FF0000"/>
                </a:solidFill>
                <a:latin typeface="Arial" pitchFamily="34" charset="0"/>
                <a:ea typeface="LG Smart_H Regular" panose="020B0600000101010101" pitchFamily="34" charset="-127"/>
                <a:cs typeface="Arial" pitchFamily="34" charset="0"/>
              </a:rPr>
              <a:t>Là </a:t>
            </a:r>
            <a:r>
              <a:rPr lang="en-US" altLang="ko-KR" sz="950">
                <a:solidFill>
                  <a:srgbClr val="FF0000"/>
                </a:solidFill>
                <a:latin typeface="Arial" pitchFamily="34" charset="0"/>
                <a:ea typeface="LG Smart_H Regular" panose="020B0600000101010101" pitchFamily="34" charset="-127"/>
                <a:cs typeface="Arial" pitchFamily="34" charset="0"/>
              </a:rPr>
              <a:t>DEVICE</a:t>
            </a:r>
            <a:r>
              <a:rPr lang="vi-VN" altLang="ko-KR" sz="950">
                <a:solidFill>
                  <a:srgbClr val="FF0000"/>
                </a:solidFill>
                <a:latin typeface="Arial" pitchFamily="34" charset="0"/>
                <a:ea typeface="LG Smart_H Regular" panose="020B0600000101010101" pitchFamily="34" charset="-127"/>
                <a:cs typeface="Arial" pitchFamily="34" charset="0"/>
              </a:rPr>
              <a:t> lưu trữ / xuất dữ liệu đưa kết quả hoạt </a:t>
            </a:r>
            <a:endParaRPr lang="en-US" altLang="ko-KR" sz="950">
              <a:solidFill>
                <a:srgbClr val="FF0000"/>
              </a:solidFill>
              <a:latin typeface="Arial" pitchFamily="34" charset="0"/>
              <a:ea typeface="LG Smart_H Regular" panose="020B0600000101010101" pitchFamily="34" charset="-127"/>
              <a:cs typeface="Arial" pitchFamily="34" charset="0"/>
            </a:endParaRPr>
          </a:p>
          <a:p>
            <a:pPr lvl="0" fontAlgn="base">
              <a:spcBef>
                <a:spcPct val="0"/>
              </a:spcBef>
              <a:spcAft>
                <a:spcPct val="0"/>
              </a:spcAft>
            </a:pPr>
            <a:r>
              <a:rPr lang="vi-VN" altLang="ko-KR" sz="950">
                <a:solidFill>
                  <a:srgbClr val="FF0000"/>
                </a:solidFill>
                <a:latin typeface="Arial" pitchFamily="34" charset="0"/>
                <a:ea typeface="LG Smart_H Regular" panose="020B0600000101010101" pitchFamily="34" charset="-127"/>
                <a:cs typeface="Arial" pitchFamily="34" charset="0"/>
              </a:rPr>
              <a:t>động đến thiết bị đầu ra được kết nối với bộ đầu ra </a:t>
            </a:r>
            <a:endParaRPr lang="en-US" altLang="ko-KR" sz="950">
              <a:solidFill>
                <a:srgbClr val="FF0000"/>
              </a:solidFill>
              <a:latin typeface="Arial" pitchFamily="34" charset="0"/>
              <a:ea typeface="LG Smart_H Regular" panose="020B0600000101010101" pitchFamily="34" charset="-127"/>
              <a:cs typeface="Arial" pitchFamily="34" charset="0"/>
            </a:endParaRPr>
          </a:p>
          <a:p>
            <a:pPr lvl="0" fontAlgn="base">
              <a:spcBef>
                <a:spcPct val="0"/>
              </a:spcBef>
              <a:spcAft>
                <a:spcPct val="0"/>
              </a:spcAft>
            </a:pPr>
            <a:r>
              <a:rPr lang="vi-VN" altLang="ko-KR" sz="950">
                <a:solidFill>
                  <a:srgbClr val="FF0000"/>
                </a:solidFill>
                <a:latin typeface="Arial" pitchFamily="34" charset="0"/>
                <a:ea typeface="LG Smart_H Regular" panose="020B0600000101010101" pitchFamily="34" charset="-127"/>
                <a:cs typeface="Arial" pitchFamily="34" charset="0"/>
              </a:rPr>
              <a:t>PLC</a:t>
            </a:r>
            <a:endParaRPr lang="ko-KR" altLang="en-US" sz="950">
              <a:solidFill>
                <a:srgbClr val="FF0000"/>
              </a:solidFill>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endParaRPr lang="ko-KR" altLang="en-US" sz="950">
              <a:solidFill>
                <a:srgbClr val="000000"/>
              </a:solidFill>
              <a:latin typeface="Arial" pitchFamily="34" charset="0"/>
              <a:ea typeface="LG Smart_H Regular" panose="020B0600000101010101" pitchFamily="34" charset="-127"/>
              <a:cs typeface="Arial" pitchFamily="34" charset="0"/>
            </a:endParaRPr>
          </a:p>
        </p:txBody>
      </p:sp>
      <p:sp>
        <p:nvSpPr>
          <p:cNvPr id="139" name="Rectangle 138"/>
          <p:cNvSpPr/>
          <p:nvPr/>
        </p:nvSpPr>
        <p:spPr>
          <a:xfrm>
            <a:off x="3414264" y="1873534"/>
            <a:ext cx="3255096" cy="969496"/>
          </a:xfrm>
          <a:prstGeom prst="rect">
            <a:avLst/>
          </a:prstGeom>
        </p:spPr>
        <p:txBody>
          <a:bodyPr wrap="square">
            <a:spAutoFit/>
          </a:bodyPr>
          <a:lstStyle/>
          <a:p>
            <a:pPr lvl="0" fontAlgn="base">
              <a:spcBef>
                <a:spcPct val="0"/>
              </a:spcBef>
              <a:spcAft>
                <a:spcPct val="0"/>
              </a:spcAft>
            </a:pPr>
            <a:r>
              <a:rPr lang="en-US" altLang="ko-KR" sz="950" smtClean="0">
                <a:solidFill>
                  <a:srgbClr val="000000"/>
                </a:solidFill>
                <a:latin typeface="Arial" pitchFamily="34" charset="0"/>
                <a:ea typeface="LG Smart_H Regular" panose="020B0600000101010101" pitchFamily="34" charset="-127"/>
                <a:cs typeface="Arial" pitchFamily="34" charset="0"/>
              </a:rPr>
              <a:t>36  </a:t>
            </a:r>
            <a:r>
              <a:rPr lang="vi-VN" altLang="ko-KR" sz="950">
                <a:solidFill>
                  <a:srgbClr val="000000"/>
                </a:solidFill>
                <a:latin typeface="Arial" pitchFamily="34" charset="0"/>
                <a:ea typeface="LG Smart_H Regular" panose="020B0600000101010101" pitchFamily="34" charset="-127"/>
                <a:cs typeface="Arial" pitchFamily="34" charset="0"/>
              </a:rPr>
              <a:t>Khi lập trình PLC Ladder thì điều gì là viết để mô tả về nội dung đặc biệt của Ladder? </a:t>
            </a:r>
            <a:endParaRPr lang="en-US" altLang="ko-KR" sz="950">
              <a:solidFill>
                <a:srgbClr val="000000"/>
              </a:solidFill>
              <a:latin typeface="Arial" pitchFamily="34" charset="0"/>
              <a:ea typeface="LG Smart_H Regular" panose="020B0600000101010101" pitchFamily="34" charset="-127"/>
              <a:cs typeface="Arial" pitchFamily="34" charset="0"/>
            </a:endParaRPr>
          </a:p>
          <a:p>
            <a:pPr marL="228600" lvl="0" indent="-228600" fontAlgn="base">
              <a:spcBef>
                <a:spcPct val="0"/>
              </a:spcBef>
              <a:spcAft>
                <a:spcPct val="0"/>
              </a:spcAft>
              <a:buFont typeface="+mj-lt"/>
              <a:buAutoNum type="alphaUcPeriod"/>
            </a:pPr>
            <a:r>
              <a:rPr lang="vi-VN" altLang="ko-KR" sz="950" smtClean="0">
                <a:solidFill>
                  <a:srgbClr val="000000"/>
                </a:solidFill>
                <a:latin typeface="Arial" pitchFamily="34" charset="0"/>
                <a:ea typeface="LG Smart_H Regular" panose="020B0600000101010101" pitchFamily="34" charset="-127"/>
                <a:cs typeface="Arial" pitchFamily="34" charset="0"/>
              </a:rPr>
              <a:t>Biên </a:t>
            </a:r>
            <a:r>
              <a:rPr lang="vi-VN" altLang="ko-KR" sz="950">
                <a:solidFill>
                  <a:srgbClr val="000000"/>
                </a:solidFill>
                <a:latin typeface="Arial" pitchFamily="34" charset="0"/>
                <a:ea typeface="LG Smart_H Regular" panose="020B0600000101010101" pitchFamily="34" charset="-127"/>
                <a:cs typeface="Arial" pitchFamily="34" charset="0"/>
              </a:rPr>
              <a:t>tập comment</a:t>
            </a:r>
            <a:endParaRPr lang="en-US" altLang="ko-KR" sz="950">
              <a:solidFill>
                <a:srgbClr val="000000"/>
              </a:solidFill>
              <a:latin typeface="Arial" pitchFamily="34" charset="0"/>
              <a:ea typeface="LG Smart_H Regular" panose="020B0600000101010101" pitchFamily="34" charset="-127"/>
              <a:cs typeface="Arial" pitchFamily="34" charset="0"/>
            </a:endParaRPr>
          </a:p>
          <a:p>
            <a:pPr marL="228600" lvl="0" indent="-228600" fontAlgn="base">
              <a:spcBef>
                <a:spcPct val="0"/>
              </a:spcBef>
              <a:spcAft>
                <a:spcPct val="0"/>
              </a:spcAft>
              <a:buFont typeface="+mj-lt"/>
              <a:buAutoNum type="alphaUcPeriod"/>
            </a:pPr>
            <a:r>
              <a:rPr lang="vi-VN" altLang="ko-KR" sz="950">
                <a:solidFill>
                  <a:srgbClr val="000000"/>
                </a:solidFill>
                <a:latin typeface="Arial" pitchFamily="34" charset="0"/>
                <a:ea typeface="LG Smart_H Regular" panose="020B0600000101010101" pitchFamily="34" charset="-127"/>
                <a:cs typeface="Arial" pitchFamily="34" charset="0"/>
              </a:rPr>
              <a:t>Biên tập note</a:t>
            </a:r>
          </a:p>
          <a:p>
            <a:pPr marL="228600" lvl="0" indent="-228600" fontAlgn="base">
              <a:spcBef>
                <a:spcPct val="0"/>
              </a:spcBef>
              <a:spcAft>
                <a:spcPct val="0"/>
              </a:spcAft>
              <a:buFont typeface="+mj-lt"/>
              <a:buAutoNum type="alphaUcPeriod"/>
            </a:pPr>
            <a:r>
              <a:rPr lang="vi-VN" altLang="ko-KR" sz="950" smtClean="0">
                <a:solidFill>
                  <a:srgbClr val="000000"/>
                </a:solidFill>
                <a:latin typeface="Arial" pitchFamily="34" charset="0"/>
                <a:ea typeface="LG Smart_H Regular" panose="020B0600000101010101" pitchFamily="34" charset="-127"/>
                <a:cs typeface="Arial" pitchFamily="34" charset="0"/>
              </a:rPr>
              <a:t>Parameter</a:t>
            </a:r>
            <a:endParaRPr lang="en-US" altLang="ko-KR" sz="950" smtClean="0">
              <a:solidFill>
                <a:srgbClr val="000000"/>
              </a:solidFill>
              <a:latin typeface="Arial" pitchFamily="34" charset="0"/>
              <a:ea typeface="LG Smart_H Regular" panose="020B0600000101010101" pitchFamily="34" charset="-127"/>
              <a:cs typeface="Arial" pitchFamily="34" charset="0"/>
            </a:endParaRPr>
          </a:p>
          <a:p>
            <a:pPr marL="228600" indent="-228600" fontAlgn="base">
              <a:spcBef>
                <a:spcPct val="0"/>
              </a:spcBef>
              <a:spcAft>
                <a:spcPct val="0"/>
              </a:spcAft>
              <a:buFont typeface="+mj-lt"/>
              <a:buAutoNum type="alphaUcPeriod"/>
            </a:pPr>
            <a:r>
              <a:rPr lang="vi-VN" altLang="ko-KR" sz="950">
                <a:solidFill>
                  <a:srgbClr val="FF0000"/>
                </a:solidFill>
                <a:latin typeface="Arial" pitchFamily="34" charset="0"/>
                <a:ea typeface="LG Smart_H Regular" panose="020B0600000101010101" pitchFamily="34" charset="-127"/>
                <a:cs typeface="Arial" pitchFamily="34" charset="0"/>
              </a:rPr>
              <a:t>Biên tập </a:t>
            </a:r>
            <a:r>
              <a:rPr lang="vi-VN" altLang="ko-KR" sz="950" smtClean="0">
                <a:solidFill>
                  <a:srgbClr val="FF0000"/>
                </a:solidFill>
                <a:latin typeface="Arial" pitchFamily="34" charset="0"/>
                <a:ea typeface="LG Smart_H Regular" panose="020B0600000101010101" pitchFamily="34" charset="-127"/>
                <a:cs typeface="Arial" pitchFamily="34" charset="0"/>
              </a:rPr>
              <a:t>statement</a:t>
            </a:r>
            <a:endParaRPr lang="en-US" altLang="ko-KR" sz="950">
              <a:solidFill>
                <a:srgbClr val="FF0000"/>
              </a:solidFill>
              <a:latin typeface="Arial" pitchFamily="34" charset="0"/>
              <a:ea typeface="LG Smart_H Regular" panose="020B0600000101010101" pitchFamily="34" charset="-127"/>
              <a:cs typeface="Arial" pitchFamily="34" charset="0"/>
            </a:endParaRPr>
          </a:p>
        </p:txBody>
      </p:sp>
    </p:spTree>
    <p:extLst>
      <p:ext uri="{BB962C8B-B14F-4D97-AF65-F5344CB8AC3E}">
        <p14:creationId xmlns:p14="http://schemas.microsoft.com/office/powerpoint/2010/main" val="57095684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dirty="0">
                <a:latin typeface="Times New Roman" pitchFamily="18" charset="0"/>
                <a:cs typeface="Times New Roman" pitchFamily="18" charset="0"/>
              </a:rPr>
              <a:t>Khí nén</a:t>
            </a:r>
            <a:r>
              <a:rPr lang="en-US" altLang="ko-KR" dirty="0">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sp>
        <p:nvSpPr>
          <p:cNvPr id="28" name="Rectangle 7"/>
          <p:cNvSpPr>
            <a:spLocks noChangeArrowheads="1"/>
          </p:cNvSpPr>
          <p:nvPr/>
        </p:nvSpPr>
        <p:spPr bwMode="auto">
          <a:xfrm>
            <a:off x="232792" y="476905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43. </a:t>
            </a:r>
            <a:r>
              <a:rPr lang="vi-VN" altLang="ko-KR" sz="950">
                <a:latin typeface="Times New Roman" pitchFamily="18" charset="0"/>
                <a:ea typeface="LG Smart_H Regular" panose="020B0600000101010101" pitchFamily="34" charset="-127"/>
                <a:cs typeface="Times New Roman" pitchFamily="18" charset="0"/>
              </a:rPr>
              <a:t>Không khí khí quyển là một dạng vật chất; do có khối lượng nên chịu ảnh hưởng của lực hút trái đất,áp suất khí quyển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1.033kgf /1㎠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10.33kgf /1㎠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103.3kgf /1㎠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1033kgf /1㎠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3" name="Rectangle 7"/>
          <p:cNvSpPr>
            <a:spLocks noChangeArrowheads="1"/>
          </p:cNvSpPr>
          <p:nvPr/>
        </p:nvSpPr>
        <p:spPr bwMode="auto">
          <a:xfrm>
            <a:off x="3457922" y="801595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Relay có những tính năng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Tính năng phân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chia,</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khếch đại,</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biến đổi.</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phân </a:t>
            </a:r>
            <a:r>
              <a:rPr lang="vi-VN" altLang="ko-KR" sz="950" smtClean="0">
                <a:latin typeface="Times New Roman" pitchFamily="18" charset="0"/>
                <a:ea typeface="LG Smart_H Regular" panose="020B0600000101010101" pitchFamily="34" charset="-127"/>
                <a:cs typeface="Times New Roman" pitchFamily="18" charset="0"/>
              </a:rPr>
              <a:t>tách,</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khếch đại,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biến đổi,</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ghi nhớ.</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khếch </a:t>
            </a:r>
            <a:r>
              <a:rPr lang="vi-VN" altLang="ko-KR" sz="950" smtClean="0">
                <a:latin typeface="Times New Roman" pitchFamily="18" charset="0"/>
                <a:ea typeface="LG Smart_H Regular" panose="020B0600000101010101" pitchFamily="34" charset="-127"/>
                <a:cs typeface="Times New Roman" pitchFamily="18" charset="0"/>
              </a:rPr>
              <a:t>đại,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biến thiên,</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ghi nhớ.</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phân </a:t>
            </a:r>
            <a:r>
              <a:rPr lang="vi-VN" altLang="ko-KR" sz="950" smtClean="0">
                <a:latin typeface="Times New Roman" pitchFamily="18" charset="0"/>
                <a:ea typeface="LG Smart_H Regular" panose="020B0600000101010101" pitchFamily="34" charset="-127"/>
                <a:cs typeface="Times New Roman" pitchFamily="18" charset="0"/>
              </a:rPr>
              <a:t>tách,</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khếch đại,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biến thiên,</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ghi </a:t>
            </a:r>
            <a:r>
              <a:rPr lang="vi-VN" altLang="ko-KR" sz="950">
                <a:latin typeface="Times New Roman" pitchFamily="18" charset="0"/>
                <a:ea typeface="LG Smart_H Regular" panose="020B0600000101010101" pitchFamily="34" charset="-127"/>
                <a:cs typeface="Times New Roman" pitchFamily="18" charset="0"/>
              </a:rPr>
              <a:t>nhớ.</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06479" y="1064568"/>
            <a:ext cx="3239810" cy="1554272"/>
            <a:chOff x="206479" y="1064568"/>
            <a:chExt cx="3239810" cy="1554272"/>
          </a:xfrm>
        </p:grpSpPr>
        <p:sp>
          <p:nvSpPr>
            <p:cNvPr id="25" name="Rectangle 7"/>
            <p:cNvSpPr>
              <a:spLocks noChangeArrowheads="1"/>
            </p:cNvSpPr>
            <p:nvPr/>
          </p:nvSpPr>
          <p:spPr bwMode="auto">
            <a:xfrm>
              <a:off x="206479" y="1064568"/>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Điền </a:t>
              </a:r>
              <a:r>
                <a:rPr lang="en-US" altLang="ko-KR" sz="950">
                  <a:latin typeface="Times New Roman" pitchFamily="18" charset="0"/>
                  <a:ea typeface="LG Smart_H Regular" panose="020B0600000101010101" pitchFamily="34" charset="-127"/>
                  <a:cs typeface="Times New Roman" pitchFamily="18" charset="0"/>
                </a:rPr>
                <a:t>vào chỗ </a:t>
              </a:r>
              <a:r>
                <a:rPr lang="en-US" altLang="ko-KR" sz="950" smtClean="0">
                  <a:latin typeface="Times New Roman" pitchFamily="18" charset="0"/>
                  <a:ea typeface="LG Smart_H Regular" panose="020B0600000101010101" pitchFamily="34" charset="-127"/>
                  <a:cs typeface="Times New Roman" pitchFamily="18" charset="0"/>
                </a:rPr>
                <a:t> ?????  Trong </a:t>
              </a:r>
              <a:r>
                <a:rPr lang="en-US" altLang="ko-KR" sz="950">
                  <a:latin typeface="Times New Roman" pitchFamily="18" charset="0"/>
                  <a:ea typeface="LG Smart_H Regular" panose="020B0600000101010101" pitchFamily="34" charset="-127"/>
                  <a:cs typeface="Times New Roman" pitchFamily="18" charset="0"/>
                </a:rPr>
                <a:t>hình </a:t>
              </a:r>
              <a:r>
                <a:rPr lang="en-US" altLang="ko-KR" sz="950" smtClean="0">
                  <a:latin typeface="Times New Roman" pitchFamily="18" charset="0"/>
                  <a:ea typeface="LG Smart_H Regular" panose="020B0600000101010101" pitchFamily="34" charset="-127"/>
                  <a:cs typeface="Times New Roman" pitchFamily="18" charset="0"/>
                </a:rPr>
                <a:t>là</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Regulator </a:t>
              </a:r>
              <a:r>
                <a:rPr lang="vi-VN" altLang="ko-KR" sz="950" smtClean="0">
                  <a:latin typeface="Times New Roman" pitchFamily="18" charset="0"/>
                  <a:ea typeface="LG Smart_H Regular" panose="020B0600000101010101" pitchFamily="34" charset="-127"/>
                  <a:cs typeface="Times New Roman" pitchFamily="18" charset="0"/>
                </a:rPr>
                <a:t>pressure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Filter</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Lubricator</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Service unit</a:t>
              </a:r>
            </a:p>
          </p:txBody>
        </p:sp>
        <p:pic>
          <p:nvPicPr>
            <p:cNvPr id="31" name="Picture 30"/>
            <p:cNvPicPr>
              <a:picLocks noChangeAspect="1"/>
            </p:cNvPicPr>
            <p:nvPr/>
          </p:nvPicPr>
          <p:blipFill>
            <a:blip r:embed="rId3"/>
            <a:stretch>
              <a:fillRect/>
            </a:stretch>
          </p:blipFill>
          <p:spPr>
            <a:xfrm>
              <a:off x="1052736" y="1281577"/>
              <a:ext cx="1879093" cy="725942"/>
            </a:xfrm>
            <a:prstGeom prst="rect">
              <a:avLst/>
            </a:prstGeom>
          </p:spPr>
        </p:pic>
      </p:grpSp>
      <p:grpSp>
        <p:nvGrpSpPr>
          <p:cNvPr id="6" name="Group 5"/>
          <p:cNvGrpSpPr/>
          <p:nvPr/>
        </p:nvGrpSpPr>
        <p:grpSpPr>
          <a:xfrm>
            <a:off x="259544" y="6215752"/>
            <a:ext cx="3180502" cy="969496"/>
            <a:chOff x="259544" y="6211396"/>
            <a:chExt cx="3180502" cy="969496"/>
          </a:xfrm>
        </p:grpSpPr>
        <p:sp>
          <p:nvSpPr>
            <p:cNvPr id="30" name="Rectangle 7"/>
            <p:cNvSpPr>
              <a:spLocks noChangeArrowheads="1"/>
            </p:cNvSpPr>
            <p:nvPr/>
          </p:nvSpPr>
          <p:spPr bwMode="auto">
            <a:xfrm>
              <a:off x="259544" y="621139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Kí hiệu hình dưới đây của bộ lọc tương ứng với phương thức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Phương thức lọc trong+ngoài.</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cơ </a:t>
              </a:r>
              <a:r>
                <a:rPr lang="vi-VN" altLang="ko-KR" sz="950" smtClean="0">
                  <a:latin typeface="Times New Roman" pitchFamily="18" charset="0"/>
                  <a:ea typeface="LG Smart_H Regular" panose="020B0600000101010101" pitchFamily="34" charset="-127"/>
                  <a:cs typeface="Times New Roman" pitchFamily="18" charset="0"/>
                </a:rPr>
                <a:t>bản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ngoài</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1" name="Picture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453" y="6537176"/>
              <a:ext cx="1077523" cy="537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2" name="Rectangle 7"/>
          <p:cNvSpPr>
            <a:spLocks noChangeArrowheads="1"/>
          </p:cNvSpPr>
          <p:nvPr/>
        </p:nvSpPr>
        <p:spPr bwMode="auto">
          <a:xfrm>
            <a:off x="243036" y="786464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Filter là thiết bị xử lý các tín hiệu nhiễu loạn có trong thành phần khí nén trong đó có bụi.Bộ lọc chính xác có thể loại bỏ hạt bụi có đường kính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Trên </a:t>
            </a:r>
            <a:r>
              <a:rPr lang="vi-VN" altLang="ko-KR" sz="950" smtClean="0">
                <a:latin typeface="Times New Roman" pitchFamily="18" charset="0"/>
                <a:ea typeface="LG Smart_H Regular" panose="020B0600000101010101" pitchFamily="34" charset="-127"/>
                <a:cs typeface="Times New Roman" pitchFamily="18" charset="0"/>
              </a:rPr>
              <a:t>50um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30um~45um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5um~20um</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a:t>
            </a:r>
            <a:r>
              <a:rPr lang="vi-VN" altLang="ko-KR" sz="950" smtClean="0">
                <a:latin typeface="Times New Roman" pitchFamily="18" charset="0"/>
                <a:ea typeface="LG Smart_H Regular" panose="020B0600000101010101" pitchFamily="34" charset="-127"/>
                <a:cs typeface="Times New Roman" pitchFamily="18" charset="0"/>
              </a:rPr>
              <a:t>ưới </a:t>
            </a:r>
            <a:r>
              <a:rPr lang="vi-VN" altLang="ko-KR" sz="950">
                <a:latin typeface="Times New Roman" pitchFamily="18" charset="0"/>
                <a:ea typeface="LG Smart_H Regular" panose="020B0600000101010101" pitchFamily="34" charset="-127"/>
                <a:cs typeface="Times New Roman" pitchFamily="18" charset="0"/>
              </a:rPr>
              <a:t>5um</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9" name="Group 8"/>
          <p:cNvGrpSpPr/>
          <p:nvPr/>
        </p:nvGrpSpPr>
        <p:grpSpPr>
          <a:xfrm>
            <a:off x="3473132" y="1092294"/>
            <a:ext cx="3180502" cy="1700466"/>
            <a:chOff x="3473132" y="1096650"/>
            <a:chExt cx="3180502" cy="1700466"/>
          </a:xfrm>
        </p:grpSpPr>
        <p:sp>
          <p:nvSpPr>
            <p:cNvPr id="46" name="Rectangle 7"/>
            <p:cNvSpPr>
              <a:spLocks noChangeArrowheads="1"/>
            </p:cNvSpPr>
            <p:nvPr/>
          </p:nvSpPr>
          <p:spPr bwMode="auto">
            <a:xfrm>
              <a:off x="3473132" y="1096650"/>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Điền vào dấu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Vòng giảm </a:t>
              </a:r>
              <a:r>
                <a:rPr lang="vi-VN" altLang="ko-KR" sz="950" smtClean="0">
                  <a:latin typeface="Times New Roman" pitchFamily="18" charset="0"/>
                  <a:ea typeface="LG Smart_H Regular" panose="020B0600000101010101" pitchFamily="34" charset="-127"/>
                  <a:cs typeface="Times New Roman" pitchFamily="18" charset="0"/>
                </a:rPr>
                <a:t>chấn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Đệm giảm </a:t>
              </a:r>
              <a:r>
                <a:rPr lang="vi-VN" altLang="ko-KR" sz="950" smtClean="0">
                  <a:latin typeface="Times New Roman" pitchFamily="18" charset="0"/>
                  <a:ea typeface="LG Smart_H Regular" panose="020B0600000101010101" pitchFamily="34" charset="-127"/>
                  <a:cs typeface="Times New Roman" pitchFamily="18" charset="0"/>
                </a:rPr>
                <a:t>chấn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Rod </a:t>
              </a:r>
              <a:r>
                <a:rPr lang="vi-VN" altLang="ko-KR" sz="950" smtClean="0">
                  <a:latin typeface="Times New Roman" pitchFamily="18" charset="0"/>
                  <a:ea typeface="LG Smart_H Regular" panose="020B0600000101010101" pitchFamily="34" charset="-127"/>
                  <a:cs typeface="Times New Roman" pitchFamily="18" charset="0"/>
                </a:rPr>
                <a:t>cover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Vòng làm kín</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pic>
          <p:nvPicPr>
            <p:cNvPr id="43" name="Picture 42"/>
            <p:cNvPicPr>
              <a:picLocks noChangeAspect="1"/>
            </p:cNvPicPr>
            <p:nvPr/>
          </p:nvPicPr>
          <p:blipFill>
            <a:blip r:embed="rId5"/>
            <a:stretch>
              <a:fillRect/>
            </a:stretch>
          </p:blipFill>
          <p:spPr>
            <a:xfrm>
              <a:off x="3819992" y="1299680"/>
              <a:ext cx="2175069" cy="804530"/>
            </a:xfrm>
            <a:prstGeom prst="rect">
              <a:avLst/>
            </a:prstGeom>
          </p:spPr>
        </p:pic>
        <p:sp>
          <p:nvSpPr>
            <p:cNvPr id="7" name="Rectangle 6"/>
            <p:cNvSpPr/>
            <p:nvPr/>
          </p:nvSpPr>
          <p:spPr bwMode="auto">
            <a:xfrm>
              <a:off x="4907526" y="1946883"/>
              <a:ext cx="353090" cy="197805"/>
            </a:xfrm>
            <a:prstGeom prst="rect">
              <a:avLst/>
            </a:prstGeom>
            <a:solidFill>
              <a:schemeClr val="bg1"/>
            </a:solidFill>
            <a:ln w="317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r>
                <a:rPr kumimoji="1" lang="en-US" sz="900" b="0" i="0" u="none" strike="noStrike" cap="none" normalizeH="0" baseline="0" smtClean="0">
                  <a:ln>
                    <a:noFill/>
                  </a:ln>
                  <a:solidFill>
                    <a:schemeClr val="tx1"/>
                  </a:solidFill>
                  <a:effectLst/>
                  <a:latin typeface="Arial" charset="0"/>
                  <a:ea typeface="돋움" pitchFamily="50" charset="-127"/>
                </a:rPr>
                <a:t>???</a:t>
              </a:r>
            </a:p>
          </p:txBody>
        </p:sp>
      </p:grpSp>
      <p:grpSp>
        <p:nvGrpSpPr>
          <p:cNvPr id="10" name="Group 9"/>
          <p:cNvGrpSpPr/>
          <p:nvPr/>
        </p:nvGrpSpPr>
        <p:grpSpPr>
          <a:xfrm>
            <a:off x="3468850" y="2864768"/>
            <a:ext cx="3180502" cy="1471032"/>
            <a:chOff x="3468850" y="2864768"/>
            <a:chExt cx="3180502" cy="1471032"/>
          </a:xfrm>
        </p:grpSpPr>
        <p:sp>
          <p:nvSpPr>
            <p:cNvPr id="50" name="Rectangle 7"/>
            <p:cNvSpPr>
              <a:spLocks noChangeArrowheads="1"/>
            </p:cNvSpPr>
            <p:nvPr/>
          </p:nvSpPr>
          <p:spPr bwMode="auto">
            <a:xfrm>
              <a:off x="3468850" y="2864768"/>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smtClean="0">
                  <a:latin typeface="Times New Roman" pitchFamily="18" charset="0"/>
                  <a:ea typeface="LG Smart_H Regular" panose="020B0600000101010101" pitchFamily="34" charset="-127"/>
                  <a:cs typeface="Times New Roman" pitchFamily="18" charset="0"/>
                </a:rPr>
                <a:t>Dùng </a:t>
              </a:r>
              <a:r>
                <a:rPr lang="vi-VN" altLang="ko-KR" sz="950">
                  <a:latin typeface="Times New Roman" pitchFamily="18" charset="0"/>
                  <a:ea typeface="LG Smart_H Regular" panose="020B0600000101010101" pitchFamily="34" charset="-127"/>
                  <a:cs typeface="Times New Roman" pitchFamily="18" charset="0"/>
                </a:rPr>
                <a:t>trong trường hợp tải rung hay có khả năng sẽ rung trong mặt phẳng, cho dù là sẽ chuyển động theo đường thẳng. Đâu không phải kiểu </a:t>
              </a:r>
              <a:r>
                <a:rPr lang="vi-VN" altLang="ko-KR" sz="950" smtClean="0">
                  <a:latin typeface="Times New Roman" pitchFamily="18" charset="0"/>
                  <a:ea typeface="LG Smart_H Regular" panose="020B0600000101010101" pitchFamily="34" charset="-127"/>
                  <a:cs typeface="Times New Roman" pitchFamily="18" charset="0"/>
                </a:rPr>
                <a:t>trunnion)?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a:t>
              </a:r>
              <a:r>
                <a:rPr lang="en-US" altLang="ko-KR" sz="950" smtClean="0">
                  <a:latin typeface="Times New Roman" pitchFamily="18" charset="0"/>
                  <a:ea typeface="LG Smart_H Regular" panose="020B0600000101010101" pitchFamily="34" charset="-127"/>
                  <a:cs typeface="Times New Roman" pitchFamily="18" charset="0"/>
                </a:rPr>
                <a:t>.</a:t>
              </a:r>
            </a:p>
          </p:txBody>
        </p:sp>
        <p:pic>
          <p:nvPicPr>
            <p:cNvPr id="47" name="Picture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9817" y="3990608"/>
              <a:ext cx="630686" cy="345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 name="Picture 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32652" y="3492908"/>
              <a:ext cx="576467" cy="347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 name="Picture 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5224" y="3481842"/>
              <a:ext cx="605279" cy="358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 name="Picture 5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12252" y="3968360"/>
              <a:ext cx="565599" cy="31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2" name="Group 11"/>
          <p:cNvGrpSpPr/>
          <p:nvPr/>
        </p:nvGrpSpPr>
        <p:grpSpPr>
          <a:xfrm>
            <a:off x="3449538" y="4991616"/>
            <a:ext cx="3180502" cy="969496"/>
            <a:chOff x="3449538" y="4991616"/>
            <a:chExt cx="3180502" cy="969496"/>
          </a:xfrm>
        </p:grpSpPr>
        <p:sp>
          <p:nvSpPr>
            <p:cNvPr id="51" name="Rectangle 7"/>
            <p:cNvSpPr>
              <a:spLocks noChangeArrowheads="1"/>
            </p:cNvSpPr>
            <p:nvPr/>
          </p:nvSpPr>
          <p:spPr bwMode="auto">
            <a:xfrm>
              <a:off x="3449538" y="499161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Đây là ký hiệu của van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kiểm </a:t>
              </a:r>
              <a:r>
                <a:rPr lang="vi-VN" altLang="ko-KR" sz="950" smtClean="0">
                  <a:latin typeface="Times New Roman" pitchFamily="18" charset="0"/>
                  <a:ea typeface="LG Smart_H Regular" panose="020B0600000101010101" pitchFamily="34" charset="-127"/>
                  <a:cs typeface="Times New Roman" pitchFamily="18" charset="0"/>
                </a:rPr>
                <a:t>tra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Van điều khiển tốc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độ</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tiết </a:t>
              </a:r>
              <a:r>
                <a:rPr lang="vi-VN" altLang="ko-KR" sz="950" smtClean="0">
                  <a:latin typeface="Times New Roman" pitchFamily="18" charset="0"/>
                  <a:ea typeface="LG Smart_H Regular" panose="020B0600000101010101" pitchFamily="34" charset="-127"/>
                  <a:cs typeface="Times New Roman" pitchFamily="18" charset="0"/>
                </a:rPr>
                <a:t>lưu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Van relief</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1026"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85184" y="5279485"/>
              <a:ext cx="1089694" cy="609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3" name="Group 12"/>
          <p:cNvGrpSpPr/>
          <p:nvPr/>
        </p:nvGrpSpPr>
        <p:grpSpPr>
          <a:xfrm>
            <a:off x="3473132" y="6357590"/>
            <a:ext cx="3180502" cy="1554272"/>
            <a:chOff x="3473132" y="6357590"/>
            <a:chExt cx="3180502" cy="1554272"/>
          </a:xfrm>
        </p:grpSpPr>
        <p:sp>
          <p:nvSpPr>
            <p:cNvPr id="52" name="Rectangle 7"/>
            <p:cNvSpPr>
              <a:spLocks noChangeArrowheads="1"/>
            </p:cNvSpPr>
            <p:nvPr/>
          </p:nvSpPr>
          <p:spPr bwMode="auto">
            <a:xfrm>
              <a:off x="3473132" y="6357590"/>
              <a:ext cx="3180502"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Đâu là gải thích ký hiệu sai về van điều khiển </a:t>
              </a:r>
              <a:r>
                <a:rPr lang="vi-VN" altLang="ko-KR" sz="950" smtClean="0">
                  <a:latin typeface="Times New Roman" pitchFamily="18" charset="0"/>
                  <a:ea typeface="LG Smart_H Regular" panose="020B0600000101010101" pitchFamily="34" charset="-127"/>
                  <a:cs typeface="Times New Roman" pitchFamily="18" charset="0"/>
                </a:rPr>
                <a:t>hướng?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Số ô vuông là số vị trí điều khiển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K</a:t>
              </a:r>
              <a:r>
                <a:rPr lang="vi-VN" altLang="ko-KR" sz="950" smtClean="0">
                  <a:latin typeface="Times New Roman" pitchFamily="18" charset="0"/>
                  <a:ea typeface="LG Smart_H Regular" panose="020B0600000101010101" pitchFamily="34" charset="-127"/>
                  <a:cs typeface="Times New Roman" pitchFamily="18" charset="0"/>
                </a:rPr>
                <a:t>ý </a:t>
              </a:r>
              <a:r>
                <a:rPr lang="vi-VN" altLang="ko-KR" sz="950">
                  <a:latin typeface="Times New Roman" pitchFamily="18" charset="0"/>
                  <a:ea typeface="LG Smart_H Regular" panose="020B0600000101010101" pitchFamily="34" charset="-127"/>
                  <a:cs typeface="Times New Roman" pitchFamily="18" charset="0"/>
                </a:rPr>
                <a:t>hiệu T là dòng chảy bị ngắt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Đường thẳng thể hiện hướng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chảy</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Cửa van </a:t>
              </a:r>
              <a:r>
                <a:rPr lang="en-US" altLang="ko-KR" sz="950" smtClean="0">
                  <a:latin typeface="Times New Roman" pitchFamily="18" charset="0"/>
                  <a:ea typeface="LG Smart_H Regular" panose="020B0600000101010101" pitchFamily="34" charset="-127"/>
                  <a:cs typeface="Times New Roman" pitchFamily="18" charset="0"/>
                </a:rPr>
                <a:t>bằng</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vạch ngắn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bên </a:t>
              </a:r>
              <a:r>
                <a:rPr lang="vi-VN" altLang="ko-KR" sz="950">
                  <a:latin typeface="Times New Roman" pitchFamily="18" charset="0"/>
                  <a:ea typeface="LG Smart_H Regular" panose="020B0600000101010101" pitchFamily="34" charset="-127"/>
                  <a:cs typeface="Times New Roman" pitchFamily="18" charset="0"/>
                </a:rPr>
                <a:t>ngoài hình vuông</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61" name="Picture 60"/>
            <p:cNvPicPr>
              <a:picLocks noChangeAspect="1"/>
            </p:cNvPicPr>
            <p:nvPr/>
          </p:nvPicPr>
          <p:blipFill>
            <a:blip r:embed="rId11"/>
            <a:stretch>
              <a:fillRect/>
            </a:stretch>
          </p:blipFill>
          <p:spPr>
            <a:xfrm>
              <a:off x="5630031" y="6611358"/>
              <a:ext cx="607281" cy="204101"/>
            </a:xfrm>
            <a:prstGeom prst="rect">
              <a:avLst/>
            </a:prstGeom>
          </p:spPr>
        </p:pic>
        <p:pic>
          <p:nvPicPr>
            <p:cNvPr id="62" name="Picture 61"/>
            <p:cNvPicPr>
              <a:picLocks noChangeAspect="1"/>
            </p:cNvPicPr>
            <p:nvPr/>
          </p:nvPicPr>
          <p:blipFill>
            <a:blip r:embed="rId12"/>
            <a:stretch>
              <a:fillRect/>
            </a:stretch>
          </p:blipFill>
          <p:spPr>
            <a:xfrm>
              <a:off x="5652885" y="7257256"/>
              <a:ext cx="584427" cy="184329"/>
            </a:xfrm>
            <a:prstGeom prst="rect">
              <a:avLst/>
            </a:prstGeom>
          </p:spPr>
        </p:pic>
        <p:pic>
          <p:nvPicPr>
            <p:cNvPr id="63" name="Picture 62"/>
            <p:cNvPicPr>
              <a:picLocks noChangeAspect="1"/>
            </p:cNvPicPr>
            <p:nvPr/>
          </p:nvPicPr>
          <p:blipFill>
            <a:blip r:embed="rId13"/>
            <a:stretch>
              <a:fillRect/>
            </a:stretch>
          </p:blipFill>
          <p:spPr>
            <a:xfrm>
              <a:off x="5630031" y="6897217"/>
              <a:ext cx="607282" cy="237510"/>
            </a:xfrm>
            <a:prstGeom prst="rect">
              <a:avLst/>
            </a:prstGeom>
          </p:spPr>
        </p:pic>
        <p:pic>
          <p:nvPicPr>
            <p:cNvPr id="64" name="Picture 63"/>
            <p:cNvPicPr>
              <a:picLocks noChangeAspect="1"/>
            </p:cNvPicPr>
            <p:nvPr/>
          </p:nvPicPr>
          <p:blipFill>
            <a:blip r:embed="rId14"/>
            <a:stretch>
              <a:fillRect/>
            </a:stretch>
          </p:blipFill>
          <p:spPr>
            <a:xfrm>
              <a:off x="5654982" y="7545288"/>
              <a:ext cx="582331" cy="216024"/>
            </a:xfrm>
            <a:prstGeom prst="rect">
              <a:avLst/>
            </a:prstGeom>
          </p:spPr>
        </p:pic>
      </p:grpSp>
      <p:grpSp>
        <p:nvGrpSpPr>
          <p:cNvPr id="2" name="Group 1"/>
          <p:cNvGrpSpPr/>
          <p:nvPr/>
        </p:nvGrpSpPr>
        <p:grpSpPr>
          <a:xfrm>
            <a:off x="248498" y="2894672"/>
            <a:ext cx="3180502" cy="1626280"/>
            <a:chOff x="248498" y="2894672"/>
            <a:chExt cx="3180502" cy="1626280"/>
          </a:xfrm>
        </p:grpSpPr>
        <p:grpSp>
          <p:nvGrpSpPr>
            <p:cNvPr id="5" name="Group 4"/>
            <p:cNvGrpSpPr/>
            <p:nvPr/>
          </p:nvGrpSpPr>
          <p:grpSpPr>
            <a:xfrm>
              <a:off x="248498" y="2894672"/>
              <a:ext cx="3180502" cy="1626280"/>
              <a:chOff x="248498" y="2894672"/>
              <a:chExt cx="3180502" cy="1626280"/>
            </a:xfrm>
          </p:grpSpPr>
          <p:sp>
            <p:nvSpPr>
              <p:cNvPr id="40" name="Rectangle 7"/>
              <p:cNvSpPr>
                <a:spLocks noChangeArrowheads="1"/>
              </p:cNvSpPr>
              <p:nvPr/>
            </p:nvSpPr>
            <p:spPr bwMode="auto">
              <a:xfrm>
                <a:off x="248498" y="2894672"/>
                <a:ext cx="3180502"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42. </a:t>
                </a:r>
                <a:r>
                  <a:rPr lang="vi-VN" altLang="ko-KR" sz="950">
                    <a:latin typeface="Times New Roman" pitchFamily="18" charset="0"/>
                    <a:ea typeface="LG Smart_H Regular" panose="020B0600000101010101" pitchFamily="34" charset="-127"/>
                    <a:cs typeface="Times New Roman" pitchFamily="18" charset="0"/>
                  </a:rPr>
                  <a:t>Áp dụng nguyên lý di chuyển động lực học của không khi để quay đĩa quay với tốc độ cao, tăng lượng chuyển động của chất khí thông qua cánh từ đó làm tăng  tốc độ và áp suất.</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Giải thích về MNK nào</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a:t>
                </a:r>
                <a:r>
                  <a:rPr lang="en-US" altLang="ko-KR" sz="950" smtClean="0">
                    <a:latin typeface="Times New Roman" pitchFamily="18" charset="0"/>
                    <a:ea typeface="LG Smart_H Regular" panose="020B0600000101010101" pitchFamily="34" charset="-127"/>
                    <a:cs typeface="Times New Roman" pitchFamily="18" charset="0"/>
                  </a:rPr>
                  <a:t>.                                              D.</a:t>
                </a:r>
              </a:p>
            </p:txBody>
          </p:sp>
          <p:pic>
            <p:nvPicPr>
              <p:cNvPr id="49" name="Picture 48"/>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620688" y="3594345"/>
                <a:ext cx="398346"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 name="Picture 53"/>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204864" y="3620675"/>
                <a:ext cx="363861"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icture 55"/>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204864" y="4098401"/>
                <a:ext cx="465779"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55" name="Picture 54"/>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707924" y="4098400"/>
              <a:ext cx="386518"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41509651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a:latin typeface="Times New Roman" pitchFamily="18" charset="0"/>
                <a:cs typeface="Times New Roman" pitchFamily="18" charset="0"/>
              </a:rPr>
              <a:t>Khí nén</a:t>
            </a:r>
            <a:r>
              <a:rPr lang="en-US" altLang="ko-KR">
                <a:latin typeface="Times New Roman" pitchFamily="18" charset="0"/>
                <a:cs typeface="Times New Roman" pitchFamily="18" charset="0"/>
              </a:rPr>
              <a:t>] </a:t>
            </a:r>
            <a:endParaRPr lang="en-US" altLang="ko-KR" dirty="0">
              <a:latin typeface="Times New Roman" pitchFamily="18" charset="0"/>
              <a:cs typeface="Times New Roman" pitchFamily="18" charset="0"/>
            </a:endParaRPr>
          </a:p>
        </p:txBody>
      </p:sp>
      <p:sp>
        <p:nvSpPr>
          <p:cNvPr id="8196" name="Rectangle 17"/>
          <p:cNvSpPr>
            <a:spLocks noChangeArrowheads="1"/>
          </p:cNvSpPr>
          <p:nvPr/>
        </p:nvSpPr>
        <p:spPr bwMode="auto">
          <a:xfrm>
            <a:off x="201848"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8197" name="Rectangle 18"/>
          <p:cNvSpPr>
            <a:spLocks noChangeArrowheads="1"/>
          </p:cNvSpPr>
          <p:nvPr/>
        </p:nvSpPr>
        <p:spPr bwMode="auto">
          <a:xfrm>
            <a:off x="3404108" y="776288"/>
            <a:ext cx="329311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6" name="Rectangle 243"/>
          <p:cNvSpPr>
            <a:spLocks noChangeArrowheads="1"/>
          </p:cNvSpPr>
          <p:nvPr/>
        </p:nvSpPr>
        <p:spPr bwMode="auto">
          <a:xfrm>
            <a:off x="233091" y="5133454"/>
            <a:ext cx="3313113"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4</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Nội</a:t>
            </a:r>
            <a:r>
              <a:rPr lang="en-US" altLang="ko-KR" sz="950" dirty="0" smtClean="0">
                <a:latin typeface="Times New Roman" pitchFamily="18" charset="0"/>
                <a:cs typeface="Times New Roman" pitchFamily="18" charset="0"/>
              </a:rPr>
              <a:t> dung </a:t>
            </a:r>
            <a:r>
              <a:rPr lang="en-US" altLang="ko-KR" sz="950" dirty="0" err="1" smtClean="0">
                <a:latin typeface="Times New Roman" pitchFamily="18" charset="0"/>
                <a:cs typeface="Times New Roman" pitchFamily="18" charset="0"/>
              </a:rPr>
              <a:t>sau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gì</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dirty="0" smtClean="0">
                <a:latin typeface="Times New Roman" pitchFamily="18" charset="0"/>
                <a:cs typeface="Times New Roman" pitchFamily="18" charset="0"/>
              </a:rPr>
              <a:t>‘</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lắp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ở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phụ</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hoặc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gỉ</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thước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từ</a:t>
            </a:r>
            <a:r>
              <a:rPr lang="en-US" altLang="ko-KR" sz="950" dirty="0" smtClean="0">
                <a:latin typeface="Times New Roman" pitchFamily="18" charset="0"/>
                <a:cs typeface="Times New Roman" pitchFamily="18" charset="0"/>
              </a:rPr>
              <a:t> </a:t>
            </a:r>
            <a:r>
              <a:rPr lang="ko-KR" altLang="en-US" sz="950" dirty="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50~75</a:t>
            </a:r>
            <a:r>
              <a:rPr lang="en-US" altLang="ko-KR" sz="950" dirty="0" smtClean="0">
                <a:latin typeface="Times New Roman" pitchFamily="18" charset="0"/>
                <a:cs typeface="Times New Roman" pitchFamily="18" charset="0"/>
              </a:rPr>
              <a:t>㎛</a:t>
            </a:r>
            <a:r>
              <a:rPr lang="ko-KR" altLang="en-US"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endParaRPr lang="en-US" altLang="ko-KR" sz="950" dirty="0" smtClean="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a:t>
            </a:r>
            <a:r>
              <a:rPr lang="ko-KR" altLang="en-US" sz="950" smtClean="0">
                <a:solidFill>
                  <a:srgbClr val="FF0000"/>
                </a:solidFill>
                <a:latin typeface="Times New Roman" pitchFamily="18" charset="0"/>
                <a:cs typeface="Times New Roman" pitchFamily="18" charset="0"/>
              </a:rPr>
              <a:t> </a:t>
            </a:r>
            <a:r>
              <a:rPr lang="en-US" altLang="ko-KR" sz="950" dirty="0" smtClean="0">
                <a:solidFill>
                  <a:srgbClr val="FF0000"/>
                </a:solidFill>
                <a:latin typeface="Times New Roman" pitchFamily="18" charset="0"/>
                <a:cs typeface="Times New Roman" pitchFamily="18" charset="0"/>
              </a:rPr>
              <a:t>Main line </a:t>
            </a:r>
            <a:r>
              <a:rPr lang="en-US" altLang="ko-KR" sz="950" smtClean="0">
                <a:solidFill>
                  <a:srgbClr val="FF0000"/>
                </a:solidFill>
                <a:latin typeface="Times New Roman" pitchFamily="18" charset="0"/>
                <a:cs typeface="Times New Roman" pitchFamily="18" charset="0"/>
              </a:rPr>
              <a:t>filter</a:t>
            </a:r>
            <a:r>
              <a:rPr lang="ko-KR" altLang="en-US" sz="950" smtClean="0">
                <a:solidFill>
                  <a:srgbClr val="FF000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F</a:t>
            </a:r>
            <a:r>
              <a:rPr lang="en-US" altLang="ko-KR" sz="950" smtClean="0">
                <a:latin typeface="Times New Roman" pitchFamily="18" charset="0"/>
                <a:cs typeface="Times New Roman" pitchFamily="18" charset="0"/>
              </a:rPr>
              <a:t>ilter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Air </a:t>
            </a:r>
            <a:r>
              <a:rPr lang="en-US" altLang="ko-KR" sz="950" smtClean="0">
                <a:latin typeface="Times New Roman" pitchFamily="18" charset="0"/>
                <a:cs typeface="Times New Roman" pitchFamily="18" charset="0"/>
              </a:rPr>
              <a:t>dryer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F</a:t>
            </a:r>
            <a:r>
              <a:rPr lang="en-US" altLang="ko-KR" sz="950" smtClean="0">
                <a:latin typeface="Times New Roman" pitchFamily="18" charset="0"/>
                <a:cs typeface="Times New Roman" pitchFamily="18" charset="0"/>
              </a:rPr>
              <a:t>ilter</a:t>
            </a:r>
            <a:endParaRPr lang="ko-KR" altLang="en-US" sz="950" dirty="0">
              <a:latin typeface="Times New Roman" pitchFamily="18" charset="0"/>
              <a:cs typeface="Times New Roman" pitchFamily="18" charset="0"/>
            </a:endParaRPr>
          </a:p>
        </p:txBody>
      </p:sp>
      <p:sp>
        <p:nvSpPr>
          <p:cNvPr id="8" name="Rectangle 121"/>
          <p:cNvSpPr>
            <a:spLocks noChangeArrowheads="1"/>
          </p:cNvSpPr>
          <p:nvPr/>
        </p:nvSpPr>
        <p:spPr bwMode="auto">
          <a:xfrm>
            <a:off x="223566" y="7062425"/>
            <a:ext cx="3133725"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5</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 </a:t>
            </a:r>
            <a:r>
              <a:rPr lang="en-US" altLang="ko-KR" sz="950" dirty="0" err="1">
                <a:solidFill>
                  <a:srgbClr val="FF0000"/>
                </a:solidFill>
                <a:latin typeface="Times New Roman" pitchFamily="18" charset="0"/>
                <a:cs typeface="Times New Roman" pitchFamily="18" charset="0"/>
              </a:rPr>
              <a:t>Đường</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mạch</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khí</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nén</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là</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loại</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kín</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có</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trao</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đổi</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khí</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vào</a:t>
            </a:r>
            <a:r>
              <a:rPr lang="en-US" altLang="ko-KR" sz="950" dirty="0">
                <a:solidFill>
                  <a:srgbClr val="FF0000"/>
                </a:solidFill>
                <a:latin typeface="Times New Roman" pitchFamily="18" charset="0"/>
                <a:cs typeface="Times New Roman" pitchFamily="18" charset="0"/>
              </a:rPr>
              <a:t>/</a:t>
            </a:r>
            <a:r>
              <a:rPr lang="en-US" altLang="ko-KR" sz="950" dirty="0" err="1">
                <a:solidFill>
                  <a:srgbClr val="FF0000"/>
                </a:solidFill>
                <a:latin typeface="Times New Roman" pitchFamily="18" charset="0"/>
                <a:cs typeface="Times New Roman" pitchFamily="18" charset="0"/>
              </a:rPr>
              <a:t>khí</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thảo</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ra</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với</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không</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khí</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bên</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ngoài</a:t>
            </a:r>
            <a:r>
              <a:rPr lang="en-US" altLang="ko-KR" sz="950" dirty="0" smtClean="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cần</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đường</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ống</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hồi</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giống</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như</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mạch</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thủy</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lực</a:t>
            </a:r>
            <a:r>
              <a:rPr lang="en-US" altLang="ko-KR" sz="950" dirty="0">
                <a:solidFill>
                  <a:srgbClr val="FF0000"/>
                </a:solidFill>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B. </a:t>
            </a:r>
            <a:r>
              <a:rPr lang="en-US" altLang="ko-KR" sz="950" dirty="0">
                <a:latin typeface="Times New Roman" pitchFamily="18" charset="0"/>
                <a:cs typeface="Times New Roman" pitchFamily="18" charset="0"/>
              </a:rPr>
              <a:t>Do </a:t>
            </a:r>
            <a:r>
              <a:rPr lang="en-US" altLang="ko-KR" sz="950" dirty="0" err="1">
                <a:latin typeface="Times New Roman" pitchFamily="18" charset="0"/>
                <a:cs typeface="Times New Roman" pitchFamily="18" charset="0"/>
              </a:rPr>
              <a:t>không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quán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tính</a:t>
            </a:r>
            <a:r>
              <a:rPr lang="en-US" altLang="ko-KR" sz="950" dirty="0">
                <a:latin typeface="Times New Roman" pitchFamily="18" charset="0"/>
                <a:cs typeface="Times New Roman" pitchFamily="18" charset="0"/>
              </a:rPr>
              <a:t> hay </a:t>
            </a:r>
            <a:r>
              <a:rPr lang="en-US" altLang="ko-KR" sz="950" dirty="0" err="1">
                <a:latin typeface="Times New Roman" pitchFamily="18" charset="0"/>
                <a:cs typeface="Times New Roman" pitchFamily="18" charset="0"/>
              </a:rPr>
              <a:t>độ</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nhớt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nhỏ</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nên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tổn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thất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áp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 so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thủy</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a:latin typeface="Times New Roman" pitchFamily="18" charset="0"/>
                <a:cs typeface="Times New Roman" pitchFamily="18" charset="0"/>
              </a:rPr>
              <a:t>Do </a:t>
            </a:r>
            <a:r>
              <a:rPr lang="en-US" altLang="ko-KR" sz="950" dirty="0" err="1">
                <a:latin typeface="Times New Roman" pitchFamily="18" charset="0"/>
                <a:cs typeface="Times New Roman" pitchFamily="18" charset="0"/>
              </a:rPr>
              <a:t>không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được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tính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nên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dù</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dùng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đồng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thời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một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thiết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bị</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được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nối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cùng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một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đường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ống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cũng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ít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sảy</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ra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ảnh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hưởng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giữa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máy</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D. </a:t>
            </a:r>
            <a:r>
              <a:rPr lang="en-US" altLang="ko-KR" sz="950" dirty="0">
                <a:latin typeface="Times New Roman" pitchFamily="18" charset="0"/>
                <a:cs typeface="Times New Roman" pitchFamily="18" charset="0"/>
              </a:rPr>
              <a:t>Ở </a:t>
            </a:r>
            <a:r>
              <a:rPr lang="en-US" altLang="ko-KR" sz="950" dirty="0" err="1">
                <a:latin typeface="Times New Roman" pitchFamily="18" charset="0"/>
                <a:cs typeface="Times New Roman" pitchFamily="18" charset="0"/>
              </a:rPr>
              <a:t>khía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cạnh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tổn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thất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năng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lượng</a:t>
            </a:r>
            <a:r>
              <a:rPr lang="en-US" altLang="ko-KR" sz="950" dirty="0">
                <a:latin typeface="Times New Roman" pitchFamily="18" charset="0"/>
                <a:cs typeface="Times New Roman" pitchFamily="18" charset="0"/>
              </a:rPr>
              <a:t> di </a:t>
            </a:r>
            <a:r>
              <a:rPr lang="en-US" altLang="ko-KR" sz="950" dirty="0" err="1">
                <a:latin typeface="Times New Roman" pitchFamily="18" charset="0"/>
                <a:cs typeface="Times New Roman" pitchFamily="18" charset="0"/>
              </a:rPr>
              <a:t>chuyển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nhỏ</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ảnh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hưởng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giữa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thiết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bị</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ít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thể</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lắp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đường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ống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đến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tận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góc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máy</a:t>
            </a:r>
            <a:r>
              <a:rPr lang="en-US" altLang="ko-KR" sz="950" dirty="0">
                <a:latin typeface="Times New Roman" pitchFamily="18" charset="0"/>
                <a:cs typeface="Times New Roman" pitchFamily="18" charset="0"/>
              </a:rPr>
              <a:t>.</a:t>
            </a:r>
          </a:p>
          <a:p>
            <a:pPr eaLnBrk="1" hangingPunct="1"/>
            <a:endParaRPr lang="en-US" altLang="ko-KR" sz="950" dirty="0">
              <a:latin typeface="Times New Roman" pitchFamily="18" charset="0"/>
              <a:cs typeface="Times New Roman" pitchFamily="18" charset="0"/>
            </a:endParaRPr>
          </a:p>
        </p:txBody>
      </p:sp>
      <p:sp>
        <p:nvSpPr>
          <p:cNvPr id="9" name="Rectangle 34"/>
          <p:cNvSpPr>
            <a:spLocks noChangeArrowheads="1"/>
          </p:cNvSpPr>
          <p:nvPr/>
        </p:nvSpPr>
        <p:spPr bwMode="auto">
          <a:xfrm>
            <a:off x="233090" y="2576736"/>
            <a:ext cx="312420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2</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Cylinder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smtClean="0">
              <a:solidFill>
                <a:srgbClr val="FF0000"/>
              </a:solidFill>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 </a:t>
            </a:r>
            <a:r>
              <a:rPr lang="en-US" altLang="ko-KR" sz="950" dirty="0" smtClean="0">
                <a:solidFill>
                  <a:srgbClr val="FF0000"/>
                </a:solidFill>
                <a:latin typeface="Times New Roman" pitchFamily="18" charset="0"/>
                <a:cs typeface="Times New Roman" pitchFamily="18" charset="0"/>
              </a:rPr>
              <a:t>Cylinder </a:t>
            </a:r>
            <a:r>
              <a:rPr lang="en-US" altLang="ko-KR" sz="950" err="1" smtClean="0">
                <a:solidFill>
                  <a:srgbClr val="FF0000"/>
                </a:solidFill>
                <a:latin typeface="Times New Roman" pitchFamily="18" charset="0"/>
                <a:cs typeface="Times New Roman" pitchFamily="18" charset="0"/>
              </a:rPr>
              <a:t>thép</a:t>
            </a:r>
            <a:r>
              <a:rPr lang="ko-KR" altLang="en-US" sz="950" smtClean="0">
                <a:solidFill>
                  <a:srgbClr val="FF000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Compact cylinder</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Cylinder </a:t>
            </a:r>
            <a:r>
              <a:rPr lang="en-US" altLang="ko-KR" sz="950" dirty="0" err="1" smtClean="0">
                <a:latin typeface="Times New Roman" pitchFamily="18" charset="0"/>
                <a:cs typeface="Times New Roman" pitchFamily="18" charset="0"/>
              </a:rPr>
              <a:t>gắn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tự</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do</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Tie Rod Cylinder</a:t>
            </a:r>
            <a:endParaRPr lang="ko-KR" altLang="en-US" sz="950" dirty="0">
              <a:latin typeface="Times New Roman" pitchFamily="18" charset="0"/>
              <a:cs typeface="Times New Roman" pitchFamily="18" charset="0"/>
            </a:endParaRPr>
          </a:p>
        </p:txBody>
      </p:sp>
      <p:sp>
        <p:nvSpPr>
          <p:cNvPr id="20" name="Rectangle 49"/>
          <p:cNvSpPr>
            <a:spLocks noChangeArrowheads="1"/>
          </p:cNvSpPr>
          <p:nvPr/>
        </p:nvSpPr>
        <p:spPr bwMode="auto">
          <a:xfrm>
            <a:off x="3429000" y="2576736"/>
            <a:ext cx="3240360"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7</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Chọn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đáp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án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không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phải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đặc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điểm</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a:latin typeface="Times New Roman" pitchFamily="18" charset="0"/>
                <a:cs typeface="Times New Roman" pitchFamily="18" charset="0"/>
              </a:rPr>
              <a:t>valve </a:t>
            </a:r>
            <a:r>
              <a:rPr lang="en-US" altLang="ko-KR" sz="950" smtClean="0">
                <a:latin typeface="Times New Roman" pitchFamily="18" charset="0"/>
                <a:cs typeface="Times New Roman" pitchFamily="18" charset="0"/>
              </a:rPr>
              <a:t>dạng Poppet ?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a:latin typeface="Times New Roman" pitchFamily="18" charset="0"/>
                <a:cs typeface="Times New Roman" pitchFamily="18" charset="0"/>
              </a:rPr>
              <a:t>Hiệu</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quả</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tốt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dù</a:t>
            </a:r>
            <a:r>
              <a:rPr lang="en-US" altLang="ko-KR" sz="950" dirty="0">
                <a:latin typeface="Times New Roman" pitchFamily="18" charset="0"/>
                <a:cs typeface="Times New Roman" pitchFamily="18" charset="0"/>
              </a:rPr>
              <a:t> Spring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bị</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hư</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hại</a:t>
            </a:r>
            <a:r>
              <a:rPr lang="en-US" altLang="ko-KR" sz="950" dirty="0">
                <a:latin typeface="Times New Roman" pitchFamily="18" charset="0"/>
                <a:cs typeface="Times New Roman" pitchFamily="18" charset="0"/>
              </a:rPr>
              <a:t>, valve </a:t>
            </a:r>
            <a:r>
              <a:rPr lang="en-US" altLang="ko-KR" sz="950" dirty="0" err="1">
                <a:latin typeface="Times New Roman" pitchFamily="18" charset="0"/>
                <a:cs typeface="Times New Roman" pitchFamily="18" charset="0"/>
              </a:rPr>
              <a:t>cũng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được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đóng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lại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nhờ</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áp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chất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lỏng</a:t>
            </a:r>
            <a:r>
              <a:rPr lang="en-US" altLang="ko-KR" sz="950" dirty="0">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B.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khả</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năng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điều</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chỉnh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lưu</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lượng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phù</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hợp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hole </a:t>
            </a:r>
            <a:r>
              <a:rPr lang="en-US" altLang="ko-KR" sz="950" dirty="0" err="1">
                <a:latin typeface="Times New Roman" pitchFamily="18" charset="0"/>
                <a:cs typeface="Times New Roman" pitchFamily="18" charset="0"/>
              </a:rPr>
              <a:t>lớn</a:t>
            </a:r>
            <a:r>
              <a:rPr lang="en-US" altLang="ko-KR" sz="950" dirty="0">
                <a:latin typeface="Times New Roman" pitchFamily="18" charset="0"/>
                <a:cs typeface="Times New Roman" pitchFamily="18" charset="0"/>
              </a:rPr>
              <a:t>.</a:t>
            </a:r>
          </a:p>
          <a:p>
            <a:pPr eaLnBrk="1" hangingPunct="1"/>
            <a:r>
              <a:rPr lang="en-US" altLang="ko-KR" sz="950" smtClean="0">
                <a:solidFill>
                  <a:srgbClr val="FF0000"/>
                </a:solidFill>
                <a:latin typeface="Times New Roman" pitchFamily="18" charset="0"/>
                <a:cs typeface="Times New Roman" pitchFamily="18" charset="0"/>
              </a:rPr>
              <a:t>C. </a:t>
            </a:r>
            <a:r>
              <a:rPr lang="en-US" altLang="ko-KR" sz="950" dirty="0" err="1">
                <a:solidFill>
                  <a:srgbClr val="FF0000"/>
                </a:solidFill>
                <a:latin typeface="Times New Roman" pitchFamily="18" charset="0"/>
                <a:cs typeface="Times New Roman" pitchFamily="18" charset="0"/>
              </a:rPr>
              <a:t>Khả</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năng</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điều</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chỉnh</a:t>
            </a:r>
            <a:r>
              <a:rPr lang="en-US" altLang="ko-KR" sz="950" dirty="0">
                <a:solidFill>
                  <a:srgbClr val="FF0000"/>
                </a:solidFill>
                <a:latin typeface="Times New Roman" pitchFamily="18" charset="0"/>
                <a:cs typeface="Times New Roman" pitchFamily="18" charset="0"/>
              </a:rPr>
              <a:t> Valve </a:t>
            </a:r>
            <a:r>
              <a:rPr lang="en-US" altLang="ko-KR" sz="950" dirty="0" err="1">
                <a:solidFill>
                  <a:srgbClr val="FF0000"/>
                </a:solidFill>
                <a:latin typeface="Times New Roman" pitchFamily="18" charset="0"/>
                <a:cs typeface="Times New Roman" pitchFamily="18" charset="0"/>
              </a:rPr>
              <a:t>phải</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nhỏ</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hơn</a:t>
            </a:r>
            <a:r>
              <a:rPr lang="en-US" altLang="ko-KR" sz="950" dirty="0">
                <a:solidFill>
                  <a:srgbClr val="FF0000"/>
                </a:solidFill>
                <a:latin typeface="Times New Roman" pitchFamily="18" charset="0"/>
                <a:cs typeface="Times New Roman" pitchFamily="18" charset="0"/>
              </a:rPr>
              <a:t> so </a:t>
            </a:r>
            <a:r>
              <a:rPr lang="en-US" altLang="ko-KR" sz="950" dirty="0" err="1">
                <a:solidFill>
                  <a:srgbClr val="FF0000"/>
                </a:solidFill>
                <a:latin typeface="Times New Roman" pitchFamily="18" charset="0"/>
                <a:cs typeface="Times New Roman" pitchFamily="18" charset="0"/>
              </a:rPr>
              <a:t>với</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áp</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lực</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chất</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lỏng</a:t>
            </a:r>
            <a:r>
              <a:rPr lang="en-US" altLang="ko-KR" sz="950" dirty="0">
                <a:solidFill>
                  <a:srgbClr val="FF0000"/>
                </a:solidFill>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D. </a:t>
            </a:r>
            <a:r>
              <a:rPr lang="en-US" altLang="ko-KR" sz="950" dirty="0" err="1">
                <a:latin typeface="Times New Roman" pitchFamily="18" charset="0"/>
                <a:cs typeface="Times New Roman" pitchFamily="18" charset="0"/>
              </a:rPr>
              <a:t>Quãng</a:t>
            </a:r>
            <a:r>
              <a:rPr lang="en-US" altLang="ko-KR" sz="950" dirty="0">
                <a:latin typeface="Times New Roman" pitchFamily="18" charset="0"/>
                <a:cs typeface="Times New Roman" pitchFamily="18" charset="0"/>
              </a:rPr>
              <a:t> </a:t>
            </a:r>
            <a:r>
              <a:rPr lang="en-US" altLang="ko-KR" sz="950" err="1">
                <a:latin typeface="Times New Roman" pitchFamily="18" charset="0"/>
                <a:cs typeface="Times New Roman" pitchFamily="18" charset="0"/>
              </a:rPr>
              <a:t>đường</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di chuyển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phần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vận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hành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ngắn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nên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tốc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độ</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đóng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mở</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nhanh</a:t>
            </a:r>
            <a:endParaRPr lang="en-US" altLang="ko-KR" sz="950" dirty="0">
              <a:latin typeface="Times New Roman" pitchFamily="18" charset="0"/>
              <a:cs typeface="Times New Roman" pitchFamily="18" charset="0"/>
            </a:endParaRPr>
          </a:p>
          <a:p>
            <a:pPr eaLnBrk="1" hangingPunct="1"/>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21" name="Rectangle 21"/>
          <p:cNvSpPr>
            <a:spLocks noChangeArrowheads="1"/>
          </p:cNvSpPr>
          <p:nvPr/>
        </p:nvSpPr>
        <p:spPr bwMode="auto">
          <a:xfrm>
            <a:off x="3429000" y="4808984"/>
            <a:ext cx="3268220" cy="1831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lnSpc>
                <a:spcPct val="120000"/>
              </a:lnSpc>
            </a:pPr>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8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Ejector?</a:t>
            </a:r>
            <a:endParaRPr lang="en-US" altLang="ko-KR" sz="950" dirty="0">
              <a:latin typeface="Times New Roman" pitchFamily="18" charset="0"/>
              <a:cs typeface="Times New Roman" pitchFamily="18" charset="0"/>
            </a:endParaRPr>
          </a:p>
          <a:p>
            <a:pPr eaLnBrk="1" hangingPunct="1">
              <a:lnSpc>
                <a:spcPct val="120000"/>
              </a:lnSpc>
            </a:pPr>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mấy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pump chân</a:t>
            </a:r>
            <a:r>
              <a:rPr lang="en-US" altLang="ko-KR" sz="950" dirty="0">
                <a:latin typeface="Times New Roman" pitchFamily="18" charset="0"/>
                <a:cs typeface="Times New Roman" pitchFamily="18" charset="0"/>
              </a:rPr>
              <a:t> </a:t>
            </a:r>
            <a:r>
              <a:rPr lang="en-US" altLang="ko-KR" sz="950" smtClean="0">
                <a:latin typeface="Times New Roman" pitchFamily="18" charset="0"/>
                <a:cs typeface="Times New Roman" pitchFamily="18" charset="0"/>
              </a:rPr>
              <a:t>không </a:t>
            </a:r>
            <a:r>
              <a:rPr lang="en-US" altLang="ko-KR" sz="950" dirty="0" err="1" smtClean="0">
                <a:latin typeface="Times New Roman" pitchFamily="18" charset="0"/>
                <a:cs typeface="Times New Roman" pitchFamily="18" charset="0"/>
              </a:rPr>
              <a:t>khác</a:t>
            </a:r>
            <a:endParaRPr lang="ko-KR" altLang="en-US" sz="950" dirty="0">
              <a:latin typeface="Times New Roman" pitchFamily="18" charset="0"/>
              <a:cs typeface="Times New Roman" pitchFamily="18" charset="0"/>
            </a:endParaRPr>
          </a:p>
          <a:p>
            <a:pPr eaLnBrk="1" hangingPunct="1">
              <a:lnSpc>
                <a:spcPct val="120000"/>
              </a:lnSpc>
            </a:pPr>
            <a:r>
              <a:rPr lang="en-US" altLang="ko-KR" sz="950" smtClean="0">
                <a:solidFill>
                  <a:srgbClr val="FF0000"/>
                </a:solidFill>
                <a:latin typeface="Times New Roman" pitchFamily="18" charset="0"/>
                <a:cs typeface="Times New Roman" pitchFamily="18" charset="0"/>
              </a:rPr>
              <a:t>B.</a:t>
            </a:r>
            <a:r>
              <a:rPr lang="ko-KR" altLang="en-US" sz="95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Mức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độ</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chân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không</a:t>
            </a:r>
            <a:r>
              <a:rPr lang="en-US" altLang="ko-KR" sz="950" dirty="0" smtClean="0">
                <a:solidFill>
                  <a:srgbClr val="FF0000"/>
                </a:solidFill>
                <a:latin typeface="Times New Roman" pitchFamily="18" charset="0"/>
                <a:cs typeface="Times New Roman" pitchFamily="18" charset="0"/>
              </a:rPr>
              <a:t> ở </a:t>
            </a:r>
            <a:r>
              <a:rPr lang="en-US" altLang="ko-KR" sz="950" dirty="0" err="1" smtClean="0">
                <a:solidFill>
                  <a:srgbClr val="FF0000"/>
                </a:solidFill>
                <a:latin typeface="Times New Roman" pitchFamily="18" charset="0"/>
                <a:cs typeface="Times New Roman" pitchFamily="18" charset="0"/>
              </a:rPr>
              <a:t>phạm</a:t>
            </a:r>
            <a:r>
              <a:rPr lang="en-US" altLang="ko-KR" sz="950" dirty="0" smtClean="0">
                <a:solidFill>
                  <a:srgbClr val="FF0000"/>
                </a:solidFill>
                <a:latin typeface="Times New Roman" pitchFamily="18" charset="0"/>
                <a:cs typeface="Times New Roman" pitchFamily="18" charset="0"/>
              </a:rPr>
              <a:t> vi </a:t>
            </a:r>
            <a:r>
              <a:rPr lang="en-US" altLang="ko-KR" sz="950" dirty="0" err="1" smtClean="0">
                <a:solidFill>
                  <a:srgbClr val="FF0000"/>
                </a:solidFill>
                <a:latin typeface="Times New Roman" pitchFamily="18" charset="0"/>
                <a:cs typeface="Times New Roman" pitchFamily="18" charset="0"/>
              </a:rPr>
              <a:t>sử</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dụng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thực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tế</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hầu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như</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tỷ</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lệ</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với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áp</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lực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cung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cấp</a:t>
            </a:r>
            <a:r>
              <a:rPr lang="en-US" altLang="ko-KR" sz="950" dirty="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nên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khó</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điều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khiển</a:t>
            </a:r>
            <a:r>
              <a:rPr lang="en-US" altLang="ko-KR" sz="950" dirty="0" smtClean="0">
                <a:solidFill>
                  <a:srgbClr val="FF0000"/>
                </a:solidFill>
                <a:latin typeface="Times New Roman" pitchFamily="18" charset="0"/>
                <a:cs typeface="Times New Roman" pitchFamily="18" charset="0"/>
              </a:rPr>
              <a:t> chi </a:t>
            </a:r>
            <a:r>
              <a:rPr lang="en-US" altLang="ko-KR" sz="950" dirty="0" err="1" smtClean="0">
                <a:solidFill>
                  <a:srgbClr val="FF0000"/>
                </a:solidFill>
                <a:latin typeface="Times New Roman" pitchFamily="18" charset="0"/>
                <a:cs typeface="Times New Roman" pitchFamily="18" charset="0"/>
              </a:rPr>
              <a:t>tiết</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nhỏ</a:t>
            </a:r>
            <a:endParaRPr lang="ko-KR" altLang="en-US" sz="950" dirty="0">
              <a:solidFill>
                <a:srgbClr val="FF0000"/>
              </a:solidFill>
              <a:latin typeface="Times New Roman" pitchFamily="18" charset="0"/>
              <a:cs typeface="Times New Roman" pitchFamily="18" charset="0"/>
            </a:endParaRPr>
          </a:p>
          <a:p>
            <a:pPr eaLnBrk="1" hangingPunct="1">
              <a:lnSpc>
                <a:spcPct val="120000"/>
              </a:lnSpc>
            </a:pP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rung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hồi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tank </a:t>
            </a:r>
            <a:r>
              <a:rPr lang="en-US" altLang="ko-KR" sz="950" dirty="0" err="1" smtClean="0">
                <a:latin typeface="Times New Roman" pitchFamily="18" charset="0"/>
                <a:cs typeface="Times New Roman" pitchFamily="18" charset="0"/>
              </a:rPr>
              <a:t>chân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phù</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lặp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tác</a:t>
            </a:r>
            <a:r>
              <a:rPr lang="en-US" altLang="ko-KR" sz="950" dirty="0" smtClean="0">
                <a:latin typeface="Times New Roman" pitchFamily="18" charset="0"/>
                <a:cs typeface="Times New Roman" pitchFamily="18" charset="0"/>
              </a:rPr>
              <a:t> ON-OFF </a:t>
            </a:r>
            <a:r>
              <a:rPr lang="en-US" altLang="ko-KR" sz="950" dirty="0" err="1" smtClean="0">
                <a:latin typeface="Times New Roman" pitchFamily="18" charset="0"/>
                <a:cs typeface="Times New Roman" pitchFamily="18" charset="0"/>
              </a:rPr>
              <a:t>nhiều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lần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lnSpc>
                <a:spcPct val="120000"/>
              </a:lnSpc>
            </a:pPr>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nguồn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lượng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thiết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dùng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chung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khiển</a:t>
            </a:r>
            <a:endParaRPr lang="en-US" altLang="ko-KR" sz="950" dirty="0">
              <a:latin typeface="Times New Roman" pitchFamily="18" charset="0"/>
              <a:cs typeface="Times New Roman" pitchFamily="18" charset="0"/>
            </a:endParaRPr>
          </a:p>
        </p:txBody>
      </p:sp>
      <p:sp>
        <p:nvSpPr>
          <p:cNvPr id="22" name="Rectangle 13"/>
          <p:cNvSpPr>
            <a:spLocks noChangeArrowheads="1"/>
          </p:cNvSpPr>
          <p:nvPr/>
        </p:nvSpPr>
        <p:spPr bwMode="auto">
          <a:xfrm>
            <a:off x="3429000" y="6897216"/>
            <a:ext cx="324036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9</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ko-KR" altLang="en-US" sz="950" dirty="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Counter?</a:t>
            </a:r>
            <a:endParaRPr lang="en-US" altLang="ko-KR" sz="950" dirty="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smtClean="0">
                <a:latin typeface="Times New Roman" pitchFamily="18" charset="0"/>
                <a:cs typeface="Times New Roman" pitchFamily="18" charset="0"/>
              </a:rPr>
              <a:t>Counter </a:t>
            </a:r>
            <a:r>
              <a:rPr lang="en-US" altLang="ko-KR" sz="950" dirty="0" err="1" smtClean="0">
                <a:latin typeface="Times New Roman" pitchFamily="18" charset="0"/>
                <a:cs typeface="Times New Roman" pitchFamily="18" charset="0"/>
              </a:rPr>
              <a:t>cơ</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khí</a:t>
            </a:r>
            <a:r>
              <a:rPr lang="en-US" altLang="ko-KR" sz="950" smtClean="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Counter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từ</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C.</a:t>
            </a:r>
            <a:r>
              <a:rPr lang="ko-KR" altLang="en-US" sz="950" smtClean="0">
                <a:solidFill>
                  <a:srgbClr val="FF0000"/>
                </a:solidFill>
                <a:latin typeface="Times New Roman" pitchFamily="18" charset="0"/>
                <a:cs typeface="Times New Roman" pitchFamily="18" charset="0"/>
              </a:rPr>
              <a:t>  </a:t>
            </a:r>
            <a:r>
              <a:rPr lang="en-US" altLang="ko-KR" sz="950" dirty="0" smtClean="0">
                <a:solidFill>
                  <a:srgbClr val="FF0000"/>
                </a:solidFill>
                <a:latin typeface="Times New Roman" pitchFamily="18" charset="0"/>
                <a:cs typeface="Times New Roman" pitchFamily="18" charset="0"/>
              </a:rPr>
              <a:t>Counter </a:t>
            </a:r>
            <a:r>
              <a:rPr lang="en-US" altLang="ko-KR" sz="950" smtClean="0">
                <a:solidFill>
                  <a:srgbClr val="FF0000"/>
                </a:solidFill>
                <a:latin typeface="Times New Roman" pitchFamily="18" charset="0"/>
                <a:cs typeface="Times New Roman" pitchFamily="18" charset="0"/>
              </a:rPr>
              <a:t>pin </a:t>
            </a:r>
            <a:r>
              <a:rPr lang="ko-KR" altLang="en-US" sz="950" smtClean="0">
                <a:solidFill>
                  <a:srgbClr val="FF000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Counter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tử</a:t>
            </a:r>
            <a:endParaRPr lang="ko-KR" altLang="en-US" sz="950" dirty="0">
              <a:latin typeface="Times New Roman" pitchFamily="18" charset="0"/>
              <a:cs typeface="Times New Roman" pitchFamily="18" charset="0"/>
            </a:endParaRPr>
          </a:p>
        </p:txBody>
      </p:sp>
      <p:grpSp>
        <p:nvGrpSpPr>
          <p:cNvPr id="26" name="Group 25"/>
          <p:cNvGrpSpPr/>
          <p:nvPr/>
        </p:nvGrpSpPr>
        <p:grpSpPr>
          <a:xfrm>
            <a:off x="260648" y="3779837"/>
            <a:ext cx="3124200" cy="969496"/>
            <a:chOff x="3356992" y="3779837"/>
            <a:chExt cx="3124200" cy="969496"/>
          </a:xfrm>
        </p:grpSpPr>
        <p:sp>
          <p:nvSpPr>
            <p:cNvPr id="27" name="Rectangle 39"/>
            <p:cNvSpPr>
              <a:spLocks noChangeArrowheads="1"/>
            </p:cNvSpPr>
            <p:nvPr/>
          </p:nvSpPr>
          <p:spPr bwMode="auto">
            <a:xfrm>
              <a:off x="3356992" y="3779837"/>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ea typeface="돋움" pitchFamily="50" charset="-127"/>
                  <a:cs typeface="Times New Roman" pitchFamily="18" charset="0"/>
                </a:rPr>
                <a:t>53.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nội</a:t>
              </a:r>
              <a:r>
                <a:rPr lang="en-US" altLang="ko-KR" sz="950" dirty="0" smtClean="0">
                  <a:latin typeface="Times New Roman" pitchFamily="18" charset="0"/>
                  <a:ea typeface="돋움" pitchFamily="50" charset="-127"/>
                  <a:cs typeface="Times New Roman" pitchFamily="18" charset="0"/>
                </a:rPr>
                <a:t> dung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liên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quan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đến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hiệu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Van Speed Control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B. Van Check</a:t>
              </a:r>
              <a:r>
                <a:rPr lang="ko-KR" altLang="en-US" sz="95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 Van tiết lưu Needle</a:t>
              </a:r>
              <a:r>
                <a:rPr lang="ko-KR" altLang="en-US" sz="95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solidFill>
                    <a:srgbClr val="FF0000"/>
                  </a:solidFill>
                  <a:latin typeface="Times New Roman" pitchFamily="18" charset="0"/>
                  <a:ea typeface="돋움" pitchFamily="50" charset="-127"/>
                  <a:cs typeface="Times New Roman" pitchFamily="18" charset="0"/>
                </a:rPr>
                <a:t>D. Van Pilot</a:t>
              </a:r>
              <a:endParaRPr lang="en-US" altLang="ko-KR" sz="950" dirty="0">
                <a:solidFill>
                  <a:srgbClr val="FF0000"/>
                </a:solidFill>
                <a:latin typeface="Times New Roman" pitchFamily="18" charset="0"/>
                <a:ea typeface="돋움" pitchFamily="50" charset="-127"/>
                <a:cs typeface="Times New Roman" pitchFamily="18" charset="0"/>
              </a:endParaRPr>
            </a:p>
          </p:txBody>
        </p:sp>
        <p:pic>
          <p:nvPicPr>
            <p:cNvPr id="28" name="Picture 40" descr="Untitled-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60988" y="4078609"/>
              <a:ext cx="685800" cy="514351"/>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pic>
      </p:grpSp>
      <p:sp>
        <p:nvSpPr>
          <p:cNvPr id="32" name="Rectangle 111"/>
          <p:cNvSpPr>
            <a:spLocks noChangeArrowheads="1"/>
          </p:cNvSpPr>
          <p:nvPr/>
        </p:nvSpPr>
        <p:spPr bwMode="auto">
          <a:xfrm>
            <a:off x="3499195" y="8049344"/>
            <a:ext cx="3130639"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None/>
            </a:pPr>
            <a:r>
              <a:rPr lang="en-US" altLang="ko-KR" sz="950" smtClean="0">
                <a:latin typeface="Arial Narrow" pitchFamily="34" charset="0"/>
                <a:ea typeface="LG Smart_H Regular" panose="020B0600000101010101" pitchFamily="34" charset="-127"/>
                <a:cs typeface="Times New Roman" pitchFamily="18" charset="0"/>
              </a:rPr>
              <a:t>60. </a:t>
            </a:r>
            <a:r>
              <a:rPr lang="vi-VN" sz="950" smtClean="0">
                <a:latin typeface="Times New Roman" pitchFamily="18" charset="0"/>
                <a:ea typeface="LG Smart_H Regular" panose="020B0600000101010101" pitchFamily="34" charset="-127"/>
                <a:cs typeface="Times New Roman" pitchFamily="18" charset="0"/>
              </a:rPr>
              <a:t>Van </a:t>
            </a:r>
            <a:r>
              <a:rPr lang="vi-VN" sz="950">
                <a:latin typeface="Times New Roman" pitchFamily="18" charset="0"/>
                <a:ea typeface="LG Smart_H Regular" panose="020B0600000101010101" pitchFamily="34" charset="-127"/>
                <a:cs typeface="Times New Roman" pitchFamily="18" charset="0"/>
              </a:rPr>
              <a:t>điều khiển bằng áp suất ngoài thay cho lò xo </a:t>
            </a:r>
            <a:endParaRPr lang="en-US" sz="950" smtClean="0">
              <a:latin typeface="Arial Narrow" pitchFamily="34" charset="0"/>
              <a:ea typeface="LG Smart_H Regular" panose="020B0600000101010101" pitchFamily="34" charset="-127"/>
              <a:cs typeface="Times New Roman" pitchFamily="18" charset="0"/>
            </a:endParaRPr>
          </a:p>
          <a:p>
            <a:pPr marL="171450" eaLnBrk="1" hangingPunct="1">
              <a:spcBef>
                <a:spcPct val="0"/>
              </a:spcBef>
              <a:buNone/>
            </a:pPr>
            <a:r>
              <a:rPr lang="vi-VN" sz="950" smtClean="0">
                <a:latin typeface="Times New Roman" pitchFamily="18" charset="0"/>
                <a:ea typeface="LG Smart_H Regular" panose="020B0600000101010101" pitchFamily="34" charset="-127"/>
                <a:cs typeface="Times New Roman" pitchFamily="18" charset="0"/>
              </a:rPr>
              <a:t>điều </a:t>
            </a:r>
            <a:r>
              <a:rPr lang="vi-VN" sz="950">
                <a:latin typeface="Times New Roman" pitchFamily="18" charset="0"/>
                <a:ea typeface="LG Smart_H Regular" panose="020B0600000101010101" pitchFamily="34" charset="-127"/>
                <a:cs typeface="Times New Roman" pitchFamily="18" charset="0"/>
              </a:rPr>
              <a:t>chỉnh của van giảm áp là gì</a:t>
            </a:r>
            <a:r>
              <a:rPr lang="vi-VN" sz="950" smtClean="0">
                <a:latin typeface="Times New Roman" pitchFamily="18" charset="0"/>
                <a:ea typeface="LG Smart_H Regular" panose="020B0600000101010101" pitchFamily="34" charset="-127"/>
                <a:cs typeface="Times New Roman" pitchFamily="18" charset="0"/>
              </a:rPr>
              <a:t>?</a:t>
            </a:r>
            <a:endParaRPr lang="en-US" altLang="ko-KR" sz="950">
              <a:latin typeface="Arial Narrow" pitchFamily="34" charset="0"/>
              <a:ea typeface="LG Smart_H Regular" panose="020B0600000101010101" pitchFamily="34" charset="-127"/>
              <a:cs typeface="Times New Roman" pitchFamily="18" charset="0"/>
            </a:endParaRP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Van </a:t>
            </a:r>
            <a:r>
              <a:rPr lang="vi-VN" altLang="ko-KR" sz="950">
                <a:latin typeface="Times New Roman" pitchFamily="18" charset="0"/>
                <a:ea typeface="LG Smart_H Regular" panose="020B0600000101010101" pitchFamily="34" charset="-127"/>
                <a:cs typeface="Times New Roman" pitchFamily="18" charset="0"/>
              </a:rPr>
              <a:t>giảm áp tác động trực tiếp </a:t>
            </a:r>
            <a:endParaRPr lang="en-US" altLang="ko-KR" sz="950">
              <a:latin typeface="Arial Narrow" pitchFamily="34" charset="0"/>
              <a:ea typeface="LG Smart_H Regular" panose="020B0600000101010101" pitchFamily="34" charset="-127"/>
              <a:cs typeface="Times New Roman" pitchFamily="18" charset="0"/>
            </a:endParaRP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Van </a:t>
            </a:r>
            <a:r>
              <a:rPr lang="vi-VN" altLang="ko-KR" sz="950">
                <a:latin typeface="Times New Roman" pitchFamily="18" charset="0"/>
                <a:ea typeface="LG Smart_H Regular" panose="020B0600000101010101" pitchFamily="34" charset="-127"/>
                <a:cs typeface="Times New Roman" pitchFamily="18" charset="0"/>
              </a:rPr>
              <a:t>giảm áp pilot bên trong chính </a:t>
            </a:r>
            <a:r>
              <a:rPr lang="vi-VN" altLang="ko-KR" sz="950" smtClean="0">
                <a:latin typeface="Times New Roman" pitchFamily="18" charset="0"/>
                <a:ea typeface="LG Smart_H Regular" panose="020B0600000101010101" pitchFamily="34" charset="-127"/>
                <a:cs typeface="Times New Roman" pitchFamily="18" charset="0"/>
              </a:rPr>
              <a:t>xác</a:t>
            </a:r>
            <a:endParaRPr lang="en-US" altLang="ko-KR" sz="950">
              <a:latin typeface="Arial Narrow" pitchFamily="34" charset="0"/>
              <a:ea typeface="LG Smart_H Regular" panose="020B0600000101010101" pitchFamily="34" charset="-127"/>
              <a:cs typeface="Times New Roman" pitchFamily="18" charset="0"/>
            </a:endParaRPr>
          </a:p>
          <a:p>
            <a:pPr marL="228600" indent="-228600" eaLnBrk="1" hangingPunct="1">
              <a:spcBef>
                <a:spcPct val="0"/>
              </a:spcBef>
              <a:buFont typeface="+mj-lt"/>
              <a:buAutoNum type="alphaUcPeriod"/>
            </a:pPr>
            <a:r>
              <a:rPr lang="vi-VN" altLang="ko-KR" sz="950" smtClean="0">
                <a:latin typeface="Times New Roman" pitchFamily="18" charset="0"/>
                <a:ea typeface="LG Smart_H Regular" panose="020B0600000101010101" pitchFamily="34" charset="-127"/>
                <a:cs typeface="Times New Roman" pitchFamily="18" charset="0"/>
              </a:rPr>
              <a:t>Van </a:t>
            </a:r>
            <a:r>
              <a:rPr lang="vi-VN" altLang="ko-KR" sz="950">
                <a:latin typeface="Times New Roman" pitchFamily="18" charset="0"/>
                <a:ea typeface="LG Smart_H Regular" panose="020B0600000101010101" pitchFamily="34" charset="-127"/>
                <a:cs typeface="Times New Roman" pitchFamily="18" charset="0"/>
              </a:rPr>
              <a:t>giảm áp pilot bên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a:latin typeface="Arial Narrow" pitchFamily="34" charset="0"/>
              <a:ea typeface="LG Smart_H Regular" panose="020B0600000101010101" pitchFamily="34" charset="-127"/>
              <a:cs typeface="Times New Roman" pitchFamily="18" charset="0"/>
            </a:endParaRPr>
          </a:p>
          <a:p>
            <a:pPr marL="228600" indent="-228600" eaLnBrk="1" hangingPunct="1">
              <a:spcBef>
                <a:spcPct val="0"/>
              </a:spcBef>
              <a:buFont typeface="+mj-l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Van </a:t>
            </a:r>
            <a:r>
              <a:rPr lang="vi-VN" altLang="ko-KR" sz="950">
                <a:solidFill>
                  <a:srgbClr val="FF0000"/>
                </a:solidFill>
                <a:latin typeface="Times New Roman" pitchFamily="18" charset="0"/>
                <a:ea typeface="LG Smart_H Regular" panose="020B0600000101010101" pitchFamily="34" charset="-127"/>
                <a:cs typeface="Times New Roman" pitchFamily="18" charset="0"/>
              </a:rPr>
              <a:t>giảm áp pilot bên ngoài </a:t>
            </a:r>
            <a:endParaRPr lang="ko-KR" altLang="en-US" sz="950" dirty="0">
              <a:solidFill>
                <a:srgbClr val="FF0000"/>
              </a:solidFill>
              <a:latin typeface="Arial Narrow" pitchFamily="34" charset="0"/>
              <a:ea typeface="LG Smart_H Regular" panose="020B0600000101010101" pitchFamily="34" charset="-127"/>
              <a:cs typeface="Times New Roman" pitchFamily="18" charset="0"/>
            </a:endParaRPr>
          </a:p>
        </p:txBody>
      </p:sp>
      <p:sp>
        <p:nvSpPr>
          <p:cNvPr id="33" name="Rectangle 58"/>
          <p:cNvSpPr>
            <a:spLocks noChangeArrowheads="1"/>
          </p:cNvSpPr>
          <p:nvPr/>
        </p:nvSpPr>
        <p:spPr bwMode="auto">
          <a:xfrm>
            <a:off x="233412" y="920552"/>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marL="109538" indent="-109538" eaLnBrk="1" fontAlgn="base" hangingPunct="1">
              <a:spcBef>
                <a:spcPct val="0"/>
              </a:spcBef>
              <a:spcAft>
                <a:spcPct val="0"/>
              </a:spcAft>
            </a:pPr>
            <a:r>
              <a:rPr lang="en-US" altLang="ko-KR" sz="950">
                <a:solidFill>
                  <a:srgbClr val="000000"/>
                </a:solidFill>
                <a:latin typeface="Arial Narrow" pitchFamily="34" charset="0"/>
                <a:ea typeface="LG Smart_H Regular" panose="020B0600000101010101" pitchFamily="34" charset="-127"/>
                <a:cs typeface="Times New Roman" pitchFamily="18" charset="0"/>
              </a:rPr>
              <a:t>5</a:t>
            </a:r>
            <a:r>
              <a:rPr lang="en-US" altLang="ko-KR" sz="950" smtClean="0">
                <a:solidFill>
                  <a:srgbClr val="000000"/>
                </a:solidFill>
                <a:latin typeface="Arial Narrow" pitchFamily="34" charset="0"/>
                <a:ea typeface="LG Smart_H Regular" panose="020B0600000101010101" pitchFamily="34" charset="-127"/>
                <a:cs typeface="Times New Roman" pitchFamily="18" charset="0"/>
              </a:rPr>
              <a:t>1.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Trong </a:t>
            </a:r>
            <a:r>
              <a:rPr lang="vi-VN" altLang="ko-KR" sz="950">
                <a:solidFill>
                  <a:srgbClr val="000000"/>
                </a:solidFill>
                <a:latin typeface="Times New Roman" pitchFamily="18" charset="0"/>
                <a:ea typeface="LG Smart_H Regular" panose="020B0600000101010101" pitchFamily="34" charset="-127"/>
                <a:cs typeface="Times New Roman" pitchFamily="18" charset="0"/>
              </a:rPr>
              <a:t>cấu tạo của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Cylinder(cylinder</a:t>
            </a:r>
            <a:r>
              <a:rPr lang="vi-VN" altLang="ko-KR" sz="950">
                <a:solidFill>
                  <a:srgbClr val="000000"/>
                </a:solidFill>
                <a:latin typeface="Times New Roman" pitchFamily="18" charset="0"/>
                <a:ea typeface="LG Smart_H Regular" panose="020B0600000101010101" pitchFamily="34" charset="-127"/>
                <a:cs typeface="Times New Roman" pitchFamily="18" charset="0"/>
              </a:rPr>
              <a:t>) khí nén, phần nào truyền chuyển động trượt bên trong ống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Cylinder</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(cylinder </a:t>
            </a:r>
            <a:r>
              <a:rPr lang="vi-VN" altLang="ko-KR" sz="950">
                <a:solidFill>
                  <a:srgbClr val="000000"/>
                </a:solidFill>
                <a:latin typeface="Times New Roman" pitchFamily="18" charset="0"/>
                <a:ea typeface="LG Smart_H Regular" panose="020B0600000101010101" pitchFamily="34" charset="-127"/>
                <a:cs typeface="Times New Roman" pitchFamily="18" charset="0"/>
              </a:rPr>
              <a:t>tube) dưới áp suất không khí và va chạm trên head cover với tốc độ cao? </a:t>
            </a:r>
            <a:endParaRPr lang="en-US" altLang="ko-KR" sz="950" dirty="0">
              <a:solidFill>
                <a:srgbClr val="000000"/>
              </a:solidFill>
              <a:latin typeface="Arial Narrow" pitchFamily="34"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Arial Narrow" pitchFamily="34" charset="0"/>
                <a:ea typeface="LG Smart_H Regular" panose="020B0600000101010101" pitchFamily="34" charset="-127"/>
                <a:cs typeface="Times New Roman" pitchFamily="18" charset="0"/>
              </a:rPr>
              <a:t> A. </a:t>
            </a:r>
            <a:r>
              <a:rPr lang="vi-VN" altLang="ko-KR" sz="950">
                <a:latin typeface="Times New Roman" pitchFamily="18" charset="0"/>
                <a:cs typeface="Times New Roman" pitchFamily="18" charset="0"/>
              </a:rPr>
              <a:t>Cushioning </a:t>
            </a:r>
            <a:r>
              <a:rPr lang="en-US" altLang="ko-KR" sz="950" smtClean="0">
                <a:latin typeface="Arial Narrow" pitchFamily="34" charset="0"/>
                <a:cs typeface="Times New Roman" pitchFamily="18" charset="0"/>
              </a:rPr>
              <a:t>	                      </a:t>
            </a:r>
            <a:r>
              <a:rPr lang="en-US" altLang="ko-KR" sz="950" smtClean="0">
                <a:solidFill>
                  <a:srgbClr val="000000"/>
                </a:solidFill>
                <a:latin typeface="Arial Narrow" pitchFamily="34" charset="0"/>
                <a:ea typeface="LG Smart_H Regular" panose="020B0600000101010101" pitchFamily="34" charset="-127"/>
                <a:cs typeface="Times New Roman" pitchFamily="18" charset="0"/>
              </a:rPr>
              <a:t>B</a:t>
            </a:r>
            <a:r>
              <a:rPr lang="en-US" altLang="ko-KR" sz="950">
                <a:solidFill>
                  <a:srgbClr val="000000"/>
                </a:solidFill>
                <a:latin typeface="Arial Narrow" pitchFamily="34" charset="0"/>
                <a:ea typeface="LG Smart_H Regular" panose="020B0600000101010101" pitchFamily="34" charset="-127"/>
                <a:cs typeface="Times New Roman" pitchFamily="18" charset="0"/>
              </a:rPr>
              <a:t>. Piston </a:t>
            </a:r>
            <a:r>
              <a:rPr lang="en-US" altLang="ko-KR" sz="950" smtClean="0">
                <a:solidFill>
                  <a:srgbClr val="000000"/>
                </a:solidFill>
                <a:latin typeface="Arial Narrow" pitchFamily="34" charset="0"/>
                <a:ea typeface="LG Smart_H Regular" panose="020B0600000101010101" pitchFamily="34" charset="-127"/>
                <a:cs typeface="Times New Roman" pitchFamily="18" charset="0"/>
              </a:rPr>
              <a:t>rod</a:t>
            </a:r>
            <a:endParaRPr lang="ko-KR" altLang="en-US" sz="950" smtClean="0">
              <a:solidFill>
                <a:srgbClr val="000000"/>
              </a:solidFill>
              <a:latin typeface="Arial Narrow" pitchFamily="34" charset="0"/>
              <a:ea typeface="LG Smart_H Regular" panose="020B0600000101010101" pitchFamily="34" charset="-127"/>
              <a:cs typeface="Times New Roman" pitchFamily="18" charset="0"/>
            </a:endParaRPr>
          </a:p>
          <a:p>
            <a:pPr eaLnBrk="1" fontAlgn="base" hangingPunct="1">
              <a:spcBef>
                <a:spcPct val="0"/>
              </a:spcBef>
              <a:spcAft>
                <a:spcPct val="0"/>
              </a:spcAft>
            </a:pPr>
            <a:r>
              <a:rPr lang="ko-KR" altLang="en-US" sz="950" smtClean="0">
                <a:latin typeface="Arial Narrow" pitchFamily="34" charset="0"/>
                <a:ea typeface="LG Smart_H Regular" panose="020B0600000101010101" pitchFamily="34" charset="-127"/>
                <a:cs typeface="Times New Roman" pitchFamily="18" charset="0"/>
              </a:rPr>
              <a:t> </a:t>
            </a:r>
            <a:r>
              <a:rPr lang="en-US" altLang="ko-KR" sz="950" smtClean="0">
                <a:solidFill>
                  <a:srgbClr val="FF0000"/>
                </a:solidFill>
                <a:latin typeface="Arial Narrow" pitchFamily="34" charset="0"/>
                <a:ea typeface="LG Smart_H Regular" panose="020B0600000101010101" pitchFamily="34" charset="-127"/>
                <a:cs typeface="Times New Roman" pitchFamily="18" charset="0"/>
              </a:rPr>
              <a:t>C. </a:t>
            </a:r>
            <a:r>
              <a:rPr lang="vi-VN" altLang="ko-KR" sz="950" smtClean="0">
                <a:solidFill>
                  <a:srgbClr val="FF0000"/>
                </a:solidFill>
                <a:latin typeface="Times New Roman" pitchFamily="18" charset="0"/>
                <a:cs typeface="Times New Roman" pitchFamily="18" charset="0"/>
              </a:rPr>
              <a:t>Piston </a:t>
            </a:r>
            <a:r>
              <a:rPr lang="en-US" altLang="ko-KR" sz="950" smtClean="0">
                <a:latin typeface="Arial Narrow" pitchFamily="34" charset="0"/>
                <a:cs typeface="Times New Roman" pitchFamily="18" charset="0"/>
              </a:rPr>
              <a:t>	                      </a:t>
            </a:r>
            <a:r>
              <a:rPr lang="en-US" altLang="ko-KR" sz="950" smtClean="0">
                <a:solidFill>
                  <a:srgbClr val="000000"/>
                </a:solidFill>
                <a:latin typeface="Arial Narrow" pitchFamily="34" charset="0"/>
                <a:ea typeface="LG Smart_H Regular" panose="020B0600000101010101" pitchFamily="34" charset="-127"/>
                <a:cs typeface="Times New Roman" pitchFamily="18" charset="0"/>
              </a:rPr>
              <a:t>D.</a:t>
            </a:r>
            <a:r>
              <a:rPr lang="vi-VN" altLang="ko-KR" sz="950">
                <a:solidFill>
                  <a:srgbClr val="000000"/>
                </a:solidFill>
                <a:latin typeface="Times New Roman" pitchFamily="18" charset="0"/>
                <a:ea typeface="LG Smart_H Regular" panose="020B0600000101010101" pitchFamily="34" charset="-127"/>
                <a:cs typeface="Times New Roman" pitchFamily="18" charset="0"/>
              </a:rPr>
              <a:t> Bearing bush</a:t>
            </a:r>
          </a:p>
          <a:p>
            <a:pPr eaLnBrk="1" fontAlgn="base" hangingPunct="1">
              <a:spcBef>
                <a:spcPct val="0"/>
              </a:spcBef>
              <a:spcAft>
                <a:spcPct val="0"/>
              </a:spcAft>
            </a:pPr>
            <a:endParaRPr lang="ko-KR" altLang="en-US" sz="950" dirty="0">
              <a:solidFill>
                <a:srgbClr val="000000"/>
              </a:solidFill>
              <a:latin typeface="Arial Narrow" pitchFamily="34" charset="0"/>
              <a:ea typeface="LG Smart_H Regular" panose="020B0600000101010101" pitchFamily="34" charset="-127"/>
              <a:cs typeface="Times New Roman" pitchFamily="18" charset="0"/>
            </a:endParaRPr>
          </a:p>
        </p:txBody>
      </p:sp>
      <p:sp>
        <p:nvSpPr>
          <p:cNvPr id="34" name="Rectangle 28"/>
          <p:cNvSpPr>
            <a:spLocks noChangeArrowheads="1"/>
          </p:cNvSpPr>
          <p:nvPr/>
        </p:nvSpPr>
        <p:spPr bwMode="auto">
          <a:xfrm>
            <a:off x="3454570" y="1064568"/>
            <a:ext cx="3110096"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marL="109538" indent="-109538" eaLnBrk="1" fontAlgn="base" hangingPunct="1">
              <a:spcBef>
                <a:spcPct val="0"/>
              </a:spcBef>
              <a:spcAft>
                <a:spcPct val="0"/>
              </a:spcAft>
            </a:pPr>
            <a:r>
              <a:rPr lang="en-US" altLang="ko-KR" sz="950">
                <a:solidFill>
                  <a:srgbClr val="000000"/>
                </a:solidFill>
                <a:latin typeface="Arial Narrow" pitchFamily="34" charset="0"/>
                <a:ea typeface="LG Smart_H Regular" panose="020B0600000101010101" pitchFamily="34" charset="-127"/>
                <a:cs typeface="Times New Roman" pitchFamily="18" charset="0"/>
              </a:rPr>
              <a:t>5</a:t>
            </a:r>
            <a:r>
              <a:rPr lang="en-US" altLang="ko-KR" sz="950" smtClean="0">
                <a:solidFill>
                  <a:srgbClr val="000000"/>
                </a:solidFill>
                <a:latin typeface="Arial Narrow" pitchFamily="34" charset="0"/>
                <a:ea typeface="LG Smart_H Regular" panose="020B0600000101010101" pitchFamily="34" charset="-127"/>
                <a:cs typeface="Times New Roman" pitchFamily="18" charset="0"/>
              </a:rPr>
              <a:t>6.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Đâu </a:t>
            </a:r>
            <a:r>
              <a:rPr lang="vi-VN" altLang="ko-KR" sz="950" b="1" dirty="0">
                <a:solidFill>
                  <a:srgbClr val="000000"/>
                </a:solidFill>
                <a:latin typeface="Times New Roman" pitchFamily="18" charset="0"/>
                <a:ea typeface="LG Smart_H Regular" panose="020B0600000101010101" pitchFamily="34" charset="-127"/>
                <a:cs typeface="Times New Roman" pitchFamily="18" charset="0"/>
              </a:rPr>
              <a:t>không phải </a:t>
            </a:r>
            <a:r>
              <a:rPr lang="vi-VN" altLang="ko-KR" sz="950" dirty="0">
                <a:solidFill>
                  <a:srgbClr val="000000"/>
                </a:solidFill>
                <a:latin typeface="Times New Roman" pitchFamily="18" charset="0"/>
                <a:ea typeface="LG Smart_H Regular" panose="020B0600000101010101" pitchFamily="34" charset="-127"/>
                <a:cs typeface="Times New Roman" pitchFamily="18" charset="0"/>
              </a:rPr>
              <a:t>là đặc tính của máy nén Screw nén không khí sử dụng nguyên lí thay đổi </a:t>
            </a:r>
            <a:r>
              <a:rPr lang="vi-VN" altLang="ko-KR" sz="950">
                <a:solidFill>
                  <a:srgbClr val="000000"/>
                </a:solidFill>
                <a:latin typeface="Times New Roman" pitchFamily="18" charset="0"/>
                <a:ea typeface="LG Smart_H Regular" panose="020B0600000101010101" pitchFamily="34" charset="-127"/>
                <a:cs typeface="Times New Roman" pitchFamily="18" charset="0"/>
              </a:rPr>
              <a:t>tối ưu</a:t>
            </a:r>
            <a:r>
              <a:rPr lang="en-US" altLang="ko-KR" sz="950" dirty="0">
                <a:solidFill>
                  <a:srgbClr val="000000"/>
                </a:solidFill>
                <a:latin typeface="Arial Narrow" pitchFamily="34" charset="0"/>
                <a:ea typeface="LG Smart_H Regular" panose="020B0600000101010101" pitchFamily="34" charset="-127"/>
                <a:cs typeface="Times New Roman" pitchFamily="18" charset="0"/>
              </a:rPr>
              <a:t> </a:t>
            </a:r>
            <a:r>
              <a:rPr lang="en-US" altLang="ko-KR" sz="950">
                <a:solidFill>
                  <a:srgbClr val="000000"/>
                </a:solidFill>
                <a:latin typeface="Arial Narrow" pitchFamily="34" charset="0"/>
                <a:ea typeface="LG Smart_H Regular" panose="020B0600000101010101" pitchFamily="34" charset="-127"/>
                <a:cs typeface="Times New Roman" pitchFamily="18" charset="0"/>
              </a:rPr>
              <a:t>?        </a:t>
            </a:r>
            <a:endParaRPr lang="en-US" altLang="ko-KR" sz="950" dirty="0">
              <a:solidFill>
                <a:srgbClr val="000000"/>
              </a:solidFill>
              <a:latin typeface="Arial Narrow" pitchFamily="34"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Tiếng </a:t>
            </a:r>
            <a:r>
              <a:rPr lang="vi-VN" altLang="ko-KR" sz="950" dirty="0">
                <a:solidFill>
                  <a:srgbClr val="000000"/>
                </a:solidFill>
                <a:latin typeface="Times New Roman" pitchFamily="18" charset="0"/>
                <a:ea typeface="LG Smart_H Regular" panose="020B0600000101010101" pitchFamily="34" charset="-127"/>
                <a:cs typeface="Times New Roman" pitchFamily="18" charset="0"/>
              </a:rPr>
              <a:t>ồn tần số thấp và dễ dàng </a:t>
            </a:r>
            <a:r>
              <a:rPr lang="vi-VN" altLang="ko-KR" sz="950">
                <a:solidFill>
                  <a:srgbClr val="000000"/>
                </a:solidFill>
                <a:latin typeface="Times New Roman" pitchFamily="18" charset="0"/>
                <a:ea typeface="LG Smart_H Regular" panose="020B0600000101010101" pitchFamily="34" charset="-127"/>
                <a:cs typeface="Times New Roman" pitchFamily="18" charset="0"/>
              </a:rPr>
              <a:t>loại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bỏ</a:t>
            </a:r>
            <a:endParaRPr lang="en-US" altLang="ko-KR" sz="950" dirty="0">
              <a:solidFill>
                <a:srgbClr val="000000"/>
              </a:solidFill>
              <a:latin typeface="Arial Narrow" pitchFamily="34"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sz="950">
                <a:solidFill>
                  <a:srgbClr val="000000"/>
                </a:solidFill>
                <a:latin typeface="Times New Roman" pitchFamily="18" charset="0"/>
                <a:ea typeface="LG Smart_H Regular" panose="020B0600000101010101" pitchFamily="34" charset="-127"/>
                <a:cs typeface="Times New Roman" pitchFamily="18" charset="0"/>
              </a:rPr>
              <a:t>Không rung và không cần Tank Air</a:t>
            </a:r>
            <a:r>
              <a:rPr lang="en-US" sz="950" dirty="0">
                <a:solidFill>
                  <a:srgbClr val="000000"/>
                </a:solidFill>
                <a:latin typeface="Arial Narrow" pitchFamily="34" charset="0"/>
                <a:ea typeface="LG Smart_H Regular" panose="020B0600000101010101" pitchFamily="34" charset="-127"/>
                <a:cs typeface="Times New Roman" pitchFamily="18" charset="0"/>
              </a:rPr>
              <a:t> </a:t>
            </a:r>
            <a:r>
              <a:rPr lang="vi-VN" sz="950">
                <a:solidFill>
                  <a:srgbClr val="000000"/>
                </a:solidFill>
                <a:latin typeface="Times New Roman" pitchFamily="18" charset="0"/>
                <a:ea typeface="LG Smart_H Regular" panose="020B0600000101010101" pitchFamily="34" charset="-127"/>
                <a:cs typeface="Times New Roman" pitchFamily="18" charset="0"/>
              </a:rPr>
              <a:t>lớn</a:t>
            </a:r>
            <a:r>
              <a:rPr lang="en-US" sz="950" dirty="0">
                <a:solidFill>
                  <a:srgbClr val="000000"/>
                </a:solidFill>
                <a:latin typeface="Arial Narrow" pitchFamily="34" charset="0"/>
                <a:ea typeface="LG Smart_H Regular" panose="020B0600000101010101" pitchFamily="34" charset="-127"/>
                <a:cs typeface="Times New Roman" pitchFamily="18" charset="0"/>
              </a:rPr>
              <a:t> </a:t>
            </a:r>
            <a:endParaRPr lang="en-US" sz="950" dirty="0" smtClean="0">
              <a:solidFill>
                <a:srgbClr val="000000"/>
              </a:solidFill>
              <a:latin typeface="Arial Narrow" pitchFamily="34"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r>
              <a:rPr lang="vi-VN" sz="950" smtClean="0">
                <a:solidFill>
                  <a:srgbClr val="000000"/>
                </a:solidFill>
                <a:latin typeface="Times New Roman" pitchFamily="18" charset="0"/>
                <a:ea typeface="LG Smart_H Regular" panose="020B0600000101010101" pitchFamily="34" charset="-127"/>
                <a:cs typeface="Times New Roman" pitchFamily="18" charset="0"/>
              </a:rPr>
              <a:t>Bên </a:t>
            </a:r>
            <a:r>
              <a:rPr lang="vi-VN" sz="950" dirty="0">
                <a:solidFill>
                  <a:srgbClr val="000000"/>
                </a:solidFill>
                <a:latin typeface="Times New Roman" pitchFamily="18" charset="0"/>
                <a:ea typeface="LG Smart_H Regular" panose="020B0600000101010101" pitchFamily="34" charset="-127"/>
                <a:cs typeface="Times New Roman" pitchFamily="18" charset="0"/>
              </a:rPr>
              <a:t>trong máy nén có ít  nhiễu </a:t>
            </a:r>
            <a:r>
              <a:rPr lang="vi-VN" sz="950">
                <a:solidFill>
                  <a:srgbClr val="000000"/>
                </a:solidFill>
                <a:latin typeface="Times New Roman" pitchFamily="18" charset="0"/>
                <a:ea typeface="LG Smart_H Regular" panose="020B0600000101010101" pitchFamily="34" charset="-127"/>
                <a:cs typeface="Times New Roman" pitchFamily="18" charset="0"/>
              </a:rPr>
              <a:t>loạn </a:t>
            </a:r>
            <a:r>
              <a:rPr lang="vi-VN" sz="950" smtClean="0">
                <a:solidFill>
                  <a:srgbClr val="000000"/>
                </a:solidFill>
                <a:latin typeface="Times New Roman" pitchFamily="18" charset="0"/>
                <a:ea typeface="LG Smart_H Regular" panose="020B0600000101010101" pitchFamily="34" charset="-127"/>
                <a:cs typeface="Times New Roman" pitchFamily="18" charset="0"/>
              </a:rPr>
              <a:t>nên</a:t>
            </a:r>
            <a:r>
              <a:rPr lang="en-US" sz="950" smtClean="0">
                <a:solidFill>
                  <a:srgbClr val="000000"/>
                </a:solidFill>
                <a:latin typeface="Arial Narrow" pitchFamily="34" charset="0"/>
                <a:ea typeface="LG Smart_H Regular" panose="020B0600000101010101" pitchFamily="34" charset="-127"/>
                <a:cs typeface="Times New Roman" pitchFamily="18" charset="0"/>
              </a:rPr>
              <a:t> </a:t>
            </a:r>
            <a:r>
              <a:rPr lang="vi-VN" sz="950" smtClean="0">
                <a:solidFill>
                  <a:srgbClr val="000000"/>
                </a:solidFill>
                <a:latin typeface="Times New Roman" pitchFamily="18" charset="0"/>
                <a:ea typeface="LG Smart_H Regular" panose="020B0600000101010101" pitchFamily="34" charset="-127"/>
                <a:cs typeface="Times New Roman" pitchFamily="18" charset="0"/>
              </a:rPr>
              <a:t>không cần</a:t>
            </a:r>
            <a:r>
              <a:rPr lang="en-US" sz="950" smtClean="0">
                <a:solidFill>
                  <a:srgbClr val="000000"/>
                </a:solidFill>
                <a:latin typeface="Arial Narrow" pitchFamily="34" charset="0"/>
                <a:ea typeface="LG Smart_H Regular" panose="020B0600000101010101" pitchFamily="34" charset="-127"/>
                <a:cs typeface="Times New Roman" pitchFamily="18" charset="0"/>
              </a:rPr>
              <a:t> </a:t>
            </a:r>
            <a:r>
              <a:rPr lang="vi-VN" sz="950" smtClean="0">
                <a:solidFill>
                  <a:srgbClr val="000000"/>
                </a:solidFill>
                <a:latin typeface="Times New Roman" pitchFamily="18" charset="0"/>
                <a:ea typeface="LG Smart_H Regular" panose="020B0600000101010101" pitchFamily="34" charset="-127"/>
                <a:cs typeface="Times New Roman" pitchFamily="18" charset="0"/>
              </a:rPr>
              <a:t>bôi trơn</a:t>
            </a:r>
            <a:endParaRPr lang="en-US" sz="950" smtClean="0">
              <a:solidFill>
                <a:srgbClr val="000000"/>
              </a:solidFill>
              <a:latin typeface="Arial Narrow" pitchFamily="34"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Arial Narrow" pitchFamily="34" charset="0"/>
                <a:ea typeface="LG Smart_H Regular" panose="020B0600000101010101" pitchFamily="34" charset="-127"/>
                <a:cs typeface="Times New Roman" pitchFamily="18" charset="0"/>
              </a:rPr>
              <a:t>D.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Có </a:t>
            </a:r>
            <a:r>
              <a:rPr lang="vi-VN" altLang="ko-KR" sz="950">
                <a:solidFill>
                  <a:srgbClr val="FF0000"/>
                </a:solidFill>
                <a:latin typeface="Times New Roman" pitchFamily="18" charset="0"/>
                <a:ea typeface="LG Smart_H Regular" panose="020B0600000101010101" pitchFamily="34" charset="-127"/>
                <a:cs typeface="Times New Roman" pitchFamily="18" charset="0"/>
              </a:rPr>
              <a:t>thể tạo ra áp suất lớn và khả năng quay tốc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độ</a:t>
            </a:r>
            <a:r>
              <a:rPr lang="en-US" altLang="ko-KR" sz="950" smtClean="0">
                <a:solidFill>
                  <a:srgbClr val="FF0000"/>
                </a:solidFill>
                <a:latin typeface="Arial Narrow" pitchFamily="34" charset="0"/>
                <a:ea typeface="LG Smart_H Regular" panose="020B0600000101010101" pitchFamily="34" charset="-127"/>
                <a:cs typeface="Times New Roman" pitchFamily="18" charset="0"/>
              </a:rPr>
              <a:t>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cao</a:t>
            </a:r>
            <a:endParaRPr lang="en-US" altLang="ko-KR" sz="950">
              <a:solidFill>
                <a:srgbClr val="000000"/>
              </a:solidFill>
              <a:latin typeface="Arial Narrow" pitchFamily="34"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Font typeface="+mj-lt"/>
              <a:buAutoNum type="alphaUcPeriod"/>
            </a:pPr>
            <a:endParaRPr lang="ko-KR" altLang="en-US" sz="950" dirty="0">
              <a:solidFill>
                <a:srgbClr val="000000"/>
              </a:solidFill>
              <a:latin typeface="Arial Narrow" pitchFamily="34"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152631223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37" name="Rectangle 7"/>
          <p:cNvSpPr>
            <a:spLocks noChangeArrowheads="1"/>
          </p:cNvSpPr>
          <p:nvPr/>
        </p:nvSpPr>
        <p:spPr bwMode="auto">
          <a:xfrm>
            <a:off x="184150" y="2608613"/>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Coupling nào mặt ngoài hình tròn và bên trong có một lỗ tròn. Mặt ngoài được gắn 3 bolt dài và sau đó được cố định bằng feather </a:t>
            </a:r>
            <a:r>
              <a:rPr lang="vi-VN" altLang="ko-KR" sz="950" smtClean="0">
                <a:latin typeface="Times New Roman" pitchFamily="18" charset="0"/>
                <a:ea typeface="LG Smart_H Regular" panose="020B0600000101010101" pitchFamily="34" charset="-127"/>
                <a:cs typeface="Times New Roman" pitchFamily="18" charset="0"/>
              </a:rPr>
              <a:t>key?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Clamp </a:t>
            </a:r>
            <a:r>
              <a:rPr lang="vi-VN" altLang="ko-KR" sz="950" smtClean="0">
                <a:latin typeface="Times New Roman" pitchFamily="18" charset="0"/>
                <a:ea typeface="LG Smart_H Regular" panose="020B0600000101010101" pitchFamily="34" charset="-127"/>
                <a:cs typeface="Times New Roman" pitchFamily="18" charset="0"/>
              </a:rPr>
              <a:t>Coupling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Seller’s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Coupling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Muff </a:t>
            </a:r>
            <a:r>
              <a:rPr lang="vi-VN" altLang="ko-KR" sz="950" smtClean="0">
                <a:latin typeface="Times New Roman" pitchFamily="18" charset="0"/>
                <a:ea typeface="LG Smart_H Regular" panose="020B0600000101010101" pitchFamily="34" charset="-127"/>
                <a:cs typeface="Times New Roman" pitchFamily="18" charset="0"/>
              </a:rPr>
              <a:t>coupling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Universal </a:t>
            </a:r>
            <a:r>
              <a:rPr lang="en-US" altLang="ko-KR" sz="950" smtClean="0">
                <a:latin typeface="Times New Roman" pitchFamily="18" charset="0"/>
                <a:ea typeface="LG Smart_H Regular" panose="020B0600000101010101" pitchFamily="34" charset="-127"/>
                <a:cs typeface="Times New Roman" pitchFamily="18" charset="0"/>
              </a:rPr>
              <a:t>Coupling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Đâu không phải ưu điểm của đai Belt hình chữ </a:t>
            </a:r>
            <a:r>
              <a:rPr lang="vi-VN" altLang="ko-KR" sz="950" smtClean="0">
                <a:latin typeface="Times New Roman" pitchFamily="18" charset="0"/>
                <a:ea typeface="LG Smart_H Regular" panose="020B0600000101010101" pitchFamily="34" charset="-127"/>
                <a:cs typeface="Times New Roman" pitchFamily="18" charset="0"/>
              </a:rPr>
              <a:t>V?</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Độ dài của belt có thể thay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đổi</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Không cần lo lắng belt bị tuột ra </a:t>
            </a:r>
            <a:r>
              <a:rPr lang="en-US" altLang="ko-KR" sz="950" smtClean="0">
                <a:latin typeface="Times New Roman" pitchFamily="18" charset="0"/>
                <a:ea typeface="LG Smart_H Regular" panose="020B0600000101010101" pitchFamily="34" charset="-127"/>
                <a:cs typeface="Times New Roman" pitchFamily="18" charset="0"/>
              </a:rPr>
              <a:t>ngoài</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Hiệu suất truyền có thể đạt 99</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lắp đặt tại nơi chật hẹp</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Chi tiết nào được lắp trong LM Block giúp tuần hoàn nhiệt của </a:t>
            </a:r>
            <a:r>
              <a:rPr lang="vi-VN" altLang="ko-KR" sz="950" smtClean="0">
                <a:latin typeface="Times New Roman" pitchFamily="18" charset="0"/>
                <a:ea typeface="LG Smart_H Regular" panose="020B0600000101010101" pitchFamily="34" charset="-127"/>
                <a:cs typeface="Times New Roman" pitchFamily="18" charset="0"/>
              </a:rPr>
              <a:t>Ball?</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End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Plate</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LM </a:t>
            </a:r>
            <a:r>
              <a:rPr lang="vi-VN" altLang="ko-KR" sz="950" smtClean="0">
                <a:latin typeface="Times New Roman" pitchFamily="18" charset="0"/>
                <a:ea typeface="LG Smart_H Regular" panose="020B0600000101010101" pitchFamily="34" charset="-127"/>
                <a:cs typeface="Times New Roman" pitchFamily="18" charset="0"/>
              </a:rPr>
              <a:t>Rail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End </a:t>
            </a:r>
            <a:r>
              <a:rPr lang="vi-VN" altLang="ko-KR" sz="950" smtClean="0">
                <a:latin typeface="Times New Roman" pitchFamily="18" charset="0"/>
                <a:ea typeface="LG Smart_H Regular" panose="020B0600000101010101" pitchFamily="34" charset="-127"/>
                <a:cs typeface="Times New Roman" pitchFamily="18" charset="0"/>
              </a:rPr>
              <a:t>Seal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Base Plate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17858" y="4428872"/>
            <a:ext cx="3251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Đâu không phải những đặc tính thông thường của d</a:t>
            </a:r>
            <a:r>
              <a:rPr lang="vi-VN" altLang="ko-KR" sz="950" smtClean="0">
                <a:latin typeface="Times New Roman" pitchFamily="18" charset="0"/>
                <a:ea typeface="LG Smart_H Regular" panose="020B0600000101010101" pitchFamily="34" charset="-127"/>
                <a:cs typeface="Times New Roman" pitchFamily="18" charset="0"/>
              </a:rPr>
              <a:t>ầu </a:t>
            </a:r>
            <a:r>
              <a:rPr lang="vi-VN" altLang="ko-KR" sz="950">
                <a:latin typeface="Times New Roman" pitchFamily="18" charset="0"/>
                <a:ea typeface="LG Smart_H Regular" panose="020B0600000101010101" pitchFamily="34" charset="-127"/>
                <a:cs typeface="Times New Roman" pitchFamily="18" charset="0"/>
              </a:rPr>
              <a:t>bôi trơn dạng </a:t>
            </a:r>
            <a:r>
              <a:rPr lang="vi-VN" altLang="ko-KR" sz="950" smtClean="0">
                <a:latin typeface="Times New Roman" pitchFamily="18" charset="0"/>
                <a:ea typeface="LG Smart_H Regular" panose="020B0600000101010101" pitchFamily="34" charset="-127"/>
                <a:cs typeface="Times New Roman" pitchFamily="18" charset="0"/>
              </a:rPr>
              <a:t>lỏng?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độ dính đủ cần trong trạng thái sử dụng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tính dầu có thể chịu </a:t>
            </a:r>
            <a:r>
              <a:rPr lang="vi-VN" altLang="ko-KR" sz="950" smtClean="0">
                <a:latin typeface="Times New Roman" pitchFamily="18" charset="0"/>
                <a:ea typeface="LG Smart_H Regular" panose="020B0600000101010101" pitchFamily="34" charset="-127"/>
                <a:cs typeface="Times New Roman" pitchFamily="18" charset="0"/>
              </a:rPr>
              <a:t>được </a:t>
            </a:r>
            <a:r>
              <a:rPr lang="en-US" altLang="ko-KR" sz="950" smtClean="0">
                <a:latin typeface="Times New Roman" pitchFamily="18" charset="0"/>
                <a:ea typeface="LG Smart_H Regular" panose="020B0600000101010101" pitchFamily="34" charset="-127"/>
                <a:cs typeface="Times New Roman" pitchFamily="18" charset="0"/>
              </a:rPr>
              <a:t>ở </a:t>
            </a:r>
            <a:r>
              <a:rPr lang="vi-VN" altLang="ko-KR" sz="950" smtClean="0">
                <a:latin typeface="Times New Roman" pitchFamily="18" charset="0"/>
                <a:ea typeface="LG Smart_H Regular" panose="020B0600000101010101" pitchFamily="34" charset="-127"/>
                <a:cs typeface="Times New Roman" pitchFamily="18" charset="0"/>
              </a:rPr>
              <a:t>trạng </a:t>
            </a:r>
            <a:r>
              <a:rPr lang="vi-VN" altLang="ko-KR" sz="950">
                <a:latin typeface="Times New Roman" pitchFamily="18" charset="0"/>
                <a:ea typeface="LG Smart_H Regular" panose="020B0600000101010101" pitchFamily="34" charset="-127"/>
                <a:cs typeface="Times New Roman" pitchFamily="18" charset="0"/>
              </a:rPr>
              <a:t>thái bôi trơn </a:t>
            </a:r>
            <a:r>
              <a:rPr lang="vi-VN" altLang="ko-KR" sz="950" smtClean="0">
                <a:latin typeface="Times New Roman" pitchFamily="18" charset="0"/>
                <a:ea typeface="LG Smart_H Regular" panose="020B0600000101010101" pitchFamily="34" charset="-127"/>
                <a:cs typeface="Times New Roman" pitchFamily="18" charset="0"/>
              </a:rPr>
              <a:t>giới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hạn.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bền ô xi hóa và nhiệt cao, mang tính trơ hóa học có thể, sạch mà đồng chất</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Chất làm cô đặc</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40" name="Rectangle 7"/>
          <p:cNvSpPr>
            <a:spLocks noChangeArrowheads="1"/>
          </p:cNvSpPr>
          <p:nvPr/>
        </p:nvSpPr>
        <p:spPr bwMode="auto">
          <a:xfrm>
            <a:off x="228600" y="616162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Đâu không phải là đặc điểm của khóa Key bán nguyệt (woodruff key</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Dễ dàng lắp đặt và sửa </a:t>
            </a:r>
            <a:r>
              <a:rPr lang="vi-VN" altLang="ko-KR" sz="950" smtClean="0">
                <a:latin typeface="Times New Roman" pitchFamily="18" charset="0"/>
                <a:ea typeface="LG Smart_H Regular" panose="020B0600000101010101" pitchFamily="34" charset="-127"/>
                <a:cs typeface="Times New Roman" pitchFamily="18" charset="0"/>
              </a:rPr>
              <a:t>chữa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Do home sâu nên làm giảm độ bền của trục.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dạng khóa hình bán nguyệt thường dùng trên các trục nhỏ(60mm trở xuống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Thường dùng trong trục chính của xe ô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tô</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29" name="Rectangle 7"/>
          <p:cNvSpPr>
            <a:spLocks noChangeArrowheads="1"/>
          </p:cNvSpPr>
          <p:nvPr/>
        </p:nvSpPr>
        <p:spPr bwMode="auto">
          <a:xfrm>
            <a:off x="3409102" y="6393160"/>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a:t>
            </a:r>
            <a:r>
              <a:rPr lang="vi-VN" altLang="ko-KR" sz="950">
                <a:latin typeface="Times New Roman" pitchFamily="18" charset="0"/>
                <a:ea typeface="LG Smart_H Regular" panose="020B0600000101010101" pitchFamily="34" charset="-127"/>
                <a:cs typeface="Times New Roman" pitchFamily="18" charset="0"/>
              </a:rPr>
              <a:t>Đâu là đặc điểm không đúng của bôi trơn </a:t>
            </a:r>
            <a:r>
              <a:rPr lang="vi-VN" altLang="ko-KR" sz="950" smtClean="0">
                <a:latin typeface="Times New Roman" pitchFamily="18" charset="0"/>
                <a:ea typeface="LG Smart_H Regular" panose="020B0600000101010101" pitchFamily="34" charset="-127"/>
                <a:cs typeface="Times New Roman" pitchFamily="18" charset="0"/>
              </a:rPr>
              <a:t>Dầu?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Hệ thống bôi trơn đơn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giản</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Lượng dầu cần </a:t>
            </a:r>
            <a:r>
              <a:rPr lang="vi-VN" altLang="ko-KR" sz="950" smtClean="0">
                <a:latin typeface="Times New Roman" pitchFamily="18" charset="0"/>
                <a:ea typeface="LG Smart_H Regular" panose="020B0600000101010101" pitchFamily="34" charset="-127"/>
                <a:cs typeface="Times New Roman" pitchFamily="18" charset="0"/>
              </a:rPr>
              <a:t>nhiều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Thiết bị bịt kín phức </a:t>
            </a:r>
            <a:r>
              <a:rPr lang="en-US" altLang="ko-KR" sz="950" smtClean="0">
                <a:latin typeface="Times New Roman" pitchFamily="18" charset="0"/>
                <a:ea typeface="LG Smart_H Regular" panose="020B0600000101010101" pitchFamily="34" charset="-127"/>
                <a:cs typeface="Times New Roman" pitchFamily="18" charset="0"/>
              </a:rPr>
              <a:t>tạp</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liên tục loại bỏ tạp chất</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28" name="Rectangle 7"/>
          <p:cNvSpPr>
            <a:spLocks noChangeArrowheads="1"/>
          </p:cNvSpPr>
          <p:nvPr/>
        </p:nvSpPr>
        <p:spPr bwMode="auto">
          <a:xfrm>
            <a:off x="176490" y="4415552"/>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Đâu không phải đặc điểm của vòng bi Angular ball </a:t>
            </a:r>
            <a:r>
              <a:rPr lang="vi-VN" altLang="ko-KR" sz="950" smtClean="0">
                <a:latin typeface="Times New Roman" pitchFamily="18" charset="0"/>
                <a:ea typeface="LG Smart_H Regular" panose="020B0600000101010101" pitchFamily="34" charset="-127"/>
                <a:cs typeface="Times New Roman" pitchFamily="18" charset="0"/>
              </a:rPr>
              <a:t>bearing?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Bearing có tính chuẩn xác cao và tốc độ quay </a:t>
            </a:r>
            <a:r>
              <a:rPr lang="vi-VN" altLang="ko-KR" sz="950" smtClean="0">
                <a:latin typeface="Times New Roman" pitchFamily="18" charset="0"/>
                <a:ea typeface="LG Smart_H Regular" panose="020B0600000101010101" pitchFamily="34" charset="-127"/>
                <a:cs typeface="Times New Roman" pitchFamily="18" charset="0"/>
              </a:rPr>
              <a:t>lớn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So với loại tiêu chuẩn vòng bi một rãnh sâu thì có khả năng chịu tải cao hơn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Là hình thái đại diện cho Rolling Bearing và có mục đích sử dụng rộng.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chịu tải trong theo hướng dọc trục.</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 name="Group 2"/>
          <p:cNvGrpSpPr/>
          <p:nvPr/>
        </p:nvGrpSpPr>
        <p:grpSpPr>
          <a:xfrm>
            <a:off x="163884" y="8193360"/>
            <a:ext cx="3253973" cy="1067550"/>
            <a:chOff x="163884" y="8193360"/>
            <a:chExt cx="3253973" cy="1067550"/>
          </a:xfrm>
        </p:grpSpPr>
        <p:sp>
          <p:nvSpPr>
            <p:cNvPr id="42" name="Rectangle 7"/>
            <p:cNvSpPr>
              <a:spLocks noChangeArrowheads="1"/>
            </p:cNvSpPr>
            <p:nvPr/>
          </p:nvSpPr>
          <p:spPr bwMode="auto">
            <a:xfrm>
              <a:off x="163884" y="8193360"/>
              <a:ext cx="3253973"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Tên gọi của chốt ( Pin)  trong hình bên dưới </a:t>
              </a:r>
              <a:r>
                <a:rPr lang="vi-VN" altLang="ko-KR" sz="950" smtClean="0">
                  <a:latin typeface="Times New Roman" pitchFamily="18" charset="0"/>
                  <a:ea typeface="LG Smart_H Regular" panose="020B0600000101010101" pitchFamily="34" charset="-127"/>
                  <a:cs typeface="Times New Roman" pitchFamily="18" charset="0"/>
                </a:rPr>
                <a:t>là?</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Spring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pin</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Knuckle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Parallel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Split pin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30" name="Picture 29"/>
            <p:cNvPicPr>
              <a:picLocks noChangeAspect="1"/>
            </p:cNvPicPr>
            <p:nvPr/>
          </p:nvPicPr>
          <p:blipFill>
            <a:blip r:embed="rId3"/>
            <a:stretch>
              <a:fillRect/>
            </a:stretch>
          </p:blipFill>
          <p:spPr>
            <a:xfrm>
              <a:off x="1467879" y="8465802"/>
              <a:ext cx="1457065" cy="795108"/>
            </a:xfrm>
            <a:prstGeom prst="rect">
              <a:avLst/>
            </a:prstGeom>
          </p:spPr>
        </p:pic>
      </p:grpSp>
      <p:sp>
        <p:nvSpPr>
          <p:cNvPr id="21" name="Rectangle 7"/>
          <p:cNvSpPr>
            <a:spLocks noChangeArrowheads="1"/>
          </p:cNvSpPr>
          <p:nvPr/>
        </p:nvSpPr>
        <p:spPr bwMode="auto">
          <a:xfrm>
            <a:off x="188640" y="12085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Trong bảng tiêu chuẩn công nghiệp. Vậy đâu là ký hiệu tiêu chuẩn công nghiệp của Quốc </a:t>
            </a:r>
            <a:r>
              <a:rPr lang="vi-VN" altLang="ko-KR" sz="950" smtClean="0">
                <a:latin typeface="Times New Roman" pitchFamily="18" charset="0"/>
                <a:ea typeface="LG Smart_H Regular" panose="020B0600000101010101" pitchFamily="34" charset="-127"/>
                <a:cs typeface="Times New Roman" pitchFamily="18" charset="0"/>
              </a:rPr>
              <a:t>tế?</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BS.</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ISO.</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JIS</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ANSI</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3" name="Group 22"/>
          <p:cNvGrpSpPr/>
          <p:nvPr/>
        </p:nvGrpSpPr>
        <p:grpSpPr>
          <a:xfrm>
            <a:off x="3409102" y="7868815"/>
            <a:ext cx="3180502" cy="684585"/>
            <a:chOff x="3412579" y="6845605"/>
            <a:chExt cx="3180502" cy="684585"/>
          </a:xfrm>
        </p:grpSpPr>
        <p:sp>
          <p:nvSpPr>
            <p:cNvPr id="24" name="Rectangle 7"/>
            <p:cNvSpPr>
              <a:spLocks noChangeArrowheads="1"/>
            </p:cNvSpPr>
            <p:nvPr/>
          </p:nvSpPr>
          <p:spPr bwMode="auto">
            <a:xfrm>
              <a:off x="3412579" y="6845605"/>
              <a:ext cx="3180502"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Trong bảng quy đổi đơn vị đo chiều dài. Vậy 1Km sẽ gấp bao nhiêu lần </a:t>
              </a:r>
              <a:r>
                <a:rPr lang="vi-VN" altLang="ko-KR" sz="950" smtClean="0">
                  <a:latin typeface="Times New Roman" pitchFamily="18" charset="0"/>
                  <a:ea typeface="LG Smart_H Regular" panose="020B0600000101010101" pitchFamily="34" charset="-127"/>
                  <a:cs typeface="Times New Roman" pitchFamily="18" charset="0"/>
                </a:rPr>
                <a:t>mm?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B.                     </a:t>
              </a:r>
              <a:r>
                <a:rPr lang="en-US" altLang="ko-KR" sz="950" smtClean="0">
                  <a:latin typeface="Times New Roman" pitchFamily="18" charset="0"/>
                  <a:ea typeface="LG Smart_H Regular" panose="020B0600000101010101" pitchFamily="34" charset="-127"/>
                  <a:cs typeface="Times New Roman" pitchFamily="18" charset="0"/>
                </a:rPr>
                <a:t>C.                     D.</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5" name="Picture 24"/>
            <p:cNvPicPr>
              <a:picLocks noChangeAspect="1"/>
            </p:cNvPicPr>
            <p:nvPr/>
          </p:nvPicPr>
          <p:blipFill>
            <a:blip r:embed="rId4"/>
            <a:stretch>
              <a:fillRect/>
            </a:stretch>
          </p:blipFill>
          <p:spPr>
            <a:xfrm>
              <a:off x="4511582" y="7257256"/>
              <a:ext cx="357578" cy="247619"/>
            </a:xfrm>
            <a:prstGeom prst="rect">
              <a:avLst/>
            </a:prstGeom>
          </p:spPr>
        </p:pic>
        <p:pic>
          <p:nvPicPr>
            <p:cNvPr id="26" name="Picture 25"/>
            <p:cNvPicPr>
              <a:picLocks noChangeAspect="1"/>
            </p:cNvPicPr>
            <p:nvPr/>
          </p:nvPicPr>
          <p:blipFill>
            <a:blip r:embed="rId5"/>
            <a:stretch>
              <a:fillRect/>
            </a:stretch>
          </p:blipFill>
          <p:spPr>
            <a:xfrm>
              <a:off x="5264088" y="7287332"/>
              <a:ext cx="328972" cy="223810"/>
            </a:xfrm>
            <a:prstGeom prst="rect">
              <a:avLst/>
            </a:prstGeom>
          </p:spPr>
        </p:pic>
        <p:pic>
          <p:nvPicPr>
            <p:cNvPr id="27" name="Picture 26"/>
            <p:cNvPicPr>
              <a:picLocks noChangeAspect="1"/>
            </p:cNvPicPr>
            <p:nvPr/>
          </p:nvPicPr>
          <p:blipFill>
            <a:blip r:embed="rId6"/>
            <a:stretch>
              <a:fillRect/>
            </a:stretch>
          </p:blipFill>
          <p:spPr>
            <a:xfrm>
              <a:off x="6021288" y="7259998"/>
              <a:ext cx="376648" cy="261905"/>
            </a:xfrm>
            <a:prstGeom prst="rect">
              <a:avLst/>
            </a:prstGeom>
          </p:spPr>
        </p:pic>
        <p:pic>
          <p:nvPicPr>
            <p:cNvPr id="31" name="Picture 30"/>
            <p:cNvPicPr>
              <a:picLocks noChangeAspect="1"/>
            </p:cNvPicPr>
            <p:nvPr/>
          </p:nvPicPr>
          <p:blipFill>
            <a:blip r:embed="rId7"/>
            <a:stretch>
              <a:fillRect/>
            </a:stretch>
          </p:blipFill>
          <p:spPr>
            <a:xfrm>
              <a:off x="3645024" y="7273047"/>
              <a:ext cx="386184" cy="257143"/>
            </a:xfrm>
            <a:prstGeom prst="rect">
              <a:avLst/>
            </a:prstGeom>
          </p:spPr>
        </p:pic>
      </p:grpSp>
    </p:spTree>
    <p:extLst>
      <p:ext uri="{BB962C8B-B14F-4D97-AF65-F5344CB8AC3E}">
        <p14:creationId xmlns:p14="http://schemas.microsoft.com/office/powerpoint/2010/main" val="416005457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188640" y="809164"/>
            <a:ext cx="3258330"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sp>
        <p:nvSpPr>
          <p:cNvPr id="6" name="Rectangle 52"/>
          <p:cNvSpPr>
            <a:spLocks noChangeArrowheads="1"/>
          </p:cNvSpPr>
          <p:nvPr/>
        </p:nvSpPr>
        <p:spPr bwMode="auto">
          <a:xfrm>
            <a:off x="260648" y="1208584"/>
            <a:ext cx="3124200" cy="155427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1</a:t>
            </a:r>
            <a:r>
              <a:rPr lang="en-US" altLang="ko-KR" sz="950">
                <a:latin typeface="Times New Roman" pitchFamily="18" charset="0"/>
                <a:cs typeface="Times New Roman" pitchFamily="18" charset="0"/>
              </a:rPr>
              <a:t>. Dưới đây là giải nghĩa về một thuật ngữ thể hiện đặc tính của LM Block. Hãy chọn đáp án đúng điền </a:t>
            </a:r>
            <a:r>
              <a:rPr lang="en-US" altLang="ko-KR" sz="950" smtClean="0">
                <a:latin typeface="Times New Roman" pitchFamily="18" charset="0"/>
                <a:cs typeface="Times New Roman" pitchFamily="18" charset="0"/>
              </a:rPr>
              <a:t>vào</a:t>
            </a:r>
            <a:endParaRPr lang="en-US" altLang="ko-KR" sz="950">
              <a:latin typeface="Times New Roman" pitchFamily="18" charset="0"/>
              <a:cs typeface="Times New Roman" pitchFamily="18" charset="0"/>
            </a:endParaRPr>
          </a:p>
          <a:p>
            <a:r>
              <a:rPr lang="en-US" altLang="ko-KR" sz="950" smtClean="0">
                <a:latin typeface="Times New Roman" pitchFamily="18" charset="0"/>
                <a:cs typeface="Times New Roman" pitchFamily="18" charset="0"/>
              </a:rPr>
              <a:t>“Tải </a:t>
            </a:r>
            <a:r>
              <a:rPr lang="en-US" altLang="ko-KR" sz="950">
                <a:latin typeface="Times New Roman" pitchFamily="18" charset="0"/>
                <a:cs typeface="Times New Roman" pitchFamily="18" charset="0"/>
              </a:rPr>
              <a:t>trọng bên trong được cho trước vào phần truyền động với mục đích để </a:t>
            </a:r>
            <a:r>
              <a:rPr lang="en-US" altLang="ko-KR" sz="950" smtClean="0">
                <a:latin typeface="Times New Roman" pitchFamily="18" charset="0"/>
                <a:cs typeface="Times New Roman" pitchFamily="18" charset="0"/>
              </a:rPr>
              <a:t>tăng </a:t>
            </a:r>
            <a:r>
              <a:rPr lang="en-US" altLang="ko-KR" sz="950">
                <a:latin typeface="Times New Roman" pitchFamily="18" charset="0"/>
                <a:cs typeface="Times New Roman" pitchFamily="18" charset="0"/>
              </a:rPr>
              <a:t>tính mạnh cho LM Block và loại bỏ khe hở được gọi là </a:t>
            </a:r>
            <a:r>
              <a:rPr lang="en-US" altLang="ko-KR" sz="950" smtClean="0">
                <a:latin typeface="Times New Roman" pitchFamily="18" charset="0"/>
                <a:cs typeface="Times New Roman" pitchFamily="18" charset="0"/>
              </a:rPr>
              <a:t>gì?”.</a:t>
            </a:r>
            <a:endParaRPr lang="en-US" altLang="ko-KR" sz="950">
              <a:latin typeface="Times New Roman" pitchFamily="18" charset="0"/>
              <a:cs typeface="Times New Roman" pitchFamily="18" charset="0"/>
            </a:endParaRPr>
          </a:p>
          <a:p>
            <a:endParaRPr lang="en-US" altLang="ko-KR" sz="950">
              <a:latin typeface="Times New Roman" pitchFamily="18" charset="0"/>
              <a:cs typeface="Times New Roman" pitchFamily="18" charset="0"/>
            </a:endParaRPr>
          </a:p>
          <a:p>
            <a:pPr marL="228600" indent="-228600">
              <a:buAutoNum type="alphaUcPeriod"/>
            </a:pPr>
            <a:r>
              <a:rPr lang="en-US" altLang="ko-KR" sz="950" smtClean="0">
                <a:latin typeface="Times New Roman" pitchFamily="18" charset="0"/>
                <a:cs typeface="Times New Roman" pitchFamily="18" charset="0"/>
              </a:rPr>
              <a:t>Mô men xoắn</a:t>
            </a:r>
            <a:r>
              <a:rPr lang="ko-KR" altLang="en-US" sz="950" smtClean="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a:buAutoNum type="alphaUcPeriod"/>
            </a:pPr>
            <a:r>
              <a:rPr lang="en-US" altLang="ko-KR" sz="950" smtClean="0">
                <a:latin typeface="Times New Roman" pitchFamily="18" charset="0"/>
                <a:cs typeface="Times New Roman" pitchFamily="18" charset="0"/>
              </a:rPr>
              <a:t>Tính </a:t>
            </a:r>
            <a:r>
              <a:rPr lang="en-US" altLang="ko-KR" sz="950">
                <a:latin typeface="Times New Roman" pitchFamily="18" charset="0"/>
                <a:cs typeface="Times New Roman" pitchFamily="18" charset="0"/>
              </a:rPr>
              <a:t>mạnh</a:t>
            </a:r>
            <a:r>
              <a:rPr lang="ko-KR" altLang="en-US"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a:buAutoNum type="alphaUcPeriod"/>
            </a:pPr>
            <a:r>
              <a:rPr lang="en-US" altLang="ko-KR" sz="950" smtClean="0">
                <a:latin typeface="Times New Roman" pitchFamily="18" charset="0"/>
                <a:cs typeface="Times New Roman" pitchFamily="18" charset="0"/>
              </a:rPr>
              <a:t>Backlash</a:t>
            </a:r>
            <a:r>
              <a:rPr lang="ko-KR" altLang="en-US" sz="950" smtClean="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a:buAutoNum type="alphaUcPeriod"/>
            </a:pPr>
            <a:r>
              <a:rPr lang="en-US" altLang="ko-KR" sz="950" smtClean="0">
                <a:solidFill>
                  <a:srgbClr val="FF0000"/>
                </a:solidFill>
                <a:latin typeface="Times New Roman" pitchFamily="18" charset="0"/>
                <a:cs typeface="Times New Roman" pitchFamily="18" charset="0"/>
              </a:rPr>
              <a:t>Preloaded </a:t>
            </a:r>
            <a:endParaRPr lang="ko-KR" altLang="en-US" sz="950">
              <a:solidFill>
                <a:srgbClr val="FF0000"/>
              </a:solidFill>
              <a:latin typeface="Times New Roman" pitchFamily="18" charset="0"/>
              <a:cs typeface="Times New Roman" pitchFamily="18" charset="0"/>
            </a:endParaRPr>
          </a:p>
        </p:txBody>
      </p:sp>
      <p:grpSp>
        <p:nvGrpSpPr>
          <p:cNvPr id="7" name="Group 6"/>
          <p:cNvGrpSpPr/>
          <p:nvPr/>
        </p:nvGrpSpPr>
        <p:grpSpPr>
          <a:xfrm>
            <a:off x="260648" y="3224808"/>
            <a:ext cx="3124200" cy="965200"/>
            <a:chOff x="3429000" y="3851275"/>
            <a:chExt cx="3124200" cy="965200"/>
          </a:xfrm>
        </p:grpSpPr>
        <p:sp>
          <p:nvSpPr>
            <p:cNvPr id="8" name="Rectangle 53"/>
            <p:cNvSpPr>
              <a:spLocks noChangeArrowheads="1"/>
            </p:cNvSpPr>
            <p:nvPr/>
          </p:nvSpPr>
          <p:spPr bwMode="auto">
            <a:xfrm>
              <a:off x="3429000" y="3851275"/>
              <a:ext cx="3124200"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2</a:t>
              </a:r>
              <a:r>
                <a:rPr lang="en-US" altLang="ko-KR" sz="950">
                  <a:latin typeface="Times New Roman" pitchFamily="18" charset="0"/>
                  <a:ea typeface="돋움" pitchFamily="50" charset="-127"/>
                  <a:cs typeface="Times New Roman" pitchFamily="18" charset="0"/>
                </a:rPr>
                <a:t>. </a:t>
              </a:r>
              <a:r>
                <a:rPr lang="ko-KR" altLang="en-US" sz="950">
                  <a:latin typeface="Times New Roman" pitchFamily="18" charset="0"/>
                  <a:ea typeface="돋움" pitchFamily="50" charset="-127"/>
                  <a:cs typeface="Times New Roman" pitchFamily="18" charset="0"/>
                </a:rPr>
                <a:t>“</a:t>
              </a:r>
              <a:r>
                <a:rPr lang="en-US" altLang="ko-KR" sz="950">
                  <a:latin typeface="Times New Roman" pitchFamily="18" charset="0"/>
                  <a:ea typeface="돋움" pitchFamily="50" charset="-127"/>
                  <a:cs typeface="Times New Roman" pitchFamily="18" charset="0"/>
                </a:rPr>
                <a:t>A” ở hình dưới đây </a:t>
              </a:r>
              <a:r>
                <a:rPr lang="en-US" altLang="ko-KR" sz="950" smtClean="0">
                  <a:latin typeface="Times New Roman" pitchFamily="18" charset="0"/>
                  <a:ea typeface="돋움" pitchFamily="50" charset="-127"/>
                  <a:cs typeface="Times New Roman" pitchFamily="18" charset="0"/>
                </a:rPr>
                <a:t>được gọi </a:t>
              </a:r>
              <a:r>
                <a:rPr lang="en-US" altLang="ko-KR" sz="950">
                  <a:latin typeface="Times New Roman" pitchFamily="18" charset="0"/>
                  <a:ea typeface="돋움" pitchFamily="50" charset="-127"/>
                  <a:cs typeface="Times New Roman" pitchFamily="18" charset="0"/>
                </a:rPr>
                <a:t>là gì?</a:t>
              </a: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Phần kết nối</a:t>
              </a:r>
              <a:r>
                <a:rPr lang="ko-KR" altLang="en-US" sz="950">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Phần </a:t>
              </a:r>
              <a:r>
                <a:rPr lang="en-US" altLang="ko-KR" sz="950" smtClean="0">
                  <a:latin typeface="Times New Roman" pitchFamily="18" charset="0"/>
                  <a:ea typeface="돋움" pitchFamily="50" charset="-127"/>
                  <a:cs typeface="Times New Roman" pitchFamily="18" charset="0"/>
                </a:rPr>
                <a:t>key</a:t>
              </a:r>
              <a:endParaRPr lang="ko-KR" altLang="en-US" sz="950">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C.</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Phần </a:t>
              </a:r>
              <a:r>
                <a:rPr lang="en-US" altLang="ko-KR" sz="950" smtClean="0">
                  <a:solidFill>
                    <a:srgbClr val="FF0000"/>
                  </a:solidFill>
                  <a:latin typeface="Times New Roman" pitchFamily="18" charset="0"/>
                  <a:ea typeface="돋움" pitchFamily="50" charset="-127"/>
                  <a:cs typeface="Times New Roman" pitchFamily="18" charset="0"/>
                </a:rPr>
                <a:t>Spring</a:t>
              </a:r>
              <a:r>
                <a:rPr lang="ko-KR" altLang="en-US" sz="950">
                  <a:solidFill>
                    <a:srgbClr val="FF0000"/>
                  </a:solidFill>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Phần chốt</a:t>
              </a:r>
              <a:endParaRPr lang="ko-KR" altLang="en-US" sz="950">
                <a:latin typeface="Times New Roman" pitchFamily="18" charset="0"/>
                <a:ea typeface="돋움" pitchFamily="50" charset="-127"/>
                <a:cs typeface="Times New Roman" pitchFamily="18" charset="0"/>
              </a:endParaRPr>
            </a:p>
          </p:txBody>
        </p:sp>
        <p:grpSp>
          <p:nvGrpSpPr>
            <p:cNvPr id="9" name="Group 54"/>
            <p:cNvGrpSpPr>
              <a:grpSpLocks/>
            </p:cNvGrpSpPr>
            <p:nvPr/>
          </p:nvGrpSpPr>
          <p:grpSpPr bwMode="auto">
            <a:xfrm>
              <a:off x="4941888" y="4067175"/>
              <a:ext cx="1366837" cy="749300"/>
              <a:chOff x="3113" y="2426"/>
              <a:chExt cx="861" cy="472"/>
            </a:xfrm>
          </p:grpSpPr>
          <p:pic>
            <p:nvPicPr>
              <p:cNvPr id="10" name="Picture 55" descr="thkd051_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3" y="2426"/>
                <a:ext cx="861"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56"/>
              <p:cNvSpPr>
                <a:spLocks noChangeArrowheads="1"/>
              </p:cNvSpPr>
              <p:nvPr/>
            </p:nvSpPr>
            <p:spPr bwMode="auto">
              <a:xfrm>
                <a:off x="3484" y="2804"/>
                <a:ext cx="168" cy="9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950">
                    <a:latin typeface="Times New Roman" pitchFamily="18" charset="0"/>
                    <a:ea typeface="돋움" pitchFamily="50" charset="-127"/>
                    <a:cs typeface="Times New Roman" pitchFamily="18" charset="0"/>
                  </a:rPr>
                  <a:t>A</a:t>
                </a:r>
              </a:p>
            </p:txBody>
          </p:sp>
        </p:grpSp>
      </p:grpSp>
      <p:sp>
        <p:nvSpPr>
          <p:cNvPr id="12" name="Rectangle 57"/>
          <p:cNvSpPr>
            <a:spLocks noChangeArrowheads="1"/>
          </p:cNvSpPr>
          <p:nvPr/>
        </p:nvSpPr>
        <p:spPr bwMode="auto">
          <a:xfrm>
            <a:off x="188640" y="4448944"/>
            <a:ext cx="3258330"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3.Chọn </a:t>
            </a:r>
            <a:r>
              <a:rPr lang="en-US" altLang="ko-KR" sz="950">
                <a:latin typeface="Times New Roman" pitchFamily="18" charset="0"/>
                <a:ea typeface="돋움" pitchFamily="50" charset="-127"/>
                <a:cs typeface="Times New Roman" pitchFamily="18" charset="0"/>
              </a:rPr>
              <a:t>đáp án không phải là đặc điểm của bôi trơn dầu?</a:t>
            </a:r>
          </a:p>
          <a:p>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a:solidFill>
                  <a:srgbClr val="FF0000"/>
                </a:solidFill>
                <a:latin typeface="Times New Roman" pitchFamily="18" charset="0"/>
                <a:ea typeface="돋움" pitchFamily="50" charset="-127"/>
                <a:cs typeface="Times New Roman" pitchFamily="18" charset="0"/>
              </a:rPr>
              <a:t>Phù hợp với sử dụng nhiệt độ thấp hoặc tốc độ thấp hơn là bôi trơn bằng mỡ.</a:t>
            </a:r>
          </a:p>
          <a:p>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Bôi trơn bằng dầu là thích hợp trong trường hợp cần thoát nhiệt ra bên ngoài.</a:t>
            </a: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Cần phải sử dụng dầu có độ nhớt thấp đúng với tốc độ quay.</a:t>
            </a:r>
          </a:p>
          <a:p>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Cần phải sử dụng dầu bôi trơn có độ lớn cao tùy theo tải trọng.</a:t>
            </a:r>
          </a:p>
          <a:p>
            <a:endParaRPr lang="en-US" altLang="ko-KR" sz="950">
              <a:latin typeface="Times New Roman" pitchFamily="18" charset="0"/>
              <a:ea typeface="돋움" pitchFamily="50" charset="-127"/>
              <a:cs typeface="Times New Roman" pitchFamily="18" charset="0"/>
            </a:endParaRPr>
          </a:p>
        </p:txBody>
      </p:sp>
      <p:sp>
        <p:nvSpPr>
          <p:cNvPr id="13" name="Rectangle 58"/>
          <p:cNvSpPr>
            <a:spLocks noChangeArrowheads="1"/>
          </p:cNvSpPr>
          <p:nvPr/>
        </p:nvSpPr>
        <p:spPr bwMode="auto">
          <a:xfrm>
            <a:off x="260648" y="5961112"/>
            <a:ext cx="3212504" cy="73558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4</a:t>
            </a:r>
            <a:r>
              <a:rPr lang="en-US" altLang="ko-KR" sz="950">
                <a:latin typeface="Times New Roman" pitchFamily="18" charset="0"/>
                <a:cs typeface="Times New Roman" pitchFamily="18" charset="0"/>
              </a:rPr>
              <a:t>. Nếu chia một vạch của thước </a:t>
            </a:r>
            <a:r>
              <a:rPr lang="en-US" altLang="ko-KR" sz="950" smtClean="0">
                <a:latin typeface="Times New Roman" pitchFamily="18" charset="0"/>
                <a:cs typeface="Times New Roman" pitchFamily="18" charset="0"/>
              </a:rPr>
              <a:t>chính </a:t>
            </a:r>
            <a:r>
              <a:rPr lang="en-US" altLang="ko-KR" sz="950">
                <a:latin typeface="Times New Roman" pitchFamily="18" charset="0"/>
                <a:cs typeface="Times New Roman" pitchFamily="18" charset="0"/>
              </a:rPr>
              <a:t>Vernier Calipers ra 50 lần thì được bao nhiêu?</a:t>
            </a:r>
          </a:p>
          <a:p>
            <a:pPr>
              <a:lnSpc>
                <a:spcPct val="120000"/>
              </a:lnSpc>
            </a:pPr>
            <a:endParaRPr lang="en-US" altLang="ko-KR" sz="950" smtClean="0">
              <a:latin typeface="Times New Roman" pitchFamily="18" charset="0"/>
              <a:cs typeface="Times New Roman" pitchFamily="18" charset="0"/>
            </a:endParaRPr>
          </a:p>
          <a:p>
            <a:pPr>
              <a:lnSpc>
                <a:spcPct val="120000"/>
              </a:lnSpc>
            </a:pPr>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0.2mm     </a:t>
            </a:r>
            <a:r>
              <a:rPr lang="en-US" altLang="ko-KR" sz="950" smtClean="0">
                <a:solidFill>
                  <a:srgbClr val="FF0000"/>
                </a:solidFill>
                <a:latin typeface="Times New Roman" pitchFamily="18" charset="0"/>
                <a:cs typeface="Times New Roman" pitchFamily="18" charset="0"/>
              </a:rPr>
              <a:t>B. </a:t>
            </a:r>
            <a:r>
              <a:rPr lang="en-US" altLang="ko-KR" sz="950">
                <a:solidFill>
                  <a:srgbClr val="FF0000"/>
                </a:solidFill>
                <a:latin typeface="Times New Roman" pitchFamily="18" charset="0"/>
                <a:cs typeface="Times New Roman" pitchFamily="18" charset="0"/>
              </a:rPr>
              <a:t>0.02mm     </a:t>
            </a:r>
            <a:r>
              <a:rPr lang="en-US" altLang="ko-KR" sz="950" smtClean="0">
                <a:latin typeface="Times New Roman" pitchFamily="18" charset="0"/>
                <a:cs typeface="Times New Roman" pitchFamily="18" charset="0"/>
              </a:rPr>
              <a:t>C. </a:t>
            </a:r>
            <a:r>
              <a:rPr lang="en-US" altLang="ko-KR" sz="950">
                <a:latin typeface="Times New Roman" pitchFamily="18" charset="0"/>
                <a:cs typeface="Times New Roman" pitchFamily="18" charset="0"/>
              </a:rPr>
              <a:t>0.5mm     </a:t>
            </a:r>
            <a:r>
              <a:rPr lang="en-US" altLang="ko-KR" sz="950" smtClean="0">
                <a:latin typeface="Times New Roman" pitchFamily="18" charset="0"/>
                <a:cs typeface="Times New Roman" pitchFamily="18" charset="0"/>
              </a:rPr>
              <a:t>D. </a:t>
            </a:r>
            <a:r>
              <a:rPr lang="en-US" altLang="ko-KR" sz="950">
                <a:latin typeface="Times New Roman" pitchFamily="18" charset="0"/>
                <a:cs typeface="Times New Roman" pitchFamily="18" charset="0"/>
              </a:rPr>
              <a:t>0.05mm</a:t>
            </a:r>
          </a:p>
        </p:txBody>
      </p:sp>
      <p:grpSp>
        <p:nvGrpSpPr>
          <p:cNvPr id="15" name="Group 14"/>
          <p:cNvGrpSpPr/>
          <p:nvPr/>
        </p:nvGrpSpPr>
        <p:grpSpPr>
          <a:xfrm>
            <a:off x="260648" y="7140575"/>
            <a:ext cx="3124200" cy="1571327"/>
            <a:chOff x="3429000" y="7140575"/>
            <a:chExt cx="3124200" cy="1571327"/>
          </a:xfrm>
        </p:grpSpPr>
        <p:sp>
          <p:nvSpPr>
            <p:cNvPr id="16" name="Rectangle 59"/>
            <p:cNvSpPr>
              <a:spLocks noChangeArrowheads="1"/>
            </p:cNvSpPr>
            <p:nvPr/>
          </p:nvSpPr>
          <p:spPr bwMode="auto">
            <a:xfrm>
              <a:off x="3429000" y="7140575"/>
              <a:ext cx="3124200" cy="126188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5</a:t>
              </a:r>
              <a:r>
                <a:rPr lang="en-US" altLang="ko-KR" sz="950">
                  <a:latin typeface="Times New Roman" pitchFamily="18" charset="0"/>
                  <a:ea typeface="돋움" pitchFamily="50" charset="-127"/>
                  <a:cs typeface="Times New Roman" pitchFamily="18" charset="0"/>
                </a:rPr>
                <a:t>. Chọn hình có </a:t>
              </a:r>
              <a:r>
                <a:rPr lang="en-US" altLang="ko-KR" sz="950" smtClean="0">
                  <a:latin typeface="Times New Roman" pitchFamily="18" charset="0"/>
                  <a:ea typeface="돋움" pitchFamily="50" charset="-127"/>
                  <a:cs typeface="Times New Roman" pitchFamily="18" charset="0"/>
                </a:rPr>
                <a:t>cách </a:t>
              </a:r>
              <a:r>
                <a:rPr lang="en-US" altLang="ko-KR" sz="950">
                  <a:latin typeface="Times New Roman" pitchFamily="18" charset="0"/>
                  <a:ea typeface="돋움" pitchFamily="50" charset="-127"/>
                  <a:cs typeface="Times New Roman" pitchFamily="18" charset="0"/>
                </a:rPr>
                <a:t>sử dụng </a:t>
              </a:r>
              <a:r>
                <a:rPr lang="en-US" altLang="ko-KR" sz="950" smtClean="0">
                  <a:latin typeface="Times New Roman" pitchFamily="18" charset="0"/>
                  <a:ea typeface="돋움" pitchFamily="50" charset="-127"/>
                  <a:cs typeface="Times New Roman" pitchFamily="18" charset="0"/>
                </a:rPr>
                <a:t>Búa Hammer đúng</a:t>
              </a:r>
              <a:r>
                <a:rPr lang="en-US" altLang="ko-KR" sz="950">
                  <a:latin typeface="Times New Roman" pitchFamily="18" charset="0"/>
                  <a:ea typeface="돋움" pitchFamily="50" charset="-127"/>
                  <a:cs typeface="Times New Roman" pitchFamily="18" charset="0"/>
                </a:rPr>
                <a:t>?</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B. </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C.                                           </a:t>
              </a:r>
              <a:r>
                <a:rPr lang="en-US" altLang="ko-KR" sz="950" smtClean="0">
                  <a:latin typeface="Times New Roman" pitchFamily="18" charset="0"/>
                  <a:ea typeface="돋움" pitchFamily="50" charset="-127"/>
                  <a:cs typeface="Times New Roman" pitchFamily="18" charset="0"/>
                </a:rPr>
                <a:t>D.</a:t>
              </a:r>
              <a:endParaRPr lang="en-US" altLang="ko-KR" sz="950">
                <a:latin typeface="Times New Roman" pitchFamily="18" charset="0"/>
                <a:ea typeface="돋움" pitchFamily="50" charset="-127"/>
                <a:cs typeface="Times New Roman" pitchFamily="18" charset="0"/>
              </a:endParaRPr>
            </a:p>
          </p:txBody>
        </p:sp>
        <p:pic>
          <p:nvPicPr>
            <p:cNvPr id="17" name="Picture 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6338" y="7500938"/>
              <a:ext cx="936832" cy="455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6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7240" y="7500938"/>
              <a:ext cx="936028" cy="455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6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6338" y="8239125"/>
              <a:ext cx="936832" cy="472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6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7240" y="8218488"/>
              <a:ext cx="936028" cy="468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 name="Group 20"/>
          <p:cNvGrpSpPr/>
          <p:nvPr/>
        </p:nvGrpSpPr>
        <p:grpSpPr>
          <a:xfrm>
            <a:off x="3560398" y="1208584"/>
            <a:ext cx="3180970" cy="1773562"/>
            <a:chOff x="304800" y="971550"/>
            <a:chExt cx="3180970" cy="1773562"/>
          </a:xfrm>
        </p:grpSpPr>
        <p:sp>
          <p:nvSpPr>
            <p:cNvPr id="22" name="Rectangle 41"/>
            <p:cNvSpPr>
              <a:spLocks noChangeArrowheads="1"/>
            </p:cNvSpPr>
            <p:nvPr/>
          </p:nvSpPr>
          <p:spPr bwMode="auto">
            <a:xfrm>
              <a:off x="304800" y="971550"/>
              <a:ext cx="3180970" cy="177356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6</a:t>
              </a:r>
              <a:r>
                <a:rPr lang="en-US" altLang="ko-KR" sz="950">
                  <a:latin typeface="Times New Roman" pitchFamily="18" charset="0"/>
                  <a:ea typeface="돋움" pitchFamily="50" charset="-127"/>
                  <a:cs typeface="Times New Roman" pitchFamily="18" charset="0"/>
                </a:rPr>
                <a:t>. Chọn đáp án </a:t>
              </a:r>
              <a:r>
                <a:rPr lang="en-US" altLang="ko-KR" sz="950" smtClean="0">
                  <a:latin typeface="Times New Roman" pitchFamily="18" charset="0"/>
                  <a:ea typeface="돋움" pitchFamily="50" charset="-127"/>
                  <a:cs typeface="Times New Roman" pitchFamily="18" charset="0"/>
                </a:rPr>
                <a:t>đường kẻ biểu </a:t>
              </a:r>
              <a:r>
                <a:rPr lang="en-US" altLang="ko-KR" sz="950">
                  <a:latin typeface="Times New Roman" pitchFamily="18" charset="0"/>
                  <a:ea typeface="돋움" pitchFamily="50" charset="-127"/>
                  <a:cs typeface="Times New Roman" pitchFamily="18" charset="0"/>
                </a:rPr>
                <a:t>thị phần xử lí bề mặt của vật thể?</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B. </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C. </a:t>
              </a:r>
              <a:endParaRPr lang="en-US" altLang="ko-KR" sz="950">
                <a:solidFill>
                  <a:srgbClr val="FF0000"/>
                </a:solidFill>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D.</a:t>
              </a:r>
              <a:endParaRPr lang="en-US" altLang="ko-KR" sz="950">
                <a:latin typeface="Times New Roman" pitchFamily="18" charset="0"/>
                <a:ea typeface="돋움" pitchFamily="50" charset="-127"/>
                <a:cs typeface="Times New Roman" pitchFamily="18" charset="0"/>
              </a:endParaRPr>
            </a:p>
            <a:p>
              <a:pPr>
                <a:spcBef>
                  <a:spcPct val="50000"/>
                </a:spcBef>
              </a:pPr>
              <a:endParaRPr lang="en-US" altLang="ko-KR" sz="950">
                <a:latin typeface="Times New Roman" pitchFamily="18" charset="0"/>
                <a:ea typeface="돋움" pitchFamily="50" charset="-127"/>
                <a:cs typeface="Times New Roman" pitchFamily="18" charset="0"/>
              </a:endParaRPr>
            </a:p>
          </p:txBody>
        </p:sp>
        <p:grpSp>
          <p:nvGrpSpPr>
            <p:cNvPr id="23" name="Group 42"/>
            <p:cNvGrpSpPr>
              <a:grpSpLocks/>
            </p:cNvGrpSpPr>
            <p:nvPr/>
          </p:nvGrpSpPr>
          <p:grpSpPr bwMode="auto">
            <a:xfrm>
              <a:off x="549275" y="1548100"/>
              <a:ext cx="1447800" cy="863600"/>
              <a:chOff x="384" y="1008"/>
              <a:chExt cx="912" cy="544"/>
            </a:xfrm>
          </p:grpSpPr>
          <p:sp>
            <p:nvSpPr>
              <p:cNvPr id="24" name="Line 43"/>
              <p:cNvSpPr>
                <a:spLocks noChangeShapeType="1"/>
              </p:cNvSpPr>
              <p:nvPr/>
            </p:nvSpPr>
            <p:spPr bwMode="auto">
              <a:xfrm>
                <a:off x="432" y="1008"/>
                <a:ext cx="864"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25" name="Line 44"/>
              <p:cNvSpPr>
                <a:spLocks noChangeShapeType="1"/>
              </p:cNvSpPr>
              <p:nvPr/>
            </p:nvSpPr>
            <p:spPr bwMode="auto">
              <a:xfrm>
                <a:off x="432" y="1152"/>
                <a:ext cx="864" cy="0"/>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26" name="Line 45"/>
              <p:cNvSpPr>
                <a:spLocks noChangeShapeType="1"/>
              </p:cNvSpPr>
              <p:nvPr/>
            </p:nvSpPr>
            <p:spPr bwMode="auto">
              <a:xfrm>
                <a:off x="432" y="1344"/>
                <a:ext cx="864" cy="0"/>
              </a:xfrm>
              <a:prstGeom prst="line">
                <a:avLst/>
              </a:prstGeom>
              <a:noFill/>
              <a:ln w="190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27" name="Freeform 46"/>
              <p:cNvSpPr>
                <a:spLocks/>
              </p:cNvSpPr>
              <p:nvPr/>
            </p:nvSpPr>
            <p:spPr bwMode="auto">
              <a:xfrm>
                <a:off x="384" y="1440"/>
                <a:ext cx="912" cy="112"/>
              </a:xfrm>
              <a:custGeom>
                <a:avLst/>
                <a:gdLst>
                  <a:gd name="T0" fmla="*/ 0 w 912"/>
                  <a:gd name="T1" fmla="*/ 96 h 112"/>
                  <a:gd name="T2" fmla="*/ 48 w 912"/>
                  <a:gd name="T3" fmla="*/ 96 h 112"/>
                  <a:gd name="T4" fmla="*/ 240 w 912"/>
                  <a:gd name="T5" fmla="*/ 0 h 112"/>
                  <a:gd name="T6" fmla="*/ 432 w 912"/>
                  <a:gd name="T7" fmla="*/ 96 h 112"/>
                  <a:gd name="T8" fmla="*/ 768 w 912"/>
                  <a:gd name="T9" fmla="*/ 48 h 112"/>
                  <a:gd name="T10" fmla="*/ 912 w 912"/>
                  <a:gd name="T11" fmla="*/ 96 h 1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12" h="112">
                    <a:moveTo>
                      <a:pt x="0" y="96"/>
                    </a:moveTo>
                    <a:cubicBezTo>
                      <a:pt x="4" y="104"/>
                      <a:pt x="8" y="112"/>
                      <a:pt x="48" y="96"/>
                    </a:cubicBezTo>
                    <a:cubicBezTo>
                      <a:pt x="88" y="80"/>
                      <a:pt x="176" y="0"/>
                      <a:pt x="240" y="0"/>
                    </a:cubicBezTo>
                    <a:cubicBezTo>
                      <a:pt x="304" y="0"/>
                      <a:pt x="344" y="88"/>
                      <a:pt x="432" y="96"/>
                    </a:cubicBezTo>
                    <a:cubicBezTo>
                      <a:pt x="520" y="104"/>
                      <a:pt x="688" y="48"/>
                      <a:pt x="768" y="48"/>
                    </a:cubicBezTo>
                    <a:cubicBezTo>
                      <a:pt x="848" y="48"/>
                      <a:pt x="896" y="88"/>
                      <a:pt x="912" y="96"/>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grpSp>
      </p:grpSp>
      <p:sp>
        <p:nvSpPr>
          <p:cNvPr id="28" name="Rectangle 47"/>
          <p:cNvSpPr>
            <a:spLocks noChangeArrowheads="1"/>
          </p:cNvSpPr>
          <p:nvPr/>
        </p:nvSpPr>
        <p:spPr bwMode="auto">
          <a:xfrm>
            <a:off x="3429000" y="3224808"/>
            <a:ext cx="3124200" cy="73558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7</a:t>
            </a:r>
            <a:r>
              <a:rPr lang="en-US" altLang="ko-KR" sz="950">
                <a:latin typeface="Times New Roman" pitchFamily="18" charset="0"/>
                <a:cs typeface="Times New Roman" pitchFamily="18" charset="0"/>
              </a:rPr>
              <a:t>. Nếu chia một vạch của thước </a:t>
            </a:r>
            <a:r>
              <a:rPr lang="en-US" altLang="ko-KR" sz="950" smtClean="0">
                <a:latin typeface="Times New Roman" pitchFamily="18" charset="0"/>
                <a:cs typeface="Times New Roman" pitchFamily="18" charset="0"/>
              </a:rPr>
              <a:t>chính </a:t>
            </a:r>
            <a:r>
              <a:rPr lang="en-US" altLang="ko-KR" sz="950">
                <a:latin typeface="Times New Roman" pitchFamily="18" charset="0"/>
                <a:cs typeface="Times New Roman" pitchFamily="18" charset="0"/>
              </a:rPr>
              <a:t>Vernier Calipers ra 50 lần thì được bao nhiêu?</a:t>
            </a:r>
          </a:p>
          <a:p>
            <a:pPr>
              <a:lnSpc>
                <a:spcPct val="120000"/>
              </a:lnSpc>
            </a:pPr>
            <a:endParaRPr lang="en-US" altLang="ko-KR" sz="950" smtClean="0">
              <a:latin typeface="Times New Roman" pitchFamily="18" charset="0"/>
              <a:cs typeface="Times New Roman" pitchFamily="18" charset="0"/>
            </a:endParaRPr>
          </a:p>
          <a:p>
            <a:pPr>
              <a:lnSpc>
                <a:spcPct val="120000"/>
              </a:lnSpc>
            </a:pPr>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0.2mm     </a:t>
            </a:r>
            <a:r>
              <a:rPr lang="en-US" altLang="ko-KR" sz="950" smtClean="0">
                <a:solidFill>
                  <a:srgbClr val="FF0000"/>
                </a:solidFill>
                <a:latin typeface="Times New Roman" pitchFamily="18" charset="0"/>
                <a:cs typeface="Times New Roman" pitchFamily="18" charset="0"/>
              </a:rPr>
              <a:t>B. </a:t>
            </a:r>
            <a:r>
              <a:rPr lang="en-US" altLang="ko-KR" sz="950">
                <a:solidFill>
                  <a:srgbClr val="FF0000"/>
                </a:solidFill>
                <a:latin typeface="Times New Roman" pitchFamily="18" charset="0"/>
                <a:cs typeface="Times New Roman" pitchFamily="18" charset="0"/>
              </a:rPr>
              <a:t>0.02mm     </a:t>
            </a:r>
            <a:r>
              <a:rPr lang="en-US" altLang="ko-KR" sz="950" smtClean="0">
                <a:latin typeface="Times New Roman" pitchFamily="18" charset="0"/>
                <a:cs typeface="Times New Roman" pitchFamily="18" charset="0"/>
              </a:rPr>
              <a:t>C. </a:t>
            </a:r>
            <a:r>
              <a:rPr lang="en-US" altLang="ko-KR" sz="950">
                <a:latin typeface="Times New Roman" pitchFamily="18" charset="0"/>
                <a:cs typeface="Times New Roman" pitchFamily="18" charset="0"/>
              </a:rPr>
              <a:t>0.5mm     </a:t>
            </a:r>
            <a:r>
              <a:rPr lang="en-US" altLang="ko-KR" sz="950" smtClean="0">
                <a:latin typeface="Times New Roman" pitchFamily="18" charset="0"/>
                <a:cs typeface="Times New Roman" pitchFamily="18" charset="0"/>
              </a:rPr>
              <a:t>D. </a:t>
            </a:r>
            <a:r>
              <a:rPr lang="en-US" altLang="ko-KR" sz="950">
                <a:latin typeface="Times New Roman" pitchFamily="18" charset="0"/>
                <a:cs typeface="Times New Roman" pitchFamily="18" charset="0"/>
              </a:rPr>
              <a:t>0.05mm</a:t>
            </a:r>
          </a:p>
        </p:txBody>
      </p:sp>
      <p:grpSp>
        <p:nvGrpSpPr>
          <p:cNvPr id="30" name="Group 29"/>
          <p:cNvGrpSpPr/>
          <p:nvPr/>
        </p:nvGrpSpPr>
        <p:grpSpPr>
          <a:xfrm>
            <a:off x="3501008" y="7833320"/>
            <a:ext cx="3124200" cy="1381221"/>
            <a:chOff x="245410" y="5494338"/>
            <a:chExt cx="3124200" cy="1381221"/>
          </a:xfrm>
        </p:grpSpPr>
        <p:sp>
          <p:nvSpPr>
            <p:cNvPr id="31" name="Rectangle 106"/>
            <p:cNvSpPr>
              <a:spLocks noChangeArrowheads="1"/>
            </p:cNvSpPr>
            <p:nvPr/>
          </p:nvSpPr>
          <p:spPr bwMode="auto">
            <a:xfrm>
              <a:off x="245410" y="5494338"/>
              <a:ext cx="3124200" cy="126188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cs typeface="Times New Roman" pitchFamily="18" charset="0"/>
                </a:rPr>
                <a:t>8</a:t>
              </a:r>
              <a:r>
                <a:rPr lang="en-US" altLang="ko-KR" sz="950" smtClean="0">
                  <a:latin typeface="Times New Roman" pitchFamily="18" charset="0"/>
                  <a:cs typeface="Times New Roman" pitchFamily="18" charset="0"/>
                </a:rPr>
                <a:t>0</a:t>
              </a:r>
              <a:r>
                <a:rPr lang="en-US" altLang="ko-KR" sz="950">
                  <a:latin typeface="Times New Roman" pitchFamily="18" charset="0"/>
                  <a:cs typeface="Times New Roman" pitchFamily="18" charset="0"/>
                </a:rPr>
                <a:t>. Dưới đây là hình của</a:t>
              </a:r>
              <a:r>
                <a:rPr lang="ko-KR" altLang="en-US"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Ball Screw.</a:t>
              </a:r>
              <a:endParaRPr lang="en-US" altLang="ko-KR" sz="950">
                <a:latin typeface="Times New Roman" pitchFamily="18" charset="0"/>
                <a:cs typeface="Times New Roman" pitchFamily="18" charset="0"/>
              </a:endParaRPr>
            </a:p>
            <a:p>
              <a:r>
                <a:rPr lang="en-US" altLang="ko-KR" sz="950">
                  <a:latin typeface="Times New Roman" pitchFamily="18" charset="0"/>
                  <a:cs typeface="Times New Roman" pitchFamily="18" charset="0"/>
                </a:rPr>
                <a:t>       Tấm nhấn </a:t>
              </a:r>
              <a:r>
                <a:rPr lang="en-US" altLang="ko-KR" sz="950" smtClean="0">
                  <a:latin typeface="Times New Roman" pitchFamily="18" charset="0"/>
                  <a:cs typeface="Times New Roman" pitchFamily="18" charset="0"/>
                </a:rPr>
                <a:t>Pipe </a:t>
              </a:r>
              <a:r>
                <a:rPr lang="en-US" altLang="ko-KR" sz="950">
                  <a:latin typeface="Times New Roman" pitchFamily="18" charset="0"/>
                  <a:cs typeface="Times New Roman" pitchFamily="18" charset="0"/>
                </a:rPr>
                <a:t>cố </a:t>
              </a:r>
              <a:r>
                <a:rPr lang="en-US" altLang="ko-KR" sz="950" smtClean="0">
                  <a:latin typeface="Times New Roman" pitchFamily="18" charset="0"/>
                  <a:cs typeface="Times New Roman" pitchFamily="18" charset="0"/>
                </a:rPr>
                <a:t>định </a:t>
              </a:r>
              <a:r>
                <a:rPr lang="en-US" altLang="ko-KR" sz="950">
                  <a:latin typeface="Times New Roman" pitchFamily="18" charset="0"/>
                  <a:cs typeface="Times New Roman" pitchFamily="18" charset="0"/>
                </a:rPr>
                <a:t>R</a:t>
              </a:r>
              <a:r>
                <a:rPr lang="en-US" altLang="ko-KR" sz="950" smtClean="0">
                  <a:latin typeface="Times New Roman" pitchFamily="18" charset="0"/>
                  <a:cs typeface="Times New Roman" pitchFamily="18" charset="0"/>
                </a:rPr>
                <a:t>eturn </a:t>
              </a:r>
              <a:r>
                <a:rPr lang="en-US" altLang="ko-KR" sz="950">
                  <a:latin typeface="Times New Roman" pitchFamily="18" charset="0"/>
                  <a:cs typeface="Times New Roman" pitchFamily="18" charset="0"/>
                </a:rPr>
                <a:t>pipe  và </a:t>
              </a:r>
              <a:r>
                <a:rPr lang="en-US" altLang="ko-KR" sz="950" smtClean="0">
                  <a:latin typeface="Times New Roman" pitchFamily="18" charset="0"/>
                  <a:cs typeface="Times New Roman" pitchFamily="18" charset="0"/>
                </a:rPr>
                <a:t>Return </a:t>
              </a:r>
              <a:r>
                <a:rPr lang="en-US" altLang="ko-KR" sz="950">
                  <a:latin typeface="Times New Roman" pitchFamily="18" charset="0"/>
                  <a:cs typeface="Times New Roman" pitchFamily="18" charset="0"/>
                </a:rPr>
                <a:t>pipe, là một yếu tố làm </a:t>
              </a:r>
              <a:r>
                <a:rPr lang="en-US" altLang="ko-KR" sz="950" smtClean="0">
                  <a:latin typeface="Times New Roman" pitchFamily="18" charset="0"/>
                  <a:cs typeface="Times New Roman" pitchFamily="18" charset="0"/>
                </a:rPr>
                <a:t>Ball </a:t>
              </a:r>
              <a:r>
                <a:rPr lang="en-US" altLang="ko-KR" sz="950">
                  <a:latin typeface="Times New Roman" pitchFamily="18" charset="0"/>
                  <a:cs typeface="Times New Roman" pitchFamily="18" charset="0"/>
                </a:rPr>
                <a:t>xoay linh hoạt hơn là số </a:t>
              </a:r>
              <a:r>
                <a:rPr lang="en-US" altLang="ko-KR" sz="950" smtClean="0">
                  <a:latin typeface="Times New Roman" pitchFamily="18" charset="0"/>
                  <a:cs typeface="Times New Roman" pitchFamily="18" charset="0"/>
                </a:rPr>
                <a:t>mấy ở hình dưới đây?</a:t>
              </a:r>
              <a:endParaRPr lang="en-US" altLang="ko-KR" sz="950">
                <a:latin typeface="Times New Roman" pitchFamily="18" charset="0"/>
                <a:cs typeface="Times New Roman" pitchFamily="18" charset="0"/>
              </a:endParaRPr>
            </a:p>
            <a:p>
              <a:endParaRPr lang="en-US" altLang="ko-KR" sz="950">
                <a:latin typeface="Times New Roman" pitchFamily="18" charset="0"/>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a:solidFill>
                    <a:srgbClr val="FF0000"/>
                  </a:solidFill>
                  <a:latin typeface="Times New Roman" pitchFamily="18" charset="0"/>
                  <a:ea typeface="돋움" pitchFamily="50" charset="-127"/>
                  <a:cs typeface="Times New Roman" pitchFamily="18" charset="0"/>
                </a:rPr>
                <a:t>2,1</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1, 4</a:t>
              </a:r>
              <a:r>
                <a:rPr lang="ko-KR" altLang="en-US" sz="950">
                  <a:latin typeface="Times New Roman" pitchFamily="18" charset="0"/>
                  <a:ea typeface="돋움" pitchFamily="50" charset="-127"/>
                  <a:cs typeface="Times New Roman" pitchFamily="18" charset="0"/>
                </a:rPr>
                <a:t>     </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2,5</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2,6</a:t>
              </a:r>
              <a:endParaRPr lang="ko-KR" altLang="en-US" sz="950">
                <a:latin typeface="Times New Roman" pitchFamily="18" charset="0"/>
                <a:ea typeface="돋움" pitchFamily="50" charset="-127"/>
                <a:cs typeface="Times New Roman" pitchFamily="18" charset="0"/>
              </a:endParaRPr>
            </a:p>
          </p:txBody>
        </p:sp>
        <p:grpSp>
          <p:nvGrpSpPr>
            <p:cNvPr id="32" name="Group 107"/>
            <p:cNvGrpSpPr>
              <a:grpSpLocks/>
            </p:cNvGrpSpPr>
            <p:nvPr/>
          </p:nvGrpSpPr>
          <p:grpSpPr bwMode="auto">
            <a:xfrm>
              <a:off x="1312293" y="5927932"/>
              <a:ext cx="1717538" cy="947627"/>
              <a:chOff x="1694" y="132"/>
              <a:chExt cx="1405" cy="1355"/>
            </a:xfrm>
          </p:grpSpPr>
          <p:pic>
            <p:nvPicPr>
              <p:cNvPr id="33" name="Picture 10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09" y="370"/>
                <a:ext cx="1281" cy="1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Text Box 109"/>
              <p:cNvSpPr txBox="1">
                <a:spLocks noChangeArrowheads="1"/>
              </p:cNvSpPr>
              <p:nvPr/>
            </p:nvSpPr>
            <p:spPr bwMode="auto">
              <a:xfrm>
                <a:off x="2319" y="233"/>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1</a:t>
                </a:r>
                <a:endParaRPr lang="ko-KR" altLang="en-US" sz="950" b="1">
                  <a:latin typeface="Times New Roman" pitchFamily="18" charset="0"/>
                  <a:cs typeface="Times New Roman" pitchFamily="18" charset="0"/>
                </a:endParaRPr>
              </a:p>
            </p:txBody>
          </p:sp>
          <p:sp>
            <p:nvSpPr>
              <p:cNvPr id="35" name="Text Box 110"/>
              <p:cNvSpPr txBox="1">
                <a:spLocks noChangeArrowheads="1"/>
              </p:cNvSpPr>
              <p:nvPr/>
            </p:nvSpPr>
            <p:spPr bwMode="auto">
              <a:xfrm>
                <a:off x="2575" y="132"/>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3</a:t>
                </a:r>
                <a:endParaRPr lang="ko-KR" altLang="en-US" sz="950" b="1">
                  <a:latin typeface="Times New Roman" pitchFamily="18" charset="0"/>
                  <a:cs typeface="Times New Roman" pitchFamily="18" charset="0"/>
                </a:endParaRPr>
              </a:p>
            </p:txBody>
          </p:sp>
          <p:sp>
            <p:nvSpPr>
              <p:cNvPr id="36" name="Text Box 111"/>
              <p:cNvSpPr txBox="1">
                <a:spLocks noChangeArrowheads="1"/>
              </p:cNvSpPr>
              <p:nvPr/>
            </p:nvSpPr>
            <p:spPr bwMode="auto">
              <a:xfrm>
                <a:off x="2898" y="773"/>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4</a:t>
                </a:r>
                <a:endParaRPr lang="ko-KR" altLang="en-US" sz="950" b="1">
                  <a:latin typeface="Times New Roman" pitchFamily="18" charset="0"/>
                  <a:cs typeface="Times New Roman" pitchFamily="18" charset="0"/>
                </a:endParaRPr>
              </a:p>
            </p:txBody>
          </p:sp>
          <p:sp>
            <p:nvSpPr>
              <p:cNvPr id="37" name="Text Box 112"/>
              <p:cNvSpPr txBox="1">
                <a:spLocks noChangeArrowheads="1"/>
              </p:cNvSpPr>
              <p:nvPr/>
            </p:nvSpPr>
            <p:spPr bwMode="auto">
              <a:xfrm>
                <a:off x="2770" y="942"/>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5</a:t>
                </a:r>
                <a:endParaRPr lang="ko-KR" altLang="en-US" sz="950" b="1">
                  <a:latin typeface="Times New Roman" pitchFamily="18" charset="0"/>
                  <a:cs typeface="Times New Roman" pitchFamily="18" charset="0"/>
                </a:endParaRPr>
              </a:p>
            </p:txBody>
          </p:sp>
          <p:sp>
            <p:nvSpPr>
              <p:cNvPr id="38" name="Text Box 113"/>
              <p:cNvSpPr txBox="1">
                <a:spLocks noChangeArrowheads="1"/>
              </p:cNvSpPr>
              <p:nvPr/>
            </p:nvSpPr>
            <p:spPr bwMode="auto">
              <a:xfrm>
                <a:off x="2102" y="369"/>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6</a:t>
                </a:r>
                <a:endParaRPr lang="ko-KR" altLang="en-US" sz="950" b="1">
                  <a:latin typeface="Times New Roman" pitchFamily="18" charset="0"/>
                  <a:cs typeface="Times New Roman" pitchFamily="18" charset="0"/>
                </a:endParaRPr>
              </a:p>
            </p:txBody>
          </p:sp>
          <p:sp>
            <p:nvSpPr>
              <p:cNvPr id="39" name="Text Box 114"/>
              <p:cNvSpPr txBox="1">
                <a:spLocks noChangeArrowheads="1"/>
              </p:cNvSpPr>
              <p:nvPr/>
            </p:nvSpPr>
            <p:spPr bwMode="auto">
              <a:xfrm>
                <a:off x="1961" y="486"/>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2</a:t>
                </a:r>
                <a:endParaRPr lang="ko-KR" altLang="en-US" sz="950" b="1">
                  <a:latin typeface="Times New Roman" pitchFamily="18" charset="0"/>
                  <a:cs typeface="Times New Roman" pitchFamily="18" charset="0"/>
                </a:endParaRPr>
              </a:p>
            </p:txBody>
          </p:sp>
          <p:sp>
            <p:nvSpPr>
              <p:cNvPr id="40" name="Text Box 115"/>
              <p:cNvSpPr txBox="1">
                <a:spLocks noChangeArrowheads="1"/>
              </p:cNvSpPr>
              <p:nvPr/>
            </p:nvSpPr>
            <p:spPr bwMode="auto">
              <a:xfrm>
                <a:off x="1694" y="634"/>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7</a:t>
                </a:r>
                <a:endParaRPr lang="ko-KR" altLang="en-US" sz="950" b="1">
                  <a:latin typeface="Times New Roman" pitchFamily="18" charset="0"/>
                  <a:cs typeface="Times New Roman" pitchFamily="18" charset="0"/>
                </a:endParaRPr>
              </a:p>
            </p:txBody>
          </p:sp>
          <p:sp>
            <p:nvSpPr>
              <p:cNvPr id="41" name="Text Box 116"/>
              <p:cNvSpPr txBox="1">
                <a:spLocks noChangeArrowheads="1"/>
              </p:cNvSpPr>
              <p:nvPr/>
            </p:nvSpPr>
            <p:spPr bwMode="auto">
              <a:xfrm>
                <a:off x="2516" y="1146"/>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8</a:t>
                </a:r>
                <a:endParaRPr lang="ko-KR" altLang="en-US" sz="950" b="1">
                  <a:latin typeface="Times New Roman" pitchFamily="18" charset="0"/>
                  <a:cs typeface="Times New Roman" pitchFamily="18" charset="0"/>
                </a:endParaRPr>
              </a:p>
            </p:txBody>
          </p:sp>
        </p:grpSp>
      </p:grpSp>
      <p:sp>
        <p:nvSpPr>
          <p:cNvPr id="42" name="Rectangle 117"/>
          <p:cNvSpPr>
            <a:spLocks noChangeArrowheads="1"/>
          </p:cNvSpPr>
          <p:nvPr/>
        </p:nvSpPr>
        <p:spPr bwMode="auto">
          <a:xfrm>
            <a:off x="3429000" y="4448944"/>
            <a:ext cx="3255598" cy="96949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8</a:t>
            </a:r>
            <a:r>
              <a:rPr lang="en-US" altLang="ko-KR" sz="950">
                <a:latin typeface="Times New Roman" pitchFamily="18" charset="0"/>
                <a:ea typeface="돋움" pitchFamily="50" charset="-127"/>
                <a:cs typeface="Times New Roman" pitchFamily="18" charset="0"/>
              </a:rPr>
              <a:t>. Chọn đáp án không phải là điều kiện </a:t>
            </a:r>
            <a:r>
              <a:rPr lang="en-US" altLang="ko-KR" sz="950" smtClean="0">
                <a:latin typeface="Times New Roman" pitchFamily="18" charset="0"/>
                <a:ea typeface="돋움" pitchFamily="50" charset="-127"/>
                <a:cs typeface="Times New Roman" pitchFamily="18" charset="0"/>
              </a:rPr>
              <a:t>mà </a:t>
            </a:r>
            <a:r>
              <a:rPr lang="en-US" altLang="ko-KR" sz="950">
                <a:latin typeface="Times New Roman" pitchFamily="18" charset="0"/>
                <a:ea typeface="돋움" pitchFamily="50" charset="-127"/>
                <a:cs typeface="Times New Roman" pitchFamily="18" charset="0"/>
              </a:rPr>
              <a:t>chất bôi trơn phải có?</a:t>
            </a:r>
          </a:p>
          <a:p>
            <a:r>
              <a:rPr lang="en-US" altLang="ko-KR" sz="950" smtClean="0">
                <a:latin typeface="Times New Roman" pitchFamily="18" charset="0"/>
                <a:ea typeface="돋움" pitchFamily="50" charset="-127"/>
                <a:cs typeface="Times New Roman" pitchFamily="18" charset="0"/>
              </a:rPr>
              <a:t>A. Cường </a:t>
            </a:r>
            <a:r>
              <a:rPr lang="en-US" altLang="ko-KR" sz="950">
                <a:latin typeface="Times New Roman" pitchFamily="18" charset="0"/>
                <a:ea typeface="돋움" pitchFamily="50" charset="-127"/>
                <a:cs typeface="Times New Roman" pitchFamily="18" charset="0"/>
              </a:rPr>
              <a:t>độ màng dầu phải mạnh</a:t>
            </a:r>
            <a:r>
              <a:rPr lang="ko-KR" altLang="en-US" sz="95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B.</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Khả năng chống mòn nhỏ</a:t>
            </a:r>
            <a:endParaRPr lang="ko-KR" altLang="en-US" sz="950">
              <a:solidFill>
                <a:srgbClr val="FF0000"/>
              </a:solidFill>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Ma </a:t>
            </a:r>
            <a:r>
              <a:rPr lang="en-US" altLang="ko-KR" sz="950">
                <a:latin typeface="Times New Roman" pitchFamily="18" charset="0"/>
                <a:ea typeface="돋움" pitchFamily="50" charset="-127"/>
                <a:cs typeface="Times New Roman" pitchFamily="18" charset="0"/>
              </a:rPr>
              <a:t>sát ít</a:t>
            </a:r>
            <a:r>
              <a:rPr lang="ko-KR" altLang="en-US" sz="950">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Dù </a:t>
            </a:r>
            <a:r>
              <a:rPr lang="en-US" altLang="ko-KR" sz="950">
                <a:latin typeface="Times New Roman" pitchFamily="18" charset="0"/>
                <a:ea typeface="돋움" pitchFamily="50" charset="-127"/>
                <a:cs typeface="Times New Roman" pitchFamily="18" charset="0"/>
              </a:rPr>
              <a:t>bị thay nhiều lần nhưng </a:t>
            </a:r>
            <a:r>
              <a:rPr lang="en-US" altLang="ko-KR" sz="950" smtClean="0">
                <a:latin typeface="Times New Roman" pitchFamily="18" charset="0"/>
                <a:ea typeface="돋움" pitchFamily="50" charset="-127"/>
                <a:cs typeface="Times New Roman" pitchFamily="18" charset="0"/>
              </a:rPr>
              <a:t>tác dụng</a:t>
            </a:r>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không </a:t>
            </a:r>
            <a:r>
              <a:rPr lang="en-US" altLang="ko-KR" sz="950">
                <a:latin typeface="Times New Roman" pitchFamily="18" charset="0"/>
                <a:ea typeface="돋움" pitchFamily="50" charset="-127"/>
                <a:cs typeface="Times New Roman" pitchFamily="18" charset="0"/>
              </a:rPr>
              <a:t>thay đổi lớn</a:t>
            </a:r>
            <a:endParaRPr lang="ko-KR" altLang="en-US" sz="950">
              <a:latin typeface="Times New Roman" pitchFamily="18" charset="0"/>
              <a:ea typeface="돋움" pitchFamily="50" charset="-127"/>
              <a:cs typeface="Times New Roman" pitchFamily="18" charset="0"/>
            </a:endParaRPr>
          </a:p>
        </p:txBody>
      </p:sp>
      <p:sp>
        <p:nvSpPr>
          <p:cNvPr id="43" name="Rectangle 50"/>
          <p:cNvSpPr>
            <a:spLocks noChangeArrowheads="1"/>
          </p:cNvSpPr>
          <p:nvPr/>
        </p:nvSpPr>
        <p:spPr bwMode="auto">
          <a:xfrm>
            <a:off x="3458005" y="6483459"/>
            <a:ext cx="3124200" cy="10618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79</a:t>
            </a:r>
            <a:r>
              <a:rPr lang="en-US" altLang="ko-KR" sz="900">
                <a:latin typeface="Arial" pitchFamily="34" charset="0"/>
                <a:ea typeface="돋움" pitchFamily="50" charset="-127"/>
                <a:cs typeface="Arial" pitchFamily="34" charset="0"/>
              </a:rPr>
              <a:t>. Chọn đáp án không phải là đặc điểm của Timing Belt?</a:t>
            </a:r>
          </a:p>
          <a:p>
            <a:endParaRPr lang="en-US" altLang="ko-KR"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A. Không </a:t>
            </a:r>
            <a:r>
              <a:rPr lang="en-US" altLang="ko-KR" sz="900">
                <a:latin typeface="Arial" pitchFamily="34" charset="0"/>
                <a:ea typeface="돋움" pitchFamily="50" charset="-127"/>
                <a:cs typeface="Arial" pitchFamily="34" charset="0"/>
              </a:rPr>
              <a:t>cần thiết bị cấp dầu. </a:t>
            </a:r>
          </a:p>
          <a:p>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Là cấu trúc được  tối thiểu hóa của </a:t>
            </a:r>
            <a:r>
              <a:rPr lang="en-US" altLang="ko-KR" sz="900" smtClean="0">
                <a:latin typeface="Arial" pitchFamily="34" charset="0"/>
                <a:ea typeface="돋움" pitchFamily="50" charset="-127"/>
                <a:cs typeface="Arial" pitchFamily="34" charset="0"/>
              </a:rPr>
              <a:t>Backlash </a:t>
            </a:r>
            <a:r>
              <a:rPr lang="en-US" altLang="ko-KR" sz="900">
                <a:latin typeface="Arial" pitchFamily="34" charset="0"/>
                <a:ea typeface="돋움" pitchFamily="50" charset="-127"/>
                <a:cs typeface="Arial" pitchFamily="34" charset="0"/>
              </a:rPr>
              <a:t>và độ giãn thấp</a:t>
            </a:r>
          </a:p>
          <a:p>
            <a:r>
              <a:rPr lang="en-US" altLang="ko-KR" sz="900" smtClean="0">
                <a:latin typeface="Arial" pitchFamily="34" charset="0"/>
                <a:ea typeface="돋움" pitchFamily="50" charset="-127"/>
                <a:cs typeface="Arial" pitchFamily="34" charset="0"/>
              </a:rPr>
              <a:t>C. </a:t>
            </a:r>
            <a:r>
              <a:rPr lang="en-US" altLang="ko-KR" sz="900">
                <a:latin typeface="Arial" pitchFamily="34" charset="0"/>
                <a:ea typeface="돋움" pitchFamily="50" charset="-127"/>
                <a:cs typeface="Arial" pitchFamily="34" charset="0"/>
              </a:rPr>
              <a:t>Có thể giảm tối đa không gian lắp </a:t>
            </a:r>
            <a:r>
              <a:rPr lang="en-US" altLang="ko-KR" sz="900" smtClean="0">
                <a:latin typeface="Arial" pitchFamily="34" charset="0"/>
                <a:ea typeface="돋움" pitchFamily="50" charset="-127"/>
                <a:cs typeface="Arial" pitchFamily="34" charset="0"/>
              </a:rPr>
              <a:t>đặt</a:t>
            </a:r>
            <a:endParaRPr lang="en-US" altLang="ko-KR" sz="900">
              <a:latin typeface="Arial" pitchFamily="34" charset="0"/>
              <a:ea typeface="돋움" pitchFamily="50" charset="-127"/>
              <a:cs typeface="Arial" pitchFamily="34" charset="0"/>
            </a:endParaRPr>
          </a:p>
          <a:p>
            <a:r>
              <a:rPr lang="en-US" altLang="ko-KR" sz="900" smtClean="0">
                <a:solidFill>
                  <a:srgbClr val="FF0000"/>
                </a:solidFill>
                <a:latin typeface="Arial" pitchFamily="34" charset="0"/>
                <a:ea typeface="돋움" pitchFamily="50" charset="-127"/>
                <a:cs typeface="Arial" pitchFamily="34" charset="0"/>
              </a:rPr>
              <a:t>D. </a:t>
            </a:r>
            <a:r>
              <a:rPr lang="en-US" altLang="ko-KR" sz="900">
                <a:solidFill>
                  <a:srgbClr val="FF0000"/>
                </a:solidFill>
                <a:latin typeface="Arial" pitchFamily="34" charset="0"/>
                <a:ea typeface="돋움" pitchFamily="50" charset="-127"/>
                <a:cs typeface="Arial" pitchFamily="34" charset="0"/>
              </a:rPr>
              <a:t>Cần có lực căng ban đầu cao.</a:t>
            </a:r>
          </a:p>
        </p:txBody>
      </p:sp>
    </p:spTree>
    <p:extLst>
      <p:ext uri="{BB962C8B-B14F-4D97-AF65-F5344CB8AC3E}">
        <p14:creationId xmlns:p14="http://schemas.microsoft.com/office/powerpoint/2010/main" val="387904569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2573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60" name="Rectangle 7"/>
          <p:cNvSpPr>
            <a:spLocks noChangeArrowheads="1"/>
          </p:cNvSpPr>
          <p:nvPr/>
        </p:nvSpPr>
        <p:spPr bwMode="auto">
          <a:xfrm>
            <a:off x="188640" y="420170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 </a:t>
            </a:r>
            <a:r>
              <a:rPr lang="vi-VN" altLang="ko-KR" sz="950">
                <a:latin typeface="Times New Roman" pitchFamily="18" charset="0"/>
                <a:ea typeface="LG Smart_H Regular" panose="020B0600000101010101" pitchFamily="34" charset="-127"/>
                <a:cs typeface="Times New Roman" pitchFamily="18" charset="0"/>
              </a:rPr>
              <a:t>Giá trị trung bình (average value) được tính như thế </a:t>
            </a:r>
            <a:r>
              <a:rPr lang="vi-VN" altLang="ko-KR" sz="950" smtClean="0">
                <a:latin typeface="Times New Roman" pitchFamily="18" charset="0"/>
                <a:ea typeface="LG Smart_H Regular" panose="020B0600000101010101" pitchFamily="34" charset="-127"/>
                <a:cs typeface="Times New Roman" pitchFamily="18" charset="0"/>
              </a:rPr>
              <a:t>nào</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0.637 x VP_P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0.637 x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VP</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0.707 x </a:t>
            </a:r>
            <a:r>
              <a:rPr lang="en-US" altLang="ko-KR" sz="950" smtClean="0">
                <a:latin typeface="Times New Roman" pitchFamily="18" charset="0"/>
                <a:ea typeface="LG Smart_H Regular" panose="020B0600000101010101" pitchFamily="34" charset="-127"/>
                <a:cs typeface="Times New Roman" pitchFamily="18" charset="0"/>
              </a:rPr>
              <a:t>VP</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0.707 x VP_P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116632" y="5569858"/>
            <a:ext cx="3384376"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Số hiệu nguyên tử Na (Natri) là 11, Lớp ngoài cùng là lớp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Lớp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M</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Lớp  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Lớp  L</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Lớp  </a:t>
            </a:r>
            <a:r>
              <a:rPr lang="vi-VN" altLang="ko-KR" sz="950">
                <a:latin typeface="Times New Roman" pitchFamily="18" charset="0"/>
                <a:ea typeface="LG Smart_H Regular" panose="020B0600000101010101" pitchFamily="34" charset="-127"/>
                <a:cs typeface="Times New Roman" pitchFamily="18" charset="0"/>
              </a:rPr>
              <a:t>K</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9" name="Rectangle 7"/>
          <p:cNvSpPr>
            <a:spLocks noChangeArrowheads="1"/>
          </p:cNvSpPr>
          <p:nvPr/>
        </p:nvSpPr>
        <p:spPr bwMode="auto">
          <a:xfrm>
            <a:off x="3448472" y="2360712"/>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 </a:t>
            </a:r>
            <a:r>
              <a:rPr lang="vi-VN" altLang="ko-KR" sz="950">
                <a:latin typeface="Times New Roman" pitchFamily="18" charset="0"/>
                <a:ea typeface="LG Smart_H Regular" panose="020B0600000101010101" pitchFamily="34" charset="-127"/>
                <a:cs typeface="Times New Roman" pitchFamily="18" charset="0"/>
              </a:rPr>
              <a:t>Chọn đáp án đúng cho mạch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Smoothing circuit</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Timer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circuit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Low-pass </a:t>
            </a:r>
            <a:r>
              <a:rPr lang="en-US" altLang="ko-KR" sz="950" smtClean="0">
                <a:latin typeface="Times New Roman" pitchFamily="18" charset="0"/>
                <a:ea typeface="LG Smart_H Regular" panose="020B0600000101010101" pitchFamily="34" charset="-127"/>
                <a:cs typeface="Times New Roman" pitchFamily="18" charset="0"/>
              </a:rPr>
              <a:t>Filter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High-pass Filter</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3" name="Rectangle 7"/>
          <p:cNvSpPr>
            <a:spLocks noChangeArrowheads="1"/>
          </p:cNvSpPr>
          <p:nvPr/>
        </p:nvSpPr>
        <p:spPr bwMode="auto">
          <a:xfrm>
            <a:off x="3429000" y="628776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Chọn đáp án đúng dưới đây về phương thức nối dây cảm </a:t>
            </a:r>
            <a:r>
              <a:rPr lang="vi-VN" altLang="ko-KR" sz="950" smtClean="0">
                <a:latin typeface="Times New Roman" pitchFamily="18" charset="0"/>
                <a:ea typeface="LG Smart_H Regular" panose="020B0600000101010101" pitchFamily="34" charset="-127"/>
                <a:cs typeface="Times New Roman" pitchFamily="18" charset="0"/>
              </a:rPr>
              <a:t>biến?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Dây nâu(-), dây trắng(+), dây đen(out),dây hồng(option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Dây nâu(+),dây xanh(-),dây trắng(out),dây hồng(option</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Dây nâu(+),dây xanh(-),dây đen(out),dây trắng(option</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Dây nâu(+),dây đen(-),dây xanh(out),dây hồng(option)</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76" name="Rectangle 7"/>
          <p:cNvSpPr>
            <a:spLocks noChangeArrowheads="1"/>
          </p:cNvSpPr>
          <p:nvPr/>
        </p:nvSpPr>
        <p:spPr bwMode="auto">
          <a:xfrm>
            <a:off x="3439885" y="8013774"/>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 </a:t>
            </a:r>
            <a:r>
              <a:rPr lang="en-US" altLang="ko-KR" sz="950">
                <a:latin typeface="Times New Roman" pitchFamily="18" charset="0"/>
                <a:ea typeface="LG Smart_H Regular" panose="020B0600000101010101" pitchFamily="34" charset="-127"/>
                <a:cs typeface="Times New Roman" pitchFamily="18" charset="0"/>
              </a:rPr>
              <a:t>Thermistor "negative temperature coefficient thermistor" có đặc điểm </a:t>
            </a:r>
            <a:r>
              <a:rPr lang="en-US" altLang="ko-KR" sz="950" smtClean="0">
                <a:latin typeface="Times New Roman" pitchFamily="18" charset="0"/>
                <a:ea typeface="LG Smart_H Regular" panose="020B0600000101010101" pitchFamily="34" charset="-127"/>
                <a:cs typeface="Times New Roman" pitchFamily="18" charset="0"/>
              </a:rPr>
              <a:t>là</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Nhiệt độ tăng thì giá trị điện trở giảm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Nhiệt độ tăng thì giá trị điện trở tăng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Nhiệt độ tăng thì giá trị điện dung </a:t>
            </a:r>
            <a:r>
              <a:rPr lang="vi-VN" altLang="ko-KR" sz="950" smtClean="0">
                <a:latin typeface="Times New Roman" pitchFamily="18" charset="0"/>
                <a:ea typeface="LG Smart_H Regular" panose="020B0600000101010101" pitchFamily="34" charset="-127"/>
                <a:cs typeface="Times New Roman" pitchFamily="18" charset="0"/>
              </a:rPr>
              <a:t>giảm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Nhiệt độ tăng thì giá trị điện dung tăng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7" name="Rectangle 7"/>
          <p:cNvSpPr>
            <a:spLocks noChangeArrowheads="1"/>
          </p:cNvSpPr>
          <p:nvPr/>
        </p:nvSpPr>
        <p:spPr bwMode="auto">
          <a:xfrm>
            <a:off x="184076" y="671763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4</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Hiện tượng cách điện không hết khiến một phần dòng điện chạy ra ngoài và chạy vào vật dẫn xung quanh.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vi-VN" altLang="ko-KR" sz="950" smtClean="0">
                <a:latin typeface="Times New Roman" pitchFamily="18" charset="0"/>
                <a:ea typeface="LG Smart_H Regular" panose="020B0600000101010101" pitchFamily="34" charset="-127"/>
                <a:cs typeface="Times New Roman" pitchFamily="18" charset="0"/>
              </a:rPr>
              <a:t>Là </a:t>
            </a:r>
            <a:r>
              <a:rPr lang="vi-VN" altLang="ko-KR" sz="950">
                <a:latin typeface="Times New Roman" pitchFamily="18" charset="0"/>
                <a:ea typeface="LG Smart_H Regular" panose="020B0600000101010101" pitchFamily="34" charset="-127"/>
                <a:cs typeface="Times New Roman" pitchFamily="18" charset="0"/>
              </a:rPr>
              <a:t>hiện tượng 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Rò điện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Đoạn dây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Chập </a:t>
            </a:r>
            <a:r>
              <a:rPr lang="en-US" altLang="ko-KR" sz="950" smtClean="0">
                <a:latin typeface="Times New Roman" pitchFamily="18" charset="0"/>
                <a:ea typeface="LG Smart_H Regular" panose="020B0600000101010101" pitchFamily="34" charset="-127"/>
                <a:cs typeface="Times New Roman" pitchFamily="18" charset="0"/>
              </a:rPr>
              <a:t>dây</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Tiếp địa </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88640" y="1136576"/>
            <a:ext cx="3239810" cy="2723823"/>
            <a:chOff x="188640" y="1255253"/>
            <a:chExt cx="3239810" cy="2723823"/>
          </a:xfrm>
        </p:grpSpPr>
        <p:sp>
          <p:nvSpPr>
            <p:cNvPr id="59" name="Rectangle 7"/>
            <p:cNvSpPr>
              <a:spLocks noChangeArrowheads="1"/>
            </p:cNvSpPr>
            <p:nvPr/>
          </p:nvSpPr>
          <p:spPr bwMode="auto">
            <a:xfrm>
              <a:off x="188640" y="1255253"/>
              <a:ext cx="3239810" cy="2723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1</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Nhìn vào hình vẽ. Vậy A là hiện tượng </a:t>
              </a:r>
              <a:r>
                <a:rPr lang="vi-VN" altLang="ko-KR" sz="950" smtClean="0">
                  <a:latin typeface="Times New Roman" pitchFamily="18" charset="0"/>
                  <a:ea typeface="LG Smart_H Regular" panose="020B0600000101010101" pitchFamily="34" charset="-127"/>
                  <a:cs typeface="Times New Roman" pitchFamily="18" charset="0"/>
                </a:rPr>
                <a:t>gì? </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Kích </a:t>
              </a:r>
              <a:r>
                <a:rPr lang="en-US" altLang="ko-KR" sz="950">
                  <a:latin typeface="Times New Roman" pitchFamily="18" charset="0"/>
                  <a:ea typeface="LG Smart_H Regular" panose="020B0600000101010101" pitchFamily="34" charset="-127"/>
                  <a:cs typeface="Times New Roman" pitchFamily="18" charset="0"/>
                </a:rPr>
                <a:t>thích(excitation</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I-ôn hóa(ionization)(Điện ly)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Phóng xung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điện</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Lượng tử ánh sáng(Proton)</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56" name="Group 55"/>
            <p:cNvGrpSpPr/>
            <p:nvPr/>
          </p:nvGrpSpPr>
          <p:grpSpPr>
            <a:xfrm>
              <a:off x="718317" y="1610235"/>
              <a:ext cx="1990603" cy="1470557"/>
              <a:chOff x="0" y="0"/>
              <a:chExt cx="3846157" cy="2239736"/>
            </a:xfrm>
          </p:grpSpPr>
          <p:pic>
            <p:nvPicPr>
              <p:cNvPr id="64" name="Picture 63"/>
              <p:cNvPicPr>
                <a:picLocks noChangeAspect="1" noChangeArrowheads="1"/>
              </p:cNvPicPr>
              <p:nvPr/>
            </p:nvPicPr>
            <p:blipFill>
              <a:blip r:embed="rId3">
                <a:extLst>
                  <a:ext uri="{28A0092B-C50C-407E-A947-70E740481C1C}">
                    <a14:useLocalDpi xmlns:a14="http://schemas.microsoft.com/office/drawing/2010/main" val="0"/>
                  </a:ext>
                </a:extLst>
              </a:blip>
              <a:srcRect l="3677" t="6573"/>
              <a:stretch>
                <a:fillRect/>
              </a:stretch>
            </p:blipFill>
            <p:spPr bwMode="auto">
              <a:xfrm>
                <a:off x="0" y="0"/>
                <a:ext cx="3846157" cy="2239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직사각형 7"/>
              <p:cNvSpPr>
                <a:spLocks noChangeArrowheads="1"/>
              </p:cNvSpPr>
              <p:nvPr/>
            </p:nvSpPr>
            <p:spPr bwMode="auto">
              <a:xfrm>
                <a:off x="481694" y="1095373"/>
                <a:ext cx="304800" cy="247650"/>
              </a:xfrm>
              <a:prstGeom prst="rect">
                <a:avLst/>
              </a:prstGeom>
              <a:solidFill>
                <a:schemeClr val="bg1"/>
              </a:solidFill>
              <a:ln w="9525" algn="ctr">
                <a:solidFill>
                  <a:schemeClr val="tx1"/>
                </a:solidFill>
                <a:round/>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r>
                  <a:rPr lang="vi-VN" altLang="ko-KR" sz="1100" b="1">
                    <a:latin typeface="Times New Roman" pitchFamily="18" charset="0"/>
                    <a:cs typeface="Times New Roman" pitchFamily="18" charset="0"/>
                  </a:rPr>
                  <a:t>C</a:t>
                </a:r>
                <a:endParaRPr lang="ko-KR" altLang="en-US" sz="1100" b="1">
                  <a:latin typeface="Times New Roman" pitchFamily="18" charset="0"/>
                  <a:cs typeface="Times New Roman" pitchFamily="18" charset="0"/>
                </a:endParaRPr>
              </a:p>
            </p:txBody>
          </p:sp>
          <p:sp>
            <p:nvSpPr>
              <p:cNvPr id="66" name="직사각형 8"/>
              <p:cNvSpPr>
                <a:spLocks noChangeArrowheads="1"/>
              </p:cNvSpPr>
              <p:nvPr/>
            </p:nvSpPr>
            <p:spPr bwMode="auto">
              <a:xfrm>
                <a:off x="1236891" y="361949"/>
                <a:ext cx="322488" cy="285750"/>
              </a:xfrm>
              <a:prstGeom prst="rect">
                <a:avLst/>
              </a:prstGeom>
              <a:solidFill>
                <a:schemeClr val="bg1"/>
              </a:solidFill>
              <a:ln w="9525" algn="ctr">
                <a:solidFill>
                  <a:schemeClr val="tx1"/>
                </a:solidFill>
                <a:round/>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r>
                  <a:rPr lang="vi-VN" altLang="ko-KR" sz="1100" b="1">
                    <a:latin typeface="Times New Roman" pitchFamily="18" charset="0"/>
                    <a:cs typeface="Times New Roman" pitchFamily="18" charset="0"/>
                  </a:rPr>
                  <a:t>A</a:t>
                </a:r>
                <a:endParaRPr lang="ko-KR" altLang="en-US" sz="1100" b="1">
                  <a:latin typeface="Times New Roman" pitchFamily="18" charset="0"/>
                  <a:cs typeface="Times New Roman" pitchFamily="18" charset="0"/>
                </a:endParaRPr>
              </a:p>
            </p:txBody>
          </p:sp>
          <p:sp>
            <p:nvSpPr>
              <p:cNvPr id="67" name="직사각형 9"/>
              <p:cNvSpPr>
                <a:spLocks noChangeArrowheads="1"/>
              </p:cNvSpPr>
              <p:nvPr/>
            </p:nvSpPr>
            <p:spPr bwMode="auto">
              <a:xfrm>
                <a:off x="511629" y="48985"/>
                <a:ext cx="346983" cy="344260"/>
              </a:xfrm>
              <a:prstGeom prst="rect">
                <a:avLst/>
              </a:prstGeom>
              <a:solidFill>
                <a:schemeClr val="bg1"/>
              </a:solidFill>
              <a:ln w="9525" algn="ctr">
                <a:solidFill>
                  <a:schemeClr val="tx1"/>
                </a:solidFill>
                <a:round/>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r>
                  <a:rPr lang="vi-VN" altLang="ko-KR" sz="1100" b="1">
                    <a:latin typeface="Times New Roman" pitchFamily="18" charset="0"/>
                    <a:cs typeface="Times New Roman" pitchFamily="18" charset="0"/>
                  </a:rPr>
                  <a:t>B</a:t>
                </a:r>
                <a:endParaRPr lang="ko-KR" altLang="en-US" sz="1100" b="1">
                  <a:latin typeface="Times New Roman" pitchFamily="18" charset="0"/>
                  <a:cs typeface="Times New Roman" pitchFamily="18" charset="0"/>
                </a:endParaRPr>
              </a:p>
            </p:txBody>
          </p:sp>
        </p:grpSp>
      </p:grpSp>
      <p:sp>
        <p:nvSpPr>
          <p:cNvPr id="68" name="Rectangle 7"/>
          <p:cNvSpPr>
            <a:spLocks noChangeArrowheads="1"/>
          </p:cNvSpPr>
          <p:nvPr/>
        </p:nvSpPr>
        <p:spPr bwMode="auto">
          <a:xfrm>
            <a:off x="162099" y="8121352"/>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Chênh lệch điện thế được gọi là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Electric </a:t>
            </a:r>
            <a:r>
              <a:rPr lang="vi-VN" altLang="ko-KR" sz="950" smtClean="0">
                <a:latin typeface="Times New Roman" pitchFamily="18" charset="0"/>
                <a:ea typeface="LG Smart_H Regular" panose="020B0600000101010101" pitchFamily="34" charset="-127"/>
                <a:cs typeface="Times New Roman" pitchFamily="18" charset="0"/>
              </a:rPr>
              <a:t>potential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Potential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difference</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Electric </a:t>
            </a:r>
            <a:r>
              <a:rPr lang="en-US" altLang="ko-KR" sz="950" smtClean="0">
                <a:latin typeface="Times New Roman" pitchFamily="18" charset="0"/>
                <a:ea typeface="LG Smart_H Regular" panose="020B0600000101010101" pitchFamily="34" charset="-127"/>
                <a:cs typeface="Times New Roman" pitchFamily="18" charset="0"/>
              </a:rPr>
              <a:t>voltage</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Electromotive force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1" name="Rectangle 7"/>
          <p:cNvSpPr>
            <a:spLocks noChangeArrowheads="1"/>
          </p:cNvSpPr>
          <p:nvPr/>
        </p:nvSpPr>
        <p:spPr bwMode="auto">
          <a:xfrm>
            <a:off x="3429000" y="106456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Chọn đáp án đúng cho định luật sau: "Tại bất kỳ nút (ngã rẽ) nào trong một mạch điện, thì tổng cường độ dòng điện chạy đến nút phải bằng tổng cường độ dòng điện từ nút chạy đi"?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Định luật </a:t>
            </a:r>
            <a:r>
              <a:rPr lang="vi-VN" altLang="ko-KR" sz="950" smtClean="0">
                <a:latin typeface="Times New Roman" pitchFamily="18" charset="0"/>
                <a:ea typeface="LG Smart_H Regular" panose="020B0600000101010101" pitchFamily="34" charset="-127"/>
                <a:cs typeface="Times New Roman" pitchFamily="18" charset="0"/>
              </a:rPr>
              <a:t>Ohm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Định luật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Kirchhoff</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Định luật </a:t>
            </a:r>
            <a:r>
              <a:rPr lang="en-US" altLang="ko-KR" sz="950" smtClean="0">
                <a:latin typeface="Times New Roman" pitchFamily="18" charset="0"/>
                <a:ea typeface="LG Smart_H Regular" panose="020B0600000101010101" pitchFamily="34" charset="-127"/>
                <a:cs typeface="Times New Roman" pitchFamily="18" charset="0"/>
              </a:rPr>
              <a:t>Lenz</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Định luật Newton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74" name="Picture 7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1854" y="2576736"/>
            <a:ext cx="1706245" cy="899666"/>
          </a:xfrm>
          <a:prstGeom prst="rect">
            <a:avLst/>
          </a:prstGeom>
        </p:spPr>
      </p:pic>
      <p:grpSp>
        <p:nvGrpSpPr>
          <p:cNvPr id="3" name="Group 2"/>
          <p:cNvGrpSpPr/>
          <p:nvPr/>
        </p:nvGrpSpPr>
        <p:grpSpPr>
          <a:xfrm>
            <a:off x="3448472" y="4199528"/>
            <a:ext cx="3239810" cy="1473552"/>
            <a:chOff x="3448472" y="4199528"/>
            <a:chExt cx="3239810" cy="1473552"/>
          </a:xfrm>
        </p:grpSpPr>
        <p:sp>
          <p:nvSpPr>
            <p:cNvPr id="70" name="Rectangle 7"/>
            <p:cNvSpPr>
              <a:spLocks noChangeArrowheads="1"/>
            </p:cNvSpPr>
            <p:nvPr/>
          </p:nvSpPr>
          <p:spPr bwMode="auto">
            <a:xfrm>
              <a:off x="3448472" y="419952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8. </a:t>
              </a:r>
              <a:r>
                <a:rPr lang="vi-VN" altLang="ko-KR" sz="950">
                  <a:latin typeface="Times New Roman" pitchFamily="18" charset="0"/>
                  <a:ea typeface="LG Smart_H Regular" panose="020B0600000101010101" pitchFamily="34" charset="-127"/>
                  <a:cs typeface="Times New Roman" pitchFamily="18" charset="0"/>
                </a:rPr>
                <a:t>Trong hình, điện áp đặt vào 2 đầu của Diode là bao nhiêu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0.2 </a:t>
              </a:r>
              <a:r>
                <a:rPr lang="en-US" altLang="ko-KR" sz="950">
                  <a:latin typeface="Times New Roman" pitchFamily="18" charset="0"/>
                  <a:ea typeface="LG Smart_H Regular" panose="020B0600000101010101" pitchFamily="34" charset="-127"/>
                  <a:cs typeface="Times New Roman" pitchFamily="18" charset="0"/>
                </a:rPr>
                <a:t>(V</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0.5 (V</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0.7 </a:t>
              </a:r>
              <a:r>
                <a:rPr lang="en-US" altLang="ko-KR" sz="950">
                  <a:solidFill>
                    <a:srgbClr val="FF0000"/>
                  </a:solidFill>
                  <a:latin typeface="Times New Roman" pitchFamily="18" charset="0"/>
                  <a:ea typeface="LG Smart_H Regular" panose="020B0600000101010101" pitchFamily="34" charset="-127"/>
                  <a:cs typeface="Times New Roman" pitchFamily="18" charset="0"/>
                </a:rPr>
                <a:t>(V</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a:t>
              </a:r>
              <a:r>
                <a:rPr lang="en-US" altLang="ko-KR" sz="950">
                  <a:latin typeface="Times New Roman" pitchFamily="18" charset="0"/>
                  <a:ea typeface="LG Smart_H Regular" panose="020B0600000101010101" pitchFamily="34" charset="-127"/>
                  <a:cs typeface="Times New Roman" pitchFamily="18" charset="0"/>
                </a:rPr>
                <a:t>0.7 (V)</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75" name="Picture 74"/>
            <p:cNvPicPr>
              <a:picLocks noChangeAspect="1"/>
            </p:cNvPicPr>
            <p:nvPr/>
          </p:nvPicPr>
          <p:blipFill>
            <a:blip r:embed="rId5"/>
            <a:stretch>
              <a:fillRect/>
            </a:stretch>
          </p:blipFill>
          <p:spPr>
            <a:xfrm>
              <a:off x="4682565" y="4395370"/>
              <a:ext cx="1626755" cy="1277710"/>
            </a:xfrm>
            <a:prstGeom prst="rect">
              <a:avLst/>
            </a:prstGeom>
          </p:spPr>
        </p:pic>
      </p:grpSp>
    </p:spTree>
    <p:extLst>
      <p:ext uri="{BB962C8B-B14F-4D97-AF65-F5344CB8AC3E}">
        <p14:creationId xmlns:p14="http://schemas.microsoft.com/office/powerpoint/2010/main" val="834487140"/>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3752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4100" name="Rectangle 4"/>
          <p:cNvSpPr>
            <a:spLocks noChangeArrowheads="1"/>
          </p:cNvSpPr>
          <p:nvPr/>
        </p:nvSpPr>
        <p:spPr bwMode="auto">
          <a:xfrm>
            <a:off x="3460960" y="776288"/>
            <a:ext cx="324383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111" name="Rectangle 173"/>
          <p:cNvSpPr>
            <a:spLocks noChangeArrowheads="1"/>
          </p:cNvSpPr>
          <p:nvPr/>
        </p:nvSpPr>
        <p:spPr bwMode="auto">
          <a:xfrm>
            <a:off x="188640" y="8454533"/>
            <a:ext cx="3308896" cy="53091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15.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thức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đúng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suất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định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mức</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A.  </a:t>
            </a:r>
            <a:r>
              <a:rPr lang="en-US" altLang="ko-KR" sz="950" dirty="0">
                <a:latin typeface="Times New Roman" pitchFamily="18" charset="0"/>
                <a:cs typeface="Times New Roman" pitchFamily="18" charset="0"/>
              </a:rPr>
              <a:t>P = </a:t>
            </a:r>
            <a:r>
              <a:rPr lang="en-US" altLang="ko-KR" sz="950">
                <a:latin typeface="Times New Roman" pitchFamily="18" charset="0"/>
                <a:cs typeface="Times New Roman" pitchFamily="18" charset="0"/>
              </a:rPr>
              <a:t>VR     </a:t>
            </a:r>
            <a:r>
              <a:rPr lang="en-US" altLang="ko-KR" sz="950" smtClean="0">
                <a:solidFill>
                  <a:srgbClr val="FF0000"/>
                </a:solidFill>
                <a:latin typeface="Times New Roman" pitchFamily="18" charset="0"/>
                <a:cs typeface="Times New Roman" pitchFamily="18" charset="0"/>
              </a:rPr>
              <a:t>B.  P </a:t>
            </a:r>
            <a:r>
              <a:rPr lang="en-US" altLang="ko-KR" sz="950" dirty="0">
                <a:solidFill>
                  <a:srgbClr val="FF0000"/>
                </a:solidFill>
                <a:latin typeface="Times New Roman" pitchFamily="18" charset="0"/>
                <a:cs typeface="Times New Roman" pitchFamily="18" charset="0"/>
              </a:rPr>
              <a:t>= </a:t>
            </a:r>
            <a:r>
              <a:rPr lang="en-US" altLang="ko-KR" sz="950">
                <a:solidFill>
                  <a:srgbClr val="FF0000"/>
                </a:solidFill>
                <a:latin typeface="Times New Roman" pitchFamily="18" charset="0"/>
                <a:cs typeface="Times New Roman" pitchFamily="18" charset="0"/>
              </a:rPr>
              <a:t>VI    </a:t>
            </a:r>
            <a:r>
              <a:rPr lang="en-US" altLang="ko-KR" sz="950" smtClean="0">
                <a:latin typeface="Times New Roman" pitchFamily="18" charset="0"/>
                <a:cs typeface="Times New Roman" pitchFamily="18" charset="0"/>
              </a:rPr>
              <a:t>C.  P </a:t>
            </a:r>
            <a:r>
              <a:rPr lang="en-US" altLang="ko-KR" sz="950" dirty="0">
                <a:latin typeface="Times New Roman" pitchFamily="18" charset="0"/>
                <a:cs typeface="Times New Roman" pitchFamily="18" charset="0"/>
              </a:rPr>
              <a:t>= </a:t>
            </a:r>
            <a:r>
              <a:rPr lang="en-US" altLang="ko-KR" sz="950">
                <a:latin typeface="Times New Roman" pitchFamily="18" charset="0"/>
                <a:cs typeface="Times New Roman" pitchFamily="18" charset="0"/>
              </a:rPr>
              <a:t>V/R    </a:t>
            </a:r>
            <a:r>
              <a:rPr lang="en-US" altLang="ko-KR" sz="950" smtClean="0">
                <a:latin typeface="Times New Roman" pitchFamily="18" charset="0"/>
                <a:cs typeface="Times New Roman" pitchFamily="18" charset="0"/>
              </a:rPr>
              <a:t>D.  P </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IB*V</a:t>
            </a:r>
            <a:endParaRPr lang="en-US" altLang="ko-KR" sz="950" dirty="0">
              <a:latin typeface="Times New Roman" pitchFamily="18" charset="0"/>
              <a:cs typeface="Times New Roman" pitchFamily="18" charset="0"/>
            </a:endParaRPr>
          </a:p>
        </p:txBody>
      </p:sp>
      <p:sp>
        <p:nvSpPr>
          <p:cNvPr id="112" name="Rectangle 398"/>
          <p:cNvSpPr>
            <a:spLocks noChangeArrowheads="1"/>
          </p:cNvSpPr>
          <p:nvPr/>
        </p:nvSpPr>
        <p:spPr bwMode="auto">
          <a:xfrm>
            <a:off x="3466740" y="1073588"/>
            <a:ext cx="3308896"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228600" indent="-228600" eaLnBrk="1" hangingPunct="1"/>
            <a:r>
              <a:rPr lang="en-US" altLang="ko-KR" sz="950" dirty="0">
                <a:latin typeface="Times New Roman" pitchFamily="18" charset="0"/>
                <a:cs typeface="Times New Roman" pitchFamily="18" charset="0"/>
              </a:rPr>
              <a:t>16.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dẫn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0" indent="0" eaLnBrk="1" hangingPunct="1"/>
            <a:endParaRPr lang="en-US" altLang="ko-KR" sz="950" smtClean="0">
              <a:latin typeface="Times New Roman" pitchFamily="18" charset="0"/>
              <a:cs typeface="Times New Roman" pitchFamily="18" charset="0"/>
            </a:endParaRPr>
          </a:p>
          <a:p>
            <a:pPr marL="0" indent="0" eaLnBrk="1" hangingPunct="1"/>
            <a:r>
              <a:rPr lang="en-US" altLang="ko-KR" sz="950" smtClean="0">
                <a:latin typeface="Times New Roman" pitchFamily="18" charset="0"/>
                <a:cs typeface="Times New Roman" pitchFamily="18" charset="0"/>
              </a:rPr>
              <a:t>A. Selium </a:t>
            </a:r>
            <a:r>
              <a:rPr lang="en-US" altLang="ko-KR" sz="950" dirty="0" smtClean="0">
                <a:latin typeface="Times New Roman" pitchFamily="18" charset="0"/>
                <a:cs typeface="Times New Roman" pitchFamily="18" charset="0"/>
              </a:rPr>
              <a:t>(Se</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B. </a:t>
            </a:r>
            <a:r>
              <a:rPr lang="en-US" altLang="ko-KR" sz="950" dirty="0">
                <a:latin typeface="Times New Roman" pitchFamily="18" charset="0"/>
                <a:cs typeface="Times New Roman" pitchFamily="18" charset="0"/>
              </a:rPr>
              <a:t>G</a:t>
            </a:r>
            <a:r>
              <a:rPr lang="en-US" altLang="ko-KR" sz="950" smtClean="0">
                <a:latin typeface="Times New Roman" pitchFamily="18" charset="0"/>
                <a:cs typeface="Times New Roman" pitchFamily="18" charset="0"/>
              </a:rPr>
              <a:t>ermanium(Ge</a:t>
            </a:r>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0" indent="0" eaLnBrk="1" hangingPunct="1"/>
            <a:r>
              <a:rPr lang="en-US" altLang="ko-KR" sz="950" smtClean="0">
                <a:latin typeface="Times New Roman" pitchFamily="18" charset="0"/>
                <a:cs typeface="Times New Roman" pitchFamily="18" charset="0"/>
              </a:rPr>
              <a:t>C. Silicon  </a:t>
            </a:r>
            <a:r>
              <a:rPr lang="ko-KR" altLang="en-US" sz="950" smtClean="0">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D.</a:t>
            </a:r>
            <a:r>
              <a:rPr lang="ko-KR" altLang="en-US" sz="950" smtClean="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L</a:t>
            </a:r>
            <a:r>
              <a:rPr lang="en-US" altLang="ko-KR" sz="950" smtClean="0">
                <a:solidFill>
                  <a:srgbClr val="FF0000"/>
                </a:solidFill>
                <a:latin typeface="Times New Roman" pitchFamily="18" charset="0"/>
                <a:cs typeface="Times New Roman" pitchFamily="18" charset="0"/>
              </a:rPr>
              <a:t>ưu </a:t>
            </a:r>
            <a:r>
              <a:rPr lang="en-US" altLang="ko-KR" sz="950" dirty="0" err="1" smtClean="0">
                <a:solidFill>
                  <a:srgbClr val="FF0000"/>
                </a:solidFill>
                <a:latin typeface="Times New Roman" pitchFamily="18" charset="0"/>
                <a:cs typeface="Times New Roman" pitchFamily="18" charset="0"/>
              </a:rPr>
              <a:t>huỳnh</a:t>
            </a:r>
            <a:endParaRPr lang="ko-KR" altLang="en-US" sz="950" dirty="0">
              <a:solidFill>
                <a:srgbClr val="FF0000"/>
              </a:solidFill>
              <a:latin typeface="Times New Roman" pitchFamily="18" charset="0"/>
              <a:cs typeface="Times New Roman" pitchFamily="18" charset="0"/>
            </a:endParaRPr>
          </a:p>
        </p:txBody>
      </p:sp>
      <p:sp>
        <p:nvSpPr>
          <p:cNvPr id="113" name="Rectangle 283"/>
          <p:cNvSpPr>
            <a:spLocks noChangeArrowheads="1"/>
          </p:cNvSpPr>
          <p:nvPr/>
        </p:nvSpPr>
        <p:spPr bwMode="auto">
          <a:xfrm>
            <a:off x="160784" y="1064568"/>
            <a:ext cx="3279264"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11.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coil?</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Đặc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ổn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định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sự</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dòng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Áp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tượng</a:t>
            </a:r>
            <a:r>
              <a:rPr lang="en-US" altLang="ko-KR" sz="950" smtClean="0">
                <a:latin typeface="Times New Roman" pitchFamily="18" charset="0"/>
                <a:cs typeface="Times New Roman" pitchFamily="18" charset="0"/>
              </a:rPr>
              <a:t> hỗ </a:t>
            </a:r>
            <a:r>
              <a:rPr lang="en-US" altLang="ko-KR" sz="950" dirty="0" err="1" smtClean="0">
                <a:latin typeface="Times New Roman" pitchFamily="18" charset="0"/>
                <a:cs typeface="Times New Roman" pitchFamily="18" charset="0"/>
              </a:rPr>
              <a:t>cảm</a:t>
            </a:r>
            <a:r>
              <a:rPr lang="en-US" altLang="ko-KR"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nam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châm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D.</a:t>
            </a:r>
            <a:r>
              <a:rPr lang="ko-KR" altLang="en-US" sz="95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Áp</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dụng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hiện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tượng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khuếch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đại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dòng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điện</a:t>
            </a:r>
            <a:endParaRPr lang="ko-KR" altLang="en-US" sz="950" dirty="0">
              <a:solidFill>
                <a:srgbClr val="FF0000"/>
              </a:solidFill>
              <a:latin typeface="Times New Roman" pitchFamily="18" charset="0"/>
              <a:cs typeface="Times New Roman" pitchFamily="18" charset="0"/>
            </a:endParaRPr>
          </a:p>
        </p:txBody>
      </p:sp>
      <p:grpSp>
        <p:nvGrpSpPr>
          <p:cNvPr id="115" name="Group 114"/>
          <p:cNvGrpSpPr/>
          <p:nvPr/>
        </p:nvGrpSpPr>
        <p:grpSpPr>
          <a:xfrm>
            <a:off x="188640" y="2144688"/>
            <a:ext cx="3240360" cy="823302"/>
            <a:chOff x="3353817" y="3720680"/>
            <a:chExt cx="3240360" cy="823302"/>
          </a:xfrm>
        </p:grpSpPr>
        <p:sp>
          <p:nvSpPr>
            <p:cNvPr id="116" name="Rectangle 178"/>
            <p:cNvSpPr>
              <a:spLocks noChangeArrowheads="1"/>
            </p:cNvSpPr>
            <p:nvPr/>
          </p:nvSpPr>
          <p:spPr bwMode="auto">
            <a:xfrm>
              <a:off x="3353817" y="3720680"/>
              <a:ext cx="3124200"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12</a:t>
              </a:r>
              <a:r>
                <a:rPr lang="en-US" altLang="ko-KR" sz="950">
                  <a:latin typeface="Times New Roman" pitchFamily="18" charset="0"/>
                  <a:cs typeface="Times New Roman" pitchFamily="18" charset="0"/>
                </a:rPr>
                <a:t>. </a:t>
              </a:r>
              <a:r>
                <a:rPr lang="vi-VN" altLang="ko-KR" sz="950">
                  <a:latin typeface="Times New Roman" pitchFamily="18" charset="0"/>
                  <a:cs typeface="Times New Roman" pitchFamily="18" charset="0"/>
                </a:rPr>
                <a:t>Giá trị của điện trở sau là bao nhiêu</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5.6 </a:t>
              </a:r>
              <a:r>
                <a:rPr lang="en-US" altLang="ko-KR" sz="950" dirty="0">
                  <a:latin typeface="Times New Roman" pitchFamily="18" charset="0"/>
                  <a:cs typeface="Times New Roman" pitchFamily="18" charset="0"/>
                </a:rPr>
                <a:t>[</a:t>
              </a:r>
              <a:r>
                <a:rPr lang="en-US" altLang="ko-KR" sz="950" dirty="0" err="1">
                  <a:latin typeface="Times New Roman" pitchFamily="18" charset="0"/>
                  <a:cs typeface="Times New Roman" pitchFamily="18" charset="0"/>
                </a:rPr>
                <a:t>kΩ</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B. </a:t>
              </a:r>
              <a:r>
                <a:rPr lang="en-US" altLang="ko-KR" sz="950" dirty="0">
                  <a:solidFill>
                    <a:srgbClr val="FF0000"/>
                  </a:solidFill>
                  <a:latin typeface="Times New Roman" pitchFamily="18" charset="0"/>
                  <a:cs typeface="Times New Roman" pitchFamily="18" charset="0"/>
                </a:rPr>
                <a:t>560 </a:t>
              </a:r>
              <a:r>
                <a:rPr lang="en-US" altLang="ko-KR" sz="950">
                  <a:solidFill>
                    <a:srgbClr val="FF0000"/>
                  </a:solidFill>
                  <a:latin typeface="Times New Roman" pitchFamily="18" charset="0"/>
                  <a:cs typeface="Times New Roman" pitchFamily="18" charset="0"/>
                </a:rPr>
                <a:t>[</a:t>
              </a:r>
              <a:r>
                <a:rPr lang="en-US" altLang="ko-KR" sz="950" smtClean="0">
                  <a:solidFill>
                    <a:srgbClr val="FF0000"/>
                  </a:solidFill>
                  <a:latin typeface="Times New Roman" pitchFamily="18" charset="0"/>
                  <a:cs typeface="Times New Roman" pitchFamily="18" charset="0"/>
                </a:rPr>
                <a:t>Ω]   </a:t>
              </a: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a:latin typeface="Times New Roman" pitchFamily="18" charset="0"/>
                  <a:cs typeface="Times New Roman" pitchFamily="18" charset="0"/>
                </a:rPr>
                <a:t>650 [Ω</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D. </a:t>
              </a:r>
              <a:r>
                <a:rPr lang="en-US" altLang="ko-KR" sz="950" dirty="0">
                  <a:latin typeface="Times New Roman" pitchFamily="18" charset="0"/>
                  <a:cs typeface="Times New Roman" pitchFamily="18" charset="0"/>
                </a:rPr>
                <a:t>65 [</a:t>
              </a:r>
              <a:r>
                <a:rPr lang="en-US" altLang="ko-KR" sz="950" dirty="0" err="1">
                  <a:latin typeface="Times New Roman" pitchFamily="18" charset="0"/>
                  <a:cs typeface="Times New Roman" pitchFamily="18" charset="0"/>
                </a:rPr>
                <a:t>kΩ</a:t>
              </a:r>
              <a:r>
                <a:rPr lang="en-US" altLang="ko-KR" sz="950" dirty="0">
                  <a:latin typeface="Times New Roman" pitchFamily="18" charset="0"/>
                  <a:cs typeface="Times New Roman" pitchFamily="18" charset="0"/>
                </a:rPr>
                <a:t>]</a:t>
              </a:r>
            </a:p>
          </p:txBody>
        </p:sp>
        <p:grpSp>
          <p:nvGrpSpPr>
            <p:cNvPr id="117" name="Group 179"/>
            <p:cNvGrpSpPr>
              <a:grpSpLocks/>
            </p:cNvGrpSpPr>
            <p:nvPr/>
          </p:nvGrpSpPr>
          <p:grpSpPr bwMode="auto">
            <a:xfrm>
              <a:off x="5258636" y="3995932"/>
              <a:ext cx="1119188" cy="390526"/>
              <a:chOff x="1341" y="5808"/>
              <a:chExt cx="774" cy="246"/>
            </a:xfrm>
          </p:grpSpPr>
          <p:graphicFrame>
            <p:nvGraphicFramePr>
              <p:cNvPr id="119" name="Object 180"/>
              <p:cNvGraphicFramePr>
                <a:graphicFrameLocks noChangeAspect="1"/>
              </p:cNvGraphicFramePr>
              <p:nvPr>
                <p:extLst>
                  <p:ext uri="{D42A27DB-BD31-4B8C-83A1-F6EECF244321}">
                    <p14:modId xmlns:p14="http://schemas.microsoft.com/office/powerpoint/2010/main" val="2132343509"/>
                  </p:ext>
                </p:extLst>
              </p:nvPr>
            </p:nvGraphicFramePr>
            <p:xfrm>
              <a:off x="1341" y="5808"/>
              <a:ext cx="774" cy="108"/>
            </p:xfrm>
            <a:graphic>
              <a:graphicData uri="http://schemas.openxmlformats.org/presentationml/2006/ole">
                <mc:AlternateContent xmlns:mc="http://schemas.openxmlformats.org/markup-compatibility/2006">
                  <mc:Choice xmlns:v="urn:schemas-microsoft-com:vml" Requires="v">
                    <p:oleObj spid="_x0000_s1056" name="비트맵 이미지" r:id="rId4" imgW="1228571" imgH="171338" progId="Paint.Picture">
                      <p:embed/>
                    </p:oleObj>
                  </mc:Choice>
                  <mc:Fallback>
                    <p:oleObj name="비트맵 이미지" r:id="rId4" imgW="1228571" imgH="171338"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1" y="5808"/>
                            <a:ext cx="774" cy="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0" name="Text Box 181"/>
              <p:cNvSpPr txBox="1">
                <a:spLocks noChangeArrowheads="1"/>
              </p:cNvSpPr>
              <p:nvPr/>
            </p:nvSpPr>
            <p:spPr bwMode="auto">
              <a:xfrm>
                <a:off x="1478" y="5904"/>
                <a:ext cx="465"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ko-KR" altLang="en-US" sz="950" b="1">
                    <a:latin typeface="Times New Roman" pitchFamily="18" charset="0"/>
                    <a:cs typeface="Times New Roman" pitchFamily="18" charset="0"/>
                  </a:rPr>
                  <a:t>녹청갈금</a:t>
                </a:r>
              </a:p>
            </p:txBody>
          </p:sp>
        </p:grpSp>
        <p:sp>
          <p:nvSpPr>
            <p:cNvPr id="118" name="Rectangle 173"/>
            <p:cNvSpPr>
              <a:spLocks noChangeArrowheads="1"/>
            </p:cNvSpPr>
            <p:nvPr/>
          </p:nvSpPr>
          <p:spPr bwMode="auto">
            <a:xfrm>
              <a:off x="5239807" y="4152728"/>
              <a:ext cx="1354370" cy="384721"/>
            </a:xfrm>
            <a:prstGeom prst="rect">
              <a:avLst/>
            </a:prstGeom>
            <a:solidFill>
              <a:schemeClr val="bg1"/>
            </a:solidFill>
            <a:ln>
              <a:noFill/>
            </a:ln>
            <a:effectLs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b="1" smtClean="0">
                  <a:latin typeface="Times New Roman" pitchFamily="18" charset="0"/>
                  <a:cs typeface="Times New Roman" pitchFamily="18" charset="0"/>
                </a:rPr>
                <a:t>Xanh lục , Xanh lam, Nâu, Gold</a:t>
              </a:r>
              <a:endParaRPr lang="en-US" altLang="ko-KR" sz="950" b="1">
                <a:latin typeface="Times New Roman" pitchFamily="18" charset="0"/>
                <a:cs typeface="Times New Roman" pitchFamily="18" charset="0"/>
              </a:endParaRPr>
            </a:p>
          </p:txBody>
        </p:sp>
      </p:grpSp>
      <p:sp>
        <p:nvSpPr>
          <p:cNvPr id="121" name="Rectangle 591"/>
          <p:cNvSpPr>
            <a:spLocks noChangeArrowheads="1"/>
          </p:cNvSpPr>
          <p:nvPr/>
        </p:nvSpPr>
        <p:spPr bwMode="auto">
          <a:xfrm>
            <a:off x="3501008" y="6073914"/>
            <a:ext cx="312420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19.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sẽ</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4 </a:t>
            </a:r>
            <a:r>
              <a:rPr lang="en-US" altLang="ko-KR" sz="950" dirty="0" err="1" smtClean="0">
                <a:latin typeface="Times New Roman" pitchFamily="18" charset="0"/>
                <a:cs typeface="Times New Roman" pitchFamily="18" charset="0"/>
              </a:rPr>
              <a:t>yếu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4 </a:t>
            </a:r>
            <a:r>
              <a:rPr lang="en-US" altLang="ko-KR" sz="950" dirty="0" err="1" smtClean="0">
                <a:latin typeface="Times New Roman" pitchFamily="18" charset="0"/>
                <a:cs typeface="Times New Roman" pitchFamily="18" charset="0"/>
              </a:rPr>
              <a:t>yếu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đó</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 A. Trong lượng </a:t>
            </a:r>
            <a:r>
              <a:rPr lang="en-US" altLang="ko-KR" sz="950" dirty="0" err="1" smtClean="0">
                <a:solidFill>
                  <a:srgbClr val="FF0000"/>
                </a:solidFill>
                <a:latin typeface="Times New Roman" pitchFamily="18" charset="0"/>
                <a:cs typeface="Times New Roman" pitchFamily="18" charset="0"/>
              </a:rPr>
              <a:t>của</a:t>
            </a:r>
            <a:r>
              <a:rPr lang="en-US" altLang="ko-KR" sz="950" dirty="0" smtClean="0">
                <a:solidFill>
                  <a:srgbClr val="FF0000"/>
                </a:solidFill>
                <a:latin typeface="Times New Roman" pitchFamily="18" charset="0"/>
                <a:cs typeface="Times New Roman" pitchFamily="18" charset="0"/>
              </a:rPr>
              <a:t> </a:t>
            </a:r>
            <a:r>
              <a:rPr lang="en-US" altLang="ko-KR" sz="950" err="1" smtClean="0">
                <a:solidFill>
                  <a:srgbClr val="FF0000"/>
                </a:solidFill>
                <a:latin typeface="Times New Roman" pitchFamily="18" charset="0"/>
                <a:cs typeface="Times New Roman" pitchFamily="18" charset="0"/>
              </a:rPr>
              <a:t>dây</a:t>
            </a:r>
            <a:r>
              <a:rPr lang="en-US" altLang="ko-KR" sz="950" smtClean="0">
                <a:solidFill>
                  <a:srgbClr val="FF0000"/>
                </a:solidFill>
                <a:latin typeface="Times New Roman" pitchFamily="18" charset="0"/>
                <a:cs typeface="Times New Roman" pitchFamily="18" charset="0"/>
              </a:rPr>
              <a:t> điện</a:t>
            </a:r>
            <a:r>
              <a:rPr lang="ko-KR" altLang="en-US" sz="950">
                <a:solidFill>
                  <a:srgbClr val="FF0000"/>
                </a:solidFill>
                <a:latin typeface="Times New Roman" pitchFamily="18" charset="0"/>
                <a:cs typeface="Times New Roman" pitchFamily="18" charset="0"/>
              </a:rPr>
              <a:t> </a:t>
            </a:r>
            <a:r>
              <a:rPr lang="ko-KR" altLang="en-US" sz="950" smtClean="0">
                <a:solidFill>
                  <a:srgbClr val="FF0000"/>
                </a:solidFill>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endParaRPr lang="ko-KR" altLang="en-US" sz="950" dirty="0">
              <a:latin typeface="Times New Roman" pitchFamily="18" charset="0"/>
              <a:cs typeface="Times New Roman" pitchFamily="18" charset="0"/>
            </a:endParaRPr>
          </a:p>
          <a:p>
            <a:pPr eaLnBrk="1" hangingPunct="1"/>
            <a:r>
              <a:rPr lang="ko-KR" altLang="en-US"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điện</a:t>
            </a:r>
            <a:r>
              <a:rPr lang="en-US" altLang="ko-KR" sz="950" smtClean="0">
                <a:latin typeface="Times New Roman" pitchFamily="18" charset="0"/>
                <a:cs typeface="Times New Roman" pitchFamily="18" charset="0"/>
              </a:rPr>
              <a:t> </a:t>
            </a:r>
            <a:r>
              <a:rPr lang="ko-KR" altLang="en-US" sz="95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p:txBody>
      </p:sp>
      <p:sp>
        <p:nvSpPr>
          <p:cNvPr id="122" name="Rectangle 174"/>
          <p:cNvSpPr>
            <a:spLocks noChangeArrowheads="1"/>
          </p:cNvSpPr>
          <p:nvPr/>
        </p:nvSpPr>
        <p:spPr bwMode="auto">
          <a:xfrm>
            <a:off x="3501008" y="7802106"/>
            <a:ext cx="324036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20. </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nhiệt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lớn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gọi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carbon?</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màng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kim</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loại</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t>
            </a:r>
            <a:r>
              <a:rPr lang="en-US" altLang="ko-KR" sz="950" smtClean="0">
                <a:latin typeface="Times New Roman" pitchFamily="18" charset="0"/>
                <a:cs typeface="Times New Roman" pitchFamily="18" charset="0"/>
              </a:rPr>
              <a:t>iện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cement </a:t>
            </a:r>
            <a:endParaRPr lang="ko-KR" altLang="en-US" sz="950" dirty="0">
              <a:latin typeface="Times New Roman" pitchFamily="18" charset="0"/>
              <a:cs typeface="Times New Roman" pitchFamily="18" charset="0"/>
            </a:endParaRPr>
          </a:p>
          <a:p>
            <a:pPr eaLnBrk="1" hangingPunct="1"/>
            <a:r>
              <a:rPr lang="ko-KR" altLang="en-US" sz="950">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C.</a:t>
            </a:r>
            <a:r>
              <a:rPr lang="ko-KR" altLang="en-US" sz="95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Điện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trở</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màng</a:t>
            </a:r>
            <a:r>
              <a:rPr lang="en-US" altLang="ko-KR" sz="950" dirty="0" smtClean="0">
                <a:solidFill>
                  <a:srgbClr val="FF0000"/>
                </a:solidFill>
                <a:latin typeface="Times New Roman" pitchFamily="18" charset="0"/>
                <a:cs typeface="Times New Roman" pitchFamily="18" charset="0"/>
              </a:rPr>
              <a:t> carbon </a:t>
            </a:r>
            <a:r>
              <a:rPr lang="en-US" altLang="ko-KR" sz="950" err="1" smtClean="0">
                <a:solidFill>
                  <a:srgbClr val="FF0000"/>
                </a:solidFill>
                <a:latin typeface="Times New Roman" pitchFamily="18" charset="0"/>
                <a:cs typeface="Times New Roman" pitchFamily="18" charset="0"/>
              </a:rPr>
              <a:t>nhỏ</a:t>
            </a:r>
            <a:r>
              <a:rPr lang="ko-KR" altLang="en-US" sz="950" smtClean="0">
                <a:solidFill>
                  <a:srgbClr val="FF000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quấn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endParaRPr lang="ko-KR" altLang="en-US" sz="950" dirty="0">
              <a:latin typeface="Times New Roman" pitchFamily="18" charset="0"/>
              <a:cs typeface="Times New Roman" pitchFamily="18" charset="0"/>
            </a:endParaRPr>
          </a:p>
        </p:txBody>
      </p:sp>
      <p:sp>
        <p:nvSpPr>
          <p:cNvPr id="123" name="Rectangle 122"/>
          <p:cNvSpPr/>
          <p:nvPr/>
        </p:nvSpPr>
        <p:spPr>
          <a:xfrm>
            <a:off x="3429000" y="2635736"/>
            <a:ext cx="3275792" cy="1261884"/>
          </a:xfrm>
          <a:prstGeom prst="rect">
            <a:avLst/>
          </a:prstGeom>
        </p:spPr>
        <p:txBody>
          <a:bodyPr wrap="square">
            <a:spAutoFit/>
          </a:bodyPr>
          <a:lstStyle/>
          <a:p>
            <a:r>
              <a:rPr lang="vi-VN" altLang="ko-KR" sz="950" smtClean="0">
                <a:latin typeface="Times New Roman" pitchFamily="18" charset="0"/>
                <a:ea typeface="돋움" pitchFamily="50" charset="-127"/>
                <a:cs typeface="Times New Roman" pitchFamily="18" charset="0"/>
              </a:rPr>
              <a:t>1</a:t>
            </a:r>
            <a:r>
              <a:rPr lang="en-US" altLang="ko-KR" sz="950" smtClean="0">
                <a:latin typeface="Times New Roman" pitchFamily="18" charset="0"/>
                <a:ea typeface="돋움" pitchFamily="50" charset="-127"/>
                <a:cs typeface="Times New Roman" pitchFamily="18" charset="0"/>
              </a:rPr>
              <a:t>7</a:t>
            </a:r>
            <a:r>
              <a:rPr lang="vi-VN" altLang="ko-KR" sz="950" smtClean="0">
                <a:latin typeface="Times New Roman" pitchFamily="18" charset="0"/>
                <a:ea typeface="돋움" pitchFamily="50" charset="-127"/>
                <a:cs typeface="Times New Roman" pitchFamily="18" charset="0"/>
              </a:rPr>
              <a:t>. </a:t>
            </a:r>
            <a:r>
              <a:rPr lang="vi-VN" altLang="ko-KR" sz="950">
                <a:latin typeface="Times New Roman" pitchFamily="18" charset="0"/>
                <a:ea typeface="돋움" pitchFamily="50" charset="-127"/>
                <a:cs typeface="Times New Roman" pitchFamily="18" charset="0"/>
              </a:rPr>
              <a:t>Điều gì được mô tả tiếp theo?</a:t>
            </a:r>
          </a:p>
          <a:p>
            <a:r>
              <a:rPr lang="vi-VN" altLang="ko-KR"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Electron</a:t>
            </a:r>
            <a:r>
              <a:rPr lang="vi-VN" altLang="ko-KR" sz="950">
                <a:latin typeface="Times New Roman" pitchFamily="18" charset="0"/>
                <a:ea typeface="돋움" pitchFamily="50" charset="-127"/>
                <a:cs typeface="Times New Roman" pitchFamily="18" charset="0"/>
              </a:rPr>
              <a:t> nhận được năng lượng và năng lượng của nó tăng lên, nó sẽ rời khỏi </a:t>
            </a:r>
            <a:r>
              <a:rPr lang="en-US" altLang="ko-KR" sz="950">
                <a:latin typeface="Times New Roman" pitchFamily="18" charset="0"/>
                <a:ea typeface="돋움" pitchFamily="50" charset="-127"/>
                <a:cs typeface="Times New Roman" pitchFamily="18" charset="0"/>
              </a:rPr>
              <a:t>quỹ đạo </a:t>
            </a:r>
            <a:r>
              <a:rPr lang="vi-VN" altLang="ko-KR" sz="950">
                <a:latin typeface="Times New Roman" pitchFamily="18" charset="0"/>
                <a:ea typeface="돋움" pitchFamily="50" charset="-127"/>
                <a:cs typeface="Times New Roman" pitchFamily="18" charset="0"/>
              </a:rPr>
              <a:t>và trở thành một </a:t>
            </a:r>
            <a:r>
              <a:rPr lang="en-US" altLang="ko-KR" sz="950">
                <a:latin typeface="Times New Roman" pitchFamily="18" charset="0"/>
                <a:ea typeface="돋움" pitchFamily="50" charset="-127"/>
                <a:cs typeface="Times New Roman" pitchFamily="18" charset="0"/>
              </a:rPr>
              <a:t>Electron</a:t>
            </a:r>
            <a:r>
              <a:rPr lang="vi-VN" altLang="ko-KR" sz="950">
                <a:latin typeface="Times New Roman" pitchFamily="18" charset="0"/>
                <a:ea typeface="돋움" pitchFamily="50" charset="-127"/>
                <a:cs typeface="Times New Roman" pitchFamily="18" charset="0"/>
              </a:rPr>
              <a:t> tự do, và tự do di chuyển giữa các nguyên tử. Điện năng được tạo ra theo cách này được gọi là (</a:t>
            </a:r>
            <a:r>
              <a:rPr lang="en-US" altLang="ko-KR" sz="950">
                <a:latin typeface="Times New Roman" pitchFamily="18" charset="0"/>
                <a:ea typeface="돋움" pitchFamily="50" charset="-127"/>
                <a:cs typeface="Times New Roman" pitchFamily="18" charset="0"/>
              </a:rPr>
              <a:t>…</a:t>
            </a:r>
            <a:r>
              <a:rPr lang="vi-VN" altLang="ko-KR" sz="950">
                <a:latin typeface="Times New Roman" pitchFamily="18" charset="0"/>
                <a:ea typeface="돋움" pitchFamily="50" charset="-127"/>
                <a:cs typeface="Times New Roman" pitchFamily="18" charset="0"/>
              </a:rPr>
              <a:t>)]</a:t>
            </a:r>
          </a:p>
          <a:p>
            <a:r>
              <a:rPr lang="en-US" altLang="ko-KR" sz="950">
                <a:latin typeface="Times New Roman" pitchFamily="18" charset="0"/>
                <a:ea typeface="돋움" pitchFamily="50" charset="-127"/>
                <a:cs typeface="Times New Roman" pitchFamily="18" charset="0"/>
              </a:rPr>
              <a:t>   </a:t>
            </a:r>
          </a:p>
          <a:p>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Lượng tử ánh </a:t>
            </a:r>
            <a:r>
              <a:rPr lang="en-US" altLang="ko-KR" sz="950" smtClean="0">
                <a:latin typeface="Times New Roman" pitchFamily="18" charset="0"/>
                <a:ea typeface="돋움" pitchFamily="50" charset="-127"/>
                <a:cs typeface="Times New Roman" pitchFamily="18" charset="0"/>
              </a:rPr>
              <a:t>sáng    B. </a:t>
            </a:r>
            <a:r>
              <a:rPr lang="en-US" altLang="ko-KR" sz="950">
                <a:latin typeface="Times New Roman" pitchFamily="18" charset="0"/>
                <a:ea typeface="돋움" pitchFamily="50" charset="-127"/>
                <a:cs typeface="Times New Roman" pitchFamily="18" charset="0"/>
              </a:rPr>
              <a:t>Kích thích</a:t>
            </a:r>
            <a:endParaRPr lang="vi-VN" altLang="ko-KR" sz="950">
              <a:latin typeface="Times New Roman" pitchFamily="18" charset="0"/>
              <a:ea typeface="돋움" pitchFamily="50" charset="-127"/>
              <a:cs typeface="Times New Roman" pitchFamily="18" charset="0"/>
            </a:endParaRPr>
          </a:p>
          <a:p>
            <a:r>
              <a:rPr lang="vi-VN" altLang="ko-KR" sz="950">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C.</a:t>
            </a:r>
            <a:r>
              <a:rPr lang="vi-VN" altLang="ko-KR" sz="950" smtClean="0">
                <a:solidFill>
                  <a:srgbClr val="FF0000"/>
                </a:solidFill>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Điện </a:t>
            </a:r>
            <a:r>
              <a:rPr lang="en-US" altLang="ko-KR" sz="950" smtClean="0">
                <a:solidFill>
                  <a:srgbClr val="FF0000"/>
                </a:solidFill>
                <a:latin typeface="Times New Roman" pitchFamily="18" charset="0"/>
                <a:ea typeface="돋움" pitchFamily="50" charset="-127"/>
                <a:cs typeface="Times New Roman" pitchFamily="18" charset="0"/>
              </a:rPr>
              <a:t>tích                     </a:t>
            </a:r>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Electron tự do</a:t>
            </a:r>
          </a:p>
        </p:txBody>
      </p:sp>
      <p:sp>
        <p:nvSpPr>
          <p:cNvPr id="124" name="Rectangle 123"/>
          <p:cNvSpPr/>
          <p:nvPr/>
        </p:nvSpPr>
        <p:spPr>
          <a:xfrm>
            <a:off x="3501008" y="4147946"/>
            <a:ext cx="3127376" cy="1115690"/>
          </a:xfrm>
          <a:prstGeom prst="rect">
            <a:avLst/>
          </a:prstGeom>
        </p:spPr>
        <p:txBody>
          <a:bodyPr wrap="square">
            <a:spAutoFit/>
          </a:bodyPr>
          <a:lstStyle/>
          <a:p>
            <a:pPr eaLnBrk="1" hangingPunct="1"/>
            <a:r>
              <a:rPr lang="en-US" altLang="ko-KR" sz="950" smtClean="0">
                <a:latin typeface="Times New Roman" pitchFamily="18" charset="0"/>
                <a:ea typeface="돋움" pitchFamily="50" charset="-127"/>
                <a:cs typeface="Times New Roman" pitchFamily="18" charset="0"/>
              </a:rPr>
              <a:t>18</a:t>
            </a:r>
            <a:r>
              <a:rPr lang="en-US" altLang="ko-KR" sz="950">
                <a:latin typeface="Times New Roman" pitchFamily="18" charset="0"/>
                <a:ea typeface="돋움" pitchFamily="50" charset="-127"/>
                <a:cs typeface="Times New Roman" pitchFamily="18" charset="0"/>
              </a:rPr>
              <a:t>. Chọn từ điền vào chỗ trống?</a:t>
            </a:r>
          </a:p>
          <a:p>
            <a:pPr eaLnBrk="1" hangingPunct="1"/>
            <a:r>
              <a:rPr lang="en-US" altLang="ko-KR" sz="950">
                <a:latin typeface="Times New Roman" pitchFamily="18" charset="0"/>
                <a:ea typeface="돋움" pitchFamily="50" charset="-127"/>
                <a:cs typeface="Times New Roman" pitchFamily="18" charset="0"/>
              </a:rPr>
              <a:t> - Tất cả các vật chất đều được tạo thành bởi tập hợp các phân tử hoặc nguyên tủ, nguyên tử được cấu trúc bở hạt nhân nguyên tử và các (           </a:t>
            </a:r>
            <a:r>
              <a:rPr lang="en-US" altLang="ko-KR"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 quay xung quanh nó.</a:t>
            </a:r>
          </a:p>
          <a:p>
            <a:pPr eaLnBrk="1" hangingPunct="1"/>
            <a:endParaRPr lang="en-US" altLang="ko-KR" sz="95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Hạt </a:t>
            </a:r>
            <a:r>
              <a:rPr lang="en-US" altLang="ko-KR" sz="950">
                <a:latin typeface="Times New Roman" pitchFamily="18" charset="0"/>
                <a:ea typeface="돋움" pitchFamily="50" charset="-127"/>
                <a:cs typeface="Times New Roman" pitchFamily="18" charset="0"/>
              </a:rPr>
              <a:t>nhân nguyên tử</a:t>
            </a:r>
            <a:r>
              <a:rPr lang="ko-KR" altLang="en-US" sz="950">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B.</a:t>
            </a:r>
            <a:r>
              <a:rPr lang="ko-KR" altLang="en-US" sz="950">
                <a:solidFill>
                  <a:srgbClr val="FF0000"/>
                </a:solidFill>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Electron</a:t>
            </a:r>
            <a:r>
              <a:rPr lang="ko-KR" altLang="en-US" sz="950">
                <a:solidFill>
                  <a:srgbClr val="FF0000"/>
                </a:solidFill>
                <a:latin typeface="Times New Roman" pitchFamily="18" charset="0"/>
                <a:ea typeface="돋움" pitchFamily="50" charset="-127"/>
                <a:cs typeface="Times New Roman" pitchFamily="18" charset="0"/>
              </a:rPr>
              <a:t>    </a:t>
            </a:r>
            <a:endParaRPr lang="en-US" altLang="ko-KR" sz="950" smtClean="0">
              <a:solidFill>
                <a:srgbClr val="FF0000"/>
              </a:solidFill>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a:t>
            </a:r>
            <a:r>
              <a:rPr lang="en-US" altLang="ko-KR" sz="950">
                <a:latin typeface="Times New Roman" pitchFamily="18" charset="0"/>
                <a:ea typeface="돋움" pitchFamily="50" charset="-127"/>
                <a:cs typeface="Times New Roman" pitchFamily="18" charset="0"/>
              </a:rPr>
              <a:t>.</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Nguyên tố</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D.</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N</a:t>
            </a:r>
            <a:r>
              <a:rPr lang="en-US" altLang="ko-KR" sz="950" smtClean="0">
                <a:latin typeface="Times New Roman" pitchFamily="18" charset="0"/>
                <a:ea typeface="돋움" pitchFamily="50" charset="-127"/>
                <a:cs typeface="Times New Roman" pitchFamily="18" charset="0"/>
              </a:rPr>
              <a:t>eutron</a:t>
            </a:r>
            <a:endParaRPr lang="ko-KR" altLang="en-US" sz="950" dirty="0">
              <a:latin typeface="Times New Roman" pitchFamily="18" charset="0"/>
              <a:ea typeface="돋움" pitchFamily="50" charset="-127"/>
              <a:cs typeface="Times New Roman" pitchFamily="18" charset="0"/>
            </a:endParaRPr>
          </a:p>
        </p:txBody>
      </p:sp>
      <p:grpSp>
        <p:nvGrpSpPr>
          <p:cNvPr id="125" name="Group 124"/>
          <p:cNvGrpSpPr/>
          <p:nvPr/>
        </p:nvGrpSpPr>
        <p:grpSpPr>
          <a:xfrm>
            <a:off x="174625" y="3636238"/>
            <a:ext cx="3429000" cy="1992853"/>
            <a:chOff x="3442740" y="4805152"/>
            <a:chExt cx="3429000" cy="1992853"/>
          </a:xfrm>
        </p:grpSpPr>
        <p:sp>
          <p:nvSpPr>
            <p:cNvPr id="126" name="Rectangle 82"/>
            <p:cNvSpPr>
              <a:spLocks noChangeArrowheads="1"/>
            </p:cNvSpPr>
            <p:nvPr/>
          </p:nvSpPr>
          <p:spPr bwMode="auto">
            <a:xfrm>
              <a:off x="3442740" y="4805152"/>
              <a:ext cx="3429000" cy="199285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13. Giá trị Vp_p(Peak-peak) là bao nhiêu</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smtClean="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 A. </a:t>
              </a:r>
              <a:r>
                <a:rPr lang="en-US" altLang="ko-KR" sz="950" dirty="0">
                  <a:latin typeface="Times New Roman" pitchFamily="18" charset="0"/>
                  <a:cs typeface="Times New Roman" pitchFamily="18" charset="0"/>
                </a:rPr>
                <a:t>3[V</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B. </a:t>
              </a:r>
              <a:r>
                <a:rPr lang="en-US" altLang="ko-KR" sz="950" dirty="0">
                  <a:latin typeface="Times New Roman" pitchFamily="18" charset="0"/>
                  <a:cs typeface="Times New Roman" pitchFamily="18" charset="0"/>
                </a:rPr>
                <a:t>6[V</a:t>
              </a:r>
              <a:r>
                <a:rPr lang="en-US" altLang="ko-KR" sz="950">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C. </a:t>
              </a:r>
              <a:r>
                <a:rPr lang="en-US" altLang="ko-KR" sz="950" dirty="0">
                  <a:solidFill>
                    <a:srgbClr val="FF0000"/>
                  </a:solidFill>
                  <a:latin typeface="Times New Roman" pitchFamily="18" charset="0"/>
                  <a:cs typeface="Times New Roman" pitchFamily="18" charset="0"/>
                </a:rPr>
                <a:t>12[V</a:t>
              </a:r>
              <a:r>
                <a:rPr lang="en-US" altLang="ko-KR" sz="950">
                  <a:solidFill>
                    <a:srgbClr val="FF000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D. </a:t>
              </a:r>
              <a:r>
                <a:rPr lang="en-US" altLang="ko-KR" sz="950">
                  <a:latin typeface="Times New Roman" pitchFamily="18" charset="0"/>
                  <a:cs typeface="Times New Roman" pitchFamily="18" charset="0"/>
                </a:rPr>
                <a:t>24[V</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grpSp>
          <p:nvGrpSpPr>
            <p:cNvPr id="127" name="Group 83"/>
            <p:cNvGrpSpPr>
              <a:grpSpLocks/>
            </p:cNvGrpSpPr>
            <p:nvPr/>
          </p:nvGrpSpPr>
          <p:grpSpPr bwMode="auto">
            <a:xfrm>
              <a:off x="3822760" y="5111494"/>
              <a:ext cx="2312456" cy="1210309"/>
              <a:chOff x="3112" y="3353"/>
              <a:chExt cx="920" cy="777"/>
            </a:xfrm>
          </p:grpSpPr>
          <p:graphicFrame>
            <p:nvGraphicFramePr>
              <p:cNvPr id="128" name="Object 84"/>
              <p:cNvGraphicFramePr>
                <a:graphicFrameLocks noChangeAspect="1"/>
              </p:cNvGraphicFramePr>
              <p:nvPr>
                <p:extLst>
                  <p:ext uri="{D42A27DB-BD31-4B8C-83A1-F6EECF244321}">
                    <p14:modId xmlns:p14="http://schemas.microsoft.com/office/powerpoint/2010/main" val="1230906165"/>
                  </p:ext>
                </p:extLst>
              </p:nvPr>
            </p:nvGraphicFramePr>
            <p:xfrm>
              <a:off x="3156" y="3353"/>
              <a:ext cx="876" cy="624"/>
            </p:xfrm>
            <a:graphic>
              <a:graphicData uri="http://schemas.openxmlformats.org/presentationml/2006/ole">
                <mc:AlternateContent xmlns:mc="http://schemas.openxmlformats.org/markup-compatibility/2006">
                  <mc:Choice xmlns:v="urn:schemas-microsoft-com:vml" Requires="v">
                    <p:oleObj spid="_x0000_s1057" name="비트맵 이미지" r:id="rId6" imgW="2781688" imgH="1980952" progId="Paint.Picture">
                      <p:embed/>
                    </p:oleObj>
                  </mc:Choice>
                  <mc:Fallback>
                    <p:oleObj name="비트맵 이미지" r:id="rId6" imgW="2781688" imgH="1980952" progId="Paint.Pictur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6" y="3353"/>
                            <a:ext cx="876" cy="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 name="Text Box 85"/>
              <p:cNvSpPr txBox="1">
                <a:spLocks noChangeArrowheads="1"/>
              </p:cNvSpPr>
              <p:nvPr/>
            </p:nvSpPr>
            <p:spPr bwMode="auto">
              <a:xfrm>
                <a:off x="3112" y="3977"/>
                <a:ext cx="297"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CH1 2.00V</a:t>
                </a:r>
              </a:p>
            </p:txBody>
          </p:sp>
          <p:sp>
            <p:nvSpPr>
              <p:cNvPr id="130" name="Text Box 86"/>
              <p:cNvSpPr txBox="1">
                <a:spLocks noChangeArrowheads="1"/>
              </p:cNvSpPr>
              <p:nvPr/>
            </p:nvSpPr>
            <p:spPr bwMode="auto">
              <a:xfrm>
                <a:off x="3557" y="3968"/>
                <a:ext cx="247"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M 250μs</a:t>
                </a:r>
              </a:p>
            </p:txBody>
          </p:sp>
        </p:grpSp>
      </p:grpSp>
      <p:grpSp>
        <p:nvGrpSpPr>
          <p:cNvPr id="131" name="Group 130"/>
          <p:cNvGrpSpPr/>
          <p:nvPr/>
        </p:nvGrpSpPr>
        <p:grpSpPr>
          <a:xfrm>
            <a:off x="198483" y="6105128"/>
            <a:ext cx="3124200" cy="1992853"/>
            <a:chOff x="3429000" y="7003812"/>
            <a:chExt cx="3124200" cy="1992853"/>
          </a:xfrm>
        </p:grpSpPr>
        <p:sp>
          <p:nvSpPr>
            <p:cNvPr id="132" name="Rectangle 173"/>
            <p:cNvSpPr>
              <a:spLocks noChangeArrowheads="1"/>
            </p:cNvSpPr>
            <p:nvPr/>
          </p:nvSpPr>
          <p:spPr bwMode="auto">
            <a:xfrm>
              <a:off x="3429000" y="7003812"/>
              <a:ext cx="3124200" cy="199285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14. Giá </a:t>
              </a:r>
              <a:r>
                <a:rPr lang="en-US" altLang="ko-KR" sz="950" smtClean="0">
                  <a:latin typeface="Times New Roman" pitchFamily="18" charset="0"/>
                  <a:cs typeface="Times New Roman" pitchFamily="18" charset="0"/>
                </a:rPr>
                <a:t>trị </a:t>
              </a:r>
              <a:r>
                <a:rPr lang="en-US" altLang="ko-KR" sz="950">
                  <a:latin typeface="Times New Roman" pitchFamily="18" charset="0"/>
                  <a:cs typeface="Times New Roman" pitchFamily="18" charset="0"/>
                </a:rPr>
                <a:t>hiệu dụng là bao </a:t>
              </a:r>
              <a:r>
                <a:rPr lang="en-US" altLang="ko-KR" sz="950" smtClean="0">
                  <a:latin typeface="Times New Roman" pitchFamily="18" charset="0"/>
                  <a:cs typeface="Times New Roman" pitchFamily="18" charset="0"/>
                </a:rPr>
                <a:t>nhiêu?</a:t>
              </a:r>
              <a:endParaRPr lang="en-US" altLang="ko-KR" sz="95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   </a:t>
              </a:r>
            </a:p>
            <a:p>
              <a:pPr eaLnBrk="1" hangingPunct="1"/>
              <a:endParaRPr lang="en-US" altLang="ko-KR" sz="950">
                <a:solidFill>
                  <a:srgbClr val="FF0000"/>
                </a:solidFill>
                <a:latin typeface="Times New Roman" pitchFamily="18" charset="0"/>
                <a:cs typeface="Times New Roman" pitchFamily="18" charset="0"/>
              </a:endParaRPr>
            </a:p>
            <a:p>
              <a:pPr eaLnBrk="1" hangingPunct="1"/>
              <a:endParaRPr lang="en-US" altLang="ko-KR" sz="950" smtClean="0">
                <a:solidFill>
                  <a:srgbClr val="FF0000"/>
                </a:solidFill>
                <a:latin typeface="Times New Roman" pitchFamily="18" charset="0"/>
                <a:cs typeface="Times New Roman" pitchFamily="18" charset="0"/>
              </a:endParaRPr>
            </a:p>
            <a:p>
              <a:pPr eaLnBrk="1" hangingPunct="1"/>
              <a:endParaRPr lang="en-US" altLang="ko-KR" sz="950">
                <a:solidFill>
                  <a:srgbClr val="FF0000"/>
                </a:solidFill>
                <a:latin typeface="Times New Roman" pitchFamily="18" charset="0"/>
                <a:cs typeface="Times New Roman" pitchFamily="18" charset="0"/>
              </a:endParaRPr>
            </a:p>
            <a:p>
              <a:pPr eaLnBrk="1" hangingPunct="1"/>
              <a:endParaRPr lang="en-US" altLang="ko-KR" sz="950" smtClean="0">
                <a:solidFill>
                  <a:srgbClr val="FF0000"/>
                </a:solidFill>
                <a:latin typeface="Times New Roman" pitchFamily="18" charset="0"/>
                <a:cs typeface="Times New Roman" pitchFamily="18" charset="0"/>
              </a:endParaRPr>
            </a:p>
            <a:p>
              <a:pPr eaLnBrk="1" hangingPunct="1"/>
              <a:endParaRPr lang="en-US" altLang="ko-KR" sz="950">
                <a:solidFill>
                  <a:srgbClr val="FF0000"/>
                </a:solidFill>
                <a:latin typeface="Times New Roman" pitchFamily="18" charset="0"/>
                <a:cs typeface="Times New Roman" pitchFamily="18" charset="0"/>
              </a:endParaRPr>
            </a:p>
            <a:p>
              <a:pPr eaLnBrk="1" hangingPunct="1"/>
              <a:endParaRPr lang="en-US" altLang="ko-KR" sz="950" smtClean="0">
                <a:solidFill>
                  <a:srgbClr val="FF0000"/>
                </a:solidFill>
                <a:latin typeface="Times New Roman" pitchFamily="18" charset="0"/>
                <a:cs typeface="Times New Roman" pitchFamily="18" charset="0"/>
              </a:endParaRPr>
            </a:p>
            <a:p>
              <a:pPr eaLnBrk="1" hangingPunct="1"/>
              <a:endParaRPr lang="en-US" altLang="ko-KR" sz="950" smtClean="0">
                <a:solidFill>
                  <a:srgbClr val="FF0000"/>
                </a:solidFill>
                <a:latin typeface="Times New Roman" pitchFamily="18" charset="0"/>
                <a:cs typeface="Times New Roman" pitchFamily="18" charset="0"/>
              </a:endParaRPr>
            </a:p>
            <a:p>
              <a:pPr eaLnBrk="1" hangingPunct="1"/>
              <a:endParaRPr lang="en-US" altLang="ko-KR" sz="950">
                <a:solidFill>
                  <a:srgbClr val="FF0000"/>
                </a:solidFill>
                <a:latin typeface="Times New Roman" pitchFamily="18" charset="0"/>
                <a:cs typeface="Times New Roman" pitchFamily="18" charset="0"/>
              </a:endParaRPr>
            </a:p>
            <a:p>
              <a:pPr eaLnBrk="1" hangingPunct="1"/>
              <a:endParaRPr lang="en-US" altLang="ko-KR" sz="950" smtClean="0">
                <a:solidFill>
                  <a:srgbClr val="FF0000"/>
                </a:solidFill>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a:t>
              </a:r>
              <a:r>
                <a:rPr lang="en-US" altLang="ko-KR" sz="950">
                  <a:solidFill>
                    <a:srgbClr val="FF0000"/>
                  </a:solidFill>
                  <a:latin typeface="Times New Roman" pitchFamily="18" charset="0"/>
                  <a:cs typeface="Times New Roman" pitchFamily="18" charset="0"/>
                </a:rPr>
                <a:t>. 4.242[V</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B. 3.822[V]  </a:t>
              </a:r>
              <a:r>
                <a:rPr lang="en-US" altLang="ko-KR" sz="950" smtClean="0">
                  <a:latin typeface="Times New Roman" pitchFamily="18" charset="0"/>
                  <a:cs typeface="Times New Roman" pitchFamily="18" charset="0"/>
                </a:rPr>
                <a:t>  C</a:t>
              </a:r>
              <a:r>
                <a:rPr lang="en-US" altLang="ko-KR" sz="950">
                  <a:latin typeface="Times New Roman" pitchFamily="18" charset="0"/>
                  <a:cs typeface="Times New Roman" pitchFamily="18" charset="0"/>
                </a:rPr>
                <a:t>. 4.2[V]    D. 3.8[V]</a:t>
              </a:r>
              <a:endParaRPr lang="en-US" altLang="ko-KR" sz="950" dirty="0">
                <a:latin typeface="Times New Roman" pitchFamily="18" charset="0"/>
                <a:cs typeface="Times New Roman" pitchFamily="18" charset="0"/>
              </a:endParaRPr>
            </a:p>
          </p:txBody>
        </p:sp>
        <p:graphicFrame>
          <p:nvGraphicFramePr>
            <p:cNvPr id="133" name="Object 84"/>
            <p:cNvGraphicFramePr>
              <a:graphicFrameLocks noChangeAspect="1"/>
            </p:cNvGraphicFramePr>
            <p:nvPr>
              <p:extLst>
                <p:ext uri="{D42A27DB-BD31-4B8C-83A1-F6EECF244321}">
                  <p14:modId xmlns:p14="http://schemas.microsoft.com/office/powerpoint/2010/main" val="660901517"/>
                </p:ext>
              </p:extLst>
            </p:nvPr>
          </p:nvGraphicFramePr>
          <p:xfrm>
            <a:off x="3747489" y="7272523"/>
            <a:ext cx="2201861" cy="971987"/>
          </p:xfrm>
          <a:graphic>
            <a:graphicData uri="http://schemas.openxmlformats.org/presentationml/2006/ole">
              <mc:AlternateContent xmlns:mc="http://schemas.openxmlformats.org/markup-compatibility/2006">
                <mc:Choice xmlns:v="urn:schemas-microsoft-com:vml" Requires="v">
                  <p:oleObj spid="_x0000_s1058" name="비트맵 이미지" r:id="rId8" imgW="2781688" imgH="1980952" progId="Paint.Picture">
                    <p:embed/>
                  </p:oleObj>
                </mc:Choice>
                <mc:Fallback>
                  <p:oleObj name="비트맵 이미지" r:id="rId8" imgW="2781688" imgH="1980952" progId="Paint.Pictur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7489" y="7272523"/>
                          <a:ext cx="2201861" cy="97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4" name="Text Box 85"/>
            <p:cNvSpPr txBox="1">
              <a:spLocks noChangeArrowheads="1"/>
            </p:cNvSpPr>
            <p:nvPr/>
          </p:nvSpPr>
          <p:spPr bwMode="auto">
            <a:xfrm>
              <a:off x="3645030" y="8230005"/>
              <a:ext cx="747320" cy="23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CH1 2.00V</a:t>
              </a:r>
            </a:p>
          </p:txBody>
        </p:sp>
        <p:sp>
          <p:nvSpPr>
            <p:cNvPr id="135" name="Text Box 86"/>
            <p:cNvSpPr txBox="1">
              <a:spLocks noChangeArrowheads="1"/>
            </p:cNvSpPr>
            <p:nvPr/>
          </p:nvSpPr>
          <p:spPr bwMode="auto">
            <a:xfrm>
              <a:off x="4947044" y="8230005"/>
              <a:ext cx="620683" cy="23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M 250μs</a:t>
              </a:r>
            </a:p>
          </p:txBody>
        </p:sp>
      </p:grpSp>
    </p:spTree>
    <p:extLst>
      <p:ext uri="{BB962C8B-B14F-4D97-AF65-F5344CB8AC3E}">
        <p14:creationId xmlns:p14="http://schemas.microsoft.com/office/powerpoint/2010/main" val="1687899929"/>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latin typeface="Times New Roman" pitchFamily="18" charset="0"/>
              <a:cs typeface="Times New Roman" pitchFamily="18" charset="0"/>
            </a:endParaRPr>
          </a:p>
          <a:p>
            <a:pPr eaLnBrk="1" fontAlgn="base" hangingPunct="1">
              <a:spcBef>
                <a:spcPct val="0"/>
              </a:spcBef>
              <a:spcAft>
                <a:spcPct val="0"/>
              </a:spcAft>
            </a:pPr>
            <a:endParaRPr lang="en-US" altLang="ko-KR" smtClean="0">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PLC :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40</a:t>
            </a:r>
            <a:endParaRPr lang="ko-KR" altLang="en-US" sz="950" b="1" dirty="0" smtClean="0">
              <a:latin typeface="Times New Roman" pitchFamily="18" charset="0"/>
              <a:cs typeface="Times New Roman" pitchFamily="18" charset="0"/>
            </a:endParaRPr>
          </a:p>
        </p:txBody>
      </p:sp>
      <p:sp>
        <p:nvSpPr>
          <p:cNvPr id="105" name="Rectangle 7"/>
          <p:cNvSpPr>
            <a:spLocks noChangeArrowheads="1"/>
          </p:cNvSpPr>
          <p:nvPr/>
        </p:nvSpPr>
        <p:spPr bwMode="auto">
          <a:xfrm>
            <a:off x="189190" y="131920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 </a:t>
            </a:r>
            <a:r>
              <a:rPr lang="vi-VN" altLang="ko-KR" sz="950">
                <a:latin typeface="Times New Roman" pitchFamily="18" charset="0"/>
                <a:ea typeface="LG Smart_H Regular" panose="020B0600000101010101" pitchFamily="34" charset="-127"/>
                <a:cs typeface="Times New Roman" pitchFamily="18" charset="0"/>
              </a:rPr>
              <a:t>Transfer Contact là tên dùng để chỉ tiếp điểm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a:latin typeface="Times New Roman" pitchFamily="18" charset="0"/>
                <a:ea typeface="LG Smart_H Regular" panose="020B0600000101010101" pitchFamily="34" charset="-127"/>
                <a:cs typeface="Times New Roman" pitchFamily="18" charset="0"/>
              </a:rPr>
              <a:t>Tiếp điểm A</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Tiếp điểm </a:t>
            </a:r>
            <a:r>
              <a:rPr lang="vi-VN" altLang="ko-KR" sz="950" smtClean="0">
                <a:latin typeface="Times New Roman" pitchFamily="18" charset="0"/>
                <a:ea typeface="LG Smart_H Regular" panose="020B0600000101010101" pitchFamily="34" charset="-127"/>
                <a:cs typeface="Times New Roman" pitchFamily="18" charset="0"/>
              </a:rPr>
              <a:t>B</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 </a:t>
            </a:r>
            <a:r>
              <a:rPr lang="vi-VN" altLang="ko-KR" sz="950">
                <a:solidFill>
                  <a:srgbClr val="FF0000"/>
                </a:solidFill>
                <a:latin typeface="Times New Roman" pitchFamily="18" charset="0"/>
                <a:ea typeface="LG Smart_H Regular" panose="020B0600000101010101" pitchFamily="34" charset="-127"/>
                <a:cs typeface="Times New Roman" pitchFamily="18" charset="0"/>
              </a:rPr>
              <a:t>Tiếp điểm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Cả A B 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6" name="Rectangle 7"/>
          <p:cNvSpPr>
            <a:spLocks noChangeArrowheads="1"/>
          </p:cNvSpPr>
          <p:nvPr/>
        </p:nvSpPr>
        <p:spPr bwMode="auto">
          <a:xfrm>
            <a:off x="174625" y="250472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22. </a:t>
            </a:r>
            <a:r>
              <a:rPr lang="vi-VN" altLang="ko-KR" sz="950">
                <a:latin typeface="Times New Roman" pitchFamily="18" charset="0"/>
                <a:ea typeface="LG Smart_H Regular" panose="020B0600000101010101" pitchFamily="34" charset="-127"/>
                <a:cs typeface="Times New Roman" pitchFamily="18" charset="0"/>
              </a:rPr>
              <a:t>Thời gian sao chép condensor khi thay thế PIN của CPU là bao </a:t>
            </a:r>
            <a:r>
              <a:rPr lang="vi-VN" altLang="ko-KR" sz="950" smtClean="0">
                <a:latin typeface="Times New Roman" pitchFamily="18" charset="0"/>
                <a:ea typeface="LG Smart_H Regular" panose="020B0600000101010101" pitchFamily="34" charset="-127"/>
                <a:cs typeface="Times New Roman" pitchFamily="18" charset="0"/>
              </a:rPr>
              <a:t>lâu?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2 </a:t>
            </a:r>
            <a:r>
              <a:rPr lang="en-US" altLang="ko-KR" sz="950" smtClean="0">
                <a:latin typeface="Times New Roman" pitchFamily="18" charset="0"/>
                <a:ea typeface="LG Smart_H Regular" panose="020B0600000101010101" pitchFamily="34" charset="-127"/>
                <a:cs typeface="Times New Roman" pitchFamily="18" charset="0"/>
              </a:rPr>
              <a:t>phút</a:t>
            </a: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3 phút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5 phút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10</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phút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7" name="Rectangle 7"/>
          <p:cNvSpPr>
            <a:spLocks noChangeArrowheads="1"/>
          </p:cNvSpPr>
          <p:nvPr/>
        </p:nvSpPr>
        <p:spPr bwMode="auto">
          <a:xfrm>
            <a:off x="201890" y="391367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 </a:t>
            </a:r>
            <a:r>
              <a:rPr lang="vi-VN" altLang="ko-KR" sz="950">
                <a:latin typeface="Times New Roman" pitchFamily="18" charset="0"/>
                <a:ea typeface="LG Smart_H Regular" panose="020B0600000101010101" pitchFamily="34" charset="-127"/>
                <a:cs typeface="Times New Roman" pitchFamily="18" charset="0"/>
              </a:rPr>
              <a:t>Relay đặc biệt nào sẽ chuyển trạng thái On khi phát hiện PIN của CPU sắp </a:t>
            </a:r>
            <a:r>
              <a:rPr lang="vi-VN" altLang="ko-KR" sz="950" smtClean="0">
                <a:latin typeface="Times New Roman" pitchFamily="18" charset="0"/>
                <a:ea typeface="LG Smart_H Regular" panose="020B0600000101010101" pitchFamily="34" charset="-127"/>
                <a:cs typeface="Times New Roman" pitchFamily="18" charset="0"/>
              </a:rPr>
              <a:t>hết?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SM51</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SM604</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SM605</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SM501</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9" name="Rectangle 7"/>
          <p:cNvSpPr>
            <a:spLocks noChangeArrowheads="1"/>
          </p:cNvSpPr>
          <p:nvPr/>
        </p:nvSpPr>
        <p:spPr bwMode="auto">
          <a:xfrm>
            <a:off x="215483" y="6645622"/>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Là Device xuất ra bên ngoài (SOLENOID, cầu giao điện tử, đèn báo, máy biểu thị DIGITAL) v.v kết quả điều khiển Program </a:t>
            </a:r>
            <a:r>
              <a:rPr lang="vi-VN" altLang="ko-KR" sz="950" smtClean="0">
                <a:latin typeface="Times New Roman" pitchFamily="18" charset="0"/>
                <a:ea typeface="LG Smart_H Regular" panose="020B0600000101010101" pitchFamily="34" charset="-127"/>
                <a:cs typeface="Times New Roman" pitchFamily="18" charset="0"/>
              </a:rPr>
              <a:t>nhập?</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X</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B. Y</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C. D</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D. W</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188640" y="816214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Để vào được chế độ chỉnh sửa chương trình chế độ Offline trên GX Work 2(GX Developer ). Cần thực hiện tổ hợp phím tắt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 F2</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a:latin typeface="Times New Roman" pitchFamily="18" charset="0"/>
                <a:ea typeface="LG Smart_H Regular" panose="020B0600000101010101" pitchFamily="34" charset="-127"/>
                <a:cs typeface="Times New Roman" pitchFamily="18" charset="0"/>
              </a:rPr>
              <a:t>Shift + </a:t>
            </a:r>
            <a:r>
              <a:rPr lang="vi-VN" altLang="ko-KR" sz="950" smtClean="0">
                <a:latin typeface="Times New Roman" pitchFamily="18" charset="0"/>
                <a:ea typeface="LG Smart_H Regular" panose="020B0600000101010101" pitchFamily="34" charset="-127"/>
                <a:cs typeface="Times New Roman" pitchFamily="18" charset="0"/>
              </a:rPr>
              <a:t>F3</a:t>
            </a:r>
            <a:r>
              <a:rPr lang="en-US" altLang="ko-KR" sz="950" smtClean="0">
                <a:latin typeface="Times New Roman" pitchFamily="18" charset="0"/>
                <a:ea typeface="LG Smart_H Regular" panose="020B0600000101010101" pitchFamily="34" charset="-127"/>
                <a:cs typeface="Times New Roman" pitchFamily="18" charset="0"/>
              </a:rPr>
              <a:t>          C. </a:t>
            </a:r>
            <a:r>
              <a:rPr lang="vi-VN" altLang="ko-KR" sz="950" smtClean="0">
                <a:latin typeface="Times New Roman" pitchFamily="18" charset="0"/>
                <a:ea typeface="LG Smart_H Regular" panose="020B0600000101010101" pitchFamily="34" charset="-127"/>
                <a:cs typeface="Times New Roman" pitchFamily="18" charset="0"/>
              </a:rPr>
              <a:t>F4</a:t>
            </a:r>
            <a:r>
              <a:rPr lang="en-US" altLang="ko-KR" sz="950" smtClean="0">
                <a:latin typeface="Times New Roman" pitchFamily="18" charset="0"/>
                <a:ea typeface="LG Smart_H Regular" panose="020B0600000101010101" pitchFamily="34" charset="-127"/>
                <a:cs typeface="Times New Roman" pitchFamily="18" charset="0"/>
              </a:rPr>
              <a:t>           D. </a:t>
            </a:r>
            <a:r>
              <a:rPr lang="vi-VN" altLang="ko-KR" sz="950">
                <a:latin typeface="Times New Roman" pitchFamily="18" charset="0"/>
                <a:ea typeface="LG Smart_H Regular" panose="020B0600000101010101" pitchFamily="34" charset="-127"/>
                <a:cs typeface="Times New Roman" pitchFamily="18" charset="0"/>
              </a:rPr>
              <a:t>Shift + F4</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1319208"/>
            <a:ext cx="323981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Trong GX Developer để cài đặt số ký tự Comment tối đa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smtClean="0">
                <a:latin typeface="Times New Roman" pitchFamily="18" charset="0"/>
                <a:ea typeface="LG Smart_H Regular" panose="020B0600000101010101" pitchFamily="34" charset="-127"/>
                <a:cs typeface="Times New Roman" pitchFamily="18" charset="0"/>
              </a:rPr>
              <a:t>8</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B</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16</a:t>
            </a:r>
            <a:r>
              <a:rPr lang="en-US" altLang="ko-KR" sz="950" smtClean="0">
                <a:latin typeface="Times New Roman" pitchFamily="18" charset="0"/>
                <a:ea typeface="LG Smart_H Regular" panose="020B0600000101010101" pitchFamily="34" charset="-127"/>
                <a:cs typeface="Times New Roman" pitchFamily="18" charset="0"/>
              </a:rPr>
              <a:t>                  C</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24</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32</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112" name="Rectangle 7"/>
          <p:cNvSpPr>
            <a:spLocks noChangeArrowheads="1"/>
          </p:cNvSpPr>
          <p:nvPr/>
        </p:nvSpPr>
        <p:spPr bwMode="auto">
          <a:xfrm>
            <a:off x="3419475" y="2432720"/>
            <a:ext cx="3233208"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Đâu không phải là mục đích sử dụng của Program dạng </a:t>
            </a:r>
            <a:r>
              <a:rPr lang="vi-VN" altLang="ko-KR" sz="950" smtClean="0">
                <a:latin typeface="Times New Roman" pitchFamily="18" charset="0"/>
                <a:ea typeface="LG Smart_H Regular" panose="020B0600000101010101" pitchFamily="34" charset="-127"/>
                <a:cs typeface="Times New Roman" pitchFamily="18" charset="0"/>
              </a:rPr>
              <a:t>chờ?</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Thư mục hóa Program thành các Subroutine Program, chuyển Interrupt Program sang Program dạng chờ và quản lý riêng so với Main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Dùng khi quản lý riêng Subroutine Program, Interrupt Program so với Main Routine </a:t>
            </a:r>
            <a:r>
              <a:rPr lang="en-US" altLang="ko-KR" sz="950" smtClean="0">
                <a:latin typeface="Times New Roman" pitchFamily="18" charset="0"/>
                <a:ea typeface="LG Smart_H Regular" panose="020B0600000101010101" pitchFamily="34" charset="-127"/>
                <a:cs typeface="Times New Roman" pitchFamily="18" charset="0"/>
              </a:rPr>
              <a:t>Program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Thay đổi trình tự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Nếu ngừng thực hiện Program dạng chờ thì sẽ tiến hành Program ngay sau đó.</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24" name="Rectangle 7"/>
          <p:cNvSpPr>
            <a:spLocks noChangeArrowheads="1"/>
          </p:cNvSpPr>
          <p:nvPr/>
        </p:nvSpPr>
        <p:spPr bwMode="auto">
          <a:xfrm>
            <a:off x="201890" y="506279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vi-VN" altLang="ko-KR" sz="950" smtClean="0">
                <a:latin typeface="Times New Roman" pitchFamily="18" charset="0"/>
                <a:ea typeface="LG Smart_H Regular" panose="020B0600000101010101" pitchFamily="34" charset="-127"/>
                <a:cs typeface="Times New Roman" pitchFamily="18" charset="0"/>
              </a:rPr>
              <a:t>Trong </a:t>
            </a:r>
            <a:r>
              <a:rPr lang="vi-VN" altLang="ko-KR" sz="950">
                <a:latin typeface="Times New Roman" pitchFamily="18" charset="0"/>
                <a:ea typeface="LG Smart_H Regular" panose="020B0600000101010101" pitchFamily="34" charset="-127"/>
                <a:cs typeface="Times New Roman" pitchFamily="18" charset="0"/>
              </a:rPr>
              <a:t>thuật ngữ liên quan đến dung lượng của thiết bị bộ nhớ, 1 Quarter bằng bao nhiêu BIT?. Chọn đáp áp đúng?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Quarter </a:t>
            </a:r>
            <a:r>
              <a:rPr lang="en-US" altLang="ko-KR" sz="950">
                <a:latin typeface="Times New Roman" pitchFamily="18" charset="0"/>
                <a:ea typeface="LG Smart_H Regular" panose="020B0600000101010101" pitchFamily="34" charset="-127"/>
                <a:cs typeface="Times New Roman" pitchFamily="18" charset="0"/>
              </a:rPr>
              <a:t>= 4 bit (tức 1/4byte</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Quarter = 2 bit (tức 1/4byte</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Quarter = 1 bit (tức 1/4byte</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Quarter = 8 bit (tức 1/4byte)</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3425951" y="4664968"/>
            <a:ext cx="3239810" cy="2139047"/>
            <a:chOff x="3425951" y="4664968"/>
            <a:chExt cx="3239810" cy="2139047"/>
          </a:xfrm>
        </p:grpSpPr>
        <p:sp>
          <p:nvSpPr>
            <p:cNvPr id="183" name="Rectangle 7"/>
            <p:cNvSpPr>
              <a:spLocks noChangeArrowheads="1"/>
            </p:cNvSpPr>
            <p:nvPr/>
          </p:nvSpPr>
          <p:spPr bwMode="auto">
            <a:xfrm>
              <a:off x="3425951" y="4664968"/>
              <a:ext cx="323981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Tìm đáp án thích hợp để điền vào (?) sao cho chương trình hoạt động theo time Chart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K1                 B</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K2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K3               </a:t>
              </a:r>
              <a:r>
                <a:rPr lang="en-US" altLang="ko-KR" sz="950" smtClean="0">
                  <a:latin typeface="Times New Roman" pitchFamily="18" charset="0"/>
                  <a:ea typeface="LG Smart_H Regular" panose="020B0600000101010101" pitchFamily="34" charset="-127"/>
                  <a:cs typeface="Times New Roman" pitchFamily="18" charset="0"/>
                </a:rPr>
                <a:t>D</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K4</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7" name="그림 6"/>
            <p:cNvPicPr>
              <a:picLocks noChangeAspect="1"/>
            </p:cNvPicPr>
            <p:nvPr/>
          </p:nvPicPr>
          <p:blipFill>
            <a:blip r:embed="rId3"/>
            <a:stretch>
              <a:fillRect/>
            </a:stretch>
          </p:blipFill>
          <p:spPr>
            <a:xfrm>
              <a:off x="3527302" y="5063108"/>
              <a:ext cx="3076698" cy="1402060"/>
            </a:xfrm>
            <a:prstGeom prst="rect">
              <a:avLst/>
            </a:prstGeom>
          </p:spPr>
        </p:pic>
      </p:grpSp>
      <p:grpSp>
        <p:nvGrpSpPr>
          <p:cNvPr id="3" name="Group 2"/>
          <p:cNvGrpSpPr/>
          <p:nvPr/>
        </p:nvGrpSpPr>
        <p:grpSpPr>
          <a:xfrm>
            <a:off x="3412872" y="7062425"/>
            <a:ext cx="3239810" cy="2139047"/>
            <a:chOff x="3412872" y="7062425"/>
            <a:chExt cx="3239810" cy="2139047"/>
          </a:xfrm>
        </p:grpSpPr>
        <p:sp>
          <p:nvSpPr>
            <p:cNvPr id="184" name="Rectangle 7"/>
            <p:cNvSpPr>
              <a:spLocks noChangeArrowheads="1"/>
            </p:cNvSpPr>
            <p:nvPr/>
          </p:nvSpPr>
          <p:spPr bwMode="auto">
            <a:xfrm>
              <a:off x="3412872" y="7062425"/>
              <a:ext cx="323981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fr-FR" altLang="ko-KR" sz="950">
                  <a:latin typeface="Times New Roman" pitchFamily="18" charset="0"/>
                  <a:ea typeface="LG Smart_H Regular" panose="020B0600000101010101" pitchFamily="34" charset="-127"/>
                  <a:cs typeface="Times New Roman" pitchFamily="18" charset="0"/>
                </a:rPr>
                <a:t>Nhấn X1 sau bao lâu thì Y50 </a:t>
              </a:r>
              <a:r>
                <a:rPr lang="fr-FR" altLang="ko-KR" sz="950" smtClean="0">
                  <a:latin typeface="Times New Roman" pitchFamily="18" charset="0"/>
                  <a:ea typeface="LG Smart_H Regular" panose="020B0600000101010101" pitchFamily="34" charset="-127"/>
                  <a:cs typeface="Times New Roman" pitchFamily="18" charset="0"/>
                </a:rPr>
                <a:t>ON?</a:t>
              </a:r>
              <a:r>
                <a:rPr lang="vi-VN" altLang="ko-KR" sz="950" smtClean="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4 giây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B. </a:t>
              </a:r>
              <a:r>
                <a:rPr lang="en-US" altLang="ko-KR" sz="950" smtClean="0">
                  <a:latin typeface="Times New Roman" pitchFamily="18" charset="0"/>
                  <a:ea typeface="LG Smart_H Regular" panose="020B0600000101010101" pitchFamily="34" charset="-127"/>
                  <a:cs typeface="Times New Roman" pitchFamily="18" charset="0"/>
                </a:rPr>
                <a:t>8 </a:t>
              </a:r>
              <a:r>
                <a:rPr lang="en-US" altLang="ko-KR" sz="950">
                  <a:latin typeface="Times New Roman" pitchFamily="18" charset="0"/>
                  <a:ea typeface="LG Smart_H Regular" panose="020B0600000101010101" pitchFamily="34" charset="-127"/>
                  <a:cs typeface="Times New Roman" pitchFamily="18" charset="0"/>
                </a:rPr>
                <a:t>giây       </a:t>
              </a:r>
              <a:r>
                <a:rPr lang="en-US" altLang="ko-KR" sz="950" smtClean="0">
                  <a:latin typeface="Times New Roman" pitchFamily="18" charset="0"/>
                  <a:ea typeface="LG Smart_H Regular" panose="020B0600000101010101" pitchFamily="34" charset="-127"/>
                  <a:cs typeface="Times New Roman" pitchFamily="18" charset="0"/>
                </a:rPr>
                <a:t>   C</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4.4 </a:t>
              </a:r>
              <a:r>
                <a:rPr lang="en-US" altLang="ko-KR" sz="950">
                  <a:latin typeface="Times New Roman" pitchFamily="18" charset="0"/>
                  <a:ea typeface="LG Smart_H Regular" panose="020B0600000101010101" pitchFamily="34" charset="-127"/>
                  <a:cs typeface="Times New Roman" pitchFamily="18" charset="0"/>
                </a:rPr>
                <a:t>giây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solidFill>
                    <a:srgbClr val="FF0000"/>
                  </a:solidFill>
                  <a:latin typeface="Times New Roman" pitchFamily="18" charset="0"/>
                  <a:ea typeface="LG Smart_H Regular" panose="020B0600000101010101" pitchFamily="34" charset="-127"/>
                  <a:cs typeface="Times New Roman" pitchFamily="18" charset="0"/>
                </a:rPr>
                <a:t>D.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0.4 </a:t>
              </a:r>
              <a:r>
                <a:rPr lang="en-US" altLang="ko-KR" sz="950">
                  <a:solidFill>
                    <a:srgbClr val="FF0000"/>
                  </a:solidFill>
                  <a:latin typeface="Times New Roman" pitchFamily="18" charset="0"/>
                  <a:ea typeface="LG Smart_H Regular" panose="020B0600000101010101" pitchFamily="34" charset="-127"/>
                  <a:cs typeface="Times New Roman" pitchFamily="18" charset="0"/>
                </a:rPr>
                <a:t>giây</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pic>
          <p:nvPicPr>
            <p:cNvPr id="28" name="그림 19"/>
            <p:cNvPicPr>
              <a:picLocks noChangeAspect="1"/>
            </p:cNvPicPr>
            <p:nvPr/>
          </p:nvPicPr>
          <p:blipFill>
            <a:blip r:embed="rId4"/>
            <a:stretch>
              <a:fillRect/>
            </a:stretch>
          </p:blipFill>
          <p:spPr>
            <a:xfrm>
              <a:off x="3493643" y="7460446"/>
              <a:ext cx="3110358" cy="1380986"/>
            </a:xfrm>
            <a:prstGeom prst="rect">
              <a:avLst/>
            </a:prstGeom>
          </p:spPr>
        </p:pic>
      </p:grpSp>
    </p:spTree>
    <p:extLst>
      <p:ext uri="{BB962C8B-B14F-4D97-AF65-F5344CB8AC3E}">
        <p14:creationId xmlns:p14="http://schemas.microsoft.com/office/powerpoint/2010/main" val="88175370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31" name="Rectangle 101"/>
          <p:cNvSpPr>
            <a:spLocks noChangeArrowheads="1"/>
          </p:cNvSpPr>
          <p:nvPr/>
        </p:nvSpPr>
        <p:spPr bwMode="auto">
          <a:xfrm>
            <a:off x="215627" y="4134053"/>
            <a:ext cx="342900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solidFill>
                  <a:srgbClr val="000000"/>
                </a:solidFill>
                <a:latin typeface="Times New Roman" pitchFamily="18" charset="0"/>
                <a:ea typeface="돋움" pitchFamily="50" charset="-127"/>
                <a:cs typeface="Times New Roman" pitchFamily="18" charset="0"/>
              </a:rPr>
              <a:t>3</a:t>
            </a:r>
            <a:r>
              <a:rPr lang="en-US" altLang="ko-KR" sz="950" smtClean="0">
                <a:solidFill>
                  <a:srgbClr val="000000"/>
                </a:solidFill>
                <a:latin typeface="Times New Roman" pitchFamily="18" charset="0"/>
                <a:ea typeface="돋움" pitchFamily="50" charset="-127"/>
                <a:cs typeface="Times New Roman" pitchFamily="18" charset="0"/>
              </a:rPr>
              <a:t>3.</a:t>
            </a:r>
            <a:r>
              <a:rPr lang="ko-KR" altLang="en-US" sz="950" smtClean="0">
                <a:solidFill>
                  <a:srgbClr val="000000"/>
                </a:solidFill>
                <a:latin typeface="Times New Roman" pitchFamily="18" charset="0"/>
                <a:ea typeface="돋움" pitchFamily="50" charset="-127"/>
                <a:cs typeface="Times New Roman" pitchFamily="18" charset="0"/>
              </a:rPr>
              <a:t> </a:t>
            </a:r>
            <a:r>
              <a:rPr lang="vi-VN" altLang="ko-KR" sz="950">
                <a:solidFill>
                  <a:srgbClr val="000000"/>
                </a:solidFill>
                <a:latin typeface="Times New Roman" pitchFamily="18" charset="0"/>
                <a:ea typeface="돋움" pitchFamily="50" charset="-127"/>
                <a:cs typeface="Times New Roman" pitchFamily="18" charset="0"/>
              </a:rPr>
              <a:t>Hãy đổi F14 hệ 16 thành hệ nhị phân </a:t>
            </a:r>
            <a:r>
              <a:rPr lang="vi-VN" altLang="ko-KR" sz="950" smtClean="0">
                <a:solidFill>
                  <a:srgbClr val="000000"/>
                </a:solidFill>
                <a:latin typeface="Times New Roman" pitchFamily="18" charset="0"/>
                <a:ea typeface="돋움" pitchFamily="50" charset="-127"/>
                <a:cs typeface="Times New Roman" pitchFamily="18" charset="0"/>
              </a:rPr>
              <a:t>.</a:t>
            </a:r>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vi-VN" altLang="ko-KR" sz="950" smtClean="0">
                <a:solidFill>
                  <a:srgbClr val="000000"/>
                </a:solidFill>
                <a:latin typeface="Times New Roman" pitchFamily="18" charset="0"/>
                <a:ea typeface="돋움" pitchFamily="50" charset="-127"/>
                <a:cs typeface="Times New Roman" pitchFamily="18" charset="0"/>
              </a:rPr>
              <a:t>A</a:t>
            </a:r>
            <a:r>
              <a:rPr lang="en-US" altLang="ko-KR" sz="950" smtClean="0">
                <a:solidFill>
                  <a:srgbClr val="000000"/>
                </a:solidFill>
                <a:latin typeface="Times New Roman" pitchFamily="18" charset="0"/>
                <a:ea typeface="돋움" pitchFamily="50" charset="-127"/>
                <a:cs typeface="Times New Roman" pitchFamily="18" charset="0"/>
              </a:rPr>
              <a:t>. </a:t>
            </a:r>
            <a:r>
              <a:rPr lang="vi-VN" altLang="ko-KR" sz="950" smtClean="0">
                <a:solidFill>
                  <a:srgbClr val="000000"/>
                </a:solidFill>
                <a:latin typeface="Times New Roman" pitchFamily="18" charset="0"/>
                <a:ea typeface="돋움" pitchFamily="50" charset="-127"/>
                <a:cs typeface="Times New Roman" pitchFamily="18" charset="0"/>
              </a:rPr>
              <a:t>1110 </a:t>
            </a:r>
            <a:r>
              <a:rPr lang="vi-VN" altLang="ko-KR" sz="950">
                <a:solidFill>
                  <a:srgbClr val="000000"/>
                </a:solidFill>
                <a:latin typeface="Times New Roman" pitchFamily="18" charset="0"/>
                <a:ea typeface="돋움" pitchFamily="50" charset="-127"/>
                <a:cs typeface="Times New Roman" pitchFamily="18" charset="0"/>
              </a:rPr>
              <a:t>0001 0100      </a:t>
            </a:r>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vi-VN" altLang="ko-KR" sz="950" smtClean="0">
                <a:solidFill>
                  <a:srgbClr val="000000"/>
                </a:solidFill>
                <a:latin typeface="Times New Roman" pitchFamily="18" charset="0"/>
                <a:ea typeface="돋움" pitchFamily="50" charset="-127"/>
                <a:cs typeface="Times New Roman" pitchFamily="18" charset="0"/>
              </a:rPr>
              <a:t>B</a:t>
            </a:r>
            <a:r>
              <a:rPr lang="vi-VN" altLang="ko-KR" sz="950">
                <a:solidFill>
                  <a:srgbClr val="000000"/>
                </a:solidFill>
                <a:latin typeface="Times New Roman" pitchFamily="18" charset="0"/>
                <a:ea typeface="돋움" pitchFamily="50" charset="-127"/>
                <a:cs typeface="Times New Roman" pitchFamily="18" charset="0"/>
              </a:rPr>
              <a:t>. 1010 1001 0110  </a:t>
            </a:r>
          </a:p>
          <a:p>
            <a:pPr eaLnBrk="1" hangingPunct="1"/>
            <a:r>
              <a:rPr lang="vi-VN" altLang="ko-KR" sz="950" smtClean="0">
                <a:solidFill>
                  <a:srgbClr val="000000"/>
                </a:solidFill>
                <a:latin typeface="Times New Roman" pitchFamily="18" charset="0"/>
                <a:ea typeface="돋움" pitchFamily="50" charset="-127"/>
                <a:cs typeface="Times New Roman" pitchFamily="18" charset="0"/>
              </a:rPr>
              <a:t>C</a:t>
            </a:r>
            <a:r>
              <a:rPr lang="vi-VN" altLang="ko-KR" sz="950">
                <a:solidFill>
                  <a:srgbClr val="000000"/>
                </a:solidFill>
                <a:latin typeface="Times New Roman" pitchFamily="18" charset="0"/>
                <a:ea typeface="돋움" pitchFamily="50" charset="-127"/>
                <a:cs typeface="Times New Roman" pitchFamily="18" charset="0"/>
              </a:rPr>
              <a:t>. 1111 1110 1011      </a:t>
            </a:r>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vi-VN" altLang="ko-KR" sz="950" smtClean="0">
                <a:solidFill>
                  <a:srgbClr val="000000"/>
                </a:solidFill>
                <a:latin typeface="Times New Roman" pitchFamily="18" charset="0"/>
                <a:ea typeface="돋움" pitchFamily="50" charset="-127"/>
                <a:cs typeface="Times New Roman" pitchFamily="18" charset="0"/>
              </a:rPr>
              <a:t>D</a:t>
            </a:r>
            <a:r>
              <a:rPr lang="vi-VN" altLang="ko-KR" sz="950">
                <a:solidFill>
                  <a:srgbClr val="FF0000"/>
                </a:solidFill>
                <a:latin typeface="Times New Roman" pitchFamily="18" charset="0"/>
                <a:ea typeface="돋움" pitchFamily="50" charset="-127"/>
                <a:cs typeface="Times New Roman" pitchFamily="18" charset="0"/>
              </a:rPr>
              <a:t>. 1111 0001 0100</a:t>
            </a:r>
            <a:endParaRPr lang="vi-VN" altLang="ko-KR" sz="950" dirty="0" err="1">
              <a:solidFill>
                <a:srgbClr val="FF0000"/>
              </a:solidFill>
              <a:latin typeface="Times New Roman" pitchFamily="18" charset="0"/>
              <a:ea typeface="돋움" pitchFamily="50" charset="-127"/>
              <a:cs typeface="Times New Roman" pitchFamily="18" charset="0"/>
            </a:endParaRPr>
          </a:p>
        </p:txBody>
      </p:sp>
      <p:sp>
        <p:nvSpPr>
          <p:cNvPr id="32" name="Rectangle 101"/>
          <p:cNvSpPr>
            <a:spLocks noChangeArrowheads="1"/>
          </p:cNvSpPr>
          <p:nvPr/>
        </p:nvSpPr>
        <p:spPr bwMode="auto">
          <a:xfrm>
            <a:off x="188640" y="1035532"/>
            <a:ext cx="3267744"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solidFill>
                  <a:srgbClr val="000000"/>
                </a:solidFill>
                <a:latin typeface="Times New Roman" pitchFamily="18" charset="0"/>
                <a:ea typeface="돋움" pitchFamily="50" charset="-127"/>
                <a:cs typeface="Times New Roman" pitchFamily="18" charset="0"/>
              </a:rPr>
              <a:t>3</a:t>
            </a:r>
            <a:r>
              <a:rPr lang="en-US" altLang="ko-KR" sz="950" smtClean="0">
                <a:solidFill>
                  <a:srgbClr val="000000"/>
                </a:solidFill>
                <a:latin typeface="Times New Roman" pitchFamily="18" charset="0"/>
                <a:ea typeface="돋움" pitchFamily="50" charset="-127"/>
                <a:cs typeface="Times New Roman" pitchFamily="18" charset="0"/>
              </a:rPr>
              <a:t>1. </a:t>
            </a:r>
            <a:r>
              <a:rPr lang="en-US" altLang="ko-KR" sz="950" dirty="0" err="1" smtClean="0">
                <a:solidFill>
                  <a:srgbClr val="000000"/>
                </a:solidFill>
                <a:latin typeface="Times New Roman" pitchFamily="18" charset="0"/>
                <a:ea typeface="돋움" pitchFamily="50" charset="-127"/>
                <a:cs typeface="Times New Roman" pitchFamily="18" charset="0"/>
              </a:rPr>
              <a:t>Những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đại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lượng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vật</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lí</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thay</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đổi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tiên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tục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như</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điện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áp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dòng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điện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nhiệt</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độ</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áp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lực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lưu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lượng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tốc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độ</a:t>
            </a:r>
            <a:r>
              <a:rPr lang="en-US" altLang="ko-KR" sz="950" dirty="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được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gọi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gì</a:t>
            </a:r>
            <a:r>
              <a:rPr lang="en-US" altLang="ko-KR" sz="950" dirty="0" smtClean="0">
                <a:solidFill>
                  <a:srgbClr val="000000"/>
                </a:solidFill>
                <a:latin typeface="Times New Roman" pitchFamily="18" charset="0"/>
                <a:ea typeface="돋움" pitchFamily="50" charset="-127"/>
                <a:cs typeface="Times New Roman" pitchFamily="18" charset="0"/>
              </a:rPr>
              <a:t> ?</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A . </a:t>
            </a:r>
            <a:r>
              <a:rPr lang="en-US" altLang="ko-KR" sz="950" dirty="0" err="1" smtClean="0">
                <a:solidFill>
                  <a:srgbClr val="000000"/>
                </a:solidFill>
                <a:latin typeface="Times New Roman" pitchFamily="18" charset="0"/>
                <a:ea typeface="돋움" pitchFamily="50" charset="-127"/>
                <a:cs typeface="Times New Roman" pitchFamily="18" charset="0"/>
              </a:rPr>
              <a:t>Giá</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trị</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digital</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B. </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Giá</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trị</a:t>
            </a:r>
            <a:r>
              <a:rPr lang="en-US" altLang="ko-KR" sz="950" dirty="0" smtClean="0">
                <a:solidFill>
                  <a:srgbClr val="FF0000"/>
                </a:solidFill>
                <a:latin typeface="Times New Roman" pitchFamily="18" charset="0"/>
                <a:ea typeface="돋움" pitchFamily="50" charset="-127"/>
                <a:cs typeface="Times New Roman" pitchFamily="18" charset="0"/>
              </a:rPr>
              <a:t> Analog</a:t>
            </a:r>
            <a:r>
              <a:rPr lang="ko-KR" altLang="en-US" sz="950" dirty="0" smtClean="0">
                <a:solidFill>
                  <a:srgbClr val="FF0000"/>
                </a:solidFill>
                <a:latin typeface="Times New Roman" pitchFamily="18" charset="0"/>
                <a:ea typeface="돋움" pitchFamily="50" charset="-127"/>
                <a:cs typeface="Times New Roman" pitchFamily="18" charset="0"/>
              </a:rPr>
              <a:t>   </a:t>
            </a:r>
            <a:endParaRPr lang="en-US" altLang="ko-KR" sz="950" dirty="0">
              <a:solidFill>
                <a:srgbClr val="FF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  C. </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Giá</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trị</a:t>
            </a:r>
            <a:r>
              <a:rPr lang="en-US" altLang="ko-KR" sz="950" dirty="0" smtClean="0">
                <a:solidFill>
                  <a:srgbClr val="000000"/>
                </a:solidFill>
                <a:latin typeface="Times New Roman" pitchFamily="18" charset="0"/>
                <a:ea typeface="돋움" pitchFamily="50" charset="-127"/>
                <a:cs typeface="Times New Roman" pitchFamily="18" charset="0"/>
              </a:rPr>
              <a:t> digital/ </a:t>
            </a:r>
            <a:r>
              <a:rPr lang="en-US" altLang="ko-KR" sz="950" smtClean="0">
                <a:solidFill>
                  <a:srgbClr val="000000"/>
                </a:solidFill>
                <a:latin typeface="Times New Roman" pitchFamily="18" charset="0"/>
                <a:ea typeface="돋움" pitchFamily="50" charset="-127"/>
                <a:cs typeface="Times New Roman" pitchFamily="18" charset="0"/>
              </a:rPr>
              <a:t>analog</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D. </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Giá</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trị</a:t>
            </a:r>
            <a:r>
              <a:rPr lang="en-US" altLang="ko-KR" sz="950" dirty="0" smtClean="0">
                <a:solidFill>
                  <a:srgbClr val="000000"/>
                </a:solidFill>
                <a:latin typeface="Times New Roman" pitchFamily="18" charset="0"/>
                <a:ea typeface="돋움" pitchFamily="50" charset="-127"/>
                <a:cs typeface="Times New Roman" pitchFamily="18" charset="0"/>
              </a:rPr>
              <a:t> analog/</a:t>
            </a:r>
            <a:r>
              <a:rPr lang="ko-KR" altLang="en-US" sz="950" dirty="0" smtClean="0">
                <a:solidFill>
                  <a:srgbClr val="000000"/>
                </a:solidFill>
                <a:latin typeface="Times New Roman" pitchFamily="18" charset="0"/>
                <a:ea typeface="돋움" pitchFamily="50" charset="-127"/>
                <a:cs typeface="Times New Roman" pitchFamily="18" charset="0"/>
              </a:rPr>
              <a:t> </a:t>
            </a:r>
            <a:r>
              <a:rPr lang="en-US" altLang="ko-KR" sz="950" dirty="0" smtClean="0">
                <a:solidFill>
                  <a:srgbClr val="000000"/>
                </a:solidFill>
                <a:latin typeface="Times New Roman" pitchFamily="18" charset="0"/>
                <a:ea typeface="돋움" pitchFamily="50" charset="-127"/>
                <a:cs typeface="Times New Roman" pitchFamily="18" charset="0"/>
              </a:rPr>
              <a:t>digital</a:t>
            </a:r>
            <a:endParaRPr lang="ko-KR" altLang="en-US" sz="950" dirty="0">
              <a:solidFill>
                <a:srgbClr val="000000"/>
              </a:solidFill>
              <a:latin typeface="Times New Roman" pitchFamily="18" charset="0"/>
              <a:ea typeface="돋움" pitchFamily="50" charset="-127"/>
              <a:cs typeface="Times New Roman" pitchFamily="18" charset="0"/>
            </a:endParaRPr>
          </a:p>
        </p:txBody>
      </p:sp>
      <p:sp>
        <p:nvSpPr>
          <p:cNvPr id="34" name="Rectangle 101"/>
          <p:cNvSpPr>
            <a:spLocks noChangeArrowheads="1"/>
          </p:cNvSpPr>
          <p:nvPr/>
        </p:nvSpPr>
        <p:spPr bwMode="auto">
          <a:xfrm>
            <a:off x="215627" y="5286181"/>
            <a:ext cx="34290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solidFill>
                  <a:srgbClr val="000000"/>
                </a:solidFill>
                <a:latin typeface="Times New Roman" pitchFamily="18" charset="0"/>
                <a:ea typeface="돋움" pitchFamily="50" charset="-127"/>
                <a:cs typeface="Times New Roman" pitchFamily="18" charset="0"/>
              </a:rPr>
              <a:t>3</a:t>
            </a:r>
            <a:r>
              <a:rPr lang="en-US" altLang="ko-KR" sz="950" smtClean="0">
                <a:solidFill>
                  <a:srgbClr val="000000"/>
                </a:solidFill>
                <a:latin typeface="Times New Roman" pitchFamily="18" charset="0"/>
                <a:ea typeface="돋움" pitchFamily="50" charset="-127"/>
                <a:cs typeface="Times New Roman" pitchFamily="18" charset="0"/>
              </a:rPr>
              <a:t>4.</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Hãy</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đổi</a:t>
            </a:r>
            <a:r>
              <a:rPr lang="en-US" altLang="ko-KR" sz="950" dirty="0" smtClean="0">
                <a:solidFill>
                  <a:srgbClr val="000000"/>
                </a:solidFill>
                <a:latin typeface="Times New Roman" pitchFamily="18" charset="0"/>
                <a:ea typeface="돋움" pitchFamily="50" charset="-127"/>
                <a:cs typeface="Times New Roman" pitchFamily="18" charset="0"/>
              </a:rPr>
              <a:t> 458 </a:t>
            </a:r>
            <a:r>
              <a:rPr lang="en-US" altLang="ko-KR" sz="950" dirty="0" err="1" smtClean="0">
                <a:solidFill>
                  <a:srgbClr val="000000"/>
                </a:solidFill>
                <a:latin typeface="Times New Roman" pitchFamily="18" charset="0"/>
                <a:ea typeface="돋움" pitchFamily="50" charset="-127"/>
                <a:cs typeface="Times New Roman" pitchFamily="18" charset="0"/>
              </a:rPr>
              <a:t>hệ</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thập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phân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thành</a:t>
            </a:r>
            <a:r>
              <a:rPr lang="en-US" altLang="ko-KR" sz="950" dirty="0" smtClean="0">
                <a:solidFill>
                  <a:srgbClr val="000000"/>
                </a:solidFill>
                <a:latin typeface="Times New Roman" pitchFamily="18" charset="0"/>
                <a:ea typeface="돋움" pitchFamily="50" charset="-127"/>
                <a:cs typeface="Times New Roman" pitchFamily="18" charset="0"/>
              </a:rPr>
              <a:t> code </a:t>
            </a:r>
            <a:r>
              <a:rPr lang="ko-KR" altLang="en-US" sz="950" dirty="0" smtClean="0">
                <a:solidFill>
                  <a:srgbClr val="000000"/>
                </a:solidFill>
                <a:latin typeface="Times New Roman" pitchFamily="18" charset="0"/>
                <a:ea typeface="돋움" pitchFamily="50" charset="-127"/>
                <a:cs typeface="Times New Roman" pitchFamily="18" charset="0"/>
              </a:rPr>
              <a:t> </a:t>
            </a:r>
            <a:r>
              <a:rPr lang="en-US" altLang="ko-KR" sz="950" dirty="0">
                <a:solidFill>
                  <a:srgbClr val="000000"/>
                </a:solidFill>
                <a:latin typeface="Times New Roman" pitchFamily="18" charset="0"/>
                <a:ea typeface="돋움" pitchFamily="50" charset="-127"/>
                <a:cs typeface="Times New Roman" pitchFamily="18" charset="0"/>
              </a:rPr>
              <a:t>BCD </a:t>
            </a:r>
            <a:r>
              <a:rPr lang="en-US" altLang="ko-KR" sz="950" dirty="0" smtClean="0">
                <a:solidFill>
                  <a:srgbClr val="000000"/>
                </a:solidFill>
                <a:latin typeface="Times New Roman" pitchFamily="18" charset="0"/>
                <a:ea typeface="돋움" pitchFamily="50" charset="-127"/>
                <a:cs typeface="Times New Roman" pitchFamily="18" charset="0"/>
              </a:rPr>
              <a:t>.</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en-US" altLang="ko-KR" sz="950" smtClean="0">
                <a:solidFill>
                  <a:srgbClr val="000000"/>
                </a:solidFill>
                <a:latin typeface="Times New Roman" pitchFamily="18" charset="0"/>
                <a:ea typeface="돋움" pitchFamily="50" charset="-127"/>
                <a:cs typeface="Times New Roman" pitchFamily="18" charset="0"/>
              </a:rPr>
              <a:t>A.  </a:t>
            </a:r>
            <a:r>
              <a:rPr lang="en-US" altLang="ko-KR" sz="950" dirty="0">
                <a:solidFill>
                  <a:srgbClr val="000000"/>
                </a:solidFill>
                <a:latin typeface="Times New Roman" pitchFamily="18" charset="0"/>
                <a:ea typeface="돋움" pitchFamily="50" charset="-127"/>
                <a:cs typeface="Times New Roman" pitchFamily="18" charset="0"/>
              </a:rPr>
              <a:t>1100 0101 </a:t>
            </a:r>
            <a:r>
              <a:rPr lang="en-US" altLang="ko-KR" sz="950">
                <a:solidFill>
                  <a:srgbClr val="000000"/>
                </a:solidFill>
                <a:latin typeface="Times New Roman" pitchFamily="18" charset="0"/>
                <a:ea typeface="돋움" pitchFamily="50" charset="-127"/>
                <a:cs typeface="Times New Roman" pitchFamily="18" charset="0"/>
              </a:rPr>
              <a:t>1000    </a:t>
            </a:r>
            <a:r>
              <a:rPr lang="en-US" altLang="ko-KR"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B. </a:t>
            </a:r>
            <a:r>
              <a:rPr lang="en-US" altLang="ko-KR" sz="950" dirty="0">
                <a:solidFill>
                  <a:srgbClr val="FF0000"/>
                </a:solidFill>
                <a:latin typeface="Times New Roman" pitchFamily="18" charset="0"/>
                <a:ea typeface="돋움" pitchFamily="50" charset="-127"/>
                <a:cs typeface="Times New Roman" pitchFamily="18" charset="0"/>
              </a:rPr>
              <a:t>100 0101 1000   </a:t>
            </a: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 C. </a:t>
            </a:r>
            <a:r>
              <a:rPr lang="en-US" altLang="ko-KR" sz="950" dirty="0">
                <a:solidFill>
                  <a:srgbClr val="000000"/>
                </a:solidFill>
                <a:latin typeface="Times New Roman" pitchFamily="18" charset="0"/>
                <a:ea typeface="돋움" pitchFamily="50" charset="-127"/>
                <a:cs typeface="Times New Roman" pitchFamily="18" charset="0"/>
              </a:rPr>
              <a:t>101 1010 </a:t>
            </a:r>
            <a:r>
              <a:rPr lang="en-US" altLang="ko-KR" sz="950">
                <a:solidFill>
                  <a:srgbClr val="000000"/>
                </a:solidFill>
                <a:latin typeface="Times New Roman" pitchFamily="18" charset="0"/>
                <a:ea typeface="돋움" pitchFamily="50" charset="-127"/>
                <a:cs typeface="Times New Roman" pitchFamily="18" charset="0"/>
              </a:rPr>
              <a:t>0001       </a:t>
            </a:r>
            <a:r>
              <a:rPr lang="en-US" altLang="ko-KR" sz="950" smtClean="0">
                <a:solidFill>
                  <a:srgbClr val="000000"/>
                </a:solidFill>
                <a:latin typeface="Times New Roman" pitchFamily="18" charset="0"/>
                <a:ea typeface="돋움" pitchFamily="50" charset="-127"/>
                <a:cs typeface="Times New Roman" pitchFamily="18" charset="0"/>
              </a:rPr>
              <a:t> D. </a:t>
            </a:r>
            <a:r>
              <a:rPr lang="en-US" altLang="ko-KR" sz="950" dirty="0">
                <a:solidFill>
                  <a:srgbClr val="000000"/>
                </a:solidFill>
                <a:latin typeface="Times New Roman" pitchFamily="18" charset="0"/>
                <a:ea typeface="돋움" pitchFamily="50" charset="-127"/>
                <a:cs typeface="Times New Roman" pitchFamily="18" charset="0"/>
              </a:rPr>
              <a:t>100 0101 1001</a:t>
            </a:r>
            <a:endParaRPr lang="ko-KR" altLang="en-US" sz="950" dirty="0">
              <a:solidFill>
                <a:srgbClr val="000000"/>
              </a:solidFill>
              <a:latin typeface="Times New Roman" pitchFamily="18" charset="0"/>
              <a:ea typeface="돋움" pitchFamily="50" charset="-127"/>
              <a:cs typeface="Times New Roman" pitchFamily="18" charset="0"/>
            </a:endParaRPr>
          </a:p>
        </p:txBody>
      </p:sp>
      <p:sp>
        <p:nvSpPr>
          <p:cNvPr id="35" name="Rectangle 101"/>
          <p:cNvSpPr>
            <a:spLocks noChangeArrowheads="1"/>
          </p:cNvSpPr>
          <p:nvPr/>
        </p:nvSpPr>
        <p:spPr bwMode="auto">
          <a:xfrm>
            <a:off x="215627" y="6281226"/>
            <a:ext cx="3429000"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solidFill>
                  <a:srgbClr val="000000"/>
                </a:solidFill>
                <a:latin typeface="Times New Roman" pitchFamily="18" charset="0"/>
                <a:ea typeface="돋움" pitchFamily="50" charset="-127"/>
                <a:cs typeface="Times New Roman" pitchFamily="18" charset="0"/>
              </a:rPr>
              <a:t>3</a:t>
            </a:r>
            <a:r>
              <a:rPr lang="en-US" altLang="ko-KR" sz="950" smtClean="0">
                <a:solidFill>
                  <a:srgbClr val="000000"/>
                </a:solidFill>
                <a:latin typeface="Times New Roman" pitchFamily="18" charset="0"/>
                <a:ea typeface="돋움" pitchFamily="50" charset="-127"/>
                <a:cs typeface="Times New Roman" pitchFamily="18" charset="0"/>
              </a:rPr>
              <a:t>5</a:t>
            </a:r>
            <a:r>
              <a:rPr lang="en-US" altLang="ko-KR" sz="950" dirty="0">
                <a:solidFill>
                  <a:srgbClr val="000000"/>
                </a:solidFill>
                <a:latin typeface="Times New Roman" pitchFamily="18" charset="0"/>
                <a:ea typeface="돋움" pitchFamily="50" charset="-127"/>
                <a:cs typeface="Times New Roman" pitchFamily="18" charset="0"/>
              </a:rPr>
              <a:t>.</a:t>
            </a:r>
            <a:r>
              <a:rPr lang="ko-KR" altLang="en-US" sz="950" dirty="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Hãy</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chọn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đáp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án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giải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thích</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sai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về</a:t>
            </a:r>
            <a:r>
              <a:rPr lang="en-US" altLang="ko-KR" sz="950" dirty="0" smtClean="0">
                <a:solidFill>
                  <a:srgbClr val="000000"/>
                </a:solidFill>
                <a:latin typeface="Times New Roman" pitchFamily="18" charset="0"/>
                <a:ea typeface="돋움" pitchFamily="50" charset="-127"/>
                <a:cs typeface="Times New Roman" pitchFamily="18" charset="0"/>
              </a:rPr>
              <a:t> Device .</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A . </a:t>
            </a:r>
            <a:r>
              <a:rPr lang="en-US" altLang="ko-KR" sz="950" dirty="0" smtClean="0">
                <a:solidFill>
                  <a:srgbClr val="000000"/>
                </a:solidFill>
                <a:latin typeface="Times New Roman" pitchFamily="18" charset="0"/>
                <a:ea typeface="돋움" pitchFamily="50" charset="-127"/>
                <a:cs typeface="Times New Roman" pitchFamily="18" charset="0"/>
              </a:rPr>
              <a:t>Device </a:t>
            </a:r>
            <a:r>
              <a:rPr lang="en-US" altLang="ko-KR" sz="950" dirty="0" err="1" smtClean="0">
                <a:solidFill>
                  <a:srgbClr val="000000"/>
                </a:solidFill>
                <a:latin typeface="Times New Roman" pitchFamily="18" charset="0"/>
                <a:ea typeface="돋움" pitchFamily="50" charset="-127"/>
                <a:cs typeface="Times New Roman" pitchFamily="18" charset="0"/>
              </a:rPr>
              <a:t>bên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ngoài</a:t>
            </a:r>
            <a:r>
              <a:rPr lang="en-US" altLang="ko-KR" sz="950" dirty="0" smtClean="0">
                <a:solidFill>
                  <a:srgbClr val="000000"/>
                </a:solidFill>
                <a:latin typeface="Times New Roman" pitchFamily="18" charset="0"/>
                <a:ea typeface="돋움" pitchFamily="50" charset="-127"/>
                <a:cs typeface="Times New Roman" pitchFamily="18" charset="0"/>
              </a:rPr>
              <a:t> :</a:t>
            </a:r>
            <a:r>
              <a:rPr lang="ko-KR" altLang="en-US" sz="950" dirty="0" smtClean="0">
                <a:solidFill>
                  <a:srgbClr val="000000"/>
                </a:solidFill>
                <a:latin typeface="Times New Roman" pitchFamily="18" charset="0"/>
                <a:ea typeface="돋움" pitchFamily="50" charset="-127"/>
                <a:cs typeface="Times New Roman" pitchFamily="18" charset="0"/>
              </a:rPr>
              <a:t> </a:t>
            </a:r>
            <a:r>
              <a:rPr lang="en-US" altLang="ko-KR" sz="950" dirty="0" smtClean="0">
                <a:solidFill>
                  <a:srgbClr val="000000"/>
                </a:solidFill>
                <a:latin typeface="Times New Roman" pitchFamily="18" charset="0"/>
                <a:ea typeface="돋움" pitchFamily="50" charset="-127"/>
                <a:cs typeface="Times New Roman" pitchFamily="18" charset="0"/>
              </a:rPr>
              <a:t>Device </a:t>
            </a:r>
            <a:r>
              <a:rPr lang="en-US" altLang="ko-KR" sz="950" dirty="0" err="1" smtClean="0">
                <a:solidFill>
                  <a:srgbClr val="000000"/>
                </a:solidFill>
                <a:latin typeface="Times New Roman" pitchFamily="18" charset="0"/>
                <a:ea typeface="돋움" pitchFamily="50" charset="-127"/>
                <a:cs typeface="Times New Roman" pitchFamily="18" charset="0"/>
              </a:rPr>
              <a:t>sử</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dụng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nhận</a:t>
            </a:r>
            <a:r>
              <a:rPr lang="en-US" altLang="ko-KR" sz="950" dirty="0" smtClean="0">
                <a:solidFill>
                  <a:srgbClr val="000000"/>
                </a:solidFill>
                <a:latin typeface="Times New Roman" pitchFamily="18" charset="0"/>
                <a:ea typeface="돋움" pitchFamily="50" charset="-127"/>
                <a:cs typeface="Times New Roman" pitchFamily="18" charset="0"/>
              </a:rPr>
              <a:t> input </a:t>
            </a:r>
            <a:r>
              <a:rPr lang="en-US" altLang="ko-KR" sz="950" dirty="0" err="1" smtClean="0">
                <a:solidFill>
                  <a:srgbClr val="000000"/>
                </a:solidFill>
                <a:latin typeface="Times New Roman" pitchFamily="18" charset="0"/>
                <a:ea typeface="돋움" pitchFamily="50" charset="-127"/>
                <a:cs typeface="Times New Roman" pitchFamily="18" charset="0"/>
              </a:rPr>
              <a:t>từ</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ngoài</a:t>
            </a:r>
            <a:r>
              <a:rPr lang="en-US" altLang="ko-KR" sz="950" dirty="0" smtClean="0">
                <a:solidFill>
                  <a:srgbClr val="000000"/>
                </a:solidFill>
                <a:latin typeface="Times New Roman" pitchFamily="18" charset="0"/>
                <a:ea typeface="돋움" pitchFamily="50" charset="-127"/>
                <a:cs typeface="Times New Roman" pitchFamily="18" charset="0"/>
              </a:rPr>
              <a:t> CPU </a:t>
            </a:r>
            <a:r>
              <a:rPr lang="en-US" altLang="ko-KR" sz="950" dirty="0" err="1" smtClean="0">
                <a:solidFill>
                  <a:srgbClr val="000000"/>
                </a:solidFill>
                <a:latin typeface="Times New Roman" pitchFamily="18" charset="0"/>
                <a:ea typeface="돋움" pitchFamily="50" charset="-127"/>
                <a:cs typeface="Times New Roman" pitchFamily="18" charset="0"/>
              </a:rPr>
              <a:t>hpawcj</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khi</a:t>
            </a:r>
            <a:r>
              <a:rPr lang="en-US" altLang="ko-KR" sz="950" dirty="0" smtClean="0">
                <a:solidFill>
                  <a:srgbClr val="000000"/>
                </a:solidFill>
                <a:latin typeface="Times New Roman" pitchFamily="18" charset="0"/>
                <a:ea typeface="돋움" pitchFamily="50" charset="-127"/>
                <a:cs typeface="Times New Roman" pitchFamily="18" charset="0"/>
              </a:rPr>
              <a:t> output</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B.  </a:t>
            </a:r>
            <a:r>
              <a:rPr lang="en-US" altLang="ko-KR" sz="950" dirty="0" smtClean="0">
                <a:solidFill>
                  <a:srgbClr val="000000"/>
                </a:solidFill>
                <a:latin typeface="Times New Roman" pitchFamily="18" charset="0"/>
                <a:ea typeface="돋움" pitchFamily="50" charset="-127"/>
                <a:cs typeface="Times New Roman" pitchFamily="18" charset="0"/>
              </a:rPr>
              <a:t>Device </a:t>
            </a:r>
            <a:r>
              <a:rPr lang="en-US" altLang="ko-KR" sz="950" dirty="0" err="1" smtClean="0">
                <a:solidFill>
                  <a:srgbClr val="000000"/>
                </a:solidFill>
                <a:latin typeface="Times New Roman" pitchFamily="18" charset="0"/>
                <a:ea typeface="돋움" pitchFamily="50" charset="-127"/>
                <a:cs typeface="Times New Roman" pitchFamily="18" charset="0"/>
              </a:rPr>
              <a:t>bên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trong</a:t>
            </a:r>
            <a:r>
              <a:rPr lang="en-US" altLang="ko-KR" sz="950" dirty="0" smtClean="0">
                <a:solidFill>
                  <a:srgbClr val="000000"/>
                </a:solidFill>
                <a:latin typeface="Times New Roman" pitchFamily="18" charset="0"/>
                <a:ea typeface="돋움" pitchFamily="50" charset="-127"/>
                <a:cs typeface="Times New Roman" pitchFamily="18" charset="0"/>
              </a:rPr>
              <a:t>: Device </a:t>
            </a:r>
            <a:r>
              <a:rPr lang="en-US" altLang="ko-KR" sz="950" dirty="0" err="1" smtClean="0">
                <a:solidFill>
                  <a:srgbClr val="000000"/>
                </a:solidFill>
                <a:latin typeface="Times New Roman" pitchFamily="18" charset="0"/>
                <a:ea typeface="돋움" pitchFamily="50" charset="-127"/>
                <a:cs typeface="Times New Roman" pitchFamily="18" charset="0"/>
              </a:rPr>
              <a:t>chỉ</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sử</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dụng</a:t>
            </a:r>
            <a:r>
              <a:rPr lang="en-US" altLang="ko-KR" sz="950" dirty="0">
                <a:solidFill>
                  <a:srgbClr val="000000"/>
                </a:solidFill>
                <a:latin typeface="Times New Roman" pitchFamily="18" charset="0"/>
                <a:ea typeface="돋움" pitchFamily="50" charset="-127"/>
                <a:cs typeface="Times New Roman" pitchFamily="18" charset="0"/>
              </a:rPr>
              <a:t> </a:t>
            </a:r>
            <a:r>
              <a:rPr lang="en-US" altLang="ko-KR" sz="950" dirty="0" smtClean="0">
                <a:solidFill>
                  <a:srgbClr val="000000"/>
                </a:solidFill>
                <a:latin typeface="Times New Roman" pitchFamily="18" charset="0"/>
                <a:ea typeface="돋움" pitchFamily="50" charset="-127"/>
                <a:cs typeface="Times New Roman" pitchFamily="18" charset="0"/>
              </a:rPr>
              <a:t>ở </a:t>
            </a:r>
            <a:r>
              <a:rPr lang="en-US" altLang="ko-KR" sz="950" dirty="0" err="1" smtClean="0">
                <a:solidFill>
                  <a:srgbClr val="000000"/>
                </a:solidFill>
                <a:latin typeface="Times New Roman" pitchFamily="18" charset="0"/>
                <a:ea typeface="돋움" pitchFamily="50" charset="-127"/>
                <a:cs typeface="Times New Roman" pitchFamily="18" charset="0"/>
              </a:rPr>
              <a:t>bên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trong</a:t>
            </a:r>
            <a:r>
              <a:rPr lang="en-US" altLang="ko-KR" sz="950" dirty="0" smtClean="0">
                <a:solidFill>
                  <a:srgbClr val="000000"/>
                </a:solidFill>
                <a:latin typeface="Times New Roman" pitchFamily="18" charset="0"/>
                <a:ea typeface="돋움" pitchFamily="50" charset="-127"/>
                <a:cs typeface="Times New Roman" pitchFamily="18" charset="0"/>
              </a:rPr>
              <a:t> CPU, </a:t>
            </a:r>
            <a:r>
              <a:rPr lang="en-US" altLang="ko-KR" sz="950" dirty="0" err="1" smtClean="0">
                <a:solidFill>
                  <a:srgbClr val="000000"/>
                </a:solidFill>
                <a:latin typeface="Times New Roman" pitchFamily="18" charset="0"/>
                <a:ea typeface="돋움" pitchFamily="50" charset="-127"/>
                <a:cs typeface="Times New Roman" pitchFamily="18" charset="0"/>
              </a:rPr>
              <a:t>không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thể</a:t>
            </a:r>
            <a:r>
              <a:rPr lang="en-US" altLang="ko-KR" sz="950" dirty="0" smtClean="0">
                <a:solidFill>
                  <a:srgbClr val="000000"/>
                </a:solidFill>
                <a:latin typeface="Times New Roman" pitchFamily="18" charset="0"/>
                <a:ea typeface="돋움" pitchFamily="50" charset="-127"/>
                <a:cs typeface="Times New Roman" pitchFamily="18" charset="0"/>
              </a:rPr>
              <a:t> output </a:t>
            </a:r>
            <a:r>
              <a:rPr lang="en-US" altLang="ko-KR" sz="950" dirty="0" err="1" smtClean="0">
                <a:solidFill>
                  <a:srgbClr val="000000"/>
                </a:solidFill>
                <a:latin typeface="Times New Roman" pitchFamily="18" charset="0"/>
                <a:ea typeface="돋움" pitchFamily="50" charset="-127"/>
                <a:cs typeface="Times New Roman" pitchFamily="18" charset="0"/>
              </a:rPr>
              <a:t>trước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tiếp</a:t>
            </a:r>
            <a:r>
              <a:rPr lang="en-US" altLang="ko-KR" sz="950" dirty="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đến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ngoài</a:t>
            </a:r>
            <a:r>
              <a:rPr lang="en-US" altLang="ko-KR" sz="950" dirty="0" smtClean="0">
                <a:solidFill>
                  <a:srgbClr val="000000"/>
                </a:solidFill>
                <a:latin typeface="Times New Roman" pitchFamily="18" charset="0"/>
                <a:ea typeface="돋움" pitchFamily="50" charset="-127"/>
                <a:cs typeface="Times New Roman" pitchFamily="18" charset="0"/>
              </a:rPr>
              <a:t> CPU.</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C</a:t>
            </a:r>
            <a:r>
              <a:rPr lang="en-US" altLang="ko-KR"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 </a:t>
            </a:r>
            <a:r>
              <a:rPr lang="en-US" altLang="ko-KR" sz="950" dirty="0">
                <a:solidFill>
                  <a:srgbClr val="FF0000"/>
                </a:solidFill>
                <a:latin typeface="Times New Roman" pitchFamily="18" charset="0"/>
                <a:ea typeface="돋움" pitchFamily="50" charset="-127"/>
                <a:cs typeface="Times New Roman" pitchFamily="18" charset="0"/>
              </a:rPr>
              <a:t>Bit Device </a:t>
            </a:r>
            <a:r>
              <a:rPr lang="en-US" altLang="ko-KR" sz="950" dirty="0" smtClean="0">
                <a:solidFill>
                  <a:srgbClr val="FF0000"/>
                </a:solidFill>
                <a:latin typeface="Times New Roman" pitchFamily="18" charset="0"/>
                <a:ea typeface="돋움" pitchFamily="50" charset="-127"/>
                <a:cs typeface="Times New Roman" pitchFamily="18" charset="0"/>
              </a:rPr>
              <a:t>: Device  </a:t>
            </a:r>
            <a:r>
              <a:rPr lang="en-US" altLang="ko-KR" sz="950" dirty="0" err="1" smtClean="0">
                <a:solidFill>
                  <a:srgbClr val="FF0000"/>
                </a:solidFill>
                <a:latin typeface="Times New Roman" pitchFamily="18" charset="0"/>
                <a:ea typeface="돋움" pitchFamily="50" charset="-127"/>
                <a:cs typeface="Times New Roman" pitchFamily="18" charset="0"/>
              </a:rPr>
              <a:t>chỉ</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có</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thể</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điều</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khiển</a:t>
            </a:r>
            <a:r>
              <a:rPr lang="en-US" altLang="ko-KR" sz="950" dirty="0" smtClean="0">
                <a:solidFill>
                  <a:srgbClr val="FF0000"/>
                </a:solidFill>
                <a:latin typeface="Times New Roman" pitchFamily="18" charset="0"/>
                <a:ea typeface="돋움" pitchFamily="50" charset="-127"/>
                <a:cs typeface="Times New Roman" pitchFamily="18" charset="0"/>
              </a:rPr>
              <a:t> On/Off </a:t>
            </a:r>
            <a:r>
              <a:rPr lang="en-US" altLang="ko-KR" sz="950" dirty="0" err="1" smtClean="0">
                <a:solidFill>
                  <a:srgbClr val="FF0000"/>
                </a:solidFill>
                <a:latin typeface="Times New Roman" pitchFamily="18" charset="0"/>
                <a:ea typeface="돋움" pitchFamily="50" charset="-127"/>
                <a:cs typeface="Times New Roman" pitchFamily="18" charset="0"/>
              </a:rPr>
              <a:t>bằng</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cách</a:t>
            </a:r>
            <a:r>
              <a:rPr lang="en-US" altLang="ko-KR" sz="950" dirty="0" smtClean="0">
                <a:solidFill>
                  <a:srgbClr val="FF0000"/>
                </a:solidFill>
                <a:latin typeface="Times New Roman" pitchFamily="18" charset="0"/>
                <a:ea typeface="돋움" pitchFamily="50" charset="-127"/>
                <a:cs typeface="Times New Roman" pitchFamily="18" charset="0"/>
              </a:rPr>
              <a:t> Output </a:t>
            </a:r>
            <a:r>
              <a:rPr lang="en-US" altLang="ko-KR" sz="950" dirty="0" err="1" smtClean="0">
                <a:solidFill>
                  <a:srgbClr val="FF0000"/>
                </a:solidFill>
                <a:latin typeface="Times New Roman" pitchFamily="18" charset="0"/>
                <a:ea typeface="돋움" pitchFamily="50" charset="-127"/>
                <a:cs typeface="Times New Roman" pitchFamily="18" charset="0"/>
              </a:rPr>
              <a:t>đơn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thuần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hệ</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bát</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phân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tức</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là</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từ</a:t>
            </a:r>
            <a:r>
              <a:rPr lang="ko-KR" altLang="en-US" sz="950" dirty="0" smtClean="0">
                <a:solidFill>
                  <a:srgbClr val="FF0000"/>
                </a:solidFill>
                <a:latin typeface="Times New Roman" pitchFamily="18" charset="0"/>
                <a:ea typeface="돋움" pitchFamily="50" charset="-127"/>
                <a:cs typeface="Times New Roman" pitchFamily="18" charset="0"/>
              </a:rPr>
              <a:t> </a:t>
            </a:r>
            <a:r>
              <a:rPr lang="en-US" altLang="ko-KR" sz="950" dirty="0" smtClean="0">
                <a:solidFill>
                  <a:srgbClr val="FF0000"/>
                </a:solidFill>
                <a:latin typeface="Times New Roman" pitchFamily="18" charset="0"/>
                <a:ea typeface="돋움" pitchFamily="50" charset="-127"/>
                <a:cs typeface="Times New Roman" pitchFamily="18" charset="0"/>
              </a:rPr>
              <a:t>0~7</a:t>
            </a:r>
            <a:endParaRPr lang="en-US" altLang="ko-KR" sz="950" dirty="0">
              <a:solidFill>
                <a:srgbClr val="FF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D.  </a:t>
            </a:r>
            <a:r>
              <a:rPr lang="en-US" altLang="ko-KR" sz="950" dirty="0">
                <a:solidFill>
                  <a:srgbClr val="000000"/>
                </a:solidFill>
                <a:latin typeface="Times New Roman" pitchFamily="18" charset="0"/>
                <a:ea typeface="돋움" pitchFamily="50" charset="-127"/>
                <a:cs typeface="Times New Roman" pitchFamily="18" charset="0"/>
              </a:rPr>
              <a:t>Word Device : </a:t>
            </a:r>
            <a:r>
              <a:rPr lang="en-US" altLang="ko-KR" sz="950" dirty="0" smtClean="0">
                <a:solidFill>
                  <a:srgbClr val="000000"/>
                </a:solidFill>
                <a:latin typeface="Times New Roman" pitchFamily="18" charset="0"/>
                <a:ea typeface="돋움" pitchFamily="50" charset="-127"/>
                <a:cs typeface="Times New Roman" pitchFamily="18" charset="0"/>
              </a:rPr>
              <a:t>Device </a:t>
            </a:r>
            <a:r>
              <a:rPr lang="en-US" altLang="ko-KR" sz="950" dirty="0" err="1" smtClean="0">
                <a:solidFill>
                  <a:srgbClr val="000000"/>
                </a:solidFill>
                <a:latin typeface="Times New Roman" pitchFamily="18" charset="0"/>
                <a:ea typeface="돋움" pitchFamily="50" charset="-127"/>
                <a:cs typeface="Times New Roman" pitchFamily="18" charset="0"/>
              </a:rPr>
              <a:t>có</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thể</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điều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khiển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được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với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đơn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vị</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Bit.Word</a:t>
            </a:r>
            <a:endParaRPr lang="ko-KR" altLang="en-US" sz="950" dirty="0">
              <a:solidFill>
                <a:srgbClr val="000000"/>
              </a:solidFill>
              <a:latin typeface="Times New Roman" pitchFamily="18" charset="0"/>
              <a:ea typeface="돋움" pitchFamily="50" charset="-127"/>
              <a:cs typeface="Times New Roman" pitchFamily="18" charset="0"/>
            </a:endParaRPr>
          </a:p>
        </p:txBody>
      </p:sp>
      <p:sp>
        <p:nvSpPr>
          <p:cNvPr id="36" name="Rectangle 101"/>
          <p:cNvSpPr>
            <a:spLocks noChangeArrowheads="1"/>
          </p:cNvSpPr>
          <p:nvPr/>
        </p:nvSpPr>
        <p:spPr bwMode="auto">
          <a:xfrm>
            <a:off x="188640" y="8380348"/>
            <a:ext cx="323440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solidFill>
                  <a:srgbClr val="000000"/>
                </a:solidFill>
                <a:latin typeface="Times New Roman" pitchFamily="18" charset="0"/>
                <a:ea typeface="돋움" pitchFamily="50" charset="-127"/>
                <a:cs typeface="Times New Roman" pitchFamily="18" charset="0"/>
              </a:rPr>
              <a:t>3</a:t>
            </a:r>
            <a:r>
              <a:rPr lang="en-US" altLang="ko-KR" sz="950" smtClean="0">
                <a:solidFill>
                  <a:srgbClr val="000000"/>
                </a:solidFill>
                <a:latin typeface="Times New Roman" pitchFamily="18" charset="0"/>
                <a:ea typeface="돋움" pitchFamily="50" charset="-127"/>
                <a:cs typeface="Times New Roman" pitchFamily="18" charset="0"/>
              </a:rPr>
              <a:t>6</a:t>
            </a:r>
            <a:r>
              <a:rPr lang="en-US" altLang="ko-KR" sz="950" dirty="0">
                <a:solidFill>
                  <a:srgbClr val="000000"/>
                </a:solidFill>
                <a:latin typeface="Times New Roman" pitchFamily="18" charset="0"/>
                <a:ea typeface="돋움" pitchFamily="50" charset="-127"/>
                <a:cs typeface="Times New Roman" pitchFamily="18" charset="0"/>
              </a:rPr>
              <a:t>.</a:t>
            </a:r>
            <a:r>
              <a:rPr lang="ko-KR" altLang="en-US" sz="950" dirty="0">
                <a:solidFill>
                  <a:srgbClr val="000000"/>
                </a:solidFill>
                <a:latin typeface="Times New Roman" pitchFamily="18" charset="0"/>
                <a:ea typeface="돋움" pitchFamily="50" charset="-127"/>
                <a:cs typeface="Times New Roman" pitchFamily="18" charset="0"/>
              </a:rPr>
              <a:t> </a:t>
            </a:r>
            <a:r>
              <a:rPr lang="en-US" altLang="ko-KR" sz="950" dirty="0" smtClean="0">
                <a:solidFill>
                  <a:srgbClr val="000000"/>
                </a:solidFill>
                <a:latin typeface="Times New Roman" pitchFamily="18" charset="0"/>
                <a:ea typeface="돋움" pitchFamily="50" charset="-127"/>
                <a:cs typeface="Times New Roman" pitchFamily="18" charset="0"/>
              </a:rPr>
              <a:t>DEVICE </a:t>
            </a:r>
            <a:r>
              <a:rPr lang="en-US" altLang="ko-KR" sz="950" dirty="0" err="1" smtClean="0">
                <a:solidFill>
                  <a:srgbClr val="000000"/>
                </a:solidFill>
                <a:latin typeface="Times New Roman" pitchFamily="18" charset="0"/>
                <a:ea typeface="돋움" pitchFamily="50" charset="-127"/>
                <a:cs typeface="Times New Roman" pitchFamily="18" charset="0"/>
              </a:rPr>
              <a:t>sử</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dụng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vùng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a:solidFill>
                  <a:srgbClr val="000000"/>
                </a:solidFill>
                <a:latin typeface="Times New Roman" pitchFamily="18" charset="0"/>
                <a:ea typeface="돋움" pitchFamily="50" charset="-127"/>
                <a:cs typeface="Times New Roman" pitchFamily="18" charset="0"/>
              </a:rPr>
              <a:t>USER </a:t>
            </a:r>
            <a:r>
              <a:rPr lang="en-US" altLang="ko-KR" sz="950" dirty="0" smtClean="0">
                <a:solidFill>
                  <a:srgbClr val="000000"/>
                </a:solidFill>
                <a:latin typeface="Times New Roman" pitchFamily="18" charset="0"/>
                <a:ea typeface="돋움" pitchFamily="50" charset="-127"/>
                <a:cs typeface="Times New Roman" pitchFamily="18" charset="0"/>
              </a:rPr>
              <a:t>MEMORY </a:t>
            </a:r>
            <a:r>
              <a:rPr lang="en-US" altLang="ko-KR" sz="950" dirty="0" err="1" smtClean="0">
                <a:solidFill>
                  <a:srgbClr val="000000"/>
                </a:solidFill>
                <a:latin typeface="Times New Roman" pitchFamily="18" charset="0"/>
                <a:ea typeface="돋움" pitchFamily="50" charset="-127"/>
                <a:cs typeface="Times New Roman" pitchFamily="18" charset="0"/>
              </a:rPr>
              <a:t>để</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mở</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rộng</a:t>
            </a:r>
            <a:r>
              <a:rPr lang="en-US" altLang="ko-KR" sz="950" dirty="0" smtClean="0">
                <a:solidFill>
                  <a:srgbClr val="000000"/>
                </a:solidFill>
                <a:latin typeface="Times New Roman" pitchFamily="18" charset="0"/>
                <a:ea typeface="돋움" pitchFamily="50" charset="-127"/>
                <a:cs typeface="Times New Roman" pitchFamily="18" charset="0"/>
              </a:rPr>
              <a:t> data Resister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gì</a:t>
            </a:r>
            <a:r>
              <a:rPr lang="en-US" altLang="ko-KR" sz="950" dirty="0" smtClean="0">
                <a:solidFill>
                  <a:srgbClr val="000000"/>
                </a:solidFill>
                <a:latin typeface="Times New Roman" pitchFamily="18" charset="0"/>
                <a:ea typeface="돋움" pitchFamily="50" charset="-127"/>
                <a:cs typeface="Times New Roman" pitchFamily="18" charset="0"/>
              </a:rPr>
              <a:t> ?</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a:solidFill>
                  <a:srgbClr val="FF0000"/>
                </a:solidFill>
                <a:latin typeface="Times New Roman" pitchFamily="18" charset="0"/>
                <a:ea typeface="돋움" pitchFamily="50" charset="-127"/>
                <a:cs typeface="Times New Roman" pitchFamily="18" charset="0"/>
              </a:rPr>
              <a:t>R   </a:t>
            </a:r>
            <a:r>
              <a:rPr lang="en-US" altLang="ko-KR" sz="950" smtClean="0">
                <a:solidFill>
                  <a:srgbClr val="FF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B. </a:t>
            </a:r>
            <a:r>
              <a:rPr lang="en-US" altLang="ko-KR" sz="950">
                <a:solidFill>
                  <a:srgbClr val="000000"/>
                </a:solidFill>
                <a:latin typeface="Times New Roman" pitchFamily="18" charset="0"/>
                <a:ea typeface="돋움" pitchFamily="50" charset="-127"/>
                <a:cs typeface="Times New Roman" pitchFamily="18" charset="0"/>
              </a:rPr>
              <a:t>W    </a:t>
            </a:r>
            <a:r>
              <a:rPr lang="en-US" altLang="ko-KR" sz="950" smtClean="0">
                <a:solidFill>
                  <a:srgbClr val="000000"/>
                </a:solidFill>
                <a:latin typeface="Times New Roman" pitchFamily="18" charset="0"/>
                <a:ea typeface="돋움" pitchFamily="50" charset="-127"/>
                <a:cs typeface="Times New Roman" pitchFamily="18" charset="0"/>
              </a:rPr>
              <a:t>           C. </a:t>
            </a:r>
            <a:r>
              <a:rPr lang="en-US" altLang="ko-KR" sz="950">
                <a:solidFill>
                  <a:srgbClr val="000000"/>
                </a:solidFill>
                <a:latin typeface="Times New Roman" pitchFamily="18" charset="0"/>
                <a:ea typeface="돋움" pitchFamily="50" charset="-127"/>
                <a:cs typeface="Times New Roman" pitchFamily="18" charset="0"/>
              </a:rPr>
              <a:t>D   </a:t>
            </a:r>
            <a:r>
              <a:rPr lang="en-US" altLang="ko-KR" sz="950" smtClean="0">
                <a:solidFill>
                  <a:srgbClr val="000000"/>
                </a:solidFill>
                <a:latin typeface="Times New Roman" pitchFamily="18" charset="0"/>
                <a:ea typeface="돋움" pitchFamily="50" charset="-127"/>
                <a:cs typeface="Times New Roman" pitchFamily="18" charset="0"/>
              </a:rPr>
              <a:t>            </a:t>
            </a:r>
            <a:r>
              <a:rPr lang="en-US" altLang="ko-KR" sz="950" dirty="0">
                <a:solidFill>
                  <a:srgbClr val="000000"/>
                </a:solidFill>
                <a:latin typeface="Times New Roman" pitchFamily="18" charset="0"/>
                <a:ea typeface="돋움" pitchFamily="50" charset="-127"/>
                <a:cs typeface="Times New Roman" pitchFamily="18" charset="0"/>
              </a:rPr>
              <a:t>4 .M</a:t>
            </a:r>
            <a:endParaRPr lang="ko-KR" altLang="en-US" sz="950" dirty="0">
              <a:solidFill>
                <a:srgbClr val="000000"/>
              </a:solidFill>
              <a:latin typeface="Times New Roman" pitchFamily="18" charset="0"/>
              <a:ea typeface="돋움" pitchFamily="50" charset="-127"/>
              <a:cs typeface="Times New Roman" pitchFamily="18" charset="0"/>
            </a:endParaRPr>
          </a:p>
        </p:txBody>
      </p:sp>
      <p:sp>
        <p:nvSpPr>
          <p:cNvPr id="37" name="Rectangle 101"/>
          <p:cNvSpPr>
            <a:spLocks noChangeArrowheads="1"/>
          </p:cNvSpPr>
          <p:nvPr/>
        </p:nvSpPr>
        <p:spPr bwMode="auto">
          <a:xfrm>
            <a:off x="3439443" y="1034950"/>
            <a:ext cx="3240757"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solidFill>
                  <a:srgbClr val="000000"/>
                </a:solidFill>
                <a:latin typeface="Times New Roman" pitchFamily="18" charset="0"/>
                <a:ea typeface="돋움" pitchFamily="50" charset="-127"/>
                <a:cs typeface="Times New Roman" pitchFamily="18" charset="0"/>
              </a:rPr>
              <a:t>3</a:t>
            </a:r>
            <a:r>
              <a:rPr lang="en-US" altLang="ko-KR" sz="950" smtClean="0">
                <a:solidFill>
                  <a:srgbClr val="000000"/>
                </a:solidFill>
                <a:latin typeface="Times New Roman" pitchFamily="18" charset="0"/>
                <a:ea typeface="돋움" pitchFamily="50" charset="-127"/>
                <a:cs typeface="Times New Roman" pitchFamily="18" charset="0"/>
              </a:rPr>
              <a:t>7</a:t>
            </a:r>
            <a:r>
              <a:rPr lang="en-US" altLang="ko-KR" sz="950" dirty="0">
                <a:solidFill>
                  <a:srgbClr val="000000"/>
                </a:solidFill>
                <a:latin typeface="Times New Roman" pitchFamily="18" charset="0"/>
                <a:ea typeface="돋움" pitchFamily="50" charset="-127"/>
                <a:cs typeface="Times New Roman" pitchFamily="18" charset="0"/>
              </a:rPr>
              <a:t>.</a:t>
            </a:r>
            <a:r>
              <a:rPr lang="ko-KR" altLang="en-US" sz="950" dirty="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Đâu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không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phải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Word Device?</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           A . </a:t>
            </a:r>
            <a:r>
              <a:rPr lang="en-US" altLang="ko-KR" sz="950">
                <a:solidFill>
                  <a:srgbClr val="000000"/>
                </a:solidFill>
                <a:latin typeface="Times New Roman" pitchFamily="18" charset="0"/>
                <a:ea typeface="돋움" pitchFamily="50" charset="-127"/>
                <a:cs typeface="Times New Roman" pitchFamily="18" charset="0"/>
              </a:rPr>
              <a:t>T  </a:t>
            </a:r>
            <a:r>
              <a:rPr lang="en-US" altLang="ko-KR"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B. F</a:t>
            </a:r>
            <a:r>
              <a:rPr lang="en-US" altLang="ko-KR" sz="950" smtClean="0">
                <a:solidFill>
                  <a:srgbClr val="000000"/>
                </a:solidFill>
                <a:latin typeface="Times New Roman" pitchFamily="18" charset="0"/>
                <a:ea typeface="돋움" pitchFamily="50" charset="-127"/>
                <a:cs typeface="Times New Roman" pitchFamily="18" charset="0"/>
              </a:rPr>
              <a:t>               C. D          D. R</a:t>
            </a:r>
            <a:endParaRPr lang="ko-KR" altLang="en-US" sz="950" dirty="0">
              <a:solidFill>
                <a:srgbClr val="000000"/>
              </a:solidFill>
              <a:latin typeface="Times New Roman" pitchFamily="18" charset="0"/>
              <a:ea typeface="돋움" pitchFamily="50" charset="-127"/>
              <a:cs typeface="Times New Roman" pitchFamily="18" charset="0"/>
            </a:endParaRPr>
          </a:p>
        </p:txBody>
      </p:sp>
      <p:sp>
        <p:nvSpPr>
          <p:cNvPr id="39" name="Rectangle 99"/>
          <p:cNvSpPr>
            <a:spLocks noChangeArrowheads="1"/>
          </p:cNvSpPr>
          <p:nvPr/>
        </p:nvSpPr>
        <p:spPr bwMode="auto">
          <a:xfrm>
            <a:off x="3429000" y="2144688"/>
            <a:ext cx="3279340"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solidFill>
                  <a:srgbClr val="000000"/>
                </a:solidFill>
                <a:latin typeface="Times New Roman" pitchFamily="18" charset="0"/>
                <a:cs typeface="Times New Roman" pitchFamily="18" charset="0"/>
              </a:rPr>
              <a:t>3</a:t>
            </a:r>
            <a:r>
              <a:rPr lang="en-US" altLang="ko-KR" sz="950" smtClean="0">
                <a:solidFill>
                  <a:srgbClr val="000000"/>
                </a:solidFill>
                <a:latin typeface="Times New Roman" pitchFamily="18" charset="0"/>
                <a:cs typeface="Times New Roman" pitchFamily="18" charset="0"/>
              </a:rPr>
              <a:t>8</a:t>
            </a:r>
            <a:r>
              <a:rPr lang="en-US" altLang="ko-KR" sz="95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Hãy </a:t>
            </a:r>
            <a:r>
              <a:rPr lang="en-US" altLang="ko-KR" sz="950" dirty="0" err="1" smtClean="0">
                <a:solidFill>
                  <a:srgbClr val="000000"/>
                </a:solidFill>
                <a:latin typeface="Times New Roman" pitchFamily="18" charset="0"/>
                <a:cs typeface="Times New Roman" pitchFamily="18" charset="0"/>
              </a:rPr>
              <a:t>chọn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đáp</a:t>
            </a:r>
            <a:r>
              <a:rPr lang="en-US" altLang="ko-KR" sz="950" dirty="0" smtClean="0">
                <a:solidFill>
                  <a:srgbClr val="000000"/>
                </a:solidFill>
                <a:latin typeface="Times New Roman" pitchFamily="18" charset="0"/>
                <a:cs typeface="Times New Roman" pitchFamily="18" charset="0"/>
              </a:rPr>
              <a:t> </a:t>
            </a:r>
            <a:r>
              <a:rPr lang="en-US" altLang="ko-KR" sz="950" err="1" smtClean="0">
                <a:solidFill>
                  <a:srgbClr val="000000"/>
                </a:solidFill>
                <a:latin typeface="Times New Roman" pitchFamily="18" charset="0"/>
                <a:cs typeface="Times New Roman" pitchFamily="18" charset="0"/>
              </a:rPr>
              <a:t>án</a:t>
            </a:r>
            <a:r>
              <a:rPr lang="en-US" altLang="ko-KR" sz="950" smtClean="0">
                <a:solidFill>
                  <a:srgbClr val="000000"/>
                </a:solidFill>
                <a:latin typeface="Times New Roman" pitchFamily="18" charset="0"/>
                <a:cs typeface="Times New Roman" pitchFamily="18" charset="0"/>
              </a:rPr>
              <a:t> không đúng giải </a:t>
            </a:r>
            <a:r>
              <a:rPr lang="en-US" altLang="ko-KR" sz="950" err="1" smtClean="0">
                <a:solidFill>
                  <a:srgbClr val="000000"/>
                </a:solidFill>
                <a:latin typeface="Times New Roman" pitchFamily="18" charset="0"/>
                <a:cs typeface="Times New Roman" pitchFamily="18" charset="0"/>
              </a:rPr>
              <a:t>thích</a:t>
            </a:r>
            <a:r>
              <a:rPr lang="en-US" altLang="ko-KR" sz="950" smtClean="0">
                <a:solidFill>
                  <a:srgbClr val="000000"/>
                </a:solidFill>
                <a:latin typeface="Times New Roman" pitchFamily="18" charset="0"/>
                <a:cs typeface="Times New Roman" pitchFamily="18" charset="0"/>
              </a:rPr>
              <a:t> về Byte?</a:t>
            </a:r>
            <a:endParaRPr lang="en-US" altLang="ko-KR" sz="950" dirty="0">
              <a:solidFill>
                <a:srgbClr val="000000"/>
              </a:solidFill>
              <a:latin typeface="Times New Roman" pitchFamily="18" charset="0"/>
              <a:cs typeface="Times New Roman" pitchFamily="18" charset="0"/>
            </a:endParaRPr>
          </a:p>
          <a:p>
            <a:pPr eaLnBrk="1" hangingPunct="1"/>
            <a:endParaRPr lang="en-US" altLang="ko-KR" sz="950" smtClean="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A. </a:t>
            </a:r>
            <a:r>
              <a:rPr lang="en-US" altLang="ko-KR" sz="950" dirty="0" err="1" smtClean="0">
                <a:solidFill>
                  <a:srgbClr val="000000"/>
                </a:solidFill>
                <a:latin typeface="Times New Roman" pitchFamily="18" charset="0"/>
                <a:cs typeface="Times New Roman" pitchFamily="18" charset="0"/>
              </a:rPr>
              <a:t>Gộp</a:t>
            </a:r>
            <a:r>
              <a:rPr lang="en-US" altLang="ko-KR" sz="950" dirty="0" smtClean="0">
                <a:solidFill>
                  <a:srgbClr val="000000"/>
                </a:solidFill>
                <a:latin typeface="Times New Roman" pitchFamily="18" charset="0"/>
                <a:cs typeface="Times New Roman" pitchFamily="18" charset="0"/>
              </a:rPr>
              <a:t> 8ea Bit </a:t>
            </a:r>
            <a:r>
              <a:rPr lang="en-US" altLang="ko-KR" sz="950" dirty="0" err="1" smtClean="0">
                <a:solidFill>
                  <a:srgbClr val="000000"/>
                </a:solidFill>
                <a:latin typeface="Times New Roman" pitchFamily="18" charset="0"/>
                <a:cs typeface="Times New Roman" pitchFamily="18" charset="0"/>
              </a:rPr>
              <a:t>vào</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là</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một</a:t>
            </a:r>
            <a:r>
              <a:rPr lang="en-US" altLang="ko-KR" sz="950" dirty="0" smtClean="0">
                <a:solidFill>
                  <a:srgbClr val="000000"/>
                </a:solidFill>
                <a:latin typeface="Times New Roman" pitchFamily="18" charset="0"/>
                <a:cs typeface="Times New Roman" pitchFamily="18" charset="0"/>
              </a:rPr>
              <a:t> Byte.</a:t>
            </a:r>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B. </a:t>
            </a:r>
            <a:r>
              <a:rPr lang="en-US" altLang="ko-KR" sz="950" dirty="0" err="1" smtClean="0">
                <a:solidFill>
                  <a:srgbClr val="000000"/>
                </a:solidFill>
                <a:latin typeface="Times New Roman" pitchFamily="18" charset="0"/>
                <a:cs typeface="Times New Roman" pitchFamily="18" charset="0"/>
              </a:rPr>
              <a:t>Có</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thể</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biểu</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hiện</a:t>
            </a:r>
            <a:r>
              <a:rPr lang="en-US" altLang="ko-KR" sz="950" dirty="0" smtClean="0">
                <a:solidFill>
                  <a:srgbClr val="000000"/>
                </a:solidFill>
                <a:latin typeface="Times New Roman" pitchFamily="18" charset="0"/>
                <a:cs typeface="Times New Roman" pitchFamily="18" charset="0"/>
              </a:rPr>
              <a:t> 256 </a:t>
            </a:r>
            <a:r>
              <a:rPr lang="en-US" altLang="ko-KR" sz="950" dirty="0" err="1" smtClean="0">
                <a:solidFill>
                  <a:srgbClr val="000000"/>
                </a:solidFill>
                <a:latin typeface="Times New Roman" pitchFamily="18" charset="0"/>
                <a:cs typeface="Times New Roman" pitchFamily="18" charset="0"/>
              </a:rPr>
              <a:t>loại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thông</a:t>
            </a:r>
            <a:r>
              <a:rPr lang="en-US" altLang="ko-KR" sz="950" dirty="0" smtClean="0">
                <a:solidFill>
                  <a:srgbClr val="000000"/>
                </a:solidFill>
                <a:latin typeface="Times New Roman" pitchFamily="18" charset="0"/>
                <a:cs typeface="Times New Roman" pitchFamily="18" charset="0"/>
              </a:rPr>
              <a:t> tin </a:t>
            </a:r>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C. </a:t>
            </a:r>
            <a:r>
              <a:rPr lang="en-US" altLang="ko-KR" sz="950" dirty="0" err="1" smtClean="0">
                <a:solidFill>
                  <a:srgbClr val="000000"/>
                </a:solidFill>
                <a:latin typeface="Times New Roman" pitchFamily="18" charset="0"/>
                <a:cs typeface="Times New Roman" pitchFamily="18" charset="0"/>
              </a:rPr>
              <a:t>Có</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thể</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biểu</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hiện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tất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cả</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chữ</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số</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chữ</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tiếng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anh</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kí</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tự</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đặc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biệt</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D. </a:t>
            </a:r>
            <a:r>
              <a:rPr lang="en-US" altLang="ko-KR" sz="950" dirty="0" smtClean="0">
                <a:solidFill>
                  <a:srgbClr val="FF0000"/>
                </a:solidFill>
                <a:latin typeface="Times New Roman" pitchFamily="18" charset="0"/>
                <a:cs typeface="Times New Roman" pitchFamily="18" charset="0"/>
              </a:rPr>
              <a:t>1 Byte </a:t>
            </a:r>
            <a:r>
              <a:rPr lang="en-US" altLang="ko-KR" sz="950" dirty="0" err="1" smtClean="0">
                <a:solidFill>
                  <a:srgbClr val="FF0000"/>
                </a:solidFill>
                <a:latin typeface="Times New Roman" pitchFamily="18" charset="0"/>
                <a:cs typeface="Times New Roman" pitchFamily="18" charset="0"/>
              </a:rPr>
              <a:t>cũng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được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gọi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là</a:t>
            </a:r>
            <a:r>
              <a:rPr lang="en-US" altLang="ko-KR" sz="950" dirty="0" smtClean="0">
                <a:solidFill>
                  <a:srgbClr val="FF0000"/>
                </a:solidFill>
                <a:latin typeface="Times New Roman" pitchFamily="18" charset="0"/>
                <a:cs typeface="Times New Roman" pitchFamily="18" charset="0"/>
              </a:rPr>
              <a:t> 1 </a:t>
            </a:r>
            <a:r>
              <a:rPr lang="en-US" altLang="ko-KR" sz="950" smtClean="0">
                <a:solidFill>
                  <a:srgbClr val="FF0000"/>
                </a:solidFill>
                <a:latin typeface="Times New Roman" pitchFamily="18" charset="0"/>
                <a:cs typeface="Times New Roman" pitchFamily="18" charset="0"/>
              </a:rPr>
              <a:t>bit.</a:t>
            </a:r>
            <a:endParaRPr lang="en-US" altLang="ko-KR" sz="950" dirty="0">
              <a:solidFill>
                <a:srgbClr val="FF0000"/>
              </a:solidFill>
              <a:latin typeface="Times New Roman" pitchFamily="18" charset="0"/>
              <a:cs typeface="Times New Roman" pitchFamily="18" charset="0"/>
            </a:endParaRPr>
          </a:p>
        </p:txBody>
      </p:sp>
      <p:sp>
        <p:nvSpPr>
          <p:cNvPr id="41" name="Rectangle 99"/>
          <p:cNvSpPr>
            <a:spLocks noChangeArrowheads="1"/>
          </p:cNvSpPr>
          <p:nvPr/>
        </p:nvSpPr>
        <p:spPr bwMode="auto">
          <a:xfrm>
            <a:off x="3456384" y="7579548"/>
            <a:ext cx="3429000"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cs typeface="Times New Roman" pitchFamily="18" charset="0"/>
              </a:rPr>
              <a:t>40. </a:t>
            </a:r>
            <a:r>
              <a:rPr lang="en-US" altLang="ko-KR" sz="950" dirty="0" err="1">
                <a:solidFill>
                  <a:srgbClr val="000000"/>
                </a:solidFill>
                <a:latin typeface="Times New Roman" pitchFamily="18" charset="0"/>
                <a:cs typeface="Times New Roman" pitchFamily="18" charset="0"/>
              </a:rPr>
              <a:t>H</a:t>
            </a:r>
            <a:r>
              <a:rPr lang="en-US" altLang="ko-KR" sz="950" smtClean="0">
                <a:solidFill>
                  <a:srgbClr val="000000"/>
                </a:solidFill>
                <a:latin typeface="Times New Roman" pitchFamily="18" charset="0"/>
                <a:cs typeface="Times New Roman" pitchFamily="18" charset="0"/>
              </a:rPr>
              <a:t>ãy </a:t>
            </a:r>
            <a:r>
              <a:rPr lang="en-US" altLang="ko-KR" sz="950" dirty="0" err="1" smtClean="0">
                <a:solidFill>
                  <a:srgbClr val="000000"/>
                </a:solidFill>
                <a:latin typeface="Times New Roman" pitchFamily="18" charset="0"/>
                <a:cs typeface="Times New Roman" pitchFamily="18" charset="0"/>
              </a:rPr>
              <a:t>chọn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tất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cả</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các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sai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trong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số</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những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giải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thích</a:t>
            </a:r>
            <a:r>
              <a:rPr lang="en-US" altLang="ko-KR" sz="950" dirty="0" smtClean="0">
                <a:solidFill>
                  <a:srgbClr val="000000"/>
                </a:solidFill>
                <a:latin typeface="Times New Roman" pitchFamily="18" charset="0"/>
                <a:cs typeface="Times New Roman" pitchFamily="18" charset="0"/>
              </a:rPr>
              <a:t> </a:t>
            </a:r>
            <a:r>
              <a:rPr lang="en-US" altLang="ko-KR" sz="950" err="1" smtClean="0">
                <a:solidFill>
                  <a:srgbClr val="000000"/>
                </a:solidFill>
                <a:latin typeface="Times New Roman" pitchFamily="18" charset="0"/>
                <a:cs typeface="Times New Roman" pitchFamily="18" charset="0"/>
              </a:rPr>
              <a:t>về</a:t>
            </a:r>
            <a:r>
              <a:rPr lang="en-US" altLang="ko-KR" sz="950" smtClean="0">
                <a:solidFill>
                  <a:srgbClr val="000000"/>
                </a:solidFill>
                <a:latin typeface="Times New Roman" pitchFamily="18" charset="0"/>
                <a:cs typeface="Times New Roman" pitchFamily="18" charset="0"/>
              </a:rPr>
              <a:t> </a:t>
            </a:r>
          </a:p>
          <a:p>
            <a:pPr eaLnBrk="1" hangingPunct="1"/>
            <a:r>
              <a:rPr lang="en-US" altLang="ko-KR" sz="950" smtClean="0">
                <a:solidFill>
                  <a:srgbClr val="000000"/>
                </a:solidFill>
                <a:latin typeface="Times New Roman" pitchFamily="18" charset="0"/>
                <a:cs typeface="Times New Roman" pitchFamily="18" charset="0"/>
              </a:rPr>
              <a:t>câu </a:t>
            </a:r>
            <a:r>
              <a:rPr lang="en-US" altLang="ko-KR" sz="950" dirty="0" err="1" smtClean="0">
                <a:solidFill>
                  <a:srgbClr val="000000"/>
                </a:solidFill>
                <a:latin typeface="Times New Roman" pitchFamily="18" charset="0"/>
                <a:cs typeface="Times New Roman" pitchFamily="18" charset="0"/>
              </a:rPr>
              <a:t>lệnh</a:t>
            </a:r>
            <a:r>
              <a:rPr lang="en-US" altLang="ko-KR" sz="950" dirty="0" smtClean="0">
                <a:solidFill>
                  <a:srgbClr val="000000"/>
                </a:solidFill>
                <a:latin typeface="Times New Roman" pitchFamily="18" charset="0"/>
                <a:cs typeface="Times New Roman" pitchFamily="18" charset="0"/>
              </a:rPr>
              <a:t> Count </a:t>
            </a:r>
            <a:r>
              <a:rPr lang="en-US" altLang="ko-KR" sz="950" dirty="0" err="1" smtClean="0">
                <a:solidFill>
                  <a:srgbClr val="000000"/>
                </a:solidFill>
                <a:latin typeface="Times New Roman" pitchFamily="18" charset="0"/>
                <a:cs typeface="Times New Roman" pitchFamily="18" charset="0"/>
              </a:rPr>
              <a:t>dưới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đây</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hangingPunct="1"/>
            <a:endParaRPr lang="en-US" altLang="ko-KR" sz="950" dirty="0">
              <a:solidFill>
                <a:srgbClr val="000000"/>
              </a:solidFill>
              <a:latin typeface="Times New Roman" pitchFamily="18" charset="0"/>
              <a:cs typeface="Times New Roman" pitchFamily="18" charset="0"/>
            </a:endParaRPr>
          </a:p>
          <a:p>
            <a:pPr eaLnBrk="1" hangingPunct="1"/>
            <a:r>
              <a:rPr lang="en-US" altLang="ko-KR" sz="95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A.  </a:t>
            </a:r>
            <a:r>
              <a:rPr lang="en-US" altLang="ko-KR" sz="950" dirty="0" smtClean="0">
                <a:solidFill>
                  <a:srgbClr val="000000"/>
                </a:solidFill>
                <a:latin typeface="Times New Roman" pitchFamily="18" charset="0"/>
                <a:cs typeface="Times New Roman" pitchFamily="18" charset="0"/>
              </a:rPr>
              <a:t>Count </a:t>
            </a:r>
            <a:r>
              <a:rPr lang="en-US" altLang="ko-KR" sz="950" dirty="0" err="1" smtClean="0">
                <a:solidFill>
                  <a:srgbClr val="000000"/>
                </a:solidFill>
                <a:latin typeface="Times New Roman" pitchFamily="18" charset="0"/>
                <a:cs typeface="Times New Roman" pitchFamily="18" charset="0"/>
              </a:rPr>
              <a:t>sẽ</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thực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hiện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đếm</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tín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hiệu</a:t>
            </a:r>
            <a:r>
              <a:rPr lang="en-US" altLang="ko-KR" sz="950" dirty="0" smtClean="0">
                <a:solidFill>
                  <a:srgbClr val="000000"/>
                </a:solidFill>
                <a:latin typeface="Times New Roman" pitchFamily="18" charset="0"/>
                <a:cs typeface="Times New Roman" pitchFamily="18" charset="0"/>
              </a:rPr>
              <a:t> input </a:t>
            </a:r>
            <a:r>
              <a:rPr lang="en-US" altLang="ko-KR" sz="950" dirty="0" err="1" smtClean="0">
                <a:solidFill>
                  <a:srgbClr val="000000"/>
                </a:solidFill>
                <a:latin typeface="Times New Roman" pitchFamily="18" charset="0"/>
                <a:cs typeface="Times New Roman" pitchFamily="18" charset="0"/>
              </a:rPr>
              <a:t>tăng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lên</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hangingPunct="1"/>
            <a:r>
              <a:rPr lang="en-US" altLang="ko-KR" sz="950">
                <a:solidFill>
                  <a:srgbClr val="000000"/>
                </a:solidFill>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B.  </a:t>
            </a:r>
            <a:r>
              <a:rPr lang="en-US" altLang="ko-KR" sz="950" dirty="0" smtClean="0">
                <a:solidFill>
                  <a:srgbClr val="FF0000"/>
                </a:solidFill>
                <a:latin typeface="Times New Roman" pitchFamily="18" charset="0"/>
                <a:cs typeface="Times New Roman" pitchFamily="18" charset="0"/>
              </a:rPr>
              <a:t>Sau </a:t>
            </a:r>
            <a:r>
              <a:rPr lang="en-US" altLang="ko-KR" sz="950" dirty="0" err="1" smtClean="0">
                <a:solidFill>
                  <a:srgbClr val="FF0000"/>
                </a:solidFill>
                <a:latin typeface="Times New Roman" pitchFamily="18" charset="0"/>
                <a:cs typeface="Times New Roman" pitchFamily="18" charset="0"/>
              </a:rPr>
              <a:t>khi</a:t>
            </a:r>
            <a:r>
              <a:rPr lang="en-US" altLang="ko-KR" sz="950" dirty="0" smtClean="0">
                <a:solidFill>
                  <a:srgbClr val="FF0000"/>
                </a:solidFill>
                <a:latin typeface="Times New Roman" pitchFamily="18" charset="0"/>
                <a:cs typeface="Times New Roman" pitchFamily="18" charset="0"/>
              </a:rPr>
              <a:t> Count up, </a:t>
            </a:r>
            <a:r>
              <a:rPr lang="en-US" altLang="ko-KR" sz="950" dirty="0" err="1" smtClean="0">
                <a:solidFill>
                  <a:srgbClr val="FF0000"/>
                </a:solidFill>
                <a:latin typeface="Times New Roman" pitchFamily="18" charset="0"/>
                <a:cs typeface="Times New Roman" pitchFamily="18" charset="0"/>
              </a:rPr>
              <a:t>nếu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có</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tín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hiệu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được</a:t>
            </a:r>
            <a:r>
              <a:rPr lang="en-US" altLang="ko-KR" sz="950" dirty="0" smtClean="0">
                <a:solidFill>
                  <a:srgbClr val="FF0000"/>
                </a:solidFill>
                <a:latin typeface="Times New Roman" pitchFamily="18" charset="0"/>
                <a:cs typeface="Times New Roman" pitchFamily="18" charset="0"/>
              </a:rPr>
              <a:t> input </a:t>
            </a:r>
            <a:r>
              <a:rPr lang="en-US" altLang="ko-KR" sz="950" dirty="0" err="1" smtClean="0">
                <a:solidFill>
                  <a:srgbClr val="FF0000"/>
                </a:solidFill>
                <a:latin typeface="Times New Roman" pitchFamily="18" charset="0"/>
                <a:cs typeface="Times New Roman" pitchFamily="18" charset="0"/>
              </a:rPr>
              <a:t>vẫn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sẽ</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đếm</a:t>
            </a:r>
            <a:r>
              <a:rPr lang="en-US" altLang="ko-KR" sz="950" dirty="0" smtClean="0">
                <a:solidFill>
                  <a:srgbClr val="FF0000"/>
                </a:solidFill>
                <a:latin typeface="Times New Roman" pitchFamily="18" charset="0"/>
                <a:cs typeface="Times New Roman" pitchFamily="18" charset="0"/>
              </a:rPr>
              <a:t>.</a:t>
            </a:r>
            <a:endParaRPr lang="en-US" altLang="ko-KR" sz="950" dirty="0">
              <a:solidFill>
                <a:srgbClr val="FF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 C.  </a:t>
            </a:r>
            <a:r>
              <a:rPr lang="en-US" altLang="ko-KR" sz="950" dirty="0" err="1" smtClean="0">
                <a:solidFill>
                  <a:srgbClr val="000000"/>
                </a:solidFill>
                <a:latin typeface="Times New Roman" pitchFamily="18" charset="0"/>
                <a:cs typeface="Times New Roman" pitchFamily="18" charset="0"/>
              </a:rPr>
              <a:t>Giá</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trị</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cài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đặt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của</a:t>
            </a:r>
            <a:r>
              <a:rPr lang="en-US" altLang="ko-KR" sz="950" dirty="0" smtClean="0">
                <a:solidFill>
                  <a:srgbClr val="000000"/>
                </a:solidFill>
                <a:latin typeface="Times New Roman" pitchFamily="18" charset="0"/>
                <a:cs typeface="Times New Roman" pitchFamily="18" charset="0"/>
              </a:rPr>
              <a:t> Count </a:t>
            </a:r>
            <a:r>
              <a:rPr lang="en-US" altLang="ko-KR" sz="950" dirty="0" err="1" smtClean="0">
                <a:solidFill>
                  <a:srgbClr val="000000"/>
                </a:solidFill>
                <a:latin typeface="Times New Roman" pitchFamily="18" charset="0"/>
                <a:cs typeface="Times New Roman" pitchFamily="18" charset="0"/>
              </a:rPr>
              <a:t>là</a:t>
            </a:r>
            <a:r>
              <a:rPr lang="en-US" altLang="ko-KR" sz="950" dirty="0" smtClean="0">
                <a:solidFill>
                  <a:srgbClr val="000000"/>
                </a:solidFill>
                <a:latin typeface="Times New Roman" pitchFamily="18" charset="0"/>
                <a:cs typeface="Times New Roman" pitchFamily="18" charset="0"/>
              </a:rPr>
              <a:t> </a:t>
            </a:r>
            <a:r>
              <a:rPr lang="ko-KR" altLang="en-US" sz="950" dirty="0" smtClean="0">
                <a:solidFill>
                  <a:srgbClr val="000000"/>
                </a:solidFill>
                <a:latin typeface="Times New Roman" pitchFamily="18" charset="0"/>
                <a:cs typeface="Times New Roman" pitchFamily="18" charset="0"/>
              </a:rPr>
              <a:t> </a:t>
            </a:r>
            <a:r>
              <a:rPr lang="en-US" altLang="ko-KR" sz="950" dirty="0" smtClean="0">
                <a:solidFill>
                  <a:srgbClr val="000000"/>
                </a:solidFill>
                <a:latin typeface="Times New Roman" pitchFamily="18" charset="0"/>
                <a:cs typeface="Times New Roman" pitchFamily="18" charset="0"/>
              </a:rPr>
              <a:t>K1~K32767.</a:t>
            </a:r>
            <a:endParaRPr lang="en-US" altLang="ko-KR" sz="950" dirty="0">
              <a:solidFill>
                <a:srgbClr val="000000"/>
              </a:solidFill>
              <a:latin typeface="Times New Roman" pitchFamily="18" charset="0"/>
              <a:cs typeface="Times New Roman" pitchFamily="18" charset="0"/>
            </a:endParaRPr>
          </a:p>
          <a:p>
            <a:pPr eaLnBrk="1" hangingPunct="1"/>
            <a:r>
              <a:rPr lang="en-US" altLang="ko-KR" sz="95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D.  </a:t>
            </a:r>
            <a:r>
              <a:rPr lang="en-US" altLang="ko-KR" sz="950" dirty="0" err="1" smtClean="0">
                <a:solidFill>
                  <a:srgbClr val="000000"/>
                </a:solidFill>
                <a:latin typeface="Times New Roman" pitchFamily="18" charset="0"/>
                <a:cs typeface="Times New Roman" pitchFamily="18" charset="0"/>
              </a:rPr>
              <a:t>Khi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cài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đặt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giá</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trị</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cài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đặt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ngoài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việc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cài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đặt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trược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tiếp</a:t>
            </a:r>
            <a:r>
              <a:rPr lang="en-US" altLang="ko-KR" sz="950" dirty="0" smtClean="0">
                <a:solidFill>
                  <a:srgbClr val="000000"/>
                </a:solidFill>
                <a:latin typeface="Times New Roman" pitchFamily="18" charset="0"/>
                <a:cs typeface="Times New Roman" pitchFamily="18" charset="0"/>
              </a:rPr>
              <a:t> </a:t>
            </a:r>
            <a:r>
              <a:rPr lang="en-US" altLang="ko-KR" sz="950" err="1" smtClean="0">
                <a:solidFill>
                  <a:srgbClr val="000000"/>
                </a:solidFill>
                <a:latin typeface="Times New Roman" pitchFamily="18" charset="0"/>
                <a:cs typeface="Times New Roman" pitchFamily="18" charset="0"/>
              </a:rPr>
              <a:t>thông</a:t>
            </a:r>
            <a:r>
              <a:rPr lang="en-US" altLang="ko-KR" sz="950" smtClean="0">
                <a:solidFill>
                  <a:srgbClr val="000000"/>
                </a:solidFill>
                <a:latin typeface="Times New Roman" pitchFamily="18" charset="0"/>
                <a:cs typeface="Times New Roman" pitchFamily="18" charset="0"/>
              </a:rPr>
              <a:t> </a:t>
            </a:r>
          </a:p>
          <a:p>
            <a:pPr eaLnBrk="1" hangingPunct="1"/>
            <a:r>
              <a:rPr lang="en-US" altLang="ko-KR" sz="950" smtClean="0">
                <a:solidFill>
                  <a:srgbClr val="000000"/>
                </a:solidFill>
                <a:latin typeface="Times New Roman" pitchFamily="18" charset="0"/>
                <a:cs typeface="Times New Roman" pitchFamily="18" charset="0"/>
              </a:rPr>
              <a:t>qua </a:t>
            </a:r>
            <a:r>
              <a:rPr lang="en-US" altLang="ko-KR" sz="950" dirty="0" smtClean="0">
                <a:solidFill>
                  <a:srgbClr val="000000"/>
                </a:solidFill>
                <a:latin typeface="Times New Roman" pitchFamily="18" charset="0"/>
                <a:cs typeface="Times New Roman" pitchFamily="18" charset="0"/>
              </a:rPr>
              <a:t>K </a:t>
            </a:r>
            <a:r>
              <a:rPr lang="en-US" altLang="ko-KR" sz="950" dirty="0" err="1" smtClean="0">
                <a:solidFill>
                  <a:srgbClr val="000000"/>
                </a:solidFill>
                <a:latin typeface="Times New Roman" pitchFamily="18" charset="0"/>
                <a:cs typeface="Times New Roman" pitchFamily="18" charset="0"/>
              </a:rPr>
              <a:t>có</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thể</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cài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đặt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gián</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tiếp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thông</a:t>
            </a:r>
            <a:r>
              <a:rPr lang="en-US" altLang="ko-KR" sz="950" dirty="0" smtClean="0">
                <a:solidFill>
                  <a:srgbClr val="000000"/>
                </a:solidFill>
                <a:latin typeface="Times New Roman" pitchFamily="18" charset="0"/>
                <a:cs typeface="Times New Roman" pitchFamily="18" charset="0"/>
              </a:rPr>
              <a:t> qua D</a:t>
            </a:r>
            <a:endParaRPr lang="en-US" altLang="ko-KR" sz="950" dirty="0">
              <a:solidFill>
                <a:srgbClr val="000000"/>
              </a:solidFill>
              <a:latin typeface="Times New Roman" pitchFamily="18" charset="0"/>
              <a:cs typeface="Times New Roman" pitchFamily="18" charset="0"/>
            </a:endParaRPr>
          </a:p>
        </p:txBody>
      </p:sp>
      <p:grpSp>
        <p:nvGrpSpPr>
          <p:cNvPr id="6" name="Group 5"/>
          <p:cNvGrpSpPr/>
          <p:nvPr/>
        </p:nvGrpSpPr>
        <p:grpSpPr>
          <a:xfrm>
            <a:off x="189087" y="1928664"/>
            <a:ext cx="3252613" cy="1700466"/>
            <a:chOff x="189087" y="1928664"/>
            <a:chExt cx="3252613" cy="1700466"/>
          </a:xfrm>
        </p:grpSpPr>
        <p:sp>
          <p:nvSpPr>
            <p:cNvPr id="30" name="Rectangle 101"/>
            <p:cNvSpPr>
              <a:spLocks noChangeArrowheads="1"/>
            </p:cNvSpPr>
            <p:nvPr/>
          </p:nvSpPr>
          <p:spPr bwMode="auto">
            <a:xfrm>
              <a:off x="189087" y="1928664"/>
              <a:ext cx="3252613" cy="170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solidFill>
                    <a:srgbClr val="000000"/>
                  </a:solidFill>
                  <a:latin typeface="Times New Roman" pitchFamily="18" charset="0"/>
                  <a:ea typeface="돋움" pitchFamily="50" charset="-127"/>
                  <a:cs typeface="Times New Roman" pitchFamily="18" charset="0"/>
                </a:rPr>
                <a:t>※ Đây là cấu trúc hệ thống PLC cơ bản. Hãy trả lời vào chỗ trống bên dưới</a:t>
              </a:r>
              <a:endParaRPr lang="ko-KR" altLang="en-US" sz="950">
                <a:solidFill>
                  <a:srgbClr val="000000"/>
                </a:solidFill>
                <a:latin typeface="Times New Roman" pitchFamily="18" charset="0"/>
                <a:ea typeface="돋움" pitchFamily="50" charset="-127"/>
                <a:cs typeface="Times New Roman" pitchFamily="18" charset="0"/>
              </a:endParaRPr>
            </a:p>
            <a:p>
              <a:pPr eaLnBrk="1" hangingPunct="1"/>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endParaRPr lang="en-US" altLang="ko-KR" sz="950">
                <a:solidFill>
                  <a:srgbClr val="000000"/>
                </a:solidFill>
                <a:latin typeface="Times New Roman" pitchFamily="18" charset="0"/>
                <a:ea typeface="돋움" pitchFamily="50" charset="-127"/>
                <a:cs typeface="Times New Roman" pitchFamily="18" charset="0"/>
              </a:endParaRPr>
            </a:p>
            <a:p>
              <a:pPr eaLnBrk="1" hangingPunct="1"/>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endParaRPr lang="en-US" altLang="ko-KR" sz="950">
                <a:solidFill>
                  <a:srgbClr val="000000"/>
                </a:solidFill>
                <a:latin typeface="Times New Roman" pitchFamily="18" charset="0"/>
                <a:ea typeface="돋움" pitchFamily="50" charset="-127"/>
                <a:cs typeface="Times New Roman" pitchFamily="18" charset="0"/>
              </a:endParaRPr>
            </a:p>
            <a:p>
              <a:pPr eaLnBrk="1" hangingPunct="1"/>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en-US" altLang="ko-KR" sz="950" smtClean="0">
                  <a:solidFill>
                    <a:srgbClr val="000000"/>
                  </a:solidFill>
                  <a:latin typeface="Times New Roman" pitchFamily="18" charset="0"/>
                  <a:ea typeface="돋움" pitchFamily="50" charset="-127"/>
                  <a:cs typeface="Times New Roman" pitchFamily="18" charset="0"/>
                </a:rPr>
                <a:t>32.</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Phạm</a:t>
              </a:r>
              <a:r>
                <a:rPr lang="en-US" altLang="ko-KR" sz="950" dirty="0" smtClean="0">
                  <a:solidFill>
                    <a:srgbClr val="000000"/>
                  </a:solidFill>
                  <a:latin typeface="Times New Roman" pitchFamily="18" charset="0"/>
                  <a:ea typeface="돋움" pitchFamily="50" charset="-127"/>
                  <a:cs typeface="Times New Roman" pitchFamily="18" charset="0"/>
                </a:rPr>
                <a:t> vi I/O </a:t>
              </a:r>
              <a:r>
                <a:rPr lang="en-US" altLang="ko-KR" sz="950" dirty="0" err="1" smtClean="0">
                  <a:solidFill>
                    <a:srgbClr val="000000"/>
                  </a:solidFill>
                  <a:latin typeface="Times New Roman" pitchFamily="18" charset="0"/>
                  <a:ea typeface="돋움" pitchFamily="50" charset="-127"/>
                  <a:cs typeface="Times New Roman" pitchFamily="18" charset="0"/>
                </a:rPr>
                <a:t>vào</a:t>
              </a:r>
              <a:r>
                <a:rPr lang="en-US" altLang="ko-KR" sz="950" dirty="0" smtClean="0">
                  <a:solidFill>
                    <a:srgbClr val="000000"/>
                  </a:solidFill>
                  <a:latin typeface="Times New Roman" pitchFamily="18" charset="0"/>
                  <a:ea typeface="돋움" pitchFamily="50" charset="-127"/>
                  <a:cs typeface="Times New Roman" pitchFamily="18" charset="0"/>
                </a:rPr>
                <a:t> Card ở </a:t>
              </a:r>
              <a:r>
                <a:rPr lang="en-US" altLang="ko-KR" sz="950" dirty="0" err="1" smtClean="0">
                  <a:solidFill>
                    <a:srgbClr val="000000"/>
                  </a:solidFill>
                  <a:latin typeface="Times New Roman" pitchFamily="18" charset="0"/>
                  <a:ea typeface="돋움" pitchFamily="50" charset="-127"/>
                  <a:cs typeface="Times New Roman" pitchFamily="18" charset="0"/>
                </a:rPr>
                <a:t>vị</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err="1" smtClean="0">
                  <a:solidFill>
                    <a:srgbClr val="000000"/>
                  </a:solidFill>
                  <a:latin typeface="Times New Roman" pitchFamily="18" charset="0"/>
                  <a:ea typeface="돋움" pitchFamily="50" charset="-127"/>
                  <a:cs typeface="Times New Roman" pitchFamily="18" charset="0"/>
                </a:rPr>
                <a:t>trí</a:t>
              </a:r>
              <a:r>
                <a:rPr lang="en-US" altLang="ko-KR" sz="950" smtClean="0">
                  <a:solidFill>
                    <a:srgbClr val="000000"/>
                  </a:solidFill>
                  <a:latin typeface="Times New Roman" pitchFamily="18" charset="0"/>
                  <a:ea typeface="돋움" pitchFamily="50" charset="-127"/>
                  <a:cs typeface="Times New Roman" pitchFamily="18" charset="0"/>
                </a:rPr>
                <a:t> (1) </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smtClean="0">
                  <a:solidFill>
                    <a:srgbClr val="000000"/>
                  </a:solidFill>
                  <a:latin typeface="Times New Roman" pitchFamily="18" charset="0"/>
                  <a:ea typeface="돋움" pitchFamily="50" charset="-127"/>
                  <a:cs typeface="Times New Roman" pitchFamily="18" charset="0"/>
                </a:rPr>
                <a:t>ở </a:t>
              </a:r>
              <a:r>
                <a:rPr lang="en-US" altLang="ko-KR" sz="950" dirty="0" err="1" smtClean="0">
                  <a:solidFill>
                    <a:srgbClr val="000000"/>
                  </a:solidFill>
                  <a:latin typeface="Times New Roman" pitchFamily="18" charset="0"/>
                  <a:ea typeface="돋움" pitchFamily="50" charset="-127"/>
                  <a:cs typeface="Times New Roman" pitchFamily="18" charset="0"/>
                </a:rPr>
                <a:t>bên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trên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en-US" altLang="ko-KR" sz="950" smtClean="0">
                  <a:solidFill>
                    <a:srgbClr val="000000"/>
                  </a:solidFill>
                  <a:latin typeface="Times New Roman" pitchFamily="18" charset="0"/>
                  <a:ea typeface="돋움" pitchFamily="50" charset="-127"/>
                  <a:cs typeface="Times New Roman" pitchFamily="18" charset="0"/>
                </a:rPr>
                <a:t>  A  </a:t>
              </a:r>
              <a:r>
                <a:rPr lang="en-US" altLang="ko-KR" sz="950">
                  <a:solidFill>
                    <a:srgbClr val="000000"/>
                  </a:solidFill>
                  <a:latin typeface="Times New Roman" pitchFamily="18" charset="0"/>
                  <a:ea typeface="돋움" pitchFamily="50" charset="-127"/>
                  <a:cs typeface="Times New Roman" pitchFamily="18" charset="0"/>
                </a:rPr>
                <a:t>Y100~Y10F        </a:t>
              </a:r>
              <a:r>
                <a:rPr lang="en-US" altLang="ko-KR" sz="950" smtClean="0">
                  <a:solidFill>
                    <a:srgbClr val="000000"/>
                  </a:solidFill>
                  <a:latin typeface="Times New Roman" pitchFamily="18" charset="0"/>
                  <a:ea typeface="돋움" pitchFamily="50" charset="-127"/>
                  <a:cs typeface="Times New Roman" pitchFamily="18" charset="0"/>
                </a:rPr>
                <a:t>B  </a:t>
              </a:r>
              <a:r>
                <a:rPr lang="en-US" altLang="ko-KR" sz="950" dirty="0">
                  <a:solidFill>
                    <a:srgbClr val="000000"/>
                  </a:solidFill>
                  <a:latin typeface="Times New Roman" pitchFamily="18" charset="0"/>
                  <a:ea typeface="돋움" pitchFamily="50" charset="-127"/>
                  <a:cs typeface="Times New Roman" pitchFamily="18" charset="0"/>
                </a:rPr>
                <a:t>X100~X10F   </a:t>
              </a:r>
            </a:p>
            <a:p>
              <a:pPr eaLnBrk="1" hangingPunct="1"/>
              <a:r>
                <a:rPr lang="en-US" altLang="ko-KR" sz="95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  C  </a:t>
              </a:r>
              <a:r>
                <a:rPr lang="en-US" altLang="ko-KR" sz="950">
                  <a:solidFill>
                    <a:srgbClr val="FF0000"/>
                  </a:solidFill>
                  <a:latin typeface="Times New Roman" pitchFamily="18" charset="0"/>
                  <a:ea typeface="돋움" pitchFamily="50" charset="-127"/>
                  <a:cs typeface="Times New Roman" pitchFamily="18" charset="0"/>
                </a:rPr>
                <a:t>Y110~Y11F        </a:t>
              </a:r>
              <a:r>
                <a:rPr lang="en-US" altLang="ko-KR" sz="950" smtClean="0">
                  <a:solidFill>
                    <a:srgbClr val="000000"/>
                  </a:solidFill>
                  <a:latin typeface="Times New Roman" pitchFamily="18" charset="0"/>
                  <a:ea typeface="돋움" pitchFamily="50" charset="-127"/>
                  <a:cs typeface="Times New Roman" pitchFamily="18" charset="0"/>
                </a:rPr>
                <a:t>D  </a:t>
              </a:r>
              <a:r>
                <a:rPr lang="en-US" altLang="ko-KR" sz="950" dirty="0">
                  <a:solidFill>
                    <a:srgbClr val="000000"/>
                  </a:solidFill>
                  <a:latin typeface="Times New Roman" pitchFamily="18" charset="0"/>
                  <a:ea typeface="돋움" pitchFamily="50" charset="-127"/>
                  <a:cs typeface="Times New Roman" pitchFamily="18" charset="0"/>
                </a:rPr>
                <a:t>X120~X12F</a:t>
              </a:r>
              <a:endParaRPr lang="ko-KR" altLang="en-US" sz="950" dirty="0">
                <a:solidFill>
                  <a:srgbClr val="000000"/>
                </a:solidFill>
                <a:latin typeface="Times New Roman" pitchFamily="18" charset="0"/>
                <a:ea typeface="돋움" pitchFamily="50" charset="-127"/>
                <a:cs typeface="Times New Roman" pitchFamily="18" charset="0"/>
              </a:endParaRPr>
            </a:p>
          </p:txBody>
        </p:sp>
        <p:pic>
          <p:nvPicPr>
            <p:cNvPr id="2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677" y="2288704"/>
              <a:ext cx="3173413" cy="65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8" name="Rectangle 37"/>
          <p:cNvSpPr/>
          <p:nvPr/>
        </p:nvSpPr>
        <p:spPr>
          <a:xfrm>
            <a:off x="302054" y="2322612"/>
            <a:ext cx="246063" cy="5868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n-US" sz="800" dirty="0" err="1" smtClean="0">
                <a:solidFill>
                  <a:schemeClr val="tx1"/>
                </a:solidFill>
                <a:latin typeface="Times New Roman" pitchFamily="18" charset="0"/>
                <a:cs typeface="Times New Roman" pitchFamily="18" charset="0"/>
              </a:rPr>
              <a:t>Nguồn</a:t>
            </a:r>
            <a:endParaRPr lang="en-US" sz="800" dirty="0">
              <a:solidFill>
                <a:schemeClr val="tx1"/>
              </a:solidFill>
              <a:latin typeface="Times New Roman" pitchFamily="18" charset="0"/>
              <a:cs typeface="Times New Roman" pitchFamily="18" charset="0"/>
            </a:endParaRPr>
          </a:p>
        </p:txBody>
      </p:sp>
      <p:grpSp>
        <p:nvGrpSpPr>
          <p:cNvPr id="5" name="Group 4"/>
          <p:cNvGrpSpPr/>
          <p:nvPr/>
        </p:nvGrpSpPr>
        <p:grpSpPr>
          <a:xfrm>
            <a:off x="3390019" y="3900200"/>
            <a:ext cx="3318321" cy="2925008"/>
            <a:chOff x="3495055" y="2216696"/>
            <a:chExt cx="3318321" cy="2925008"/>
          </a:xfrm>
        </p:grpSpPr>
        <p:pic>
          <p:nvPicPr>
            <p:cNvPr id="4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0847" y="2489200"/>
              <a:ext cx="2986087" cy="201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2" name="Group 41"/>
            <p:cNvGrpSpPr/>
            <p:nvPr/>
          </p:nvGrpSpPr>
          <p:grpSpPr>
            <a:xfrm>
              <a:off x="3495055" y="2216696"/>
              <a:ext cx="3318321" cy="2925008"/>
              <a:chOff x="227013" y="2252663"/>
              <a:chExt cx="3429000" cy="2925008"/>
            </a:xfrm>
          </p:grpSpPr>
          <p:sp>
            <p:nvSpPr>
              <p:cNvPr id="43" name="Rectangle 99"/>
              <p:cNvSpPr>
                <a:spLocks noChangeArrowheads="1"/>
              </p:cNvSpPr>
              <p:nvPr/>
            </p:nvSpPr>
            <p:spPr bwMode="auto">
              <a:xfrm>
                <a:off x="227013" y="2252663"/>
                <a:ext cx="3429000" cy="23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solidFill>
                      <a:srgbClr val="000000"/>
                    </a:solidFill>
                    <a:latin typeface="Times New Roman" pitchFamily="18" charset="0"/>
                    <a:cs typeface="Times New Roman" pitchFamily="18" charset="0"/>
                  </a:rPr>
                  <a:t>3</a:t>
                </a:r>
                <a:r>
                  <a:rPr lang="en-US" altLang="ko-KR" sz="950" smtClean="0">
                    <a:solidFill>
                      <a:srgbClr val="000000"/>
                    </a:solidFill>
                    <a:latin typeface="Times New Roman" pitchFamily="18" charset="0"/>
                    <a:cs typeface="Times New Roman" pitchFamily="18" charset="0"/>
                  </a:rPr>
                  <a:t>9</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Nhìn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hình</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dưới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đây</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và</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trả</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lời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số</a:t>
                </a:r>
                <a:r>
                  <a:rPr lang="en-US" altLang="ko-KR" sz="950" dirty="0" smtClean="0">
                    <a:solidFill>
                      <a:srgbClr val="000000"/>
                    </a:solidFill>
                    <a:latin typeface="Times New Roman" pitchFamily="18" charset="0"/>
                    <a:cs typeface="Times New Roman" pitchFamily="18" charset="0"/>
                  </a:rPr>
                  <a:t> 1</a:t>
                </a:r>
                <a:r>
                  <a:rPr lang="en-US" altLang="ko-KR" sz="950" dirty="0">
                    <a:solidFill>
                      <a:srgbClr val="000000"/>
                    </a:solidFill>
                    <a:latin typeface="Times New Roman" pitchFamily="18" charset="0"/>
                    <a:cs typeface="Times New Roman" pitchFamily="18" charset="0"/>
                  </a:rPr>
                  <a:t>, 2 </a:t>
                </a:r>
                <a:r>
                  <a:rPr lang="en-US" altLang="ko-KR" sz="950" dirty="0" err="1" smtClean="0">
                    <a:solidFill>
                      <a:srgbClr val="000000"/>
                    </a:solidFill>
                    <a:latin typeface="Times New Roman" pitchFamily="18" charset="0"/>
                    <a:cs typeface="Times New Roman" pitchFamily="18" charset="0"/>
                  </a:rPr>
                  <a:t>là</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gì</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p:txBody>
          </p:sp>
          <p:sp>
            <p:nvSpPr>
              <p:cNvPr id="44" name="Rectangle 99"/>
              <p:cNvSpPr>
                <a:spLocks noChangeArrowheads="1"/>
              </p:cNvSpPr>
              <p:nvPr/>
            </p:nvSpPr>
            <p:spPr bwMode="auto">
              <a:xfrm>
                <a:off x="304800" y="4500563"/>
                <a:ext cx="30861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1 </a:t>
                </a:r>
                <a:r>
                  <a:rPr lang="en-US" altLang="ko-KR" sz="950" smtClean="0">
                    <a:latin typeface="Times New Roman" pitchFamily="18" charset="0"/>
                    <a:cs typeface="Times New Roman" pitchFamily="18" charset="0"/>
                  </a:rPr>
                  <a:t>Scan, </a:t>
                </a:r>
                <a:r>
                  <a:rPr lang="en-US" altLang="ko-KR" sz="950" dirty="0" err="1" smtClean="0">
                    <a:latin typeface="Times New Roman" pitchFamily="18" charset="0"/>
                    <a:cs typeface="Times New Roman" pitchFamily="18" charset="0"/>
                  </a:rPr>
                  <a:t>thực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toán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chương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trình</a:t>
                </a:r>
                <a:r>
                  <a:rPr lang="en-US" altLang="ko-KR"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B. </a:t>
                </a:r>
                <a:r>
                  <a:rPr lang="en-US" altLang="ko-KR" sz="950">
                    <a:solidFill>
                      <a:srgbClr val="000000"/>
                    </a:solidFill>
                    <a:latin typeface="Times New Roman" pitchFamily="18" charset="0"/>
                    <a:cs typeface="Times New Roman" pitchFamily="18" charset="0"/>
                  </a:rPr>
                  <a:t>1 </a:t>
                </a:r>
                <a:r>
                  <a:rPr lang="en-US" altLang="ko-KR" sz="950" smtClean="0">
                    <a:solidFill>
                      <a:srgbClr val="000000"/>
                    </a:solidFill>
                    <a:latin typeface="Times New Roman" pitchFamily="18" charset="0"/>
                    <a:cs typeface="Times New Roman" pitchFamily="18" charset="0"/>
                  </a:rPr>
                  <a:t>Scan, Scan </a:t>
                </a:r>
                <a:r>
                  <a:rPr lang="en-US" altLang="ko-KR" sz="950" dirty="0" smtClean="0">
                    <a:solidFill>
                      <a:srgbClr val="000000"/>
                    </a:solidFill>
                    <a:latin typeface="Times New Roman" pitchFamily="18" charset="0"/>
                    <a:cs typeface="Times New Roman" pitchFamily="18" charset="0"/>
                  </a:rPr>
                  <a:t>program</a:t>
                </a:r>
                <a:r>
                  <a:rPr lang="ko-KR" altLang="en-US" sz="950" dirty="0" smtClean="0">
                    <a:solidFill>
                      <a:srgbClr val="000000"/>
                    </a:solidFill>
                    <a:latin typeface="Times New Roman" pitchFamily="18" charset="0"/>
                    <a:cs typeface="Times New Roman" pitchFamily="18" charset="0"/>
                  </a:rPr>
                  <a:t> </a:t>
                </a:r>
                <a:r>
                  <a:rPr lang="en-US" altLang="ko-KR" sz="950" dirty="0">
                    <a:solidFill>
                      <a:srgbClr val="000000"/>
                    </a:solidFill>
                    <a:latin typeface="Times New Roman" pitchFamily="18" charset="0"/>
                    <a:cs typeface="Times New Roman" pitchFamily="18" charset="0"/>
                  </a:rPr>
                  <a:t>Strat</a:t>
                </a:r>
              </a:p>
              <a:p>
                <a:pPr eaLnBrk="1" hangingPunct="1"/>
                <a:r>
                  <a:rPr lang="en-US" altLang="ko-KR" sz="950" smtClean="0">
                    <a:solidFill>
                      <a:srgbClr val="FF0000"/>
                    </a:solidFill>
                    <a:latin typeface="Times New Roman" pitchFamily="18" charset="0"/>
                    <a:cs typeface="Times New Roman" pitchFamily="18" charset="0"/>
                  </a:rPr>
                  <a:t>C. </a:t>
                </a:r>
                <a:r>
                  <a:rPr lang="en-US" altLang="ko-KR" sz="950">
                    <a:solidFill>
                      <a:srgbClr val="FF0000"/>
                    </a:solidFill>
                    <a:latin typeface="Times New Roman" pitchFamily="18" charset="0"/>
                    <a:cs typeface="Times New Roman" pitchFamily="18" charset="0"/>
                  </a:rPr>
                  <a:t>1 </a:t>
                </a:r>
                <a:r>
                  <a:rPr lang="en-US" altLang="ko-KR" sz="950" smtClean="0">
                    <a:solidFill>
                      <a:srgbClr val="FF0000"/>
                    </a:solidFill>
                    <a:latin typeface="Times New Roman" pitchFamily="18" charset="0"/>
                    <a:cs typeface="Times New Roman" pitchFamily="18" charset="0"/>
                  </a:rPr>
                  <a:t>Scan, </a:t>
                </a:r>
                <a:r>
                  <a:rPr lang="en-US" altLang="ko-KR" sz="950">
                    <a:solidFill>
                      <a:srgbClr val="FF0000"/>
                    </a:solidFill>
                    <a:latin typeface="Times New Roman" pitchFamily="18" charset="0"/>
                    <a:cs typeface="Times New Roman" pitchFamily="18" charset="0"/>
                  </a:rPr>
                  <a:t>tiến hành Sub Program </a:t>
                </a:r>
                <a:endParaRPr lang="ko-KR" altLang="en-US" sz="950" dirty="0">
                  <a:solidFill>
                    <a:srgbClr val="FF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D. </a:t>
                </a:r>
                <a:r>
                  <a:rPr lang="en-US" altLang="ko-KR" sz="950">
                    <a:solidFill>
                      <a:srgbClr val="000000"/>
                    </a:solidFill>
                    <a:latin typeface="Times New Roman" pitchFamily="18" charset="0"/>
                    <a:cs typeface="Times New Roman" pitchFamily="18" charset="0"/>
                  </a:rPr>
                  <a:t>1 </a:t>
                </a:r>
                <a:r>
                  <a:rPr lang="en-US" altLang="ko-KR" sz="950" smtClean="0">
                    <a:solidFill>
                      <a:srgbClr val="000000"/>
                    </a:solidFill>
                    <a:latin typeface="Times New Roman" pitchFamily="18" charset="0"/>
                    <a:cs typeface="Times New Roman" pitchFamily="18" charset="0"/>
                  </a:rPr>
                  <a:t>Scan, </a:t>
                </a:r>
                <a:r>
                  <a:rPr lang="en-US" altLang="ko-KR" sz="950" dirty="0" err="1" smtClean="0">
                    <a:solidFill>
                      <a:srgbClr val="000000"/>
                    </a:solidFill>
                    <a:latin typeface="Times New Roman" pitchFamily="18" charset="0"/>
                    <a:cs typeface="Times New Roman" pitchFamily="18" charset="0"/>
                  </a:rPr>
                  <a:t>lưu</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chương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trình</a:t>
                </a:r>
                <a:r>
                  <a:rPr lang="en-US" altLang="ko-KR" sz="950" dirty="0" smtClean="0">
                    <a:solidFill>
                      <a:srgbClr val="000000"/>
                    </a:solidFill>
                    <a:latin typeface="Times New Roman" pitchFamily="18" charset="0"/>
                    <a:cs typeface="Times New Roman" pitchFamily="18" charset="0"/>
                  </a:rPr>
                  <a:t> Scan </a:t>
                </a:r>
                <a:endParaRPr lang="en-US" altLang="ko-KR" sz="950" dirty="0">
                  <a:solidFill>
                    <a:srgbClr val="000000"/>
                  </a:solidFill>
                  <a:latin typeface="Times New Roman" pitchFamily="18" charset="0"/>
                  <a:cs typeface="Times New Roman" pitchFamily="18" charset="0"/>
                </a:endParaRPr>
              </a:p>
            </p:txBody>
          </p:sp>
          <p:sp>
            <p:nvSpPr>
              <p:cNvPr id="45" name="Rectangle 44"/>
              <p:cNvSpPr/>
              <p:nvPr/>
            </p:nvSpPr>
            <p:spPr>
              <a:xfrm>
                <a:off x="1101058" y="2525168"/>
                <a:ext cx="1008140" cy="1385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50" dirty="0" err="1" smtClean="0">
                    <a:solidFill>
                      <a:schemeClr val="tx1"/>
                    </a:solidFill>
                    <a:latin typeface="Times New Roman" pitchFamily="18" charset="0"/>
                    <a:cs typeface="Times New Roman" pitchFamily="18" charset="0"/>
                  </a:rPr>
                  <a:t>Bắt</a:t>
                </a:r>
                <a:r>
                  <a:rPr lang="en-US" sz="950" dirty="0" smtClean="0">
                    <a:solidFill>
                      <a:schemeClr val="tx1"/>
                    </a:solidFill>
                    <a:latin typeface="Times New Roman" pitchFamily="18" charset="0"/>
                    <a:cs typeface="Times New Roman" pitchFamily="18" charset="0"/>
                  </a:rPr>
                  <a:t> </a:t>
                </a:r>
                <a:r>
                  <a:rPr lang="en-US" sz="950" dirty="0" err="1" smtClean="0">
                    <a:solidFill>
                      <a:schemeClr val="tx1"/>
                    </a:solidFill>
                    <a:latin typeface="Times New Roman" pitchFamily="18" charset="0"/>
                    <a:cs typeface="Times New Roman" pitchFamily="18" charset="0"/>
                  </a:rPr>
                  <a:t>đầu</a:t>
                </a:r>
                <a:r>
                  <a:rPr lang="en-US" sz="950" dirty="0" smtClean="0">
                    <a:solidFill>
                      <a:schemeClr val="tx1"/>
                    </a:solidFill>
                    <a:latin typeface="Times New Roman" pitchFamily="18" charset="0"/>
                    <a:cs typeface="Times New Roman" pitchFamily="18" charset="0"/>
                  </a:rPr>
                  <a:t> </a:t>
                </a:r>
                <a:r>
                  <a:rPr lang="en-US" sz="950" dirty="0" err="1" smtClean="0">
                    <a:solidFill>
                      <a:schemeClr val="tx1"/>
                    </a:solidFill>
                    <a:latin typeface="Times New Roman" pitchFamily="18" charset="0"/>
                    <a:cs typeface="Times New Roman" pitchFamily="18" charset="0"/>
                  </a:rPr>
                  <a:t>vận</a:t>
                </a:r>
                <a:r>
                  <a:rPr lang="en-US" sz="950" dirty="0" smtClean="0">
                    <a:solidFill>
                      <a:schemeClr val="tx1"/>
                    </a:solidFill>
                    <a:latin typeface="Times New Roman" pitchFamily="18" charset="0"/>
                    <a:cs typeface="Times New Roman" pitchFamily="18" charset="0"/>
                  </a:rPr>
                  <a:t> </a:t>
                </a:r>
                <a:r>
                  <a:rPr lang="en-US" sz="950" dirty="0" err="1" smtClean="0">
                    <a:solidFill>
                      <a:schemeClr val="tx1"/>
                    </a:solidFill>
                    <a:latin typeface="Times New Roman" pitchFamily="18" charset="0"/>
                    <a:cs typeface="Times New Roman" pitchFamily="18" charset="0"/>
                  </a:rPr>
                  <a:t>hành</a:t>
                </a:r>
                <a:endParaRPr lang="en-US" sz="950" dirty="0">
                  <a:solidFill>
                    <a:schemeClr val="tx1"/>
                  </a:solidFill>
                  <a:latin typeface="Times New Roman" pitchFamily="18" charset="0"/>
                  <a:cs typeface="Times New Roman" pitchFamily="18" charset="0"/>
                </a:endParaRPr>
              </a:p>
            </p:txBody>
          </p:sp>
          <p:sp>
            <p:nvSpPr>
              <p:cNvPr id="46" name="Rectangle 45"/>
              <p:cNvSpPr/>
              <p:nvPr/>
            </p:nvSpPr>
            <p:spPr>
              <a:xfrm>
                <a:off x="1063898" y="2840626"/>
                <a:ext cx="588474" cy="1965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smtClean="0">
                    <a:solidFill>
                      <a:schemeClr val="tx1"/>
                    </a:solidFill>
                    <a:latin typeface="Times New Roman" pitchFamily="18" charset="0"/>
                    <a:cs typeface="Times New Roman" pitchFamily="18" charset="0"/>
                  </a:rPr>
                  <a:t>Refresh </a:t>
                </a:r>
                <a:r>
                  <a:rPr lang="en-US" sz="800" dirty="0" err="1" smtClean="0">
                    <a:solidFill>
                      <a:schemeClr val="tx1"/>
                    </a:solidFill>
                    <a:latin typeface="Times New Roman" pitchFamily="18" charset="0"/>
                    <a:cs typeface="Times New Roman" pitchFamily="18" charset="0"/>
                  </a:rPr>
                  <a:t>vùng</a:t>
                </a:r>
                <a:r>
                  <a:rPr lang="en-US" sz="800" dirty="0" smtClean="0">
                    <a:solidFill>
                      <a:schemeClr val="tx1"/>
                    </a:solidFill>
                    <a:latin typeface="Times New Roman" pitchFamily="18" charset="0"/>
                    <a:cs typeface="Times New Roman" pitchFamily="18" charset="0"/>
                  </a:rPr>
                  <a:t>    Input </a:t>
                </a:r>
                <a:endParaRPr lang="en-US" sz="800" dirty="0">
                  <a:solidFill>
                    <a:schemeClr val="tx1"/>
                  </a:solidFill>
                  <a:latin typeface="Times New Roman" pitchFamily="18" charset="0"/>
                  <a:cs typeface="Times New Roman" pitchFamily="18" charset="0"/>
                </a:endParaRPr>
              </a:p>
            </p:txBody>
          </p:sp>
          <p:sp>
            <p:nvSpPr>
              <p:cNvPr id="47" name="Rectangle 46"/>
              <p:cNvSpPr/>
              <p:nvPr/>
            </p:nvSpPr>
            <p:spPr>
              <a:xfrm>
                <a:off x="2465919" y="2828727"/>
                <a:ext cx="892455" cy="2594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Trạng</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thái</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tiếp</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điểm</a:t>
                </a:r>
                <a:r>
                  <a:rPr lang="en-US" sz="800" dirty="0" smtClean="0">
                    <a:solidFill>
                      <a:schemeClr val="tx1"/>
                    </a:solidFill>
                    <a:latin typeface="Times New Roman" pitchFamily="18" charset="0"/>
                    <a:cs typeface="Times New Roman" pitchFamily="18" charset="0"/>
                  </a:rPr>
                  <a:t> Module Input </a:t>
                </a:r>
                <a:endParaRPr lang="en-US" sz="800" dirty="0">
                  <a:solidFill>
                    <a:schemeClr val="tx1"/>
                  </a:solidFill>
                  <a:latin typeface="Times New Roman" pitchFamily="18" charset="0"/>
                  <a:cs typeface="Times New Roman" pitchFamily="18" charset="0"/>
                </a:endParaRPr>
              </a:p>
            </p:txBody>
          </p:sp>
          <p:sp>
            <p:nvSpPr>
              <p:cNvPr id="48" name="Rectangle 47"/>
              <p:cNvSpPr/>
              <p:nvPr/>
            </p:nvSpPr>
            <p:spPr>
              <a:xfrm>
                <a:off x="1080468" y="3166883"/>
                <a:ext cx="979344" cy="173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Bắt</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đầu</a:t>
                </a:r>
                <a:r>
                  <a:rPr lang="en-US" sz="800" dirty="0" smtClean="0">
                    <a:solidFill>
                      <a:schemeClr val="tx1"/>
                    </a:solidFill>
                    <a:latin typeface="Times New Roman" pitchFamily="18" charset="0"/>
                    <a:cs typeface="Times New Roman" pitchFamily="18" charset="0"/>
                  </a:rPr>
                  <a:t> Scan program</a:t>
                </a:r>
                <a:endParaRPr lang="en-US" sz="800" dirty="0">
                  <a:solidFill>
                    <a:schemeClr val="tx1"/>
                  </a:solidFill>
                  <a:latin typeface="Times New Roman" pitchFamily="18" charset="0"/>
                  <a:cs typeface="Times New Roman" pitchFamily="18" charset="0"/>
                </a:endParaRPr>
              </a:p>
            </p:txBody>
          </p:sp>
          <p:sp>
            <p:nvSpPr>
              <p:cNvPr id="49" name="Rectangle 48"/>
              <p:cNvSpPr/>
              <p:nvPr/>
            </p:nvSpPr>
            <p:spPr>
              <a:xfrm>
                <a:off x="1075294" y="3325157"/>
                <a:ext cx="1008140" cy="2160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Kết</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thúc</a:t>
                </a:r>
                <a:r>
                  <a:rPr lang="en-US" sz="800" dirty="0" smtClean="0">
                    <a:solidFill>
                      <a:schemeClr val="tx1"/>
                    </a:solidFill>
                    <a:latin typeface="Times New Roman" pitchFamily="18" charset="0"/>
                    <a:cs typeface="Times New Roman" pitchFamily="18" charset="0"/>
                  </a:rPr>
                  <a:t> Scan program</a:t>
                </a:r>
                <a:endParaRPr lang="en-US" sz="800" dirty="0">
                  <a:solidFill>
                    <a:schemeClr val="tx1"/>
                  </a:solidFill>
                  <a:latin typeface="Times New Roman" pitchFamily="18" charset="0"/>
                  <a:cs typeface="Times New Roman" pitchFamily="18" charset="0"/>
                </a:endParaRPr>
              </a:p>
            </p:txBody>
          </p:sp>
          <p:sp>
            <p:nvSpPr>
              <p:cNvPr id="50" name="Rectangle 49"/>
              <p:cNvSpPr/>
              <p:nvPr/>
            </p:nvSpPr>
            <p:spPr>
              <a:xfrm>
                <a:off x="1051672" y="3903145"/>
                <a:ext cx="855740" cy="1442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smtClean="0">
                    <a:solidFill>
                      <a:schemeClr val="tx1"/>
                    </a:solidFill>
                    <a:latin typeface="Times New Roman" pitchFamily="18" charset="0"/>
                    <a:cs typeface="Times New Roman" pitchFamily="18" charset="0"/>
                  </a:rPr>
                  <a:t>Refresh </a:t>
                </a:r>
                <a:r>
                  <a:rPr lang="en-US" sz="800" dirty="0" err="1" smtClean="0">
                    <a:solidFill>
                      <a:schemeClr val="tx1"/>
                    </a:solidFill>
                    <a:latin typeface="Times New Roman" pitchFamily="18" charset="0"/>
                    <a:cs typeface="Times New Roman" pitchFamily="18" charset="0"/>
                  </a:rPr>
                  <a:t>vùng</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Ouput</a:t>
                </a:r>
                <a:endParaRPr lang="en-US" sz="800" dirty="0">
                  <a:solidFill>
                    <a:schemeClr val="tx1"/>
                  </a:solidFill>
                  <a:latin typeface="Times New Roman" pitchFamily="18" charset="0"/>
                  <a:cs typeface="Times New Roman" pitchFamily="18" charset="0"/>
                </a:endParaRPr>
              </a:p>
            </p:txBody>
          </p:sp>
          <p:sp>
            <p:nvSpPr>
              <p:cNvPr id="51" name="Rectangle 50"/>
              <p:cNvSpPr/>
              <p:nvPr/>
            </p:nvSpPr>
            <p:spPr>
              <a:xfrm>
                <a:off x="1097062" y="4214878"/>
                <a:ext cx="462510" cy="1260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Xử</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lí</a:t>
                </a:r>
                <a:r>
                  <a:rPr lang="en-US" sz="800" dirty="0" smtClean="0">
                    <a:solidFill>
                      <a:schemeClr val="tx1"/>
                    </a:solidFill>
                    <a:latin typeface="Times New Roman" pitchFamily="18" charset="0"/>
                    <a:cs typeface="Times New Roman" pitchFamily="18" charset="0"/>
                  </a:rPr>
                  <a:t> End</a:t>
                </a:r>
                <a:endParaRPr lang="en-US" sz="800" dirty="0">
                  <a:solidFill>
                    <a:schemeClr val="tx1"/>
                  </a:solidFill>
                  <a:latin typeface="Times New Roman" pitchFamily="18" charset="0"/>
                  <a:cs typeface="Times New Roman" pitchFamily="18" charset="0"/>
                </a:endParaRPr>
              </a:p>
            </p:txBody>
          </p:sp>
          <p:sp>
            <p:nvSpPr>
              <p:cNvPr id="52" name="Rectangle 51"/>
              <p:cNvSpPr/>
              <p:nvPr/>
            </p:nvSpPr>
            <p:spPr>
              <a:xfrm>
                <a:off x="2414670" y="3903225"/>
                <a:ext cx="956099" cy="174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Trạng</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thái</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tiếp</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điểm</a:t>
                </a:r>
                <a:r>
                  <a:rPr lang="en-US" sz="800" dirty="0" smtClean="0">
                    <a:solidFill>
                      <a:schemeClr val="tx1"/>
                    </a:solidFill>
                    <a:latin typeface="Times New Roman" pitchFamily="18" charset="0"/>
                    <a:cs typeface="Times New Roman" pitchFamily="18" charset="0"/>
                  </a:rPr>
                  <a:t> Module Output</a:t>
                </a:r>
                <a:endParaRPr lang="en-US" sz="800" dirty="0">
                  <a:solidFill>
                    <a:schemeClr val="tx1"/>
                  </a:solidFill>
                  <a:latin typeface="Times New Roman" pitchFamily="18" charset="0"/>
                  <a:cs typeface="Times New Roman" pitchFamily="18" charset="0"/>
                </a:endParaRPr>
              </a:p>
            </p:txBody>
          </p:sp>
        </p:grpSp>
      </p:grpSp>
    </p:spTree>
    <p:extLst>
      <p:ext uri="{BB962C8B-B14F-4D97-AF65-F5344CB8AC3E}">
        <p14:creationId xmlns:p14="http://schemas.microsoft.com/office/powerpoint/2010/main" val="3019377298"/>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dirty="0">
                <a:latin typeface="Times New Roman" pitchFamily="18" charset="0"/>
                <a:cs typeface="Times New Roman" pitchFamily="18" charset="0"/>
              </a:rPr>
              <a:t>Khí nén</a:t>
            </a:r>
            <a:r>
              <a:rPr lang="en-US" altLang="ko-KR" dirty="0">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solidFill>
                <a:srgbClr val="000000"/>
              </a:solidFill>
              <a:latin typeface="Times New Roman" pitchFamily="18" charset="0"/>
              <a:cs typeface="Times New Roman" pitchFamily="18" charset="0"/>
            </a:endParaRPr>
          </a:p>
          <a:p>
            <a:pPr eaLnBrk="1" fontAlgn="base" hangingPunct="1">
              <a:spcBef>
                <a:spcPct val="0"/>
              </a:spcBef>
              <a:spcAft>
                <a:spcPct val="0"/>
              </a:spcAft>
            </a:pPr>
            <a:endParaRPr lang="en-US" altLang="ko-KR" sz="950" smtClean="0">
              <a:solidFill>
                <a:srgbClr val="000000"/>
              </a:solidFill>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sp>
        <p:nvSpPr>
          <p:cNvPr id="25" name="Rectangle 7"/>
          <p:cNvSpPr>
            <a:spLocks noChangeArrowheads="1"/>
          </p:cNvSpPr>
          <p:nvPr/>
        </p:nvSpPr>
        <p:spPr bwMode="auto">
          <a:xfrm>
            <a:off x="206479" y="1064568"/>
            <a:ext cx="3239810"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a:t>
            </a:r>
            <a:r>
              <a:rPr lang="vi-VN" altLang="ko-KR" sz="950">
                <a:latin typeface="Times New Roman" pitchFamily="18" charset="0"/>
                <a:ea typeface="LG Smart_H Regular" panose="020B0600000101010101" pitchFamily="34" charset="-127"/>
                <a:cs typeface="Times New Roman" pitchFamily="18" charset="0"/>
              </a:rPr>
              <a:t>Khi lắp đặt máy nén khí ngoài việc chọn loại hình MNK, công suất sử dụng.Thì cần phải lựa chọn địa điểm lắp đặt phù hợp.</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Giải thích nào </a:t>
            </a:r>
            <a:r>
              <a:rPr lang="vi-VN" altLang="ko-KR" sz="950" smtClean="0">
                <a:latin typeface="Times New Roman" pitchFamily="18" charset="0"/>
                <a:ea typeface="LG Smart_H Regular" panose="020B0600000101010101" pitchFamily="34" charset="-127"/>
                <a:cs typeface="Times New Roman" pitchFamily="18" charset="0"/>
              </a:rPr>
              <a:t>sai?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Phải lắp đặt tại  địa điểm ít chất và khí độc hại.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Phải lưu tâm lựa chọn gạch cách âm để chặn tiếng ồn và tránh nước mưa và ánh sáng mặt trời</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nén dùng phương thức làm lạnh không khí: lắp quạt ở buồng máy nén để thông gió; máy nén dùng phương thức làm mát: trao đổi nhiệt, làm lạnh (after cooler) phần sau và thân máy nén sao cho chênh lệch nhiệt độ giữa  cửa ra và cửa vào nước làm lạnh dưới 10℃</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Lắp đặt tại nơi có nhiệt độ cao và độ ẩm thấp, lượng  phát sinh đường ống dẫn nhỏ. Nếu nhiệt độ của khí hút vào tăng 10℃ thì hiệu suất của máy nén giảm 3~4%.</a:t>
            </a:r>
          </a:p>
        </p:txBody>
      </p:sp>
      <p:sp>
        <p:nvSpPr>
          <p:cNvPr id="29" name="Rectangle 7"/>
          <p:cNvSpPr>
            <a:spLocks noChangeArrowheads="1"/>
          </p:cNvSpPr>
          <p:nvPr/>
        </p:nvSpPr>
        <p:spPr bwMode="auto">
          <a:xfrm>
            <a:off x="218009" y="3584848"/>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42. Chất nào gây ra rỉ và lỗi cách điện của coil, giảm tuổi thọ và dính chặt cuộn dây quấn (spool) ở thân  </a:t>
            </a:r>
            <a:r>
              <a:rPr lang="vi-VN" altLang="ko-KR" sz="950" smtClean="0">
                <a:latin typeface="Times New Roman" pitchFamily="18" charset="0"/>
                <a:ea typeface="LG Smart_H Regular" panose="020B0600000101010101" pitchFamily="34" charset="-127"/>
                <a:cs typeface="Times New Roman" pitchFamily="18" charset="0"/>
              </a:rPr>
              <a:t>van?</a:t>
            </a:r>
            <a:endParaRPr lang="vi-VN"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Dầu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Cacbon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Rỉ </a:t>
            </a:r>
            <a:r>
              <a:rPr lang="vi-VN" altLang="ko-KR" sz="950" smtClean="0">
                <a:latin typeface="Times New Roman" pitchFamily="18" charset="0"/>
                <a:ea typeface="LG Smart_H Regular" panose="020B0600000101010101" pitchFamily="34" charset="-127"/>
                <a:cs typeface="Times New Roman" pitchFamily="18" charset="0"/>
              </a:rPr>
              <a:t>sắt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Nước</a:t>
            </a:r>
          </a:p>
        </p:txBody>
      </p:sp>
      <p:sp>
        <p:nvSpPr>
          <p:cNvPr id="30" name="Rectangle 7"/>
          <p:cNvSpPr>
            <a:spLocks noChangeArrowheads="1"/>
          </p:cNvSpPr>
          <p:nvPr/>
        </p:nvSpPr>
        <p:spPr bwMode="auto">
          <a:xfrm>
            <a:off x="259544" y="5889104"/>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Máy sấy  nào dùng nhiều trong việc vận chuyển vật liệu dụng cụ, công cụ khí nén, đường khí nén thông thường. Phạm vi nhiệt độ hóa sương(0.5℃</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ngưng tụ.</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Máy sấy kiểu hấp </a:t>
            </a:r>
            <a:r>
              <a:rPr lang="en-US" altLang="ko-KR" sz="950" smtClean="0">
                <a:latin typeface="Times New Roman" pitchFamily="18" charset="0"/>
                <a:ea typeface="LG Smart_H Regular" panose="020B0600000101010101" pitchFamily="34" charset="-127"/>
                <a:cs typeface="Times New Roman" pitchFamily="18" charset="0"/>
              </a:rPr>
              <a:t>thụ</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Máy sấy kiểu đông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lạnh</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không làm nóng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0" name="Rectangle 7"/>
          <p:cNvSpPr>
            <a:spLocks noChangeArrowheads="1"/>
          </p:cNvSpPr>
          <p:nvPr/>
        </p:nvSpPr>
        <p:spPr bwMode="auto">
          <a:xfrm>
            <a:off x="3468850" y="2864768"/>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a:latin typeface="Times New Roman" pitchFamily="18" charset="0"/>
                <a:ea typeface="LG Smart_H Regular" panose="020B0600000101010101" pitchFamily="34" charset="-127"/>
                <a:cs typeface="Times New Roman" pitchFamily="18" charset="0"/>
              </a:rPr>
              <a:t>Vì  xi lanh được cung cấp khí nén từ 2 piston nên cần piston có thể sinh ra lực gấp hai lần xi lanh tác động 2 chiều mà đường kính như nhau. Sử dụng áp suất thấp, công  suất nhỏ nên xi lanh được dùng ở nơi cần lực lớn và có giới hạn đường kính xi </a:t>
            </a:r>
            <a:r>
              <a:rPr lang="vi-VN" altLang="ko-KR" sz="950" smtClean="0">
                <a:latin typeface="Times New Roman" pitchFamily="18" charset="0"/>
                <a:ea typeface="LG Smart_H Regular" panose="020B0600000101010101" pitchFamily="34" charset="-127"/>
                <a:cs typeface="Times New Roman" pitchFamily="18" charset="0"/>
              </a:rPr>
              <a:t>lanh?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Xilanh đa vị </a:t>
            </a:r>
            <a:r>
              <a:rPr lang="vi-VN" altLang="ko-KR" sz="950" smtClean="0">
                <a:latin typeface="Times New Roman" pitchFamily="18" charset="0"/>
                <a:ea typeface="LG Smart_H Regular" panose="020B0600000101010101" pitchFamily="34" charset="-127"/>
                <a:cs typeface="Times New Roman" pitchFamily="18" charset="0"/>
              </a:rPr>
              <a:t>trí</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Xilanh không </a:t>
            </a:r>
            <a:r>
              <a:rPr lang="en-US" altLang="ko-KR" sz="950" smtClean="0">
                <a:latin typeface="Times New Roman" pitchFamily="18" charset="0"/>
                <a:ea typeface="LG Smart_H Regular" panose="020B0600000101010101" pitchFamily="34" charset="-127"/>
                <a:cs typeface="Times New Roman" pitchFamily="18" charset="0"/>
              </a:rPr>
              <a:t>cần</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Xilanh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tandem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Xilanh hai cần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1" name="Rectangle 7"/>
          <p:cNvSpPr>
            <a:spLocks noChangeArrowheads="1"/>
          </p:cNvSpPr>
          <p:nvPr/>
        </p:nvSpPr>
        <p:spPr bwMode="auto">
          <a:xfrm>
            <a:off x="3449538" y="4304928"/>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Van nào dưới đây không thuộc van điều khiển lưu </a:t>
            </a:r>
            <a:r>
              <a:rPr lang="vi-VN" altLang="ko-KR" sz="950" smtClean="0">
                <a:latin typeface="Times New Roman" pitchFamily="18" charset="0"/>
                <a:ea typeface="LG Smart_H Regular" panose="020B0600000101010101" pitchFamily="34" charset="-127"/>
                <a:cs typeface="Times New Roman" pitchFamily="18" charset="0"/>
              </a:rPr>
              <a:t>lượng?</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tiết </a:t>
            </a:r>
            <a:r>
              <a:rPr lang="vi-VN" altLang="ko-KR" sz="950" smtClean="0">
                <a:latin typeface="Times New Roman" pitchFamily="18" charset="0"/>
                <a:ea typeface="LG Smart_H Regular" panose="020B0600000101010101" pitchFamily="34" charset="-127"/>
                <a:cs typeface="Times New Roman" pitchFamily="18" charset="0"/>
              </a:rPr>
              <a:t>lưu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Công tắc áp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suất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khiển tốc </a:t>
            </a:r>
            <a:r>
              <a:rPr lang="vi-VN" altLang="ko-KR" sz="950" smtClean="0">
                <a:latin typeface="Times New Roman" pitchFamily="18" charset="0"/>
                <a:ea typeface="LG Smart_H Regular" panose="020B0600000101010101" pitchFamily="34" charset="-127"/>
                <a:cs typeface="Times New Roman" pitchFamily="18" charset="0"/>
              </a:rPr>
              <a:t>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Van xả cấp tốc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8" name="Rectangle 7"/>
          <p:cNvSpPr>
            <a:spLocks noChangeArrowheads="1"/>
          </p:cNvSpPr>
          <p:nvPr/>
        </p:nvSpPr>
        <p:spPr bwMode="auto">
          <a:xfrm>
            <a:off x="218009" y="470220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43. </a:t>
            </a:r>
            <a:r>
              <a:rPr lang="vi-VN" altLang="ko-KR" sz="950">
                <a:latin typeface="Times New Roman" pitchFamily="18" charset="0"/>
                <a:ea typeface="LG Smart_H Regular" panose="020B0600000101010101" pitchFamily="34" charset="-127"/>
                <a:cs typeface="Times New Roman" pitchFamily="18" charset="0"/>
              </a:rPr>
              <a:t>Đâu không phải là ưu điểm của ống </a:t>
            </a:r>
            <a:r>
              <a:rPr lang="vi-VN" altLang="ko-KR" sz="950" smtClean="0">
                <a:latin typeface="Times New Roman" pitchFamily="18" charset="0"/>
                <a:ea typeface="LG Smart_H Regular" panose="020B0600000101010101" pitchFamily="34" charset="-127"/>
                <a:cs typeface="Times New Roman" pitchFamily="18" charset="0"/>
              </a:rPr>
              <a:t>Plastic?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MNK tuabin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MNK cánh </a:t>
            </a:r>
            <a:r>
              <a:rPr lang="en-US" altLang="ko-KR" sz="950" smtClean="0">
                <a:latin typeface="Times New Roman" pitchFamily="18" charset="0"/>
                <a:ea typeface="LG Smart_H Regular" panose="020B0600000101010101" pitchFamily="34" charset="-127"/>
                <a:cs typeface="Times New Roman" pitchFamily="18" charset="0"/>
              </a:rPr>
              <a:t>gạt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MNK Root </a:t>
            </a:r>
            <a:r>
              <a:rPr lang="vi-VN" altLang="ko-KR" sz="950" smtClean="0">
                <a:latin typeface="Times New Roman" pitchFamily="18" charset="0"/>
                <a:ea typeface="LG Smart_H Regular" panose="020B0600000101010101" pitchFamily="34" charset="-127"/>
                <a:cs typeface="Times New Roman" pitchFamily="18" charset="0"/>
              </a:rPr>
              <a:t>blower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MNK Trục vít</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48498" y="7473280"/>
            <a:ext cx="3180502" cy="1881612"/>
            <a:chOff x="248498" y="7617296"/>
            <a:chExt cx="3180502" cy="1881612"/>
          </a:xfrm>
        </p:grpSpPr>
        <p:sp>
          <p:nvSpPr>
            <p:cNvPr id="32" name="Rectangle 7"/>
            <p:cNvSpPr>
              <a:spLocks noChangeArrowheads="1"/>
            </p:cNvSpPr>
            <p:nvPr/>
          </p:nvSpPr>
          <p:spPr bwMode="auto">
            <a:xfrm>
              <a:off x="248498" y="7617296"/>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Đâu là giải thích đúng về định luật </a:t>
              </a:r>
              <a:r>
                <a:rPr lang="vi-VN" altLang="ko-KR" sz="950" smtClean="0">
                  <a:latin typeface="Times New Roman" pitchFamily="18" charset="0"/>
                  <a:ea typeface="LG Smart_H Regular" panose="020B0600000101010101" pitchFamily="34" charset="-127"/>
                  <a:cs typeface="Times New Roman" pitchFamily="18" charset="0"/>
                </a:rPr>
                <a:t>Boyle?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B. </a:t>
              </a: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D. </a:t>
              </a:r>
            </a:p>
          </p:txBody>
        </p:sp>
        <p:pic>
          <p:nvPicPr>
            <p:cNvPr id="31" name="Picture 30"/>
            <p:cNvPicPr>
              <a:picLocks noChangeAspect="1"/>
            </p:cNvPicPr>
            <p:nvPr/>
          </p:nvPicPr>
          <p:blipFill>
            <a:blip r:embed="rId3"/>
            <a:stretch>
              <a:fillRect/>
            </a:stretch>
          </p:blipFill>
          <p:spPr>
            <a:xfrm>
              <a:off x="562629" y="7812334"/>
              <a:ext cx="1138180" cy="761510"/>
            </a:xfrm>
            <a:prstGeom prst="rect">
              <a:avLst/>
            </a:prstGeom>
          </p:spPr>
        </p:pic>
        <p:pic>
          <p:nvPicPr>
            <p:cNvPr id="34"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1477" y="7812334"/>
              <a:ext cx="1091499" cy="741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9160" y="8769424"/>
              <a:ext cx="1071648" cy="729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 name="Picture 40"/>
            <p:cNvPicPr>
              <a:picLocks noChangeAspect="1"/>
            </p:cNvPicPr>
            <p:nvPr/>
          </p:nvPicPr>
          <p:blipFill>
            <a:blip r:embed="rId6"/>
            <a:stretch>
              <a:fillRect/>
            </a:stretch>
          </p:blipFill>
          <p:spPr>
            <a:xfrm>
              <a:off x="2204864" y="8805953"/>
              <a:ext cx="1116504" cy="657666"/>
            </a:xfrm>
            <a:prstGeom prst="rect">
              <a:avLst/>
            </a:prstGeom>
          </p:spPr>
        </p:pic>
      </p:grpSp>
      <p:grpSp>
        <p:nvGrpSpPr>
          <p:cNvPr id="5" name="Group 4"/>
          <p:cNvGrpSpPr/>
          <p:nvPr/>
        </p:nvGrpSpPr>
        <p:grpSpPr>
          <a:xfrm>
            <a:off x="3473132" y="920552"/>
            <a:ext cx="3180502" cy="1846659"/>
            <a:chOff x="3473132" y="1136576"/>
            <a:chExt cx="3180502" cy="1846659"/>
          </a:xfrm>
        </p:grpSpPr>
        <p:sp>
          <p:nvSpPr>
            <p:cNvPr id="46" name="Rectangle 7"/>
            <p:cNvSpPr>
              <a:spLocks noChangeArrowheads="1"/>
            </p:cNvSpPr>
            <p:nvPr/>
          </p:nvSpPr>
          <p:spPr bwMode="auto">
            <a:xfrm>
              <a:off x="3473132" y="1136576"/>
              <a:ext cx="318050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Kí hiệu hình dưới đây của bộ lọc tương ứng với phương thức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Phương </a:t>
              </a:r>
              <a:r>
                <a:rPr lang="vi-VN" altLang="ko-KR" sz="950">
                  <a:solidFill>
                    <a:srgbClr val="FF0000"/>
                  </a:solidFill>
                  <a:latin typeface="Times New Roman" pitchFamily="18" charset="0"/>
                  <a:ea typeface="LG Smart_H Regular" panose="020B0600000101010101" pitchFamily="34" charset="-127"/>
                  <a:cs typeface="Times New Roman" pitchFamily="18" charset="0"/>
                </a:rPr>
                <a:t>thức lọc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trong+ngoài</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cơ </a:t>
              </a:r>
              <a:r>
                <a:rPr lang="vi-VN" altLang="ko-KR" sz="950" smtClean="0">
                  <a:latin typeface="Times New Roman" pitchFamily="18" charset="0"/>
                  <a:ea typeface="LG Smart_H Regular" panose="020B0600000101010101" pitchFamily="34" charset="-127"/>
                  <a:cs typeface="Times New Roman" pitchFamily="18" charset="0"/>
                </a:rPr>
                <a:t>bản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ngoài</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2" name="Picture 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83038" y="1496616"/>
              <a:ext cx="1417866" cy="707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 name="Group 5"/>
          <p:cNvGrpSpPr/>
          <p:nvPr/>
        </p:nvGrpSpPr>
        <p:grpSpPr>
          <a:xfrm>
            <a:off x="3473132" y="5313040"/>
            <a:ext cx="3180502" cy="2285241"/>
            <a:chOff x="3473132" y="5817096"/>
            <a:chExt cx="3180502" cy="2285241"/>
          </a:xfrm>
        </p:grpSpPr>
        <p:sp>
          <p:nvSpPr>
            <p:cNvPr id="52" name="Rectangle 7"/>
            <p:cNvSpPr>
              <a:spLocks noChangeArrowheads="1"/>
            </p:cNvSpPr>
            <p:nvPr/>
          </p:nvSpPr>
          <p:spPr bwMode="auto">
            <a:xfrm>
              <a:off x="3473132" y="5817096"/>
              <a:ext cx="3180502" cy="228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Đâu không phải giải thích về meter </a:t>
              </a:r>
              <a:r>
                <a:rPr lang="vi-VN" altLang="ko-KR" sz="950" smtClean="0">
                  <a:latin typeface="Times New Roman" pitchFamily="18" charset="0"/>
                  <a:ea typeface="LG Smart_H Regular" panose="020B0600000101010101" pitchFamily="34" charset="-127"/>
                  <a:cs typeface="Times New Roman" pitchFamily="18" charset="0"/>
                </a:rPr>
                <a:t>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Phải mất thời gian cho đến khi áp suất của phía ①  tăng vì tiết lưu khí được cung cấp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Khí của ② được tiết lưu ở cửa ra rồi xả ra ngoài nên bị giới hạn tốc độ xả</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Áp suất giữa ① và  ② không cân bằng -&gt; di chuyển không ổn </a:t>
              </a:r>
              <a:r>
                <a:rPr lang="vi-VN" altLang="ko-KR" sz="950" smtClean="0">
                  <a:latin typeface="Times New Roman" pitchFamily="18" charset="0"/>
                  <a:ea typeface="LG Smart_H Regular" panose="020B0600000101010101" pitchFamily="34" charset="-127"/>
                  <a:cs typeface="Times New Roman" pitchFamily="18" charset="0"/>
                </a:rPr>
                <a:t>đinh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Do trạng thái dòng chảy tự do nên áp suất của phía ② giảm xuống trạng thái áp suất khí quyển.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3" name="Picture 42"/>
            <p:cNvPicPr>
              <a:picLocks noChangeAspect="1"/>
            </p:cNvPicPr>
            <p:nvPr/>
          </p:nvPicPr>
          <p:blipFill>
            <a:blip r:embed="rId8"/>
            <a:stretch>
              <a:fillRect/>
            </a:stretch>
          </p:blipFill>
          <p:spPr>
            <a:xfrm>
              <a:off x="4227684" y="6105128"/>
              <a:ext cx="1073524" cy="625605"/>
            </a:xfrm>
            <a:prstGeom prst="rect">
              <a:avLst/>
            </a:prstGeom>
          </p:spPr>
        </p:pic>
      </p:grpSp>
      <p:grpSp>
        <p:nvGrpSpPr>
          <p:cNvPr id="7" name="Group 6"/>
          <p:cNvGrpSpPr/>
          <p:nvPr/>
        </p:nvGrpSpPr>
        <p:grpSpPr>
          <a:xfrm>
            <a:off x="3457922" y="7545288"/>
            <a:ext cx="3180502" cy="2139047"/>
            <a:chOff x="3457922" y="7545288"/>
            <a:chExt cx="3180502" cy="2139047"/>
          </a:xfrm>
        </p:grpSpPr>
        <p:sp>
          <p:nvSpPr>
            <p:cNvPr id="53" name="Rectangle 7"/>
            <p:cNvSpPr>
              <a:spLocks noChangeArrowheads="1"/>
            </p:cNvSpPr>
            <p:nvPr/>
          </p:nvSpPr>
          <p:spPr bwMode="auto">
            <a:xfrm>
              <a:off x="3457922" y="7545288"/>
              <a:ext cx="3180502"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Nhìn về cấu tạo của Relay hãy điền vào ô </a:t>
              </a:r>
              <a:r>
                <a:rPr lang="vi-VN" altLang="ko-KR" sz="950" smtClean="0">
                  <a:latin typeface="Times New Roman" pitchFamily="18" charset="0"/>
                  <a:ea typeface="LG Smart_H Regular" panose="020B0600000101010101" pitchFamily="34" charset="-127"/>
                  <a:cs typeface="Times New Roman" pitchFamily="18" charset="0"/>
                </a:rPr>
                <a:t>trống?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Tiếp </a:t>
              </a:r>
              <a:r>
                <a:rPr lang="vi-VN" altLang="ko-KR" sz="950">
                  <a:latin typeface="Times New Roman" pitchFamily="18" charset="0"/>
                  <a:ea typeface="LG Smart_H Regular" panose="020B0600000101010101" pitchFamily="34" charset="-127"/>
                  <a:cs typeface="Times New Roman" pitchFamily="18" charset="0"/>
                </a:rPr>
                <a:t>điểm di chuyển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Nam châm</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Tấm cách điện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Tấm sắt di chuyển.</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pic>
          <p:nvPicPr>
            <p:cNvPr id="47" name="그림 2"/>
            <p:cNvPicPr>
              <a:picLocks noChangeAspect="1"/>
            </p:cNvPicPr>
            <p:nvPr/>
          </p:nvPicPr>
          <p:blipFill>
            <a:blip r:embed="rId9"/>
            <a:stretch>
              <a:fillRect/>
            </a:stretch>
          </p:blipFill>
          <p:spPr>
            <a:xfrm>
              <a:off x="4343151" y="7833320"/>
              <a:ext cx="1916114" cy="1139111"/>
            </a:xfrm>
            <a:prstGeom prst="rect">
              <a:avLst/>
            </a:prstGeom>
          </p:spPr>
        </p:pic>
      </p:grpSp>
    </p:spTree>
    <p:extLst>
      <p:ext uri="{BB962C8B-B14F-4D97-AF65-F5344CB8AC3E}">
        <p14:creationId xmlns:p14="http://schemas.microsoft.com/office/powerpoint/2010/main" val="2466596934"/>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a:latin typeface="Times New Roman" pitchFamily="18" charset="0"/>
                <a:cs typeface="Times New Roman" pitchFamily="18" charset="0"/>
              </a:rPr>
              <a:t>Khí nén</a:t>
            </a:r>
            <a:r>
              <a:rPr lang="en-US" altLang="ko-KR">
                <a:latin typeface="Times New Roman" pitchFamily="18" charset="0"/>
                <a:cs typeface="Times New Roman" pitchFamily="18" charset="0"/>
              </a:rPr>
              <a:t>] </a:t>
            </a:r>
            <a:endParaRPr lang="en-US" altLang="ko-KR" dirty="0">
              <a:latin typeface="Times New Roman" pitchFamily="18" charset="0"/>
              <a:cs typeface="Times New Roman" pitchFamily="18" charset="0"/>
            </a:endParaRPr>
          </a:p>
        </p:txBody>
      </p:sp>
      <p:sp>
        <p:nvSpPr>
          <p:cNvPr id="8196" name="Rectangle 17"/>
          <p:cNvSpPr>
            <a:spLocks noChangeArrowheads="1"/>
          </p:cNvSpPr>
          <p:nvPr/>
        </p:nvSpPr>
        <p:spPr bwMode="auto">
          <a:xfrm>
            <a:off x="214040"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8197" name="Rectangle 18"/>
          <p:cNvSpPr>
            <a:spLocks noChangeArrowheads="1"/>
          </p:cNvSpPr>
          <p:nvPr/>
        </p:nvSpPr>
        <p:spPr bwMode="auto">
          <a:xfrm>
            <a:off x="3404108" y="776288"/>
            <a:ext cx="329311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grpSp>
        <p:nvGrpSpPr>
          <p:cNvPr id="22" name="Group 21"/>
          <p:cNvGrpSpPr/>
          <p:nvPr/>
        </p:nvGrpSpPr>
        <p:grpSpPr>
          <a:xfrm>
            <a:off x="188640" y="1064568"/>
            <a:ext cx="3312368" cy="1261884"/>
            <a:chOff x="3284984" y="6588126"/>
            <a:chExt cx="3312368" cy="1261884"/>
          </a:xfrm>
        </p:grpSpPr>
        <p:sp>
          <p:nvSpPr>
            <p:cNvPr id="23" name="Rectangle 7"/>
            <p:cNvSpPr>
              <a:spLocks noChangeArrowheads="1"/>
            </p:cNvSpPr>
            <p:nvPr/>
          </p:nvSpPr>
          <p:spPr bwMode="auto">
            <a:xfrm>
              <a:off x="3284984" y="6588126"/>
              <a:ext cx="3312368"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1</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sai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hiệu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solidFill>
                    <a:srgbClr val="FF0000"/>
                  </a:solidFill>
                  <a:latin typeface="Times New Roman" pitchFamily="18" charset="0"/>
                  <a:ea typeface="돋움" pitchFamily="50" charset="-127"/>
                  <a:cs typeface="Times New Roman" pitchFamily="18" charset="0"/>
                </a:rPr>
                <a:t>B. </a:t>
              </a:r>
              <a:r>
                <a:rPr lang="en-US" altLang="ko-KR" sz="950" dirty="0" err="1" smtClean="0">
                  <a:solidFill>
                    <a:srgbClr val="FF0000"/>
                  </a:solidFill>
                  <a:latin typeface="Times New Roman" pitchFamily="18" charset="0"/>
                  <a:ea typeface="돋움" pitchFamily="50" charset="-127"/>
                  <a:cs typeface="Times New Roman" pitchFamily="18" charset="0"/>
                </a:rPr>
                <a:t>Mức</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độ</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tiêu</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thụ</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không</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khí</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lớn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 </a:t>
              </a:r>
              <a:r>
                <a:rPr lang="en-US" altLang="ko-KR" sz="950" dirty="0" err="1" smtClean="0">
                  <a:latin typeface="Times New Roman" pitchFamily="18" charset="0"/>
                  <a:ea typeface="돋움" pitchFamily="50" charset="-127"/>
                  <a:cs typeface="Times New Roman" pitchFamily="18" charset="0"/>
                </a:rPr>
                <a:t>Quãng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khoảng</a:t>
              </a:r>
              <a:r>
                <a:rPr lang="en-US" altLang="ko-KR" sz="950" dirty="0" smtClean="0">
                  <a:latin typeface="Times New Roman" pitchFamily="18" charset="0"/>
                  <a:ea typeface="돋움" pitchFamily="50" charset="-127"/>
                  <a:cs typeface="Times New Roman" pitchFamily="18" charset="0"/>
                </a:rPr>
                <a:t> 100㎜.</a:t>
              </a:r>
              <a:endParaRPr lang="en-US" altLang="ko-KR" sz="950" dirty="0">
                <a:latin typeface="Times New Roman" pitchFamily="18" charset="0"/>
                <a:ea typeface="돋움" pitchFamily="50" charset="-127"/>
                <a:cs typeface="Times New Roman" pitchFamily="18" charset="0"/>
              </a:endParaRPr>
            </a:p>
            <a:p>
              <a:pPr marL="114300" indent="-114300" eaLnBrk="1" hangingPunct="1"/>
              <a:r>
                <a:rPr lang="en-US" altLang="ko-KR" sz="950" smtClean="0">
                  <a:latin typeface="Times New Roman" pitchFamily="18" charset="0"/>
                  <a:ea typeface="돋움" pitchFamily="50" charset="-127"/>
                  <a:cs typeface="Times New Roman" pitchFamily="18" charset="0"/>
                </a:rPr>
                <a:t>D. </a:t>
              </a:r>
              <a:r>
                <a:rPr lang="en-US" altLang="ko-KR" sz="950" dirty="0" err="1" smtClean="0">
                  <a:latin typeface="Times New Roman" pitchFamily="18" charset="0"/>
                  <a:ea typeface="돋움" pitchFamily="50" charset="-127"/>
                  <a:cs typeface="Times New Roman" pitchFamily="18" charset="0"/>
                </a:rPr>
                <a:t>Chủ</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yếu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kẹp</a:t>
              </a:r>
              <a:r>
                <a:rPr lang="en-US" altLang="ko-KR" sz="950" dirty="0" smtClean="0">
                  <a:latin typeface="Times New Roman" pitchFamily="18" charset="0"/>
                  <a:ea typeface="돋움" pitchFamily="50" charset="-127"/>
                  <a:cs typeface="Times New Roman" pitchFamily="18" charset="0"/>
                </a:rPr>
                <a:t> (clamping), </a:t>
              </a:r>
              <a:r>
                <a:rPr lang="en-US" altLang="ko-KR" sz="950" dirty="0" err="1" smtClean="0">
                  <a:latin typeface="Times New Roman" pitchFamily="18" charset="0"/>
                  <a:ea typeface="돋움" pitchFamily="50" charset="-127"/>
                  <a:cs typeface="Times New Roman" pitchFamily="18" charset="0"/>
                </a:rPr>
                <a:t>nhấn</a:t>
              </a:r>
              <a:r>
                <a:rPr lang="en-US" altLang="ko-KR" sz="950" dirty="0" smtClean="0">
                  <a:latin typeface="Times New Roman" pitchFamily="18" charset="0"/>
                  <a:ea typeface="돋움" pitchFamily="50" charset="-127"/>
                  <a:cs typeface="Times New Roman" pitchFamily="18" charset="0"/>
                </a:rPr>
                <a:t> (pressing), di </a:t>
              </a:r>
              <a:r>
                <a:rPr lang="en-US" altLang="ko-KR" sz="950" dirty="0" err="1" smtClean="0">
                  <a:latin typeface="Times New Roman" pitchFamily="18" charset="0"/>
                  <a:ea typeface="돋움" pitchFamily="50" charset="-127"/>
                  <a:cs typeface="Times New Roman" pitchFamily="18" charset="0"/>
                </a:rPr>
                <a:t>chuyển</a:t>
              </a:r>
              <a:r>
                <a:rPr lang="en-US" altLang="ko-KR" sz="950" dirty="0" smtClean="0">
                  <a:latin typeface="Times New Roman" pitchFamily="18" charset="0"/>
                  <a:ea typeface="돋움" pitchFamily="50" charset="-127"/>
                  <a:cs typeface="Times New Roman" pitchFamily="18" charset="0"/>
                </a:rPr>
                <a:t>.</a:t>
              </a:r>
              <a:endParaRPr lang="ko-KR" altLang="en-US" sz="950" dirty="0">
                <a:latin typeface="Times New Roman" pitchFamily="18" charset="0"/>
                <a:ea typeface="돋움" pitchFamily="50" charset="-127"/>
                <a:cs typeface="Times New Roman" pitchFamily="18" charset="0"/>
              </a:endParaRPr>
            </a:p>
          </p:txBody>
        </p:sp>
        <p:pic>
          <p:nvPicPr>
            <p:cNvPr id="2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5139" y="6855767"/>
              <a:ext cx="842962" cy="452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sp>
        <p:nvSpPr>
          <p:cNvPr id="25" name="Rectangle 13"/>
          <p:cNvSpPr>
            <a:spLocks noChangeArrowheads="1"/>
          </p:cNvSpPr>
          <p:nvPr/>
        </p:nvSpPr>
        <p:spPr bwMode="auto">
          <a:xfrm>
            <a:off x="235248" y="2685182"/>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2</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linh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kiện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nào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dirty="0">
                <a:solidFill>
                  <a:srgbClr val="FF0000"/>
                </a:solidFill>
                <a:latin typeface="Times New Roman" pitchFamily="18" charset="0"/>
                <a:ea typeface="돋움" pitchFamily="50" charset="-127"/>
                <a:cs typeface="Times New Roman" pitchFamily="18" charset="0"/>
              </a:rPr>
              <a:t>Piston </a:t>
            </a:r>
            <a:r>
              <a:rPr lang="en-US" altLang="ko-KR" sz="950">
                <a:solidFill>
                  <a:srgbClr val="FF0000"/>
                </a:solidFill>
                <a:latin typeface="Times New Roman" pitchFamily="18" charset="0"/>
                <a:ea typeface="돋움" pitchFamily="50" charset="-127"/>
                <a:cs typeface="Times New Roman" pitchFamily="18" charset="0"/>
              </a:rPr>
              <a:t>Rod    </a:t>
            </a: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Piston     </a:t>
            </a:r>
            <a:r>
              <a:rPr lang="en-US" altLang="ko-KR" sz="950" smtClean="0">
                <a:latin typeface="Times New Roman" pitchFamily="18" charset="0"/>
                <a:ea typeface="돋움" pitchFamily="50" charset="-127"/>
                <a:cs typeface="Times New Roman" pitchFamily="18" charset="0"/>
              </a:rPr>
              <a:t>C. </a:t>
            </a:r>
            <a:r>
              <a:rPr lang="en-US" altLang="ko-KR" sz="950" dirty="0">
                <a:latin typeface="Times New Roman" pitchFamily="18" charset="0"/>
                <a:ea typeface="돋움" pitchFamily="50" charset="-127"/>
                <a:cs typeface="Times New Roman" pitchFamily="18" charset="0"/>
              </a:rPr>
              <a:t>Tie </a:t>
            </a:r>
            <a:r>
              <a:rPr lang="en-US" altLang="ko-KR" sz="950">
                <a:latin typeface="Times New Roman" pitchFamily="18" charset="0"/>
                <a:ea typeface="돋움" pitchFamily="50" charset="-127"/>
                <a:cs typeface="Times New Roman" pitchFamily="18" charset="0"/>
              </a:rPr>
              <a:t>Rod     </a:t>
            </a:r>
            <a:r>
              <a:rPr lang="en-US" altLang="ko-KR" sz="950" smtClean="0">
                <a:latin typeface="Times New Roman" pitchFamily="18" charset="0"/>
                <a:ea typeface="돋움" pitchFamily="50" charset="-127"/>
                <a:cs typeface="Times New Roman" pitchFamily="18" charset="0"/>
              </a:rPr>
              <a:t>D. </a:t>
            </a:r>
            <a:r>
              <a:rPr lang="en-US" altLang="ko-KR" sz="950" dirty="0" err="1">
                <a:latin typeface="Times New Roman" pitchFamily="18" charset="0"/>
                <a:ea typeface="돋움" pitchFamily="50" charset="-127"/>
                <a:cs typeface="Times New Roman" pitchFamily="18" charset="0"/>
              </a:rPr>
              <a:t>Clavis</a:t>
            </a:r>
            <a:endParaRPr lang="en-US" altLang="ko-KR" sz="950" dirty="0">
              <a:latin typeface="Times New Roman" pitchFamily="18" charset="0"/>
              <a:ea typeface="돋움" pitchFamily="50" charset="-127"/>
              <a:cs typeface="Times New Roman" pitchFamily="18" charset="0"/>
            </a:endParaRPr>
          </a:p>
        </p:txBody>
      </p:sp>
      <p:sp>
        <p:nvSpPr>
          <p:cNvPr id="26" name="Rectangle 14"/>
          <p:cNvSpPr>
            <a:spLocks noChangeArrowheads="1"/>
          </p:cNvSpPr>
          <p:nvPr/>
        </p:nvSpPr>
        <p:spPr bwMode="auto">
          <a:xfrm>
            <a:off x="404665" y="2925648"/>
            <a:ext cx="2934718" cy="479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sắt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chịu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sức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căng</a:t>
            </a:r>
            <a:r>
              <a:rPr lang="en-US" altLang="ko-KR" sz="950" dirty="0">
                <a:latin typeface="Times New Roman" pitchFamily="18" charset="0"/>
                <a:cs typeface="Times New Roman" pitchFamily="18" charset="0"/>
              </a:rPr>
              <a:t>.</a:t>
            </a:r>
            <a:endParaRPr lang="ko-KR" altLang="en-US" sz="950" dirty="0">
              <a:latin typeface="Times New Roman" pitchFamily="18" charset="0"/>
              <a:cs typeface="Times New Roman" pitchFamily="18" charset="0"/>
            </a:endParaRPr>
          </a:p>
          <a:p>
            <a:pPr eaLnBrk="1" hangingPunct="1"/>
            <a:r>
              <a:rPr lang="en-US" altLang="ko-KR" sz="950" dirty="0" err="1">
                <a:latin typeface="Times New Roman" pitchFamily="18" charset="0"/>
                <a:cs typeface="Times New Roman" pitchFamily="18" charset="0"/>
              </a:rPr>
              <a:t>t</a:t>
            </a:r>
            <a:r>
              <a:rPr lang="en-US" altLang="ko-KR" sz="950" dirty="0" err="1" smtClean="0">
                <a:latin typeface="Times New Roman" pitchFamily="18" charset="0"/>
                <a:cs typeface="Times New Roman" pitchFamily="18" charset="0"/>
              </a:rPr>
              <a:t>rên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phủ</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Crom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cứng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chịu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chạm</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ngoài</a:t>
            </a:r>
            <a:r>
              <a:rPr lang="en-US" altLang="ko-KR" sz="950" dirty="0" smtClean="0">
                <a:latin typeface="Times New Roman" pitchFamily="18" charset="0"/>
                <a:cs typeface="Times New Roman" pitchFamily="18" charset="0"/>
              </a:rPr>
              <a:t>.</a:t>
            </a:r>
            <a:endParaRPr lang="ko-KR" altLang="en-US" sz="950" dirty="0">
              <a:latin typeface="Times New Roman" pitchFamily="18" charset="0"/>
              <a:cs typeface="Times New Roman" pitchFamily="18" charset="0"/>
            </a:endParaRPr>
          </a:p>
        </p:txBody>
      </p:sp>
      <p:sp>
        <p:nvSpPr>
          <p:cNvPr id="27" name="Rectangle 16"/>
          <p:cNvSpPr>
            <a:spLocks noChangeArrowheads="1"/>
          </p:cNvSpPr>
          <p:nvPr/>
        </p:nvSpPr>
        <p:spPr bwMode="auto">
          <a:xfrm>
            <a:off x="188640" y="4262824"/>
            <a:ext cx="3267918"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3</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đúng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ưu</a:t>
            </a:r>
            <a:r>
              <a:rPr lang="en-US" altLang="ko-KR" sz="950" dirty="0" smtClean="0">
                <a:latin typeface="Times New Roman" pitchFamily="18" charset="0"/>
                <a:ea typeface="돋움" pitchFamily="50" charset="-127"/>
                <a:cs typeface="Times New Roman" pitchFamily="18" charset="0"/>
              </a:rPr>
              <a:t>/</a:t>
            </a:r>
            <a:r>
              <a:rPr lang="en-US" altLang="ko-KR" sz="950" dirty="0" err="1" smtClean="0">
                <a:latin typeface="Times New Roman" pitchFamily="18" charset="0"/>
                <a:ea typeface="돋움" pitchFamily="50" charset="-127"/>
                <a:cs typeface="Times New Roman" pitchFamily="18" charset="0"/>
              </a:rPr>
              <a:t>nhược</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điểm</a:t>
            </a:r>
            <a:r>
              <a:rPr lang="en-US" altLang="ko-KR" sz="950" smtClean="0">
                <a:latin typeface="Times New Roman" pitchFamily="18" charset="0"/>
                <a:ea typeface="돋움" pitchFamily="50" charset="-127"/>
                <a:cs typeface="Times New Roman" pitchFamily="18" charset="0"/>
              </a:rPr>
              <a:t> của</a:t>
            </a:r>
            <a:r>
              <a:rPr lang="en-US" altLang="ko-KR" sz="950" dirty="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Cylinder</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marL="177800" indent="-177800" eaLnBrk="1" hangingPunct="1"/>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Lượng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tiêu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thụ</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bằng</a:t>
            </a:r>
            <a:r>
              <a:rPr lang="en-US" altLang="ko-KR" sz="950" dirty="0" smtClean="0">
                <a:latin typeface="Times New Roman" pitchFamily="18" charset="0"/>
                <a:ea typeface="돋움" pitchFamily="50" charset="-127"/>
                <a:cs typeface="Times New Roman" pitchFamily="18" charset="0"/>
              </a:rPr>
              <a:t> ½  so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đôi</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B. </a:t>
            </a:r>
            <a:r>
              <a:rPr lang="en-US" altLang="ko-KR" sz="950" dirty="0" smtClean="0">
                <a:latin typeface="Times New Roman" pitchFamily="18" charset="0"/>
                <a:ea typeface="돋움" pitchFamily="50" charset="-127"/>
                <a:cs typeface="Times New Roman" pitchFamily="18" charset="0"/>
              </a:rPr>
              <a:t>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đôi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ít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bị</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giảm</a:t>
            </a:r>
            <a:r>
              <a:rPr lang="en-US" altLang="ko-KR" sz="950" dirty="0" smtClean="0">
                <a:latin typeface="Times New Roman" pitchFamily="18" charset="0"/>
                <a:ea typeface="돋움" pitchFamily="50" charset="-127"/>
                <a:cs typeface="Times New Roman" pitchFamily="18" charset="0"/>
              </a:rPr>
              <a:t> output.</a:t>
            </a:r>
            <a:endParaRPr lang="en-US" altLang="ko-KR" sz="950" dirty="0">
              <a:latin typeface="Times New Roman" pitchFamily="18" charset="0"/>
              <a:ea typeface="돋움" pitchFamily="50" charset="-127"/>
              <a:cs typeface="Times New Roman" pitchFamily="18" charset="0"/>
            </a:endParaRPr>
          </a:p>
          <a:p>
            <a:pPr marL="114300" indent="-114300" eaLnBrk="1" hangingPunct="1"/>
            <a:r>
              <a:rPr lang="en-US" altLang="ko-KR" sz="950" smtClean="0">
                <a:solidFill>
                  <a:srgbClr val="FF0000"/>
                </a:solidFill>
                <a:latin typeface="Times New Roman" pitchFamily="18" charset="0"/>
                <a:ea typeface="돋움" pitchFamily="50" charset="-127"/>
                <a:cs typeface="Times New Roman" pitchFamily="18" charset="0"/>
              </a:rPr>
              <a:t>C. </a:t>
            </a:r>
            <a:r>
              <a:rPr lang="en-US" altLang="ko-KR" sz="950" dirty="0" smtClean="0">
                <a:solidFill>
                  <a:srgbClr val="FF0000"/>
                </a:solidFill>
                <a:latin typeface="Times New Roman" pitchFamily="18" charset="0"/>
                <a:ea typeface="돋움" pitchFamily="50" charset="-127"/>
                <a:cs typeface="Times New Roman" pitchFamily="18" charset="0"/>
              </a:rPr>
              <a:t>Cylinder </a:t>
            </a:r>
            <a:r>
              <a:rPr lang="en-US" altLang="ko-KR" sz="950" dirty="0" err="1" smtClean="0">
                <a:solidFill>
                  <a:srgbClr val="FF0000"/>
                </a:solidFill>
                <a:latin typeface="Times New Roman" pitchFamily="18" charset="0"/>
                <a:ea typeface="돋움" pitchFamily="50" charset="-127"/>
                <a:cs typeface="Times New Roman" pitchFamily="18" charset="0"/>
              </a:rPr>
              <a:t>cần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đơn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có</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tổng</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chiều</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dài</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ngắn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hơn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so </a:t>
            </a:r>
            <a:r>
              <a:rPr lang="en-US" altLang="ko-KR" sz="95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Cylinder </a:t>
            </a:r>
            <a:r>
              <a:rPr lang="en-US" altLang="ko-KR" sz="950" dirty="0" err="1" smtClean="0">
                <a:solidFill>
                  <a:srgbClr val="FF0000"/>
                </a:solidFill>
                <a:latin typeface="Times New Roman" pitchFamily="18" charset="0"/>
                <a:ea typeface="돋움" pitchFamily="50" charset="-127"/>
                <a:cs typeface="Times New Roman" pitchFamily="18" charset="0"/>
              </a:rPr>
              <a:t>cần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đơn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có</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cùng</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quãng</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đường</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hành</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trình</a:t>
            </a:r>
            <a:r>
              <a:rPr lang="en-US" altLang="ko-KR" sz="950" dirty="0" smtClean="0">
                <a:solidFill>
                  <a:srgbClr val="FF0000"/>
                </a:solidFill>
                <a:latin typeface="Times New Roman" pitchFamily="18" charset="0"/>
                <a:ea typeface="돋움" pitchFamily="50" charset="-127"/>
                <a:cs typeface="Times New Roman" pitchFamily="18" charset="0"/>
              </a:rPr>
              <a:t>.</a:t>
            </a:r>
            <a:endParaRPr lang="en-US" altLang="ko-KR" sz="950" dirty="0">
              <a:solidFill>
                <a:srgbClr val="FF0000"/>
              </a:solidFill>
              <a:latin typeface="Times New Roman" pitchFamily="18" charset="0"/>
              <a:ea typeface="돋움" pitchFamily="50" charset="-127"/>
              <a:cs typeface="Times New Roman" pitchFamily="18" charset="0"/>
            </a:endParaRPr>
          </a:p>
          <a:p>
            <a:pPr marL="177800" indent="-177800" eaLnBrk="1" hangingPunct="1"/>
            <a:r>
              <a:rPr lang="en-US" altLang="ko-KR" sz="950" smtClean="0">
                <a:latin typeface="Times New Roman" pitchFamily="18" charset="0"/>
                <a:ea typeface="돋움" pitchFamily="50" charset="-127"/>
                <a:cs typeface="Times New Roman" pitchFamily="18" charset="0"/>
              </a:rPr>
              <a:t>D. </a:t>
            </a:r>
            <a:r>
              <a:rPr lang="en-US" altLang="ko-KR" sz="950" dirty="0" smtClean="0">
                <a:latin typeface="Times New Roman" pitchFamily="18" charset="0"/>
                <a:ea typeface="돋움" pitchFamily="50" charset="-127"/>
                <a:cs typeface="Times New Roman" pitchFamily="18" charset="0"/>
              </a:rPr>
              <a:t>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đôi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kính</a:t>
            </a:r>
            <a:r>
              <a:rPr lang="en-US" altLang="ko-KR" sz="950" dirty="0" smtClean="0">
                <a:latin typeface="Times New Roman" pitchFamily="18" charset="0"/>
                <a:ea typeface="돋움" pitchFamily="50" charset="-127"/>
                <a:cs typeface="Times New Roman" pitchFamily="18" charset="0"/>
              </a:rPr>
              <a:t> tube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ø6~ø300 </a:t>
            </a:r>
            <a:r>
              <a:rPr lang="en-US" altLang="ko-KR" sz="950" dirty="0" err="1" smtClean="0">
                <a:latin typeface="Times New Roman" pitchFamily="18" charset="0"/>
                <a:ea typeface="돋움" pitchFamily="50" charset="-127"/>
                <a:cs typeface="Times New Roman" pitchFamily="18" charset="0"/>
              </a:rPr>
              <a:t>và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đã</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tiêu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chuẩn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hóa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cả</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dài</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p:txBody>
      </p:sp>
      <p:sp>
        <p:nvSpPr>
          <p:cNvPr id="28" name="Rectangle 18"/>
          <p:cNvSpPr>
            <a:spLocks noChangeArrowheads="1"/>
          </p:cNvSpPr>
          <p:nvPr/>
        </p:nvSpPr>
        <p:spPr bwMode="auto">
          <a:xfrm>
            <a:off x="233090" y="6287760"/>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4</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sai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a:t>
            </a:r>
            <a:r>
              <a:rPr lang="en-US" altLang="ko-KR" sz="950" dirty="0">
                <a:latin typeface="Times New Roman" pitchFamily="18" charset="0"/>
                <a:ea typeface="돋움" pitchFamily="50" charset="-127"/>
                <a:cs typeface="Times New Roman" pitchFamily="18" charset="0"/>
              </a:rPr>
              <a:t>?</a:t>
            </a: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tăng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thì</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cũng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tăng</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solidFill>
                  <a:srgbClr val="FF0000"/>
                </a:solidFill>
                <a:latin typeface="Times New Roman" pitchFamily="18" charset="0"/>
                <a:ea typeface="돋움" pitchFamily="50" charset="-127"/>
                <a:cs typeface="Times New Roman" pitchFamily="18" charset="0"/>
              </a:rPr>
              <a:t>B. </a:t>
            </a:r>
            <a:r>
              <a:rPr lang="en-US" altLang="ko-KR" sz="950" dirty="0" err="1" smtClean="0">
                <a:solidFill>
                  <a:srgbClr val="FF0000"/>
                </a:solidFill>
                <a:latin typeface="Times New Roman" pitchFamily="18" charset="0"/>
                <a:ea typeface="돋움" pitchFamily="50" charset="-127"/>
                <a:cs typeface="Times New Roman" pitchFamily="18" charset="0"/>
              </a:rPr>
              <a:t>Lực</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lùi</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lớn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hơn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lực</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tiến</a:t>
            </a:r>
            <a:r>
              <a:rPr lang="en-US" altLang="ko-KR" sz="950" dirty="0" smtClean="0">
                <a:solidFill>
                  <a:srgbClr val="FF0000"/>
                </a:solidFill>
                <a:latin typeface="Times New Roman" pitchFamily="18" charset="0"/>
                <a:ea typeface="돋움" pitchFamily="50" charset="-127"/>
                <a:cs typeface="Times New Roman" pitchFamily="18" charset="0"/>
              </a:rPr>
              <a:t>.</a:t>
            </a:r>
            <a:endParaRPr lang="en-US" altLang="ko-KR" sz="950" dirty="0">
              <a:solidFill>
                <a:srgbClr val="FF0000"/>
              </a:solidFill>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 </a:t>
            </a:r>
            <a:r>
              <a:rPr lang="en-US" altLang="ko-KR" sz="950" dirty="0" err="1" smtClean="0">
                <a:latin typeface="Times New Roman" pitchFamily="18" charset="0"/>
                <a:ea typeface="돋움" pitchFamily="50" charset="-127"/>
                <a:cs typeface="Times New Roman" pitchFamily="18" charset="0"/>
              </a:rPr>
              <a:t>Nếu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lực</a:t>
            </a:r>
            <a:r>
              <a:rPr lang="en-US" altLang="ko-KR" sz="950" dirty="0" smtClean="0">
                <a:latin typeface="Times New Roman" pitchFamily="18" charset="0"/>
                <a:ea typeface="돋움" pitchFamily="50" charset="-127"/>
                <a:cs typeface="Times New Roman" pitchFamily="18" charset="0"/>
              </a:rPr>
              <a:t> Air </a:t>
            </a:r>
            <a:r>
              <a:rPr lang="en-US" altLang="ko-KR" sz="950" dirty="0" err="1" smtClean="0">
                <a:latin typeface="Times New Roman" pitchFamily="18" charset="0"/>
                <a:ea typeface="돋움" pitchFamily="50" charset="-127"/>
                <a:cs typeface="Times New Roman" pitchFamily="18" charset="0"/>
              </a:rPr>
              <a:t>lớn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thì</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lớn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marL="177800" indent="-177800" eaLnBrk="1" hangingPunct="1"/>
            <a:r>
              <a:rPr lang="en-US" altLang="ko-KR" sz="950" smtClean="0">
                <a:latin typeface="Times New Roman" pitchFamily="18" charset="0"/>
                <a:ea typeface="돋움" pitchFamily="50" charset="-127"/>
                <a:cs typeface="Times New Roman" pitchFamily="18" charset="0"/>
              </a:rPr>
              <a:t>D. </a:t>
            </a:r>
            <a:r>
              <a:rPr lang="en-US" altLang="ko-KR" sz="950" dirty="0" err="1" smtClean="0">
                <a:latin typeface="Times New Roman" pitchFamily="18" charset="0"/>
                <a:ea typeface="돋움" pitchFamily="50" charset="-127"/>
                <a:cs typeface="Times New Roman" pitchFamily="18" charset="0"/>
              </a:rPr>
              <a:t>Quãng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liên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quan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đến</a:t>
            </a:r>
            <a:r>
              <a:rPr lang="en-US" altLang="ko-KR" sz="950" dirty="0" smtClean="0">
                <a:latin typeface="Times New Roman" pitchFamily="18" charset="0"/>
                <a:ea typeface="돋움" pitchFamily="50" charset="-127"/>
                <a:cs typeface="Times New Roman" pitchFamily="18" charset="0"/>
              </a:rPr>
              <a:t> Output.</a:t>
            </a:r>
            <a:endParaRPr lang="en-US" altLang="ko-KR" sz="950" dirty="0">
              <a:latin typeface="Times New Roman" pitchFamily="18" charset="0"/>
              <a:ea typeface="돋움" pitchFamily="50" charset="-127"/>
              <a:cs typeface="Times New Roman" pitchFamily="18" charset="0"/>
            </a:endParaRPr>
          </a:p>
        </p:txBody>
      </p:sp>
      <p:sp>
        <p:nvSpPr>
          <p:cNvPr id="39" name="Rectangle 33"/>
          <p:cNvSpPr>
            <a:spLocks noChangeArrowheads="1"/>
          </p:cNvSpPr>
          <p:nvPr/>
        </p:nvSpPr>
        <p:spPr bwMode="auto">
          <a:xfrm>
            <a:off x="233090" y="7575192"/>
            <a:ext cx="312420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77800" indent="-177800"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5</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chú</a:t>
            </a:r>
            <a:r>
              <a:rPr lang="en-US" altLang="ko-KR" sz="950" dirty="0" smtClean="0">
                <a:latin typeface="Times New Roman" pitchFamily="18" charset="0"/>
                <a:cs typeface="Times New Roman" pitchFamily="18" charset="0"/>
              </a:rPr>
              <a:t> ý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Cylinder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stroke </a:t>
            </a:r>
            <a:r>
              <a:rPr lang="en-US" altLang="ko-KR" sz="950" dirty="0" err="1" smtClean="0">
                <a:latin typeface="Times New Roman" pitchFamily="18" charset="0"/>
                <a:cs typeface="Times New Roman" pitchFamily="18" charset="0"/>
              </a:rPr>
              <a:t>tối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77800" indent="-177800" eaLnBrk="1" hangingPunct="1"/>
            <a:r>
              <a:rPr lang="en-US" altLang="ko-KR" sz="950" smtClean="0">
                <a:solidFill>
                  <a:srgbClr val="FF0000"/>
                </a:solidFill>
                <a:latin typeface="Times New Roman" pitchFamily="18" charset="0"/>
                <a:cs typeface="Times New Roman" pitchFamily="18" charset="0"/>
              </a:rPr>
              <a:t>B. </a:t>
            </a:r>
            <a:r>
              <a:rPr lang="en-US" altLang="ko-KR" sz="950" dirty="0" err="1" smtClean="0">
                <a:solidFill>
                  <a:srgbClr val="FF0000"/>
                </a:solidFill>
                <a:latin typeface="Times New Roman" pitchFamily="18" charset="0"/>
                <a:cs typeface="Times New Roman" pitchFamily="18" charset="0"/>
              </a:rPr>
              <a:t>Lắp</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đặt</a:t>
            </a:r>
            <a:r>
              <a:rPr lang="en-US" altLang="ko-KR" sz="950" dirty="0" smtClean="0">
                <a:solidFill>
                  <a:srgbClr val="FF0000"/>
                </a:solidFill>
                <a:latin typeface="Times New Roman" pitchFamily="18" charset="0"/>
                <a:cs typeface="Times New Roman" pitchFamily="18" charset="0"/>
              </a:rPr>
              <a:t> Speed controller </a:t>
            </a:r>
            <a:r>
              <a:rPr lang="en-US" altLang="ko-KR" sz="950" dirty="0" err="1" smtClean="0">
                <a:solidFill>
                  <a:srgbClr val="FF0000"/>
                </a:solidFill>
                <a:latin typeface="Times New Roman" pitchFamily="18" charset="0"/>
                <a:cs typeface="Times New Roman" pitchFamily="18" charset="0"/>
              </a:rPr>
              <a:t>để</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điều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chỉnh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tốc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độ</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hoạt</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động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của</a:t>
            </a:r>
            <a:r>
              <a:rPr lang="en-US" altLang="ko-KR" sz="950" dirty="0" smtClean="0">
                <a:solidFill>
                  <a:srgbClr val="FF0000"/>
                </a:solidFill>
                <a:latin typeface="Times New Roman" pitchFamily="18" charset="0"/>
                <a:cs typeface="Times New Roman" pitchFamily="18" charset="0"/>
              </a:rPr>
              <a:t> cylinder </a:t>
            </a:r>
            <a:r>
              <a:rPr lang="en-US" altLang="ko-KR" sz="950" dirty="0" err="1" smtClean="0">
                <a:solidFill>
                  <a:srgbClr val="FF0000"/>
                </a:solidFill>
                <a:latin typeface="Times New Roman" pitchFamily="18" charset="0"/>
                <a:cs typeface="Times New Roman" pitchFamily="18" charset="0"/>
              </a:rPr>
              <a:t>từ</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tốc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độ</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cao</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về</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tốc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độ</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được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quy</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định</a:t>
            </a:r>
            <a:endParaRPr lang="ko-KR" altLang="en-US" sz="950" dirty="0">
              <a:solidFill>
                <a:srgbClr val="FF0000"/>
              </a:solidFill>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pitting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phạm</a:t>
            </a:r>
            <a:r>
              <a:rPr lang="en-US" altLang="ko-KR" sz="950" dirty="0" smtClean="0">
                <a:latin typeface="Times New Roman" pitchFamily="18" charset="0"/>
                <a:cs typeface="Times New Roman" pitchFamily="18" charset="0"/>
              </a:rPr>
              <a:t> vi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sinh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hại</a:t>
            </a:r>
            <a:r>
              <a:rPr lang="en-US" altLang="ko-KR" sz="950" dirty="0" smtClean="0">
                <a:latin typeface="Times New Roman" pitchFamily="18" charset="0"/>
                <a:cs typeface="Times New Roman" pitchFamily="18" charset="0"/>
              </a:rPr>
              <a:t> do </a:t>
            </a:r>
            <a:r>
              <a:rPr lang="en-US" altLang="ko-KR" sz="950" dirty="0" err="1" smtClean="0">
                <a:latin typeface="Times New Roman" pitchFamily="18" charset="0"/>
                <a:cs typeface="Times New Roman" pitchFamily="18" charset="0"/>
              </a:rPr>
              <a:t>va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chạm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mép</a:t>
            </a:r>
            <a:r>
              <a:rPr lang="en-US" altLang="ko-KR" sz="950" dirty="0" smtClean="0">
                <a:latin typeface="Times New Roman" pitchFamily="18" charset="0"/>
                <a:cs typeface="Times New Roman" pitchFamily="18" charset="0"/>
              </a:rPr>
              <a:t> stroke</a:t>
            </a:r>
            <a:endParaRPr lang="ko-KR" altLang="en-US"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Cylinder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stroke </a:t>
            </a:r>
            <a:r>
              <a:rPr lang="en-US" altLang="ko-KR" sz="950" dirty="0" err="1" smtClean="0">
                <a:latin typeface="Times New Roman" pitchFamily="18" charset="0"/>
                <a:cs typeface="Times New Roman" pitchFamily="18" charset="0"/>
              </a:rPr>
              <a:t>dài</a:t>
            </a:r>
            <a:r>
              <a:rPr lang="en-US" altLang="ko-KR" sz="950" dirty="0" smtClean="0">
                <a:latin typeface="Times New Roman" pitchFamily="18" charset="0"/>
                <a:cs typeface="Times New Roman" pitchFamily="18" charset="0"/>
              </a:rPr>
              <a:t>, do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trượt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lớn</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bởi</a:t>
            </a:r>
            <a:r>
              <a:rPr lang="en-US" altLang="ko-KR" sz="950" smtClean="0">
                <a:latin typeface="Times New Roman" pitchFamily="18" charset="0"/>
                <a:cs typeface="Times New Roman" pitchFamily="18" charset="0"/>
              </a:rPr>
              <a:t> piston </a:t>
            </a:r>
            <a:r>
              <a:rPr lang="en-US" altLang="ko-KR" sz="950" dirty="0" smtClean="0">
                <a:latin typeface="Times New Roman" pitchFamily="18" charset="0"/>
                <a:cs typeface="Times New Roman" pitchFamily="18" charset="0"/>
              </a:rPr>
              <a:t>rod </a:t>
            </a:r>
            <a:r>
              <a:rPr lang="en-US" altLang="ko-KR" sz="950" dirty="0" err="1" smtClean="0">
                <a:latin typeface="Times New Roman" pitchFamily="18" charset="0"/>
                <a:cs typeface="Times New Roman" pitchFamily="18" charset="0"/>
              </a:rPr>
              <a:t>nghiêng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cân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nhắc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lắp</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đặt</a:t>
            </a:r>
            <a:r>
              <a:rPr lang="en-US" altLang="ko-KR" sz="950" smtClean="0">
                <a:latin typeface="Times New Roman" pitchFamily="18" charset="0"/>
                <a:cs typeface="Times New Roman" pitchFamily="18" charset="0"/>
              </a:rPr>
              <a:t> dẫn hướng </a:t>
            </a:r>
            <a:r>
              <a:rPr lang="en-US" altLang="ko-KR" sz="950" dirty="0" err="1" smtClean="0">
                <a:latin typeface="Times New Roman" pitchFamily="18" charset="0"/>
                <a:cs typeface="Times New Roman" pitchFamily="18" charset="0"/>
              </a:rPr>
              <a:t>rồi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endParaRPr lang="ko-KR" altLang="en-US" sz="950" dirty="0">
              <a:latin typeface="Times New Roman" pitchFamily="18" charset="0"/>
              <a:cs typeface="Times New Roman" pitchFamily="18" charset="0"/>
            </a:endParaRPr>
          </a:p>
        </p:txBody>
      </p:sp>
      <p:sp>
        <p:nvSpPr>
          <p:cNvPr id="40" name="Rectangle 21"/>
          <p:cNvSpPr>
            <a:spLocks noChangeArrowheads="1"/>
          </p:cNvSpPr>
          <p:nvPr/>
        </p:nvSpPr>
        <p:spPr bwMode="auto">
          <a:xfrm>
            <a:off x="3441700" y="1064568"/>
            <a:ext cx="326822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6</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sai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lanh</a:t>
            </a:r>
            <a:r>
              <a:rPr lang="en-US" altLang="ko-KR" sz="950" dirty="0" smtClean="0">
                <a:latin typeface="Times New Roman" pitchFamily="18" charset="0"/>
                <a:cs typeface="Times New Roman" pitchFamily="18" charset="0"/>
              </a:rPr>
              <a:t> quay (rotary actuator)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14300" indent="-114300"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góc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270~300℃.</a:t>
            </a:r>
            <a:endParaRPr lang="en-US" altLang="ko-KR"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kép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góc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a:t>
            </a:r>
            <a:r>
              <a:rPr lang="ko-KR" altLang="en-US" sz="950" dirty="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90~120</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 3 </a:t>
            </a:r>
            <a:r>
              <a:rPr lang="en-US" altLang="ko-KR" sz="950" dirty="0" err="1" smtClean="0">
                <a:latin typeface="Times New Roman" pitchFamily="18" charset="0"/>
                <a:cs typeface="Times New Roman" pitchFamily="18" charset="0"/>
              </a:rPr>
              <a:t>lớp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góc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60℃</a:t>
            </a:r>
            <a:endParaRPr lang="ko-KR" altLang="en-US"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D.</a:t>
            </a:r>
            <a:r>
              <a:rPr lang="ko-KR" altLang="en-US" sz="95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Xy</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lanh</a:t>
            </a:r>
            <a:r>
              <a:rPr lang="en-US" altLang="ko-KR" sz="950" dirty="0" smtClean="0">
                <a:solidFill>
                  <a:srgbClr val="FF0000"/>
                </a:solidFill>
                <a:latin typeface="Times New Roman" pitchFamily="18" charset="0"/>
                <a:cs typeface="Times New Roman" pitchFamily="18" charset="0"/>
              </a:rPr>
              <a:t> quay </a:t>
            </a:r>
            <a:r>
              <a:rPr lang="en-US" altLang="ko-KR" sz="950" dirty="0" err="1" smtClean="0">
                <a:solidFill>
                  <a:srgbClr val="FF0000"/>
                </a:solidFill>
                <a:latin typeface="Times New Roman" pitchFamily="18" charset="0"/>
                <a:cs typeface="Times New Roman" pitchFamily="18" charset="0"/>
              </a:rPr>
              <a:t>dạng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cánh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quạt</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không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có</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dò</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khí</a:t>
            </a:r>
            <a:r>
              <a:rPr lang="en-US" altLang="ko-KR" sz="950" dirty="0" smtClean="0">
                <a:solidFill>
                  <a:srgbClr val="FF0000"/>
                </a:solidFill>
                <a:latin typeface="Times New Roman" pitchFamily="18" charset="0"/>
                <a:cs typeface="Times New Roman" pitchFamily="18" charset="0"/>
              </a:rPr>
              <a:t>.</a:t>
            </a:r>
            <a:endParaRPr lang="en-US" altLang="ko-KR" sz="950" dirty="0">
              <a:solidFill>
                <a:srgbClr val="FF0000"/>
              </a:solidFill>
              <a:latin typeface="Times New Roman" pitchFamily="18" charset="0"/>
              <a:cs typeface="Times New Roman" pitchFamily="18" charset="0"/>
            </a:endParaRPr>
          </a:p>
        </p:txBody>
      </p:sp>
      <p:sp>
        <p:nvSpPr>
          <p:cNvPr id="47" name="Rectangle 25"/>
          <p:cNvSpPr>
            <a:spLocks noChangeArrowheads="1"/>
          </p:cNvSpPr>
          <p:nvPr/>
        </p:nvSpPr>
        <p:spPr bwMode="auto">
          <a:xfrm>
            <a:off x="3403426" y="2864768"/>
            <a:ext cx="3293794"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7.Trong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thứ</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tự</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hoạt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a:t>
            </a: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 </a:t>
            </a:r>
            <a:r>
              <a:rPr lang="en-US" altLang="ko-KR" sz="950" dirty="0" smtClean="0">
                <a:latin typeface="Times New Roman" pitchFamily="18" charset="0"/>
                <a:cs typeface="Times New Roman" pitchFamily="18" charset="0"/>
              </a:rPr>
              <a:t>Valve </a:t>
            </a:r>
            <a:r>
              <a:rPr lang="en-US" altLang="ko-KR" sz="950" dirty="0" err="1" smtClean="0">
                <a:latin typeface="Times New Roman" pitchFamily="18" charset="0"/>
                <a:cs typeface="Times New Roman" pitchFamily="18" charset="0"/>
              </a:rPr>
              <a:t>giảm</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áp</a:t>
            </a:r>
            <a:r>
              <a:rPr lang="en-US" altLang="ko-KR" sz="950" smtClean="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Torque valve </a:t>
            </a:r>
            <a:r>
              <a:rPr lang="ko-KR" altLang="en-US" sz="950" dirty="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 C.</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Valve </a:t>
            </a:r>
            <a:r>
              <a:rPr lang="en-US" altLang="ko-KR" sz="950" dirty="0" err="1" smtClean="0">
                <a:latin typeface="Times New Roman" pitchFamily="18" charset="0"/>
                <a:cs typeface="Times New Roman" pitchFamily="18" charset="0"/>
              </a:rPr>
              <a:t>giảm</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áp</a:t>
            </a:r>
            <a:r>
              <a:rPr lang="ko-KR" altLang="en-US" sz="950" smtClean="0">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D.</a:t>
            </a:r>
            <a:r>
              <a:rPr lang="ko-KR" altLang="en-US" sz="950" smtClean="0">
                <a:solidFill>
                  <a:srgbClr val="FF0000"/>
                </a:solidFill>
                <a:latin typeface="Times New Roman" pitchFamily="18" charset="0"/>
                <a:cs typeface="Times New Roman" pitchFamily="18" charset="0"/>
              </a:rPr>
              <a:t> </a:t>
            </a:r>
            <a:r>
              <a:rPr lang="en-US" altLang="ko-KR" sz="950" dirty="0" smtClean="0">
                <a:solidFill>
                  <a:srgbClr val="FF0000"/>
                </a:solidFill>
                <a:latin typeface="Times New Roman" pitchFamily="18" charset="0"/>
                <a:cs typeface="Times New Roman" pitchFamily="18" charset="0"/>
              </a:rPr>
              <a:t>Valve </a:t>
            </a:r>
            <a:r>
              <a:rPr lang="en-US" altLang="ko-KR" sz="950" dirty="0" err="1" smtClean="0">
                <a:solidFill>
                  <a:srgbClr val="FF0000"/>
                </a:solidFill>
                <a:latin typeface="Times New Roman" pitchFamily="18" charset="0"/>
                <a:cs typeface="Times New Roman" pitchFamily="18" charset="0"/>
              </a:rPr>
              <a:t>tuần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tự</a:t>
            </a:r>
            <a:r>
              <a:rPr lang="en-US" altLang="ko-KR" sz="950" dirty="0" smtClean="0">
                <a:solidFill>
                  <a:srgbClr val="FF0000"/>
                </a:solidFill>
                <a:latin typeface="Times New Roman" pitchFamily="18" charset="0"/>
                <a:cs typeface="Times New Roman" pitchFamily="18" charset="0"/>
              </a:rPr>
              <a:t> </a:t>
            </a:r>
            <a:endParaRPr lang="ko-KR" altLang="en-US" sz="950" dirty="0">
              <a:solidFill>
                <a:srgbClr val="FF0000"/>
              </a:solidFill>
              <a:latin typeface="Times New Roman" pitchFamily="18" charset="0"/>
              <a:cs typeface="Times New Roman" pitchFamily="18" charset="0"/>
            </a:endParaRPr>
          </a:p>
        </p:txBody>
      </p:sp>
      <p:grpSp>
        <p:nvGrpSpPr>
          <p:cNvPr id="48" name="Group 47"/>
          <p:cNvGrpSpPr/>
          <p:nvPr/>
        </p:nvGrpSpPr>
        <p:grpSpPr>
          <a:xfrm>
            <a:off x="3419520" y="4415552"/>
            <a:ext cx="3124200" cy="969496"/>
            <a:chOff x="260350" y="7164388"/>
            <a:chExt cx="3124200" cy="969496"/>
          </a:xfrm>
        </p:grpSpPr>
        <p:grpSp>
          <p:nvGrpSpPr>
            <p:cNvPr id="49" name="Group 62"/>
            <p:cNvGrpSpPr>
              <a:grpSpLocks/>
            </p:cNvGrpSpPr>
            <p:nvPr/>
          </p:nvGrpSpPr>
          <p:grpSpPr bwMode="auto">
            <a:xfrm>
              <a:off x="1924050" y="7164389"/>
              <a:ext cx="1452689" cy="936625"/>
              <a:chOff x="621" y="2069"/>
              <a:chExt cx="1270" cy="696"/>
            </a:xfrm>
          </p:grpSpPr>
          <p:pic>
            <p:nvPicPr>
              <p:cNvPr id="51" name="Picture 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 y="2069"/>
                <a:ext cx="909" cy="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Text Box 64"/>
              <p:cNvSpPr txBox="1">
                <a:spLocks noChangeArrowheads="1"/>
              </p:cNvSpPr>
              <p:nvPr/>
            </p:nvSpPr>
            <p:spPr bwMode="auto">
              <a:xfrm>
                <a:off x="1148" y="2182"/>
                <a:ext cx="74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err="1" smtClean="0">
                    <a:latin typeface="Times New Roman" pitchFamily="18" charset="0"/>
                    <a:cs typeface="Times New Roman" pitchFamily="18" charset="0"/>
                  </a:rPr>
                  <a:t>Chất</a:t>
                </a:r>
                <a:r>
                  <a:rPr lang="en-US" altLang="ko-KR" sz="950" smtClean="0">
                    <a:latin typeface="Times New Roman" pitchFamily="18" charset="0"/>
                    <a:cs typeface="Times New Roman" pitchFamily="18" charset="0"/>
                  </a:rPr>
                  <a:t> cách </a:t>
                </a:r>
                <a:r>
                  <a:rPr lang="en-US" altLang="ko-KR" sz="950" dirty="0" err="1" smtClean="0">
                    <a:latin typeface="Times New Roman" pitchFamily="18" charset="0"/>
                    <a:cs typeface="Times New Roman" pitchFamily="18" charset="0"/>
                  </a:rPr>
                  <a:t>âm</a:t>
                </a:r>
                <a:endParaRPr lang="ko-KR" altLang="en-US" sz="950" dirty="0">
                  <a:latin typeface="Times New Roman" pitchFamily="18" charset="0"/>
                  <a:cs typeface="Times New Roman" pitchFamily="18" charset="0"/>
                </a:endParaRPr>
              </a:p>
            </p:txBody>
          </p:sp>
          <p:sp>
            <p:nvSpPr>
              <p:cNvPr id="53" name="Text Box 65"/>
              <p:cNvSpPr txBox="1">
                <a:spLocks noChangeArrowheads="1"/>
              </p:cNvSpPr>
              <p:nvPr/>
            </p:nvSpPr>
            <p:spPr bwMode="auto">
              <a:xfrm>
                <a:off x="1268" y="2294"/>
                <a:ext cx="449"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smtClean="0">
                    <a:latin typeface="Times New Roman" pitchFamily="18" charset="0"/>
                    <a:cs typeface="Times New Roman" pitchFamily="18" charset="0"/>
                  </a:rPr>
                  <a:t>Cover </a:t>
                </a:r>
                <a:endParaRPr lang="ko-KR" altLang="en-US" sz="950" dirty="0">
                  <a:latin typeface="Times New Roman" pitchFamily="18" charset="0"/>
                  <a:cs typeface="Times New Roman" pitchFamily="18" charset="0"/>
                </a:endParaRPr>
              </a:p>
            </p:txBody>
          </p:sp>
          <p:sp>
            <p:nvSpPr>
              <p:cNvPr id="54" name="Text Box 66"/>
              <p:cNvSpPr txBox="1">
                <a:spLocks noChangeArrowheads="1"/>
              </p:cNvSpPr>
              <p:nvPr/>
            </p:nvSpPr>
            <p:spPr bwMode="auto">
              <a:xfrm>
                <a:off x="1314" y="2418"/>
                <a:ext cx="50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smtClean="0">
                    <a:latin typeface="Times New Roman" pitchFamily="18" charset="0"/>
                    <a:cs typeface="Times New Roman" pitchFamily="18" charset="0"/>
                  </a:rPr>
                  <a:t>End cap</a:t>
                </a:r>
                <a:endParaRPr lang="ko-KR" altLang="en-US" sz="950" dirty="0">
                  <a:latin typeface="Times New Roman" pitchFamily="18" charset="0"/>
                  <a:cs typeface="Times New Roman" pitchFamily="18" charset="0"/>
                </a:endParaRPr>
              </a:p>
            </p:txBody>
          </p:sp>
        </p:grpSp>
        <p:sp>
          <p:nvSpPr>
            <p:cNvPr id="50" name="Rectangle 67"/>
            <p:cNvSpPr>
              <a:spLocks noChangeArrowheads="1"/>
            </p:cNvSpPr>
            <p:nvPr/>
          </p:nvSpPr>
          <p:spPr bwMode="auto">
            <a:xfrm>
              <a:off x="260350" y="7164388"/>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8</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Hình ống giảm thanh </a:t>
              </a:r>
              <a:r>
                <a:rPr lang="en-US" altLang="ko-KR" sz="950" dirty="0" err="1" smtClean="0">
                  <a:latin typeface="Times New Roman" pitchFamily="18" charset="0"/>
                  <a:cs typeface="Times New Roman" pitchFamily="18" charset="0"/>
                </a:rPr>
                <a:t>sau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gì</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endParaRPr lang="en-US" altLang="ko-KR" sz="950" smtClean="0">
                <a:solidFill>
                  <a:srgbClr val="FF0000"/>
                </a:solidFill>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  </a:t>
              </a:r>
              <a:r>
                <a:rPr lang="en-US" altLang="ko-KR" sz="950" dirty="0" err="1" smtClean="0">
                  <a:solidFill>
                    <a:srgbClr val="FF0000"/>
                  </a:solidFill>
                  <a:latin typeface="Times New Roman" pitchFamily="18" charset="0"/>
                  <a:cs typeface="Times New Roman" pitchFamily="18" charset="0"/>
                </a:rPr>
                <a:t>G</a:t>
              </a:r>
              <a:r>
                <a:rPr lang="en-US" altLang="ko-KR" sz="950" smtClean="0">
                  <a:solidFill>
                    <a:srgbClr val="FF0000"/>
                  </a:solidFill>
                  <a:latin typeface="Times New Roman" pitchFamily="18" charset="0"/>
                  <a:cs typeface="Times New Roman" pitchFamily="18" charset="0"/>
                </a:rPr>
                <a:t>iảm </a:t>
              </a:r>
              <a:r>
                <a:rPr lang="en-US" altLang="ko-KR" sz="950" dirty="0" err="1" smtClean="0">
                  <a:solidFill>
                    <a:srgbClr val="FF0000"/>
                  </a:solidFill>
                  <a:latin typeface="Times New Roman" pitchFamily="18" charset="0"/>
                  <a:cs typeface="Times New Roman" pitchFamily="18" charset="0"/>
                </a:rPr>
                <a:t>thanh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kháng</a:t>
              </a:r>
              <a:r>
                <a:rPr lang="ko-KR" altLang="en-US" sz="950" dirty="0" smtClean="0">
                  <a:solidFill>
                    <a:srgbClr val="FF0000"/>
                  </a:solidFill>
                  <a:latin typeface="Times New Roman" pitchFamily="18" charset="0"/>
                  <a:cs typeface="Times New Roman" pitchFamily="18" charset="0"/>
                </a:rPr>
                <a:t>   </a:t>
              </a:r>
              <a:endParaRPr lang="ko-KR" altLang="en-US" sz="950" dirty="0">
                <a:solidFill>
                  <a:srgbClr val="FF0000"/>
                </a:solidFill>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 Giảm </a:t>
              </a:r>
              <a:r>
                <a:rPr lang="en-US" altLang="ko-KR" sz="950" dirty="0" err="1" smtClean="0">
                  <a:latin typeface="Times New Roman" pitchFamily="18" charset="0"/>
                  <a:cs typeface="Times New Roman" pitchFamily="18" charset="0"/>
                </a:rPr>
                <a:t>thanh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ứng</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G</a:t>
              </a:r>
              <a:r>
                <a:rPr lang="en-US" altLang="ko-KR" sz="950" smtClean="0">
                  <a:latin typeface="Times New Roman" pitchFamily="18" charset="0"/>
                  <a:cs typeface="Times New Roman" pitchFamily="18" charset="0"/>
                </a:rPr>
                <a:t>iảm </a:t>
              </a:r>
              <a:r>
                <a:rPr lang="en-US" altLang="ko-KR" sz="950" dirty="0" err="1" smtClean="0">
                  <a:latin typeface="Times New Roman" pitchFamily="18" charset="0"/>
                  <a:cs typeface="Times New Roman" pitchFamily="18" charset="0"/>
                </a:rPr>
                <a:t>âm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đích</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G</a:t>
              </a:r>
              <a:r>
                <a:rPr lang="en-US" altLang="ko-KR" sz="950" smtClean="0">
                  <a:latin typeface="Times New Roman" pitchFamily="18" charset="0"/>
                  <a:cs typeface="Times New Roman" pitchFamily="18" charset="0"/>
                </a:rPr>
                <a:t>iảm </a:t>
              </a:r>
              <a:r>
                <a:rPr lang="en-US" altLang="ko-KR" sz="950" dirty="0" err="1" smtClean="0">
                  <a:latin typeface="Times New Roman" pitchFamily="18" charset="0"/>
                  <a:cs typeface="Times New Roman" pitchFamily="18" charset="0"/>
                </a:rPr>
                <a:t>thanh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endParaRPr lang="ko-KR" altLang="en-US" sz="950" dirty="0">
                <a:latin typeface="Times New Roman" pitchFamily="18" charset="0"/>
                <a:cs typeface="Times New Roman" pitchFamily="18" charset="0"/>
              </a:endParaRPr>
            </a:p>
          </p:txBody>
        </p:sp>
      </p:grpSp>
      <p:sp>
        <p:nvSpPr>
          <p:cNvPr id="55" name="Rectangle 14"/>
          <p:cNvSpPr>
            <a:spLocks noChangeArrowheads="1"/>
          </p:cNvSpPr>
          <p:nvPr/>
        </p:nvSpPr>
        <p:spPr bwMode="auto">
          <a:xfrm>
            <a:off x="3433490" y="6220108"/>
            <a:ext cx="327643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9</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counter?</a:t>
            </a:r>
            <a:endParaRPr lang="en-US" altLang="ko-KR"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 </a:t>
            </a:r>
          </a:p>
          <a:p>
            <a:pPr eaLnBrk="1" hangingPunct="1"/>
            <a:r>
              <a:rPr lang="en-US" altLang="ko-KR" sz="950" smtClean="0">
                <a:solidFill>
                  <a:srgbClr val="FF0000"/>
                </a:solidFill>
                <a:latin typeface="Times New Roman" pitchFamily="18" charset="0"/>
                <a:cs typeface="Times New Roman" pitchFamily="18" charset="0"/>
              </a:rPr>
              <a:t>A. </a:t>
            </a:r>
            <a:r>
              <a:rPr lang="en-US" altLang="ko-KR" sz="950" dirty="0" err="1" smtClean="0">
                <a:solidFill>
                  <a:srgbClr val="FF0000"/>
                </a:solidFill>
                <a:latin typeface="Times New Roman" pitchFamily="18" charset="0"/>
                <a:cs typeface="Times New Roman" pitchFamily="18" charset="0"/>
              </a:rPr>
              <a:t>Có</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tịnh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năng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bộ</a:t>
            </a:r>
            <a:r>
              <a:rPr lang="en-US" altLang="ko-KR" sz="950" dirty="0" smtClean="0">
                <a:solidFill>
                  <a:srgbClr val="FF0000"/>
                </a:solidFill>
                <a:latin typeface="Times New Roman" pitchFamily="18" charset="0"/>
                <a:cs typeface="Times New Roman" pitchFamily="18" charset="0"/>
              </a:rPr>
              <a:t> </a:t>
            </a:r>
            <a:r>
              <a:rPr lang="en-US" altLang="ko-KR" sz="950" err="1" smtClean="0">
                <a:solidFill>
                  <a:srgbClr val="FF0000"/>
                </a:solidFill>
                <a:latin typeface="Times New Roman" pitchFamily="18" charset="0"/>
                <a:cs typeface="Times New Roman" pitchFamily="18" charset="0"/>
              </a:rPr>
              <a:t>nhớ</a:t>
            </a:r>
            <a:r>
              <a:rPr lang="ko-KR" altLang="en-US" sz="950" smtClean="0">
                <a:solidFill>
                  <a:srgbClr val="FF000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Preset</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batch </a:t>
            </a:r>
            <a:r>
              <a:rPr lang="en-US" altLang="ko-KR" sz="950" smtClean="0">
                <a:latin typeface="Times New Roman" pitchFamily="18" charset="0"/>
                <a:cs typeface="Times New Roman" pitchFamily="18" charset="0"/>
              </a:rPr>
              <a:t>counter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Pre Scale </a:t>
            </a:r>
            <a:endParaRPr lang="ko-KR" altLang="en-US" sz="950" dirty="0">
              <a:latin typeface="Times New Roman" pitchFamily="18" charset="0"/>
              <a:cs typeface="Times New Roman" pitchFamily="18" charset="0"/>
            </a:endParaRPr>
          </a:p>
        </p:txBody>
      </p:sp>
      <p:sp>
        <p:nvSpPr>
          <p:cNvPr id="56" name="Rectangle 49"/>
          <p:cNvSpPr>
            <a:spLocks noChangeArrowheads="1"/>
          </p:cNvSpPr>
          <p:nvPr/>
        </p:nvSpPr>
        <p:spPr bwMode="auto">
          <a:xfrm>
            <a:off x="3429000" y="7503184"/>
            <a:ext cx="328092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6</a:t>
            </a:r>
            <a:r>
              <a:rPr lang="en-US" altLang="ko-KR" sz="950" smtClean="0">
                <a:latin typeface="Times New Roman" pitchFamily="18" charset="0"/>
                <a:cs typeface="Times New Roman" pitchFamily="18" charset="0"/>
              </a:rPr>
              <a:t>0</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valve </a:t>
            </a:r>
            <a:r>
              <a:rPr lang="en-US" altLang="ko-KR" sz="950" err="1" smtClean="0">
                <a:latin typeface="Times New Roman" pitchFamily="18" charset="0"/>
                <a:cs typeface="Times New Roman" pitchFamily="18" charset="0"/>
              </a:rPr>
              <a:t>dạng</a:t>
            </a:r>
            <a:r>
              <a:rPr lang="en-US" altLang="ko-KR" sz="950" smtClean="0">
                <a:latin typeface="Times New Roman" pitchFamily="18" charset="0"/>
                <a:cs typeface="Times New Roman" pitchFamily="18" charset="0"/>
              </a:rPr>
              <a:t> Pofit? </a:t>
            </a:r>
            <a:endParaRPr lang="en-US" altLang="ko-KR" sz="950" dirty="0">
              <a:latin typeface="Times New Roman" pitchFamily="18" charset="0"/>
              <a:cs typeface="Times New Roman" pitchFamily="18" charset="0"/>
            </a:endParaRPr>
          </a:p>
          <a:p>
            <a:pPr marL="177800" indent="-177800" eaLnBrk="1" hangingPunct="1"/>
            <a:endParaRPr lang="en-US" altLang="ko-KR" sz="950" smtClean="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Hiệu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dù</a:t>
            </a:r>
            <a:r>
              <a:rPr lang="en-US" altLang="ko-KR" sz="950" dirty="0" smtClean="0">
                <a:latin typeface="Times New Roman" pitchFamily="18" charset="0"/>
                <a:cs typeface="Times New Roman" pitchFamily="18" charset="0"/>
              </a:rPr>
              <a:t> Spring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hại</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cũng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đóng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nhờ</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lỏng</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chỉnh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lưu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lượng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phù</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hole </a:t>
            </a:r>
            <a:r>
              <a:rPr lang="en-US" altLang="ko-KR" sz="950" dirty="0" err="1" smtClean="0">
                <a:latin typeface="Times New Roman" pitchFamily="18" charset="0"/>
                <a:cs typeface="Times New Roman" pitchFamily="18" charset="0"/>
              </a:rPr>
              <a:t>lớn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77800" indent="-177800" eaLnBrk="1" hangingPunct="1"/>
            <a:r>
              <a:rPr lang="en-US" altLang="ko-KR" sz="950" smtClean="0">
                <a:solidFill>
                  <a:srgbClr val="FF0000"/>
                </a:solidFill>
                <a:latin typeface="Times New Roman" pitchFamily="18" charset="0"/>
                <a:cs typeface="Times New Roman" pitchFamily="18" charset="0"/>
              </a:rPr>
              <a:t>C. </a:t>
            </a:r>
            <a:r>
              <a:rPr lang="en-US" altLang="ko-KR" sz="950" dirty="0" err="1" smtClean="0">
                <a:solidFill>
                  <a:srgbClr val="FF0000"/>
                </a:solidFill>
                <a:latin typeface="Times New Roman" pitchFamily="18" charset="0"/>
                <a:cs typeface="Times New Roman" pitchFamily="18" charset="0"/>
              </a:rPr>
              <a:t>Khả</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năng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điều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chỉnh</a:t>
            </a:r>
            <a:r>
              <a:rPr lang="en-US" altLang="ko-KR" sz="950" dirty="0" smtClean="0">
                <a:solidFill>
                  <a:srgbClr val="FF0000"/>
                </a:solidFill>
                <a:latin typeface="Times New Roman" pitchFamily="18" charset="0"/>
                <a:cs typeface="Times New Roman" pitchFamily="18" charset="0"/>
              </a:rPr>
              <a:t> Valve </a:t>
            </a:r>
            <a:r>
              <a:rPr lang="en-US" altLang="ko-KR" sz="950" dirty="0" err="1" smtClean="0">
                <a:solidFill>
                  <a:srgbClr val="FF0000"/>
                </a:solidFill>
                <a:latin typeface="Times New Roman" pitchFamily="18" charset="0"/>
                <a:cs typeface="Times New Roman" pitchFamily="18" charset="0"/>
              </a:rPr>
              <a:t>phải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nhỏ</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hơn</a:t>
            </a:r>
            <a:r>
              <a:rPr lang="en-US" altLang="ko-KR" sz="950" dirty="0" smtClean="0">
                <a:solidFill>
                  <a:srgbClr val="FF0000"/>
                </a:solidFill>
                <a:latin typeface="Times New Roman" pitchFamily="18" charset="0"/>
                <a:cs typeface="Times New Roman" pitchFamily="18" charset="0"/>
              </a:rPr>
              <a:t> so </a:t>
            </a:r>
            <a:r>
              <a:rPr lang="en-US" altLang="ko-KR" sz="950" dirty="0" err="1" smtClean="0">
                <a:solidFill>
                  <a:srgbClr val="FF0000"/>
                </a:solidFill>
                <a:latin typeface="Times New Roman" pitchFamily="18" charset="0"/>
                <a:cs typeface="Times New Roman" pitchFamily="18" charset="0"/>
              </a:rPr>
              <a:t>với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áp</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lực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chất</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lỏng</a:t>
            </a:r>
            <a:r>
              <a:rPr lang="en-US" altLang="ko-KR" sz="950" dirty="0" smtClean="0">
                <a:solidFill>
                  <a:srgbClr val="FF0000"/>
                </a:solidFill>
                <a:latin typeface="Times New Roman" pitchFamily="18" charset="0"/>
                <a:cs typeface="Times New Roman" pitchFamily="18" charset="0"/>
              </a:rPr>
              <a:t>.</a:t>
            </a:r>
            <a:endParaRPr lang="en-US" altLang="ko-KR" sz="950" dirty="0">
              <a:solidFill>
                <a:srgbClr val="FF0000"/>
              </a:solidFill>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Quãng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dichuyển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hành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ngắn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đóng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nhanh</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Tree>
    <p:extLst>
      <p:ext uri="{BB962C8B-B14F-4D97-AF65-F5344CB8AC3E}">
        <p14:creationId xmlns:p14="http://schemas.microsoft.com/office/powerpoint/2010/main" val="211727869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solidFill>
                  <a:srgbClr val="000000"/>
                </a:solidFill>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solidFill>
                  <a:srgbClr val="000000"/>
                </a:solidFill>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p:txBody>
      </p:sp>
      <p:sp>
        <p:nvSpPr>
          <p:cNvPr id="32" name="Rectangle 7"/>
          <p:cNvSpPr>
            <a:spLocks noChangeArrowheads="1"/>
          </p:cNvSpPr>
          <p:nvPr/>
        </p:nvSpPr>
        <p:spPr bwMode="auto">
          <a:xfrm>
            <a:off x="188640" y="12085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Mặt tiếp xúc nào có khả năng xoay tròn của 2 linh kiện </a:t>
            </a:r>
            <a:r>
              <a:rPr lang="vi-VN" altLang="ko-KR" sz="950" smtClean="0">
                <a:latin typeface="Times New Roman" pitchFamily="18" charset="0"/>
                <a:ea typeface="LG Smart_H Regular" panose="020B0600000101010101" pitchFamily="34" charset="-127"/>
                <a:cs typeface="Times New Roman" pitchFamily="18" charset="0"/>
              </a:rPr>
              <a:t>máy?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Mặt tiếp xúc xoắn </a:t>
            </a:r>
            <a:r>
              <a:rPr lang="en-US" altLang="ko-KR" sz="950" smtClean="0">
                <a:latin typeface="Times New Roman" pitchFamily="18" charset="0"/>
                <a:ea typeface="LG Smart_H Regular" panose="020B0600000101010101" pitchFamily="34" charset="-127"/>
                <a:cs typeface="Times New Roman" pitchFamily="18" charset="0"/>
              </a:rPr>
              <a:t>ốc</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Mặt tiếp xúc </a:t>
            </a:r>
            <a:r>
              <a:rPr lang="en-US" altLang="ko-KR" sz="950" smtClean="0">
                <a:latin typeface="Times New Roman" pitchFamily="18" charset="0"/>
                <a:ea typeface="LG Smart_H Regular" panose="020B0600000101010101" pitchFamily="34" charset="-127"/>
                <a:cs typeface="Times New Roman" pitchFamily="18" charset="0"/>
              </a:rPr>
              <a:t>xoay</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Mặt tiếp xúc tròn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Mặt tiếp xúc trượt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37" name="Rectangle 7"/>
          <p:cNvSpPr>
            <a:spLocks noChangeArrowheads="1"/>
          </p:cNvSpPr>
          <p:nvPr/>
        </p:nvSpPr>
        <p:spPr bwMode="auto">
          <a:xfrm>
            <a:off x="184150" y="2608613"/>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Thép nào mà việc tăng hàm lượng tác động đến việc tăng độ cứng, độ bền hay là giảm tỷ lệ giãn dài, tỷ lệ co lại của </a:t>
            </a:r>
            <a:r>
              <a:rPr lang="vi-VN" altLang="ko-KR" sz="950" smtClean="0">
                <a:latin typeface="Times New Roman" pitchFamily="18" charset="0"/>
                <a:ea typeface="LG Smart_H Regular" panose="020B0600000101010101" pitchFamily="34" charset="-127"/>
                <a:cs typeface="Times New Roman" pitchFamily="18" charset="0"/>
              </a:rPr>
              <a:t>thép?</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Thép </a:t>
            </a:r>
            <a:r>
              <a:rPr lang="vi-VN" altLang="ko-KR" sz="950" smtClean="0">
                <a:latin typeface="Times New Roman" pitchFamily="18" charset="0"/>
                <a:ea typeface="LG Smart_H Regular" panose="020B0600000101010101" pitchFamily="34" charset="-127"/>
                <a:cs typeface="Times New Roman" pitchFamily="18" charset="0"/>
              </a:rPr>
              <a:t>Molybdeum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Thép </a:t>
            </a:r>
            <a:r>
              <a:rPr lang="en-US" altLang="ko-KR" sz="950" smtClean="0">
                <a:latin typeface="Times New Roman" pitchFamily="18" charset="0"/>
                <a:ea typeface="LG Smart_H Regular" panose="020B0600000101010101" pitchFamily="34" charset="-127"/>
                <a:cs typeface="Times New Roman" pitchFamily="18" charset="0"/>
              </a:rPr>
              <a:t>Crom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Thép </a:t>
            </a:r>
            <a:r>
              <a:rPr lang="vi-VN" altLang="ko-KR" sz="950" smtClean="0">
                <a:latin typeface="Times New Roman" pitchFamily="18" charset="0"/>
                <a:ea typeface="LG Smart_H Regular" panose="020B0600000101010101" pitchFamily="34" charset="-127"/>
                <a:cs typeface="Times New Roman" pitchFamily="18" charset="0"/>
              </a:rPr>
              <a:t>Niken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Thép Cacbon</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Đâu không phải ưu điểm của </a:t>
            </a:r>
            <a:r>
              <a:rPr lang="vi-VN" altLang="ko-KR" sz="950" smtClean="0">
                <a:latin typeface="Times New Roman" pitchFamily="18" charset="0"/>
                <a:ea typeface="LG Smart_H Regular" panose="020B0600000101010101" pitchFamily="34" charset="-127"/>
                <a:cs typeface="Times New Roman" pitchFamily="18" charset="0"/>
              </a:rPr>
              <a:t>Gear?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Truyền lực chắc </a:t>
            </a:r>
            <a:r>
              <a:rPr lang="vi-VN" altLang="ko-KR" sz="950" smtClean="0">
                <a:latin typeface="Times New Roman" pitchFamily="18" charset="0"/>
                <a:ea typeface="LG Smart_H Regular" panose="020B0600000101010101" pitchFamily="34" charset="-127"/>
                <a:cs typeface="Times New Roman" pitchFamily="18" charset="0"/>
              </a:rPr>
              <a:t>chắn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Backlash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nhỏ</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Truyền động bằng tỷ lệ tốc độ vòng quay chính </a:t>
            </a:r>
            <a:r>
              <a:rPr lang="vi-VN" altLang="ko-KR" sz="950" smtClean="0">
                <a:latin typeface="Times New Roman" pitchFamily="18" charset="0"/>
                <a:ea typeface="LG Smart_H Regular" panose="020B0600000101010101" pitchFamily="34" charset="-127"/>
                <a:cs typeface="Times New Roman" pitchFamily="18" charset="0"/>
              </a:rPr>
              <a:t>xác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Kết cấu đơn giản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Bánh răng nào biến chuyển động quay thành chuyển động thẳng và ngược lại biến chuyển động thẳng thành chuyển động </a:t>
            </a:r>
            <a:r>
              <a:rPr lang="vi-VN" altLang="ko-KR" sz="950" smtClean="0">
                <a:latin typeface="Times New Roman" pitchFamily="18" charset="0"/>
                <a:ea typeface="LG Smart_H Regular" panose="020B0600000101010101" pitchFamily="34" charset="-127"/>
                <a:cs typeface="Times New Roman" pitchFamily="18" charset="0"/>
              </a:rPr>
              <a:t>quay?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Bánh răng </a:t>
            </a:r>
            <a:r>
              <a:rPr lang="vi-VN" altLang="ko-KR" sz="950" smtClean="0">
                <a:latin typeface="Times New Roman" pitchFamily="18" charset="0"/>
                <a:ea typeface="LG Smart_H Regular" panose="020B0600000101010101" pitchFamily="34" charset="-127"/>
                <a:cs typeface="Times New Roman" pitchFamily="18" charset="0"/>
              </a:rPr>
              <a:t>trụ</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Bánh răng thẳng khớp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Bánh răng </a:t>
            </a:r>
            <a:r>
              <a:rPr lang="vi-VN" altLang="ko-KR" sz="950" smtClean="0">
                <a:latin typeface="Times New Roman" pitchFamily="18" charset="0"/>
                <a:ea typeface="LG Smart_H Regular" panose="020B0600000101010101" pitchFamily="34" charset="-127"/>
                <a:cs typeface="Times New Roman" pitchFamily="18" charset="0"/>
              </a:rPr>
              <a:t>nghiêng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Bánh răng Rack</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17858" y="442887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a:t>
            </a:r>
            <a:r>
              <a:rPr lang="vi-VN" altLang="ko-KR" sz="950">
                <a:latin typeface="Times New Roman" pitchFamily="18" charset="0"/>
                <a:ea typeface="LG Smart_H Regular" panose="020B0600000101010101" pitchFamily="34" charset="-127"/>
                <a:cs typeface="Times New Roman" pitchFamily="18" charset="0"/>
              </a:rPr>
              <a:t>Chọn đáp án sai khi nói về phương thức End Cap Type của Ball </a:t>
            </a:r>
            <a:r>
              <a:rPr lang="vi-VN" altLang="ko-KR" sz="950" smtClean="0">
                <a:latin typeface="Times New Roman" pitchFamily="18" charset="0"/>
                <a:ea typeface="LG Smart_H Regular" panose="020B0600000101010101" pitchFamily="34" charset="-127"/>
                <a:cs typeface="Times New Roman" pitchFamily="18" charset="0"/>
              </a:rPr>
              <a:t>Screw?</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Phù hợp nhất với việc di chuyển với tốc độ </a:t>
            </a:r>
            <a:r>
              <a:rPr lang="vi-VN" altLang="ko-KR" sz="950" smtClean="0">
                <a:latin typeface="Times New Roman" pitchFamily="18" charset="0"/>
                <a:ea typeface="LG Smart_H Regular" panose="020B0600000101010101" pitchFamily="34" charset="-127"/>
                <a:cs typeface="Times New Roman" pitchFamily="18" charset="0"/>
              </a:rPr>
              <a:t>cao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Là loại High-lead </a:t>
            </a:r>
            <a:r>
              <a:rPr lang="en-US" altLang="ko-KR" sz="950" smtClean="0">
                <a:latin typeface="Times New Roman" pitchFamily="18" charset="0"/>
                <a:ea typeface="LG Smart_H Regular" panose="020B0600000101010101" pitchFamily="34" charset="-127"/>
                <a:cs typeface="Times New Roman" pitchFamily="18" charset="0"/>
              </a:rPr>
              <a:t>Nut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Ball có thể chuyển động liên tục không giới </a:t>
            </a:r>
            <a:r>
              <a:rPr lang="vi-VN" altLang="ko-KR" sz="950" smtClean="0">
                <a:latin typeface="Times New Roman" pitchFamily="18" charset="0"/>
                <a:ea typeface="LG Smart_H Regular" panose="020B0600000101010101" pitchFamily="34" charset="-127"/>
                <a:cs typeface="Times New Roman" pitchFamily="18" charset="0"/>
              </a:rPr>
              <a:t>hạn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Nut phổ biến đơn giản</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47" name="Rectangle 7"/>
          <p:cNvSpPr>
            <a:spLocks noChangeArrowheads="1"/>
          </p:cNvSpPr>
          <p:nvPr/>
        </p:nvSpPr>
        <p:spPr bwMode="auto">
          <a:xfrm>
            <a:off x="3409102" y="823197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Đâu không phải thành phần của </a:t>
            </a:r>
            <a:r>
              <a:rPr lang="vi-VN" altLang="ko-KR" sz="950" smtClean="0">
                <a:latin typeface="Times New Roman" pitchFamily="18" charset="0"/>
                <a:ea typeface="LG Smart_H Regular" panose="020B0600000101010101" pitchFamily="34" charset="-127"/>
                <a:cs typeface="Times New Roman" pitchFamily="18" charset="0"/>
              </a:rPr>
              <a:t>mỡ?</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Chất </a:t>
            </a:r>
            <a:r>
              <a:rPr lang="vi-VN" altLang="ko-KR" sz="950">
                <a:latin typeface="Times New Roman" pitchFamily="18" charset="0"/>
                <a:ea typeface="LG Smart_H Regular" panose="020B0600000101010101" pitchFamily="34" charset="-127"/>
                <a:cs typeface="Times New Roman" pitchFamily="18" charset="0"/>
              </a:rPr>
              <a:t>làm cô </a:t>
            </a:r>
            <a:r>
              <a:rPr lang="vi-VN" altLang="ko-KR" sz="950" smtClean="0">
                <a:latin typeface="Times New Roman" pitchFamily="18" charset="0"/>
                <a:ea typeface="LG Smart_H Regular" panose="020B0600000101010101" pitchFamily="34" charset="-127"/>
                <a:cs typeface="Times New Roman" pitchFamily="18" charset="0"/>
              </a:rPr>
              <a:t>đặc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nb-NO" altLang="ko-KR" sz="950">
                <a:latin typeface="Times New Roman" pitchFamily="18" charset="0"/>
                <a:ea typeface="LG Smart_H Regular" panose="020B0600000101010101" pitchFamily="34" charset="-127"/>
                <a:cs typeface="Times New Roman" pitchFamily="18" charset="0"/>
              </a:rPr>
              <a:t>Dầu khoáng hoặc dầu </a:t>
            </a:r>
            <a:r>
              <a:rPr lang="nb-NO" altLang="ko-KR" sz="950" smtClean="0">
                <a:latin typeface="Times New Roman" pitchFamily="18" charset="0"/>
                <a:ea typeface="LG Smart_H Regular" panose="020B0600000101010101" pitchFamily="34" charset="-127"/>
                <a:cs typeface="Times New Roman" pitchFamily="18" charset="0"/>
              </a:rPr>
              <a:t>D-ester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Chất xúc </a:t>
            </a:r>
            <a:r>
              <a:rPr lang="en-US" altLang="ko-KR" sz="950" smtClean="0">
                <a:latin typeface="Times New Roman" pitchFamily="18" charset="0"/>
                <a:ea typeface="LG Smart_H Regular" panose="020B0600000101010101" pitchFamily="34" charset="-127"/>
                <a:cs typeface="Times New Roman" pitchFamily="18" charset="0"/>
              </a:rPr>
              <a:t>tác</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Chất chống đông mỡ</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p:txBody>
      </p:sp>
      <p:sp>
        <p:nvSpPr>
          <p:cNvPr id="38" name="Rectangle 7"/>
          <p:cNvSpPr>
            <a:spLocks noChangeArrowheads="1"/>
          </p:cNvSpPr>
          <p:nvPr/>
        </p:nvSpPr>
        <p:spPr bwMode="auto">
          <a:xfrm>
            <a:off x="204048" y="4376936"/>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Là loại muff coupling cải tiến, mặt ngoài hình tròn và bên trong có một lỗ tròn. Mặt ngoài được gắn 3 bolt dài và sau đó được cố định bằng feather </a:t>
            </a:r>
            <a:r>
              <a:rPr lang="vi-VN" altLang="ko-KR" sz="950" smtClean="0">
                <a:latin typeface="Times New Roman" pitchFamily="18" charset="0"/>
                <a:ea typeface="LG Smart_H Regular" panose="020B0600000101010101" pitchFamily="34" charset="-127"/>
                <a:cs typeface="Times New Roman" pitchFamily="18" charset="0"/>
              </a:rPr>
              <a:t>key?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Coupling Rigid.</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fr-FR" altLang="ko-KR" sz="950">
                <a:latin typeface="Times New Roman" pitchFamily="18" charset="0"/>
                <a:ea typeface="LG Smart_H Regular" panose="020B0600000101010101" pitchFamily="34" charset="-127"/>
                <a:cs typeface="Times New Roman" pitchFamily="18" charset="0"/>
              </a:rPr>
              <a:t>Flexible </a:t>
            </a:r>
            <a:r>
              <a:rPr lang="fr-FR" altLang="ko-KR" sz="950" smtClean="0">
                <a:latin typeface="Times New Roman" pitchFamily="18" charset="0"/>
                <a:ea typeface="LG Smart_H Regular" panose="020B0600000101010101" pitchFamily="34" charset="-127"/>
                <a:cs typeface="Times New Roman" pitchFamily="18" charset="0"/>
              </a:rPr>
              <a:t>Coupling</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Seller’s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Coupling</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Flange Coupling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0" name="Rectangle 7"/>
          <p:cNvSpPr>
            <a:spLocks noChangeArrowheads="1"/>
          </p:cNvSpPr>
          <p:nvPr/>
        </p:nvSpPr>
        <p:spPr bwMode="auto">
          <a:xfrm>
            <a:off x="228600" y="6161628"/>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Đâu </a:t>
            </a:r>
            <a:r>
              <a:rPr lang="vi-VN" altLang="ko-KR" sz="950" b="1" smtClean="0">
                <a:latin typeface="Times New Roman" pitchFamily="18" charset="0"/>
                <a:ea typeface="LG Smart_H Regular" panose="020B0600000101010101" pitchFamily="34" charset="-127"/>
                <a:cs typeface="Times New Roman" pitchFamily="18" charset="0"/>
              </a:rPr>
              <a:t>không phải </a:t>
            </a:r>
            <a:r>
              <a:rPr lang="vi-VN" altLang="ko-KR" sz="950" smtClean="0">
                <a:latin typeface="Times New Roman" pitchFamily="18" charset="0"/>
                <a:ea typeface="LG Smart_H Regular" panose="020B0600000101010101" pitchFamily="34" charset="-127"/>
                <a:cs typeface="Times New Roman" pitchFamily="18" charset="0"/>
              </a:rPr>
              <a:t>"</a:t>
            </a:r>
            <a:r>
              <a:rPr lang="vi-VN" altLang="ko-KR" sz="950">
                <a:latin typeface="Times New Roman" pitchFamily="18" charset="0"/>
                <a:ea typeface="LG Smart_H Regular" panose="020B0600000101010101" pitchFamily="34" charset="-127"/>
                <a:cs typeface="Times New Roman" pitchFamily="18" charset="0"/>
              </a:rPr>
              <a:t>Khoản mục cần chú ý khi thiết kế nối trục</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 lớn của lực truyền </a:t>
            </a:r>
            <a:r>
              <a:rPr lang="vi-VN" altLang="ko-KR" sz="950" smtClean="0">
                <a:latin typeface="Times New Roman" pitchFamily="18" charset="0"/>
                <a:ea typeface="LG Smart_H Regular" panose="020B0600000101010101" pitchFamily="34" charset="-127"/>
                <a:cs typeface="Times New Roman" pitchFamily="18" charset="0"/>
              </a:rPr>
              <a:t>động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sai của trọng tâm </a:t>
            </a:r>
            <a:r>
              <a:rPr lang="vi-VN" altLang="ko-KR" sz="950" smtClean="0">
                <a:latin typeface="Times New Roman" pitchFamily="18" charset="0"/>
                <a:ea typeface="LG Smart_H Regular" panose="020B0600000101010101" pitchFamily="34" charset="-127"/>
                <a:cs typeface="Times New Roman" pitchFamily="18" charset="0"/>
              </a:rPr>
              <a:t>trục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Tốc độ quay của </a:t>
            </a:r>
            <a:r>
              <a:rPr lang="vi-VN" altLang="ko-KR" sz="950" smtClean="0">
                <a:latin typeface="Times New Roman" pitchFamily="18" charset="0"/>
                <a:ea typeface="LG Smart_H Regular" panose="020B0600000101010101" pitchFamily="34" charset="-127"/>
                <a:cs typeface="Times New Roman" pitchFamily="18" charset="0"/>
              </a:rPr>
              <a:t>trục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Góc tiếp xúc của trục</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63885" y="8231776"/>
            <a:ext cx="3180502" cy="1113712"/>
            <a:chOff x="163885" y="7871936"/>
            <a:chExt cx="3180502" cy="1113712"/>
          </a:xfrm>
        </p:grpSpPr>
        <p:sp>
          <p:nvSpPr>
            <p:cNvPr id="42" name="Rectangle 7"/>
            <p:cNvSpPr>
              <a:spLocks noChangeArrowheads="1"/>
            </p:cNvSpPr>
            <p:nvPr/>
          </p:nvSpPr>
          <p:spPr bwMode="auto">
            <a:xfrm>
              <a:off x="163885" y="78719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Tên gọi của khóa có hình ảnh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Parallel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Split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Spring 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Sliding key</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pic>
          <p:nvPicPr>
            <p:cNvPr id="28" name="Picture 27"/>
            <p:cNvPicPr>
              <a:picLocks noChangeAspect="1"/>
            </p:cNvPicPr>
            <p:nvPr/>
          </p:nvPicPr>
          <p:blipFill>
            <a:blip r:embed="rId3"/>
            <a:stretch>
              <a:fillRect/>
            </a:stretch>
          </p:blipFill>
          <p:spPr>
            <a:xfrm>
              <a:off x="1818851" y="8161986"/>
              <a:ext cx="1116209" cy="823662"/>
            </a:xfrm>
            <a:prstGeom prst="rect">
              <a:avLst/>
            </a:prstGeom>
          </p:spPr>
        </p:pic>
      </p:grpSp>
      <p:grpSp>
        <p:nvGrpSpPr>
          <p:cNvPr id="3" name="Group 2"/>
          <p:cNvGrpSpPr/>
          <p:nvPr/>
        </p:nvGrpSpPr>
        <p:grpSpPr>
          <a:xfrm>
            <a:off x="3379882" y="6071736"/>
            <a:ext cx="3180502" cy="1677788"/>
            <a:chOff x="3379882" y="6071736"/>
            <a:chExt cx="3180502" cy="1677788"/>
          </a:xfrm>
        </p:grpSpPr>
        <p:sp>
          <p:nvSpPr>
            <p:cNvPr id="45" name="Rectangle 7"/>
            <p:cNvSpPr>
              <a:spLocks noChangeArrowheads="1"/>
            </p:cNvSpPr>
            <p:nvPr/>
          </p:nvSpPr>
          <p:spPr bwMode="auto">
            <a:xfrm>
              <a:off x="3379882" y="6071736"/>
              <a:ext cx="3180502"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a:t>
              </a:r>
              <a:r>
                <a:rPr lang="vi-VN" altLang="ko-KR" sz="950">
                  <a:latin typeface="Times New Roman" pitchFamily="18" charset="0"/>
                  <a:ea typeface="LG Smart_H Regular" panose="020B0600000101010101" pitchFamily="34" charset="-127"/>
                  <a:cs typeface="Times New Roman" pitchFamily="18" charset="0"/>
                </a:rPr>
                <a:t>Phương thức dẫn động nào sử dụng labyrinth seal để ngăn bụi </a:t>
              </a:r>
              <a:r>
                <a:rPr lang="vi-VN" altLang="ko-KR" sz="950" smtClean="0">
                  <a:latin typeface="Times New Roman" pitchFamily="18" charset="0"/>
                  <a:ea typeface="LG Smart_H Regular" panose="020B0600000101010101" pitchFamily="34" charset="-127"/>
                  <a:cs typeface="Times New Roman" pitchFamily="18" charset="0"/>
                </a:rPr>
                <a:t>bẩn?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B.</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C.                                         D.</a:t>
              </a:r>
            </a:p>
          </p:txBody>
        </p:sp>
        <p:pic>
          <p:nvPicPr>
            <p:cNvPr id="3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0064" y="7176436"/>
              <a:ext cx="847775" cy="57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33" descr="7-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1034" y="6460704"/>
              <a:ext cx="857005" cy="568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38" descr="7-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8588" y="6475201"/>
              <a:ext cx="853159" cy="555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40" descr="7-5-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62416" y="7183684"/>
              <a:ext cx="849523" cy="56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122509222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188640" y="809164"/>
            <a:ext cx="3258330"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sp>
        <p:nvSpPr>
          <p:cNvPr id="39" name="Rectangle 11"/>
          <p:cNvSpPr>
            <a:spLocks noChangeArrowheads="1"/>
          </p:cNvSpPr>
          <p:nvPr/>
        </p:nvSpPr>
        <p:spPr bwMode="auto">
          <a:xfrm>
            <a:off x="188640" y="1245022"/>
            <a:ext cx="3258330"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smtClean="0">
                <a:latin typeface="Times New Roman" pitchFamily="18" charset="0"/>
                <a:ea typeface="돋움" pitchFamily="50" charset="-127"/>
                <a:cs typeface="Times New Roman" pitchFamily="18" charset="0"/>
              </a:rPr>
              <a:t>71</a:t>
            </a:r>
            <a:r>
              <a:rPr lang="en-US" altLang="ko-KR" sz="950">
                <a:latin typeface="Times New Roman" pitchFamily="18" charset="0"/>
                <a:ea typeface="돋움" pitchFamily="50" charset="-127"/>
                <a:cs typeface="Times New Roman" pitchFamily="18" charset="0"/>
              </a:rPr>
              <a:t>. Chọn đáp án không đúng với giải thích về </a:t>
            </a:r>
            <a:r>
              <a:rPr lang="en-US" altLang="ko-KR" sz="950" smtClean="0">
                <a:latin typeface="Times New Roman" pitchFamily="18" charset="0"/>
                <a:ea typeface="돋움" pitchFamily="50" charset="-127"/>
                <a:cs typeface="Times New Roman" pitchFamily="18" charset="0"/>
              </a:rPr>
              <a:t>điều kiện trong kỹ thuật máy </a:t>
            </a:r>
            <a:r>
              <a:rPr lang="en-US" altLang="ko-KR" sz="950">
                <a:latin typeface="Times New Roman" pitchFamily="18" charset="0"/>
                <a:ea typeface="돋움" pitchFamily="50" charset="-127"/>
                <a:cs typeface="Times New Roman" pitchFamily="18" charset="0"/>
              </a:rPr>
              <a:t>?</a:t>
            </a: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Nhận cung cấp năng lượng để làm việc có hiệu quả.</a:t>
            </a:r>
          </a:p>
          <a:p>
            <a:r>
              <a:rPr lang="en-US" altLang="ko-KR" sz="950" smtClean="0">
                <a:latin typeface="Times New Roman" pitchFamily="18" charset="0"/>
                <a:ea typeface="돋움" pitchFamily="50" charset="-127"/>
                <a:cs typeface="Times New Roman" pitchFamily="18" charset="0"/>
              </a:rPr>
              <a:t>B. </a:t>
            </a:r>
            <a:r>
              <a:rPr lang="vi-VN" altLang="ko-KR" sz="950">
                <a:latin typeface="Times New Roman" pitchFamily="18" charset="0"/>
                <a:ea typeface="돋움" pitchFamily="50" charset="-127"/>
                <a:cs typeface="Times New Roman" pitchFamily="18" charset="0"/>
              </a:rPr>
              <a:t>Các vật sau khi đã tổ hợp lại với nhau sẽ được vận hành </a:t>
            </a:r>
            <a:endParaRPr lang="en-US" altLang="ko-KR" sz="950" smtClean="0">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C. </a:t>
            </a:r>
            <a:r>
              <a:rPr lang="en-US" altLang="ko-KR" sz="950">
                <a:solidFill>
                  <a:srgbClr val="FF0000"/>
                </a:solidFill>
                <a:latin typeface="Times New Roman" pitchFamily="18" charset="0"/>
                <a:ea typeface="돋움" pitchFamily="50" charset="-127"/>
                <a:cs typeface="Times New Roman" pitchFamily="18" charset="0"/>
              </a:rPr>
              <a:t>Được gọi là động học cơ học.</a:t>
            </a:r>
          </a:p>
          <a:p>
            <a:pPr marL="111125" indent="-111125"/>
            <a:r>
              <a:rPr lang="en-US" altLang="ko-KR" sz="950" smtClean="0">
                <a:latin typeface="Times New Roman" pitchFamily="18" charset="0"/>
                <a:ea typeface="돋움" pitchFamily="50" charset="-127"/>
                <a:cs typeface="Times New Roman" pitchFamily="18" charset="0"/>
              </a:rPr>
              <a:t>D. </a:t>
            </a:r>
            <a:r>
              <a:rPr lang="vi-VN" altLang="ko-KR" sz="950">
                <a:latin typeface="Times New Roman" pitchFamily="18" charset="0"/>
                <a:ea typeface="돋움" pitchFamily="50" charset="-127"/>
                <a:cs typeface="Times New Roman" pitchFamily="18" charset="0"/>
              </a:rPr>
              <a:t>Dựa vào ngoại lực để tạo thành tổ hợp các vật thể có sự đối kháng </a:t>
            </a:r>
            <a:r>
              <a:rPr lang="vi-VN" altLang="ko-KR" sz="950" smtClean="0">
                <a:latin typeface="Times New Roman" pitchFamily="18" charset="0"/>
                <a:ea typeface="돋움" pitchFamily="50" charset="-127"/>
                <a:cs typeface="Times New Roman" pitchFamily="18" charset="0"/>
              </a:rPr>
              <a:t>nhau</a:t>
            </a:r>
            <a:r>
              <a:rPr lang="en-US" altLang="ko-KR" sz="950" smtClean="0">
                <a:latin typeface="Times New Roman" pitchFamily="18" charset="0"/>
                <a:ea typeface="돋움" pitchFamily="50" charset="-127"/>
                <a:cs typeface="Times New Roman" pitchFamily="18" charset="0"/>
              </a:rPr>
              <a:t>.</a:t>
            </a:r>
            <a:endParaRPr lang="en-US" altLang="ko-KR" sz="950">
              <a:latin typeface="Times New Roman" pitchFamily="18" charset="0"/>
              <a:ea typeface="돋움" pitchFamily="50" charset="-127"/>
              <a:cs typeface="Times New Roman" pitchFamily="18" charset="0"/>
            </a:endParaRPr>
          </a:p>
        </p:txBody>
      </p:sp>
      <p:sp>
        <p:nvSpPr>
          <p:cNvPr id="23" name="Rectangle 22"/>
          <p:cNvSpPr>
            <a:spLocks noChangeArrowheads="1"/>
          </p:cNvSpPr>
          <p:nvPr/>
        </p:nvSpPr>
        <p:spPr bwMode="auto">
          <a:xfrm>
            <a:off x="188640" y="2678068"/>
            <a:ext cx="3258330" cy="111569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2</a:t>
            </a:r>
            <a:r>
              <a:rPr lang="en-US" altLang="ko-KR" sz="950">
                <a:latin typeface="Times New Roman" pitchFamily="18" charset="0"/>
                <a:ea typeface="돋움" pitchFamily="50" charset="-127"/>
                <a:cs typeface="Times New Roman" pitchFamily="18" charset="0"/>
              </a:rPr>
              <a:t>. Chọn đáp án không phải là ưu điểm của V Belt?</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Có thể lắp </a:t>
            </a:r>
            <a:r>
              <a:rPr lang="en-US" altLang="ko-KR" sz="950" smtClean="0">
                <a:latin typeface="Times New Roman" pitchFamily="18" charset="0"/>
                <a:ea typeface="돋움" pitchFamily="50" charset="-127"/>
                <a:cs typeface="Times New Roman" pitchFamily="18" charset="0"/>
              </a:rPr>
              <a:t>đặt ở </a:t>
            </a:r>
            <a:r>
              <a:rPr lang="en-US" altLang="ko-KR" sz="950">
                <a:latin typeface="Times New Roman" pitchFamily="18" charset="0"/>
                <a:ea typeface="돋움" pitchFamily="50" charset="-127"/>
                <a:cs typeface="Times New Roman" pitchFamily="18" charset="0"/>
              </a:rPr>
              <a:t>nơi </a:t>
            </a:r>
            <a:r>
              <a:rPr lang="en-US" altLang="ko-KR" sz="950" smtClean="0">
                <a:latin typeface="Times New Roman" pitchFamily="18" charset="0"/>
                <a:ea typeface="돋움" pitchFamily="50" charset="-127"/>
                <a:cs typeface="Times New Roman" pitchFamily="18" charset="0"/>
              </a:rPr>
              <a:t>chật hẹp</a:t>
            </a:r>
            <a:r>
              <a:rPr lang="en-US" altLang="ko-KR" sz="950">
                <a:latin typeface="Times New Roman" pitchFamily="18" charset="0"/>
                <a:ea typeface="돋움" pitchFamily="50" charset="-127"/>
                <a:cs typeface="Times New Roman" pitchFamily="18" charset="0"/>
              </a:rPr>
              <a:t>, vận </a:t>
            </a:r>
            <a:r>
              <a:rPr lang="en-US" altLang="ko-KR" sz="950" smtClean="0">
                <a:latin typeface="Times New Roman" pitchFamily="18" charset="0"/>
                <a:ea typeface="돋움" pitchFamily="50" charset="-127"/>
                <a:cs typeface="Times New Roman" pitchFamily="18" charset="0"/>
              </a:rPr>
              <a:t>hành </a:t>
            </a:r>
            <a:r>
              <a:rPr lang="en-US" altLang="ko-KR" sz="950">
                <a:latin typeface="Times New Roman" pitchFamily="18" charset="0"/>
                <a:ea typeface="돋움" pitchFamily="50" charset="-127"/>
                <a:cs typeface="Times New Roman" pitchFamily="18" charset="0"/>
              </a:rPr>
              <a:t>tĩnh và </a:t>
            </a:r>
            <a:r>
              <a:rPr lang="en-US" altLang="ko-KR" sz="950" smtClean="0">
                <a:latin typeface="Times New Roman" pitchFamily="18" charset="0"/>
                <a:ea typeface="돋움" pitchFamily="50" charset="-127"/>
                <a:cs typeface="Times New Roman" pitchFamily="18" charset="0"/>
              </a:rPr>
              <a:t>rung lắc ít</a:t>
            </a:r>
            <a:endParaRPr lang="en-US" altLang="ko-KR" sz="950">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Hiệu suất truyền động khoảng </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96~99%, lực kéo nhỏ nên tải trọng lên </a:t>
            </a:r>
            <a:r>
              <a:rPr lang="en-US" altLang="ko-KR" sz="950" smtClean="0">
                <a:latin typeface="Times New Roman" pitchFamily="18" charset="0"/>
                <a:ea typeface="돋움" pitchFamily="50" charset="-127"/>
                <a:cs typeface="Times New Roman" pitchFamily="18" charset="0"/>
              </a:rPr>
              <a:t>bánh răng </a:t>
            </a:r>
            <a:r>
              <a:rPr lang="en-US" altLang="ko-KR" sz="950">
                <a:latin typeface="Times New Roman" pitchFamily="18" charset="0"/>
                <a:ea typeface="돋움" pitchFamily="50" charset="-127"/>
                <a:cs typeface="Times New Roman" pitchFamily="18" charset="0"/>
              </a:rPr>
              <a:t>nhỏ.</a:t>
            </a:r>
          </a:p>
          <a:p>
            <a:r>
              <a:rPr lang="en-US" altLang="ko-KR" sz="950" smtClean="0">
                <a:latin typeface="Times New Roman" pitchFamily="18" charset="0"/>
                <a:ea typeface="돋움" pitchFamily="50" charset="-127"/>
                <a:cs typeface="Times New Roman" pitchFamily="18" charset="0"/>
              </a:rPr>
              <a:t>C. Chủ yếu sử dụng trong Pully </a:t>
            </a:r>
            <a:r>
              <a:rPr lang="en-US" altLang="ko-KR" sz="950">
                <a:latin typeface="Times New Roman" pitchFamily="18" charset="0"/>
                <a:ea typeface="돋움" pitchFamily="50" charset="-127"/>
                <a:cs typeface="Times New Roman" pitchFamily="18" charset="0"/>
              </a:rPr>
              <a:t>có đường kính tương đối nhỏ.</a:t>
            </a:r>
          </a:p>
          <a:p>
            <a:r>
              <a:rPr lang="en-US" altLang="ko-KR" sz="950" smtClean="0">
                <a:solidFill>
                  <a:srgbClr val="FF0000"/>
                </a:solidFill>
                <a:latin typeface="Times New Roman" pitchFamily="18" charset="0"/>
                <a:ea typeface="돋움" pitchFamily="50" charset="-127"/>
                <a:cs typeface="Times New Roman" pitchFamily="18" charset="0"/>
              </a:rPr>
              <a:t>D.  </a:t>
            </a:r>
            <a:r>
              <a:rPr lang="en-US" altLang="ko-KR" sz="950">
                <a:solidFill>
                  <a:srgbClr val="FF0000"/>
                </a:solidFill>
                <a:latin typeface="Times New Roman" pitchFamily="18" charset="0"/>
                <a:ea typeface="돋움" pitchFamily="50" charset="-127"/>
                <a:cs typeface="Times New Roman" pitchFamily="18" charset="0"/>
              </a:rPr>
              <a:t>Hầu như không có trơn trợt và thay đổi tốc độ.</a:t>
            </a:r>
          </a:p>
        </p:txBody>
      </p:sp>
      <p:grpSp>
        <p:nvGrpSpPr>
          <p:cNvPr id="24" name="Group 23"/>
          <p:cNvGrpSpPr/>
          <p:nvPr/>
        </p:nvGrpSpPr>
        <p:grpSpPr>
          <a:xfrm>
            <a:off x="188640" y="4630559"/>
            <a:ext cx="3124200" cy="1627369"/>
            <a:chOff x="3467106" y="3347830"/>
            <a:chExt cx="3124200" cy="1627369"/>
          </a:xfrm>
        </p:grpSpPr>
        <p:sp>
          <p:nvSpPr>
            <p:cNvPr id="25" name="Rectangle 26"/>
            <p:cNvSpPr>
              <a:spLocks noChangeArrowheads="1"/>
            </p:cNvSpPr>
            <p:nvPr/>
          </p:nvSpPr>
          <p:spPr bwMode="auto">
            <a:xfrm>
              <a:off x="3467106" y="3347830"/>
              <a:ext cx="3124200" cy="162736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3</a:t>
              </a:r>
              <a:r>
                <a:rPr lang="en-US" altLang="ko-KR" sz="950">
                  <a:latin typeface="Times New Roman" pitchFamily="18" charset="0"/>
                  <a:ea typeface="돋움" pitchFamily="50" charset="-127"/>
                  <a:cs typeface="Times New Roman" pitchFamily="18" charset="0"/>
                </a:rPr>
                <a:t>. Chọn loại răng của Timing Belt mà mang lại thành công hiệu quả backlash tối thiểu, giảm tiếng ồn, độ tin cậy cao và tuổi thọ dài?</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B.</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                                          </a:t>
              </a:r>
              <a:r>
                <a:rPr lang="en-US" altLang="ko-KR" sz="950" smtClean="0">
                  <a:solidFill>
                    <a:srgbClr val="FF0000"/>
                  </a:solidFill>
                  <a:latin typeface="Times New Roman" pitchFamily="18" charset="0"/>
                  <a:ea typeface="돋움" pitchFamily="50" charset="-127"/>
                  <a:cs typeface="Times New Roman" pitchFamily="18" charset="0"/>
                </a:rPr>
                <a:t>D.</a:t>
              </a:r>
              <a:r>
                <a:rPr lang="en-US" altLang="ko-KR" sz="950" smtClean="0">
                  <a:latin typeface="Times New Roman" pitchFamily="18" charset="0"/>
                  <a:ea typeface="돋움" pitchFamily="50" charset="-127"/>
                  <a:cs typeface="Times New Roman" pitchFamily="18" charset="0"/>
                </a:rPr>
                <a:t>   </a:t>
              </a:r>
              <a:endParaRPr lang="en-US" altLang="ko-KR" sz="950">
                <a:latin typeface="Times New Roman" pitchFamily="18" charset="0"/>
                <a:ea typeface="돋움" pitchFamily="50" charset="-127"/>
                <a:cs typeface="Times New Roman" pitchFamily="18" charset="0"/>
              </a:endParaRPr>
            </a:p>
            <a:p>
              <a:pPr>
                <a:spcBef>
                  <a:spcPct val="50000"/>
                </a:spcBef>
              </a:pPr>
              <a:endParaRPr lang="en-US" altLang="ko-KR" sz="950">
                <a:latin typeface="Times New Roman" pitchFamily="18" charset="0"/>
                <a:ea typeface="돋움" pitchFamily="50" charset="-127"/>
                <a:cs typeface="Times New Roman" pitchFamily="18" charset="0"/>
              </a:endParaRPr>
            </a:p>
          </p:txBody>
        </p:sp>
        <p:grpSp>
          <p:nvGrpSpPr>
            <p:cNvPr id="26" name="Group 25"/>
            <p:cNvGrpSpPr/>
            <p:nvPr/>
          </p:nvGrpSpPr>
          <p:grpSpPr>
            <a:xfrm>
              <a:off x="3717040" y="3824080"/>
              <a:ext cx="2736148" cy="1008140"/>
              <a:chOff x="3717040" y="3824080"/>
              <a:chExt cx="2736148" cy="1008140"/>
            </a:xfrm>
          </p:grpSpPr>
          <p:pic>
            <p:nvPicPr>
              <p:cNvPr id="27"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7040" y="3871802"/>
                <a:ext cx="11430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8"/>
              <p:cNvPicPr>
                <a:picLocks noChangeAspect="1" noChangeArrowheads="1"/>
              </p:cNvPicPr>
              <p:nvPr/>
            </p:nvPicPr>
            <p:blipFill>
              <a:blip r:embed="rId4">
                <a:extLst>
                  <a:ext uri="{28A0092B-C50C-407E-A947-70E740481C1C}">
                    <a14:useLocalDpi xmlns:a14="http://schemas.microsoft.com/office/drawing/2010/main" val="0"/>
                  </a:ext>
                </a:extLst>
              </a:blip>
              <a:srcRect t="47430" r="16853"/>
              <a:stretch>
                <a:fillRect/>
              </a:stretch>
            </p:blipFill>
            <p:spPr bwMode="auto">
              <a:xfrm>
                <a:off x="5157788" y="3824080"/>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9"/>
              <p:cNvPicPr>
                <a:picLocks noChangeAspect="1" noChangeArrowheads="1"/>
              </p:cNvPicPr>
              <p:nvPr/>
            </p:nvPicPr>
            <p:blipFill>
              <a:blip r:embed="rId4">
                <a:extLst>
                  <a:ext uri="{28A0092B-C50C-407E-A947-70E740481C1C}">
                    <a14:useLocalDpi xmlns:a14="http://schemas.microsoft.com/office/drawing/2010/main" val="0"/>
                  </a:ext>
                </a:extLst>
              </a:blip>
              <a:srcRect r="16853" b="52174"/>
              <a:stretch>
                <a:fillRect/>
              </a:stretch>
            </p:blipFill>
            <p:spPr bwMode="auto">
              <a:xfrm>
                <a:off x="3717040" y="4443282"/>
                <a:ext cx="1066800"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30"/>
              <p:cNvPicPr>
                <a:picLocks noChangeAspect="1" noChangeArrowheads="1"/>
              </p:cNvPicPr>
              <p:nvPr/>
            </p:nvPicPr>
            <p:blipFill>
              <a:blip r:embed="rId5" cstate="print">
                <a:extLst>
                  <a:ext uri="{28A0092B-C50C-407E-A947-70E740481C1C}">
                    <a14:useLocalDpi xmlns:a14="http://schemas.microsoft.com/office/drawing/2010/main" val="0"/>
                  </a:ext>
                </a:extLst>
              </a:blip>
              <a:srcRect b="30864"/>
              <a:stretch>
                <a:fillRect/>
              </a:stretch>
            </p:blipFill>
            <p:spPr bwMode="auto">
              <a:xfrm>
                <a:off x="5233988" y="4470765"/>
                <a:ext cx="1143000" cy="361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31" name="Rectangle 32"/>
          <p:cNvSpPr>
            <a:spLocks noChangeArrowheads="1"/>
          </p:cNvSpPr>
          <p:nvPr/>
        </p:nvSpPr>
        <p:spPr bwMode="auto">
          <a:xfrm>
            <a:off x="188640" y="6677417"/>
            <a:ext cx="3248212" cy="67710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11125" indent="-111125"/>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4</a:t>
            </a:r>
            <a:r>
              <a:rPr lang="en-US" altLang="ko-KR" sz="950">
                <a:latin typeface="Times New Roman" pitchFamily="18" charset="0"/>
                <a:ea typeface="돋움" pitchFamily="50" charset="-127"/>
                <a:cs typeface="Times New Roman" pitchFamily="18" charset="0"/>
              </a:rPr>
              <a:t>. Chọn đáp án không được sử dụng như một vật liệu chịu bền kéo của Timing Belt  ? </a:t>
            </a:r>
          </a:p>
          <a:p>
            <a:endParaRPr lang="en-US" altLang="ko-KR" sz="950" smtClean="0">
              <a:solidFill>
                <a:srgbClr val="FF0000"/>
              </a:solidFill>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a:solidFill>
                  <a:srgbClr val="FF0000"/>
                </a:solidFill>
                <a:latin typeface="Times New Roman" pitchFamily="18" charset="0"/>
                <a:ea typeface="돋움" pitchFamily="50" charset="-127"/>
                <a:cs typeface="Times New Roman" pitchFamily="18" charset="0"/>
              </a:rPr>
              <a:t>PTFE   </a:t>
            </a: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Loại SUS</a:t>
            </a:r>
            <a:r>
              <a:rPr lang="ko-KR" altLang="en-US"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Glass Fiber Cord   </a:t>
            </a:r>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Kevlar</a:t>
            </a:r>
          </a:p>
        </p:txBody>
      </p:sp>
      <p:sp>
        <p:nvSpPr>
          <p:cNvPr id="32" name="Rectangle 13"/>
          <p:cNvSpPr>
            <a:spLocks noChangeArrowheads="1"/>
          </p:cNvSpPr>
          <p:nvPr/>
        </p:nvSpPr>
        <p:spPr bwMode="auto">
          <a:xfrm>
            <a:off x="188640" y="7934652"/>
            <a:ext cx="3312368"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5</a:t>
            </a:r>
            <a:r>
              <a:rPr lang="en-US" altLang="ko-KR" sz="950">
                <a:latin typeface="Times New Roman" pitchFamily="18" charset="0"/>
                <a:ea typeface="돋움" pitchFamily="50" charset="-127"/>
                <a:cs typeface="Times New Roman" pitchFamily="18" charset="0"/>
              </a:rPr>
              <a:t>. Giải thích nào sau đây không đúng với</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LM Guide?</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Hệ </a:t>
            </a:r>
            <a:r>
              <a:rPr lang="en-US" altLang="ko-KR" sz="950">
                <a:latin typeface="Times New Roman" pitchFamily="18" charset="0"/>
                <a:ea typeface="돋움" pitchFamily="50" charset="-127"/>
                <a:cs typeface="Times New Roman" pitchFamily="18" charset="0"/>
              </a:rPr>
              <a:t>số ma sát là 0.002~0.005 nên giảm chi phí vận hành máy</a:t>
            </a:r>
            <a:r>
              <a:rPr lang="ko-KR" altLang="en-US" sz="950">
                <a:latin typeface="Times New Roman" pitchFamily="18" charset="0"/>
                <a:ea typeface="돋움" pitchFamily="50" charset="-127"/>
                <a:cs typeface="Times New Roman" pitchFamily="18" charset="0"/>
                <a:sym typeface="Wingdings" pitchFamily="2" charset="2"/>
              </a:rPr>
              <a:t> </a:t>
            </a:r>
            <a:endParaRPr lang="ko-KR" altLang="en-US" sz="950">
              <a:latin typeface="Times New Roman" pitchFamily="18" charset="0"/>
              <a:ea typeface="돋움" pitchFamily="50" charset="-127"/>
              <a:cs typeface="Times New Roman" pitchFamily="18" charset="0"/>
            </a:endParaRPr>
          </a:p>
          <a:p>
            <a:pPr marL="109538" indent="-109538"/>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Do </a:t>
            </a:r>
            <a:r>
              <a:rPr lang="en-US" altLang="ko-KR" sz="950" smtClean="0">
                <a:latin typeface="Times New Roman" pitchFamily="18" charset="0"/>
                <a:ea typeface="돋움" pitchFamily="50" charset="-127"/>
                <a:cs typeface="Times New Roman" pitchFamily="18" charset="0"/>
              </a:rPr>
              <a:t>rãnh </a:t>
            </a:r>
            <a:r>
              <a:rPr lang="en-US" altLang="ko-KR" sz="950">
                <a:latin typeface="Times New Roman" pitchFamily="18" charset="0"/>
                <a:ea typeface="돋움" pitchFamily="50" charset="-127"/>
                <a:cs typeface="Times New Roman" pitchFamily="18" charset="0"/>
              </a:rPr>
              <a:t>của ball được gia công bán </a:t>
            </a:r>
            <a:r>
              <a:rPr lang="en-US" altLang="ko-KR" sz="950" smtClean="0">
                <a:latin typeface="Times New Roman" pitchFamily="18" charset="0"/>
                <a:ea typeface="돋움" pitchFamily="50" charset="-127"/>
                <a:cs typeface="Times New Roman" pitchFamily="18" charset="0"/>
              </a:rPr>
              <a:t>kính đồng nhất với rãnh của </a:t>
            </a:r>
            <a:r>
              <a:rPr lang="en-US" altLang="ko-KR" sz="950">
                <a:latin typeface="Times New Roman" pitchFamily="18" charset="0"/>
                <a:ea typeface="돋움" pitchFamily="50" charset="-127"/>
                <a:cs typeface="Times New Roman" pitchFamily="18" charset="0"/>
              </a:rPr>
              <a:t>Bearing ball nên có thể tạo tải trước ( preload) .</a:t>
            </a:r>
            <a:endParaRPr lang="en-US" altLang="ko-KR" sz="950">
              <a:latin typeface="Times New Roman" pitchFamily="18" charset="0"/>
              <a:ea typeface="돋움" pitchFamily="50" charset="-127"/>
              <a:cs typeface="Times New Roman" pitchFamily="18" charset="0"/>
              <a:sym typeface="Wingdings" pitchFamily="2" charset="2"/>
            </a:endParaRP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Không có Stick slip , </a:t>
            </a:r>
            <a:r>
              <a:rPr lang="vi-VN" altLang="ko-KR" sz="950">
                <a:latin typeface="Times New Roman" pitchFamily="18" charset="0"/>
                <a:ea typeface="돋움" pitchFamily="50" charset="-127"/>
                <a:cs typeface="Times New Roman" pitchFamily="18" charset="0"/>
              </a:rPr>
              <a:t>hầu như không có chuyển động lỏng</a:t>
            </a:r>
            <a:r>
              <a:rPr lang="en-US" altLang="ko-KR" sz="950" smtClean="0">
                <a:latin typeface="Times New Roman" pitchFamily="18" charset="0"/>
                <a:ea typeface="돋움" pitchFamily="50" charset="-127"/>
                <a:cs typeface="Times New Roman" pitchFamily="18" charset="0"/>
              </a:rPr>
              <a:t>.</a:t>
            </a:r>
            <a:r>
              <a:rPr lang="en-US" altLang="ko-KR" sz="950" smtClean="0">
                <a:latin typeface="Times New Roman" pitchFamily="18" charset="0"/>
                <a:ea typeface="돋움" pitchFamily="50" charset="-127"/>
                <a:cs typeface="Times New Roman" pitchFamily="18" charset="0"/>
                <a:sym typeface="Wingdings" pitchFamily="2" charset="2"/>
              </a:rPr>
              <a:t> </a:t>
            </a:r>
            <a:endParaRPr lang="en-US" altLang="ko-KR" sz="950">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D. </a:t>
            </a:r>
            <a:r>
              <a:rPr lang="en-US" altLang="ko-KR" sz="950">
                <a:solidFill>
                  <a:srgbClr val="FF0000"/>
                </a:solidFill>
                <a:latin typeface="Times New Roman" pitchFamily="18" charset="0"/>
                <a:ea typeface="돋움" pitchFamily="50" charset="-127"/>
                <a:cs typeface="Times New Roman" pitchFamily="18" charset="0"/>
              </a:rPr>
              <a:t>Có thể thiết kế </a:t>
            </a:r>
            <a:r>
              <a:rPr lang="en-US" altLang="ko-KR" sz="950" smtClean="0">
                <a:solidFill>
                  <a:srgbClr val="FF0000"/>
                </a:solidFill>
                <a:latin typeface="Times New Roman" pitchFamily="18" charset="0"/>
                <a:ea typeface="돋움" pitchFamily="50" charset="-127"/>
                <a:cs typeface="Times New Roman" pitchFamily="18" charset="0"/>
              </a:rPr>
              <a:t> nhỏ gọn </a:t>
            </a:r>
            <a:r>
              <a:rPr lang="en-US" altLang="ko-KR" sz="950">
                <a:solidFill>
                  <a:srgbClr val="FF0000"/>
                </a:solidFill>
                <a:latin typeface="Times New Roman" pitchFamily="18" charset="0"/>
                <a:ea typeface="돋움" pitchFamily="50" charset="-127"/>
                <a:cs typeface="Times New Roman" pitchFamily="18" charset="0"/>
              </a:rPr>
              <a:t>bằng cách thay thế L</a:t>
            </a:r>
            <a:r>
              <a:rPr lang="en-US" altLang="ko-KR" sz="950" smtClean="0">
                <a:solidFill>
                  <a:srgbClr val="FF0000"/>
                </a:solidFill>
                <a:latin typeface="Times New Roman" pitchFamily="18" charset="0"/>
                <a:ea typeface="돋움" pitchFamily="50" charset="-127"/>
                <a:cs typeface="Times New Roman" pitchFamily="18" charset="0"/>
              </a:rPr>
              <a:t>inear Bush</a:t>
            </a:r>
            <a:endParaRPr lang="en-US" altLang="ko-KR" sz="950">
              <a:solidFill>
                <a:srgbClr val="FF0000"/>
              </a:solidFill>
              <a:latin typeface="Times New Roman" pitchFamily="18" charset="0"/>
              <a:ea typeface="돋움" pitchFamily="50" charset="-127"/>
              <a:cs typeface="Times New Roman" pitchFamily="18" charset="0"/>
            </a:endParaRPr>
          </a:p>
        </p:txBody>
      </p:sp>
      <p:grpSp>
        <p:nvGrpSpPr>
          <p:cNvPr id="38" name="Group 37"/>
          <p:cNvGrpSpPr/>
          <p:nvPr/>
        </p:nvGrpSpPr>
        <p:grpSpPr>
          <a:xfrm>
            <a:off x="3436852" y="1280592"/>
            <a:ext cx="3124200" cy="1159548"/>
            <a:chOff x="3441700" y="7153275"/>
            <a:chExt cx="3124200" cy="1159548"/>
          </a:xfrm>
        </p:grpSpPr>
        <p:sp>
          <p:nvSpPr>
            <p:cNvPr id="50" name="Rectangle 36"/>
            <p:cNvSpPr>
              <a:spLocks noChangeArrowheads="1"/>
            </p:cNvSpPr>
            <p:nvPr/>
          </p:nvSpPr>
          <p:spPr bwMode="auto">
            <a:xfrm>
              <a:off x="3441700" y="7153275"/>
              <a:ext cx="3124200" cy="115954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6</a:t>
              </a:r>
              <a:r>
                <a:rPr lang="en-US" altLang="ko-KR" sz="950">
                  <a:latin typeface="Times New Roman" pitchFamily="18" charset="0"/>
                  <a:cs typeface="Times New Roman" pitchFamily="18" charset="0"/>
                </a:rPr>
                <a:t>. Tên gọi của phần A ở hình sau là gì</a:t>
              </a:r>
              <a:r>
                <a:rPr lang="ko-KR" altLang="en-US" sz="950">
                  <a:latin typeface="Times New Roman" pitchFamily="18" charset="0"/>
                  <a:cs typeface="Times New Roman" pitchFamily="18" charset="0"/>
                </a:rPr>
                <a:t> </a:t>
              </a:r>
              <a:r>
                <a:rPr lang="en-US" altLang="ko-KR" sz="950">
                  <a:latin typeface="Times New Roman" pitchFamily="18" charset="0"/>
                  <a:cs typeface="Times New Roman" pitchFamily="18" charset="0"/>
                </a:rPr>
                <a:t>?</a:t>
              </a:r>
            </a:p>
            <a:p>
              <a:pPr>
                <a:lnSpc>
                  <a:spcPct val="70000"/>
                </a:lnSpc>
              </a:pPr>
              <a:endParaRPr lang="en-US" altLang="ko-KR" sz="950">
                <a:latin typeface="Times New Roman" pitchFamily="18" charset="0"/>
                <a:cs typeface="Times New Roman" pitchFamily="18" charset="0"/>
              </a:endParaRPr>
            </a:p>
            <a:p>
              <a:pPr>
                <a:lnSpc>
                  <a:spcPct val="70000"/>
                </a:lnSpc>
              </a:pPr>
              <a:endParaRPr lang="en-US" altLang="ko-KR" sz="950">
                <a:latin typeface="Times New Roman" pitchFamily="18" charset="0"/>
                <a:cs typeface="Times New Roman" pitchFamily="18" charset="0"/>
              </a:endParaRPr>
            </a:p>
            <a:p>
              <a:pPr>
                <a:lnSpc>
                  <a:spcPct val="70000"/>
                </a:lnSpc>
                <a:spcBef>
                  <a:spcPct val="50000"/>
                </a:spcBef>
              </a:pPr>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C</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cap</a:t>
              </a:r>
              <a:endParaRPr lang="ko-KR" altLang="en-US" sz="950">
                <a:latin typeface="Times New Roman" pitchFamily="18" charset="0"/>
                <a:ea typeface="돋움" pitchFamily="50" charset="-127"/>
                <a:cs typeface="Times New Roman" pitchFamily="18" charset="0"/>
              </a:endParaRPr>
            </a:p>
            <a:p>
              <a:pPr>
                <a:lnSpc>
                  <a:spcPct val="70000"/>
                </a:lnSpc>
                <a:spcBef>
                  <a:spcPct val="50000"/>
                </a:spcBef>
              </a:pP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Ống ngoài</a:t>
              </a:r>
              <a:endParaRPr lang="ko-KR" altLang="en-US" sz="950">
                <a:latin typeface="Times New Roman" pitchFamily="18" charset="0"/>
                <a:ea typeface="돋움" pitchFamily="50" charset="-127"/>
                <a:cs typeface="Times New Roman" pitchFamily="18" charset="0"/>
              </a:endParaRPr>
            </a:p>
            <a:p>
              <a:pPr>
                <a:lnSpc>
                  <a:spcPct val="70000"/>
                </a:lnSpc>
                <a:spcBef>
                  <a:spcPct val="50000"/>
                </a:spcBef>
              </a:pPr>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End </a:t>
              </a:r>
              <a:r>
                <a:rPr lang="en-US" altLang="ko-KR" sz="950">
                  <a:latin typeface="Times New Roman" pitchFamily="18" charset="0"/>
                  <a:ea typeface="돋움" pitchFamily="50" charset="-127"/>
                  <a:cs typeface="Times New Roman" pitchFamily="18" charset="0"/>
                </a:rPr>
                <a:t>Plate</a:t>
              </a:r>
              <a:endParaRPr lang="ko-KR" altLang="en-US" sz="950">
                <a:latin typeface="Times New Roman" pitchFamily="18" charset="0"/>
                <a:ea typeface="돋움" pitchFamily="50" charset="-127"/>
                <a:cs typeface="Times New Roman" pitchFamily="18" charset="0"/>
              </a:endParaRPr>
            </a:p>
            <a:p>
              <a:pPr>
                <a:lnSpc>
                  <a:spcPct val="70000"/>
                </a:lnSpc>
                <a:spcBef>
                  <a:spcPct val="50000"/>
                </a:spcBef>
              </a:pPr>
              <a:r>
                <a:rPr lang="en-US" altLang="ko-KR" sz="950" smtClean="0">
                  <a:solidFill>
                    <a:srgbClr val="FF0000"/>
                  </a:solidFill>
                  <a:latin typeface="Times New Roman" pitchFamily="18" charset="0"/>
                  <a:ea typeface="돋움" pitchFamily="50" charset="-127"/>
                  <a:cs typeface="Times New Roman" pitchFamily="18" charset="0"/>
                </a:rPr>
                <a:t>D.</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Base Plate</a:t>
              </a:r>
              <a:endParaRPr lang="ko-KR" altLang="en-US" sz="950">
                <a:solidFill>
                  <a:srgbClr val="FF0000"/>
                </a:solidFill>
                <a:latin typeface="Times New Roman" pitchFamily="18" charset="0"/>
                <a:ea typeface="돋움" pitchFamily="50" charset="-127"/>
                <a:cs typeface="Times New Roman" pitchFamily="18" charset="0"/>
              </a:endParaRPr>
            </a:p>
          </p:txBody>
        </p:sp>
        <p:grpSp>
          <p:nvGrpSpPr>
            <p:cNvPr id="51" name="Group 37"/>
            <p:cNvGrpSpPr>
              <a:grpSpLocks/>
            </p:cNvGrpSpPr>
            <p:nvPr/>
          </p:nvGrpSpPr>
          <p:grpSpPr bwMode="auto">
            <a:xfrm>
              <a:off x="5121275" y="7353300"/>
              <a:ext cx="1295400" cy="855663"/>
              <a:chOff x="1056" y="848"/>
              <a:chExt cx="816" cy="539"/>
            </a:xfrm>
          </p:grpSpPr>
          <p:sp>
            <p:nvSpPr>
              <p:cNvPr id="52" name="Rectangle 38"/>
              <p:cNvSpPr>
                <a:spLocks noChangeArrowheads="1"/>
              </p:cNvSpPr>
              <p:nvPr/>
            </p:nvSpPr>
            <p:spPr bwMode="auto">
              <a:xfrm>
                <a:off x="1580" y="1279"/>
                <a:ext cx="208" cy="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sz="950">
                  <a:latin typeface="Times New Roman" pitchFamily="18" charset="0"/>
                  <a:cs typeface="Times New Roman" pitchFamily="18" charset="0"/>
                </a:endParaRPr>
              </a:p>
            </p:txBody>
          </p:sp>
          <p:pic>
            <p:nvPicPr>
              <p:cNvPr id="53" name="Picture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 y="848"/>
                <a:ext cx="816" cy="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 name="Rectangle 40"/>
              <p:cNvSpPr>
                <a:spLocks noChangeArrowheads="1"/>
              </p:cNvSpPr>
              <p:nvPr/>
            </p:nvSpPr>
            <p:spPr bwMode="auto">
              <a:xfrm>
                <a:off x="1436" y="1292"/>
                <a:ext cx="238" cy="60"/>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950">
                    <a:latin typeface="Times New Roman" pitchFamily="18" charset="0"/>
                    <a:cs typeface="Times New Roman" pitchFamily="18" charset="0"/>
                  </a:rPr>
                  <a:t>A</a:t>
                </a:r>
              </a:p>
            </p:txBody>
          </p:sp>
        </p:grpSp>
      </p:grpSp>
      <p:sp>
        <p:nvSpPr>
          <p:cNvPr id="55" name="Rectangle 46"/>
          <p:cNvSpPr>
            <a:spLocks noChangeArrowheads="1"/>
          </p:cNvSpPr>
          <p:nvPr/>
        </p:nvSpPr>
        <p:spPr bwMode="auto">
          <a:xfrm>
            <a:off x="3442965" y="3008784"/>
            <a:ext cx="3214202"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7</a:t>
            </a:r>
            <a:r>
              <a:rPr lang="en-US" altLang="ko-KR" sz="950">
                <a:latin typeface="Times New Roman" pitchFamily="18" charset="0"/>
                <a:ea typeface="돋움" pitchFamily="50" charset="-127"/>
                <a:cs typeface="Times New Roman" pitchFamily="18" charset="0"/>
              </a:rPr>
              <a:t>. Type nào tạo sao tải trọng định mức giống nhau cho cả 4 hướng trong cấu trúc của LM Guide?</a:t>
            </a:r>
          </a:p>
          <a:p>
            <a:r>
              <a:rPr lang="en-US" altLang="ko-KR" sz="950" smtClean="0">
                <a:solidFill>
                  <a:srgbClr val="FF0000"/>
                </a:solidFill>
                <a:latin typeface="Times New Roman" pitchFamily="18" charset="0"/>
                <a:ea typeface="돋움" pitchFamily="50" charset="-127"/>
                <a:cs typeface="Times New Roman" pitchFamily="18" charset="0"/>
              </a:rPr>
              <a:t>  </a:t>
            </a:r>
          </a:p>
          <a:p>
            <a:r>
              <a:rPr lang="en-US" altLang="ko-KR" sz="950" smtClean="0">
                <a:solidFill>
                  <a:srgbClr val="FF0000"/>
                </a:solidFill>
                <a:latin typeface="Times New Roman" pitchFamily="18" charset="0"/>
                <a:ea typeface="돋움" pitchFamily="50" charset="-127"/>
                <a:cs typeface="Times New Roman" pitchFamily="18" charset="0"/>
              </a:rPr>
              <a:t> A. </a:t>
            </a:r>
            <a:r>
              <a:rPr lang="en-US" altLang="ko-KR" sz="950">
                <a:solidFill>
                  <a:srgbClr val="FF0000"/>
                </a:solidFill>
                <a:latin typeface="Times New Roman" pitchFamily="18" charset="0"/>
                <a:ea typeface="돋움" pitchFamily="50" charset="-127"/>
                <a:cs typeface="Times New Roman" pitchFamily="18" charset="0"/>
              </a:rPr>
              <a:t>HSR  </a:t>
            </a:r>
            <a:r>
              <a:rPr lang="en-US" altLang="ko-KR" sz="950" smtClean="0">
                <a:solidFill>
                  <a:srgbClr val="FF0000"/>
                </a:solidFill>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SR    </a:t>
            </a:r>
            <a:r>
              <a:rPr lang="en-US" altLang="ko-KR" sz="950" smtClean="0">
                <a:latin typeface="Times New Roman" pitchFamily="18" charset="0"/>
                <a:ea typeface="돋움" pitchFamily="50" charset="-127"/>
                <a:cs typeface="Times New Roman" pitchFamily="18" charset="0"/>
              </a:rPr>
              <a:t>   C. </a:t>
            </a:r>
            <a:r>
              <a:rPr lang="en-US" altLang="ko-KR" sz="950">
                <a:latin typeface="Times New Roman" pitchFamily="18" charset="0"/>
                <a:ea typeface="돋움" pitchFamily="50" charset="-127"/>
                <a:cs typeface="Times New Roman" pitchFamily="18" charset="0"/>
              </a:rPr>
              <a:t>SRG   </a:t>
            </a:r>
            <a:r>
              <a:rPr lang="en-US" altLang="ko-KR" sz="950" smtClean="0">
                <a:latin typeface="Times New Roman" pitchFamily="18" charset="0"/>
                <a:ea typeface="돋움" pitchFamily="50" charset="-127"/>
                <a:cs typeface="Times New Roman" pitchFamily="18" charset="0"/>
              </a:rPr>
              <a:t>    D. </a:t>
            </a:r>
            <a:r>
              <a:rPr lang="en-US" altLang="ko-KR" sz="950">
                <a:latin typeface="Times New Roman" pitchFamily="18" charset="0"/>
                <a:ea typeface="돋움" pitchFamily="50" charset="-127"/>
                <a:cs typeface="Times New Roman" pitchFamily="18" charset="0"/>
              </a:rPr>
              <a:t>SRW</a:t>
            </a:r>
          </a:p>
        </p:txBody>
      </p:sp>
      <p:sp>
        <p:nvSpPr>
          <p:cNvPr id="56" name="Rectangle 14"/>
          <p:cNvSpPr>
            <a:spLocks noChangeArrowheads="1"/>
          </p:cNvSpPr>
          <p:nvPr/>
        </p:nvSpPr>
        <p:spPr bwMode="auto">
          <a:xfrm>
            <a:off x="3429000" y="4304928"/>
            <a:ext cx="3272982"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8</a:t>
            </a:r>
            <a:r>
              <a:rPr lang="en-US" altLang="ko-KR" sz="950">
                <a:latin typeface="Times New Roman" pitchFamily="18" charset="0"/>
                <a:ea typeface="돋움" pitchFamily="50" charset="-127"/>
                <a:cs typeface="Times New Roman" pitchFamily="18" charset="0"/>
              </a:rPr>
              <a:t>. Chọn đáp án không phải là đặc điểm của bôi trơn dầu?</a:t>
            </a:r>
          </a:p>
          <a:p>
            <a:pPr marL="111125" indent="-111125"/>
            <a:endParaRPr lang="en-US" altLang="ko-KR" sz="950" smtClean="0">
              <a:solidFill>
                <a:srgbClr val="FF0000"/>
              </a:solidFill>
              <a:latin typeface="Times New Roman" pitchFamily="18" charset="0"/>
              <a:ea typeface="돋움" pitchFamily="50" charset="-127"/>
              <a:cs typeface="Times New Roman" pitchFamily="18" charset="0"/>
            </a:endParaRPr>
          </a:p>
          <a:p>
            <a:pPr marL="111125" indent="-111125"/>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a:solidFill>
                  <a:srgbClr val="FF0000"/>
                </a:solidFill>
                <a:latin typeface="Times New Roman" pitchFamily="18" charset="0"/>
                <a:ea typeface="돋움" pitchFamily="50" charset="-127"/>
                <a:cs typeface="Times New Roman" pitchFamily="18" charset="0"/>
              </a:rPr>
              <a:t>Phù hợp với sử dụng nhiệt độ thấp hoặc tốc độ thấp hơn là bôi trơn bằng mỡ.</a:t>
            </a:r>
          </a:p>
          <a:p>
            <a:pPr marL="111125" indent="-111125"/>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Bôi trơn bằng dầu là </a:t>
            </a:r>
            <a:r>
              <a:rPr lang="en-US" altLang="ko-KR" sz="950" smtClean="0">
                <a:latin typeface="Times New Roman" pitchFamily="18" charset="0"/>
                <a:ea typeface="돋움" pitchFamily="50" charset="-127"/>
                <a:cs typeface="Times New Roman" pitchFamily="18" charset="0"/>
              </a:rPr>
              <a:t>phù </a:t>
            </a:r>
            <a:r>
              <a:rPr lang="en-US" altLang="ko-KR" sz="950">
                <a:latin typeface="Times New Roman" pitchFamily="18" charset="0"/>
                <a:ea typeface="돋움" pitchFamily="50" charset="-127"/>
                <a:cs typeface="Times New Roman" pitchFamily="18" charset="0"/>
              </a:rPr>
              <a:t>hợp trong trường hợp cần thoát nhiệt ra bên ngoài.</a:t>
            </a: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Cần phải sử dụng dầu có độ nhớt thấp đúng với tốc độ quay.</a:t>
            </a:r>
          </a:p>
          <a:p>
            <a:pPr marL="111125" indent="-111125"/>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Cần phải sử dụng dầu bôi trơn có độ lớn cao tùy theo tải trọng.</a:t>
            </a:r>
          </a:p>
        </p:txBody>
      </p:sp>
      <p:sp>
        <p:nvSpPr>
          <p:cNvPr id="57" name="Rectangle 14"/>
          <p:cNvSpPr>
            <a:spLocks noChangeArrowheads="1"/>
          </p:cNvSpPr>
          <p:nvPr/>
        </p:nvSpPr>
        <p:spPr bwMode="auto">
          <a:xfrm>
            <a:off x="3429000" y="7689304"/>
            <a:ext cx="3272982" cy="170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8</a:t>
            </a:r>
            <a:r>
              <a:rPr lang="en-US" altLang="ko-KR" sz="950" smtClean="0">
                <a:latin typeface="Times New Roman" pitchFamily="18" charset="0"/>
                <a:ea typeface="돋움" pitchFamily="50" charset="-127"/>
                <a:cs typeface="Times New Roman" pitchFamily="18" charset="0"/>
              </a:rPr>
              <a:t>0</a:t>
            </a:r>
            <a:r>
              <a:rPr lang="en-US" altLang="ko-KR" sz="950">
                <a:latin typeface="Times New Roman" pitchFamily="18" charset="0"/>
                <a:ea typeface="돋움" pitchFamily="50" charset="-127"/>
                <a:cs typeface="Times New Roman" pitchFamily="18" charset="0"/>
              </a:rPr>
              <a:t>. Chọn đáp án biểu thị đúng thứ tự ưu tiên của </a:t>
            </a:r>
            <a:r>
              <a:rPr lang="en-US" altLang="ko-KR" sz="950" smtClean="0">
                <a:latin typeface="Times New Roman" pitchFamily="18" charset="0"/>
                <a:ea typeface="돋움" pitchFamily="50" charset="-127"/>
                <a:cs typeface="Times New Roman" pitchFamily="18" charset="0"/>
              </a:rPr>
              <a:t>đường kẻ trong bản vẽ?</a:t>
            </a:r>
            <a:endParaRPr lang="en-US" altLang="ko-KR" sz="950">
              <a:latin typeface="Times New Roman" pitchFamily="18" charset="0"/>
              <a:ea typeface="돋움" pitchFamily="50" charset="-127"/>
              <a:cs typeface="Times New Roman" pitchFamily="18" charset="0"/>
            </a:endParaRPr>
          </a:p>
          <a:p>
            <a:pPr marL="111125" indent="-111125"/>
            <a:endParaRPr lang="en-US" altLang="ko-KR" sz="950" smtClean="0">
              <a:solidFill>
                <a:srgbClr val="FF0000"/>
              </a:solidFill>
              <a:latin typeface="Times New Roman" pitchFamily="18" charset="0"/>
              <a:ea typeface="돋움" pitchFamily="50" charset="-127"/>
              <a:cs typeface="Times New Roman" pitchFamily="18" charset="0"/>
            </a:endParaRPr>
          </a:p>
          <a:p>
            <a:pPr marL="111125" indent="-111125"/>
            <a:r>
              <a:rPr lang="en-US" altLang="ko-KR" sz="950" smtClean="0">
                <a:solidFill>
                  <a:srgbClr val="FF0000"/>
                </a:solidFill>
                <a:latin typeface="Times New Roman" pitchFamily="18" charset="0"/>
                <a:ea typeface="돋움" pitchFamily="50" charset="-127"/>
                <a:cs typeface="Times New Roman" pitchFamily="18" charset="0"/>
              </a:rPr>
              <a:t>A. Đường nhìn thấy</a:t>
            </a:r>
            <a:r>
              <a:rPr lang="ko-KR" altLang="en-US" sz="950" smtClean="0">
                <a:solidFill>
                  <a:srgbClr val="FF0000"/>
                </a:solidFill>
                <a:latin typeface="Times New Roman" pitchFamily="18" charset="0"/>
                <a:ea typeface="돋움" pitchFamily="50" charset="-127"/>
                <a:cs typeface="Times New Roman" pitchFamily="18" charset="0"/>
              </a:rPr>
              <a:t> </a:t>
            </a:r>
            <a:r>
              <a:rPr lang="ko-KR" altLang="en-US" sz="950">
                <a:solidFill>
                  <a:srgbClr val="FF0000"/>
                </a:solidFill>
                <a:latin typeface="Times New Roman" pitchFamily="18" charset="0"/>
                <a:ea typeface="돋움" pitchFamily="50" charset="-127"/>
                <a:cs typeface="Times New Roman" pitchFamily="18" charset="0"/>
                <a:sym typeface="Wingdings" pitchFamily="2" charset="2"/>
              </a:rPr>
              <a:t> </a:t>
            </a:r>
            <a:r>
              <a:rPr lang="en-US" altLang="ko-KR" sz="950" smtClean="0">
                <a:solidFill>
                  <a:srgbClr val="FF0000"/>
                </a:solidFill>
                <a:latin typeface="Times New Roman" pitchFamily="18" charset="0"/>
                <a:ea typeface="돋움" pitchFamily="50" charset="-127"/>
                <a:cs typeface="Times New Roman" pitchFamily="18" charset="0"/>
                <a:sym typeface="Wingdings" pitchFamily="2" charset="2"/>
              </a:rPr>
              <a:t>đường </a:t>
            </a:r>
            <a:r>
              <a:rPr lang="en-US" altLang="ko-KR" sz="950">
                <a:solidFill>
                  <a:srgbClr val="FF0000"/>
                </a:solidFill>
                <a:latin typeface="Times New Roman" pitchFamily="18" charset="0"/>
                <a:ea typeface="돋움" pitchFamily="50" charset="-127"/>
                <a:cs typeface="Times New Roman" pitchFamily="18" charset="0"/>
                <a:sym typeface="Wingdings" pitchFamily="2" charset="2"/>
              </a:rPr>
              <a:t>ẩn</a:t>
            </a:r>
            <a:r>
              <a:rPr lang="ko-KR" altLang="en-US" sz="950">
                <a:solidFill>
                  <a:srgbClr val="FF0000"/>
                </a:solidFill>
                <a:latin typeface="Times New Roman" pitchFamily="18" charset="0"/>
                <a:ea typeface="돋움" pitchFamily="50" charset="-127"/>
                <a:cs typeface="Times New Roman" pitchFamily="18" charset="0"/>
                <a:sym typeface="Wingdings" pitchFamily="2" charset="2"/>
              </a:rPr>
              <a:t> </a:t>
            </a:r>
            <a:r>
              <a:rPr lang="ko-KR" altLang="en-US" sz="950" smtClean="0">
                <a:solidFill>
                  <a:srgbClr val="FF0000"/>
                </a:solidFill>
                <a:latin typeface="Times New Roman" pitchFamily="18" charset="0"/>
                <a:ea typeface="돋움" pitchFamily="50" charset="-127"/>
                <a:cs typeface="Times New Roman" pitchFamily="18" charset="0"/>
                <a:sym typeface="Wingdings" pitchFamily="2" charset="2"/>
              </a:rPr>
              <a:t> </a:t>
            </a:r>
            <a:r>
              <a:rPr lang="en-US" altLang="ko-KR" sz="950" smtClean="0">
                <a:solidFill>
                  <a:srgbClr val="FF0000"/>
                </a:solidFill>
                <a:latin typeface="Times New Roman" pitchFamily="18" charset="0"/>
                <a:ea typeface="돋움" pitchFamily="50" charset="-127"/>
                <a:cs typeface="Times New Roman" pitchFamily="18" charset="0"/>
                <a:sym typeface="Wingdings" pitchFamily="2" charset="2"/>
              </a:rPr>
              <a:t>đường cắt phẳng</a:t>
            </a:r>
            <a:r>
              <a:rPr lang="ko-KR" altLang="en-US" sz="950" smtClean="0">
                <a:solidFill>
                  <a:srgbClr val="FF0000"/>
                </a:solidFill>
                <a:latin typeface="Times New Roman" pitchFamily="18" charset="0"/>
                <a:ea typeface="돋움" pitchFamily="50" charset="-127"/>
                <a:cs typeface="Times New Roman" pitchFamily="18" charset="0"/>
                <a:sym typeface="Wingdings" pitchFamily="2" charset="2"/>
              </a:rPr>
              <a:t> </a:t>
            </a:r>
            <a:r>
              <a:rPr lang="ko-KR" altLang="en-US" sz="950">
                <a:solidFill>
                  <a:srgbClr val="FF0000"/>
                </a:solidFill>
                <a:latin typeface="Times New Roman" pitchFamily="18" charset="0"/>
                <a:ea typeface="돋움" pitchFamily="50" charset="-127"/>
                <a:cs typeface="Times New Roman" pitchFamily="18" charset="0"/>
                <a:sym typeface="Wingdings" pitchFamily="2" charset="2"/>
              </a:rPr>
              <a:t> </a:t>
            </a:r>
            <a:r>
              <a:rPr lang="en-US" altLang="ko-KR" sz="950" smtClean="0">
                <a:solidFill>
                  <a:srgbClr val="FF0000"/>
                </a:solidFill>
                <a:latin typeface="Times New Roman" pitchFamily="18" charset="0"/>
                <a:ea typeface="돋움" pitchFamily="50" charset="-127"/>
                <a:cs typeface="Times New Roman" pitchFamily="18" charset="0"/>
                <a:sym typeface="Wingdings" pitchFamily="2" charset="2"/>
              </a:rPr>
              <a:t>đường  tâm</a:t>
            </a:r>
            <a:r>
              <a:rPr lang="ko-KR" altLang="en-US" sz="950" smtClean="0">
                <a:solidFill>
                  <a:srgbClr val="FF0000"/>
                </a:solidFill>
                <a:latin typeface="Times New Roman" pitchFamily="18" charset="0"/>
                <a:ea typeface="돋움" pitchFamily="50" charset="-127"/>
                <a:cs typeface="Times New Roman" pitchFamily="18" charset="0"/>
                <a:sym typeface="Wingdings" pitchFamily="2" charset="2"/>
              </a:rPr>
              <a:t> </a:t>
            </a:r>
            <a:r>
              <a:rPr lang="ko-KR" altLang="en-US" sz="950">
                <a:solidFill>
                  <a:srgbClr val="FF0000"/>
                </a:solidFill>
                <a:latin typeface="Times New Roman" pitchFamily="18" charset="0"/>
                <a:ea typeface="돋움" pitchFamily="50" charset="-127"/>
                <a:cs typeface="Times New Roman" pitchFamily="18" charset="0"/>
                <a:sym typeface="Wingdings" pitchFamily="2" charset="2"/>
              </a:rPr>
              <a:t> </a:t>
            </a:r>
            <a:r>
              <a:rPr lang="en-US" altLang="ko-KR" sz="950" smtClean="0">
                <a:solidFill>
                  <a:srgbClr val="FF0000"/>
                </a:solidFill>
                <a:latin typeface="Times New Roman" pitchFamily="18" charset="0"/>
                <a:ea typeface="돋움" pitchFamily="50" charset="-127"/>
                <a:cs typeface="Times New Roman" pitchFamily="18" charset="0"/>
                <a:sym typeface="Wingdings" pitchFamily="2" charset="2"/>
              </a:rPr>
              <a:t>đường đề kích thước</a:t>
            </a:r>
            <a:endParaRPr lang="ko-KR" altLang="en-US" sz="950">
              <a:solidFill>
                <a:srgbClr val="FF0000"/>
              </a:solidFill>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Đường nhìn thấy</a:t>
            </a:r>
            <a:r>
              <a:rPr lang="ko-KR" altLang="en-US" sz="950" smtClean="0">
                <a:latin typeface="Times New Roman" pitchFamily="18" charset="0"/>
                <a:ea typeface="돋움" pitchFamily="50" charset="-127"/>
                <a:cs typeface="Times New Roman" pitchFamily="18" charset="0"/>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cắt phẳng</a:t>
            </a:r>
            <a:r>
              <a:rPr lang="ko-KR" altLang="en-US" sz="950" smtClean="0">
                <a:latin typeface="Times New Roman" pitchFamily="18" charset="0"/>
                <a:ea typeface="돋움" pitchFamily="50" charset="-127"/>
                <a:cs typeface="Times New Roman" pitchFamily="18" charset="0"/>
                <a:sym typeface="Wingdings" pitchFamily="2" charset="2"/>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a:t>
            </a:r>
            <a:r>
              <a:rPr lang="en-US" altLang="ko-KR" sz="950">
                <a:latin typeface="Times New Roman" pitchFamily="18" charset="0"/>
                <a:ea typeface="돋움" pitchFamily="50" charset="-127"/>
                <a:cs typeface="Times New Roman" pitchFamily="18" charset="0"/>
                <a:sym typeface="Wingdings" pitchFamily="2" charset="2"/>
              </a:rPr>
              <a:t>ẩn</a:t>
            </a:r>
            <a:r>
              <a:rPr lang="ko-KR" altLang="en-US" sz="950">
                <a:latin typeface="Times New Roman" pitchFamily="18" charset="0"/>
                <a:ea typeface="돋움" pitchFamily="50" charset="-127"/>
                <a:cs typeface="Times New Roman" pitchFamily="18" charset="0"/>
                <a:sym typeface="Wingdings" pitchFamily="2" charset="2"/>
              </a:rPr>
              <a:t>  </a:t>
            </a:r>
            <a:r>
              <a:rPr lang="en-US" altLang="ko-KR" sz="950" smtClean="0">
                <a:latin typeface="Times New Roman" pitchFamily="18" charset="0"/>
                <a:ea typeface="돋움" pitchFamily="50" charset="-127"/>
                <a:cs typeface="Times New Roman" pitchFamily="18" charset="0"/>
                <a:sym typeface="Wingdings" pitchFamily="2" charset="2"/>
              </a:rPr>
              <a:t>đường tâm</a:t>
            </a:r>
            <a:r>
              <a:rPr lang="ko-KR" altLang="en-US" sz="950" smtClean="0">
                <a:latin typeface="Times New Roman" pitchFamily="18" charset="0"/>
                <a:ea typeface="돋움" pitchFamily="50" charset="-127"/>
                <a:cs typeface="Times New Roman" pitchFamily="18" charset="0"/>
                <a:sym typeface="Wingdings" pitchFamily="2" charset="2"/>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đề kích thước</a:t>
            </a:r>
            <a:endParaRPr lang="ko-KR" altLang="en-US" sz="950">
              <a:latin typeface="Times New Roman" pitchFamily="18" charset="0"/>
              <a:ea typeface="돋움" pitchFamily="50" charset="-127"/>
              <a:cs typeface="Times New Roman" pitchFamily="18" charset="0"/>
              <a:sym typeface="Wingdings" pitchFamily="2" charset="2"/>
            </a:endParaRPr>
          </a:p>
          <a:p>
            <a:pPr marL="111125" indent="-111125"/>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vi-VN" altLang="ko-KR" sz="950">
                <a:latin typeface="Times New Roman" pitchFamily="18" charset="0"/>
                <a:ea typeface="돋움" pitchFamily="50" charset="-127"/>
                <a:cs typeface="Times New Roman" pitchFamily="18" charset="0"/>
              </a:rPr>
              <a:t>Đường nhìn thấy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ẩn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smtClean="0">
                <a:latin typeface="Times New Roman" pitchFamily="18" charset="0"/>
                <a:ea typeface="돋움" pitchFamily="50" charset="-127"/>
                <a:cs typeface="Times New Roman" pitchFamily="18" charset="0"/>
                <a:sym typeface="Wingdings" pitchFamily="2" charset="2"/>
              </a:rPr>
              <a:t>đường tâm</a:t>
            </a:r>
            <a:r>
              <a:rPr lang="en-US" altLang="ko-KR" sz="950" smtClean="0">
                <a:latin typeface="Times New Roman" pitchFamily="18" charset="0"/>
                <a:ea typeface="돋움" pitchFamily="50" charset="-127"/>
                <a:cs typeface="Times New Roman" pitchFamily="18" charset="0"/>
                <a:sym typeface="Wingdings" pitchFamily="2" charset="2"/>
              </a:rPr>
              <a:t>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a:t>
            </a:r>
            <a:r>
              <a:rPr lang="en-US" altLang="ko-KR" sz="950" smtClean="0">
                <a:latin typeface="Times New Roman" pitchFamily="18" charset="0"/>
                <a:ea typeface="돋움" pitchFamily="50" charset="-127"/>
                <a:cs typeface="Times New Roman" pitchFamily="18" charset="0"/>
                <a:sym typeface="Wingdings" pitchFamily="2" charset="2"/>
              </a:rPr>
              <a:t>kích đề thước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cắt phẳng </a:t>
            </a:r>
            <a:endParaRPr lang="ko-KR" altLang="en-US" sz="950">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sym typeface="Wingdings" pitchFamily="2" charset="2"/>
              </a:rPr>
              <a:t>Đ</a:t>
            </a:r>
            <a:r>
              <a:rPr lang="vi-VN" altLang="ko-KR" sz="950" smtClean="0">
                <a:latin typeface="Times New Roman" pitchFamily="18" charset="0"/>
                <a:ea typeface="돋움" pitchFamily="50" charset="-127"/>
                <a:cs typeface="Times New Roman" pitchFamily="18" charset="0"/>
                <a:sym typeface="Wingdings" pitchFamily="2" charset="2"/>
              </a:rPr>
              <a:t>ường </a:t>
            </a:r>
            <a:r>
              <a:rPr lang="vi-VN" altLang="ko-KR" sz="950">
                <a:latin typeface="Times New Roman" pitchFamily="18" charset="0"/>
                <a:ea typeface="돋움" pitchFamily="50" charset="-127"/>
                <a:cs typeface="Times New Roman" pitchFamily="18" charset="0"/>
                <a:sym typeface="Wingdings" pitchFamily="2" charset="2"/>
              </a:rPr>
              <a:t>ẩn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rPr>
              <a:t>Đường nhìn thấy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cắt </a:t>
            </a:r>
            <a:r>
              <a:rPr lang="en-US" altLang="ko-KR" sz="950" smtClean="0">
                <a:latin typeface="Times New Roman" pitchFamily="18" charset="0"/>
                <a:ea typeface="돋움" pitchFamily="50" charset="-127"/>
                <a:cs typeface="Times New Roman" pitchFamily="18" charset="0"/>
                <a:sym typeface="Wingdings" pitchFamily="2" charset="2"/>
              </a:rPr>
              <a:t>phẳng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a:t>
            </a:r>
            <a:r>
              <a:rPr lang="vi-VN" altLang="ko-KR" sz="950" smtClean="0">
                <a:latin typeface="Times New Roman" pitchFamily="18" charset="0"/>
                <a:ea typeface="돋움" pitchFamily="50" charset="-127"/>
                <a:cs typeface="Times New Roman" pitchFamily="18" charset="0"/>
                <a:sym typeface="Wingdings" pitchFamily="2" charset="2"/>
              </a:rPr>
              <a:t> tâm</a:t>
            </a:r>
            <a:r>
              <a:rPr lang="en-US" altLang="ko-KR" sz="950" smtClean="0">
                <a:latin typeface="Times New Roman" pitchFamily="18" charset="0"/>
                <a:ea typeface="돋움" pitchFamily="50" charset="-127"/>
                <a:cs typeface="Times New Roman" pitchFamily="18" charset="0"/>
                <a:sym typeface="Wingdings" pitchFamily="2" charset="2"/>
              </a:rPr>
              <a:t>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a:t>
            </a:r>
            <a:r>
              <a:rPr lang="en-US" altLang="ko-KR" sz="950" smtClean="0">
                <a:latin typeface="Times New Roman" pitchFamily="18" charset="0"/>
                <a:ea typeface="돋움" pitchFamily="50" charset="-127"/>
                <a:cs typeface="Times New Roman" pitchFamily="18" charset="0"/>
                <a:sym typeface="Wingdings" pitchFamily="2" charset="2"/>
              </a:rPr>
              <a:t>đề kích thước</a:t>
            </a:r>
            <a:r>
              <a:rPr lang="vi-VN" altLang="ko-KR" sz="950" smtClean="0">
                <a:latin typeface="Times New Roman" pitchFamily="18" charset="0"/>
                <a:ea typeface="돋움" pitchFamily="50" charset="-127"/>
                <a:cs typeface="Times New Roman" pitchFamily="18" charset="0"/>
                <a:sym typeface="Wingdings" pitchFamily="2" charset="2"/>
              </a:rPr>
              <a:t> </a:t>
            </a:r>
            <a:r>
              <a:rPr lang="ko-KR" altLang="en-US" sz="950" smtClean="0">
                <a:latin typeface="Times New Roman" pitchFamily="18" charset="0"/>
                <a:ea typeface="돋움" pitchFamily="50" charset="-127"/>
                <a:cs typeface="Times New Roman" pitchFamily="18" charset="0"/>
                <a:sym typeface="Wingdings" pitchFamily="2" charset="2"/>
              </a:rPr>
              <a:t> </a:t>
            </a:r>
            <a:endParaRPr lang="ko-KR" altLang="en-US" sz="950">
              <a:latin typeface="Times New Roman" pitchFamily="18" charset="0"/>
              <a:ea typeface="돋움" pitchFamily="50" charset="-127"/>
              <a:cs typeface="Times New Roman" pitchFamily="18" charset="0"/>
            </a:endParaRPr>
          </a:p>
        </p:txBody>
      </p:sp>
      <p:sp>
        <p:nvSpPr>
          <p:cNvPr id="58" name="Rectangle 22"/>
          <p:cNvSpPr>
            <a:spLocks noChangeArrowheads="1"/>
          </p:cNvSpPr>
          <p:nvPr/>
        </p:nvSpPr>
        <p:spPr bwMode="auto">
          <a:xfrm>
            <a:off x="3428999" y="6465168"/>
            <a:ext cx="3228167"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9</a:t>
            </a:r>
            <a:r>
              <a:rPr lang="en-US" altLang="ko-KR" sz="950">
                <a:latin typeface="Times New Roman" pitchFamily="18" charset="0"/>
                <a:ea typeface="돋움" pitchFamily="50" charset="-127"/>
                <a:cs typeface="Times New Roman" pitchFamily="18" charset="0"/>
              </a:rPr>
              <a:t>. Chọn đáp án không đúng với mục đích của việc bôi trơn?</a:t>
            </a:r>
          </a:p>
          <a:p>
            <a:pPr marL="228600" indent="-228600">
              <a:buAutoNum type="alphaUcPeriod"/>
            </a:pPr>
            <a:r>
              <a:rPr lang="en-US" altLang="ko-KR" sz="950" smtClean="0">
                <a:latin typeface="Times New Roman" pitchFamily="18" charset="0"/>
                <a:ea typeface="돋움" pitchFamily="50" charset="-127"/>
                <a:cs typeface="Times New Roman" pitchFamily="18" charset="0"/>
              </a:rPr>
              <a:t>Giảm </a:t>
            </a:r>
            <a:r>
              <a:rPr lang="en-US" altLang="ko-KR" sz="950">
                <a:latin typeface="Times New Roman" pitchFamily="18" charset="0"/>
                <a:ea typeface="돋움" pitchFamily="50" charset="-127"/>
                <a:cs typeface="Times New Roman" pitchFamily="18" charset="0"/>
              </a:rPr>
              <a:t>ma sát và </a:t>
            </a:r>
            <a:r>
              <a:rPr lang="en-US" altLang="ko-KR" sz="950" smtClean="0">
                <a:latin typeface="Times New Roman" pitchFamily="18" charset="0"/>
                <a:ea typeface="돋움" pitchFamily="50" charset="-127"/>
                <a:cs typeface="Times New Roman" pitchFamily="18" charset="0"/>
              </a:rPr>
              <a:t>giảm mài </a:t>
            </a:r>
            <a:r>
              <a:rPr lang="en-US" altLang="ko-KR" sz="950">
                <a:latin typeface="Times New Roman" pitchFamily="18" charset="0"/>
                <a:ea typeface="돋움" pitchFamily="50" charset="-127"/>
                <a:cs typeface="Times New Roman" pitchFamily="18" charset="0"/>
              </a:rPr>
              <a:t>mòn</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marL="228600" indent="-228600">
              <a:buAutoNum type="alphaUcPeriod"/>
            </a:pPr>
            <a:r>
              <a:rPr lang="en-US" altLang="ko-KR" sz="950" smtClean="0">
                <a:latin typeface="Times New Roman" pitchFamily="18" charset="0"/>
                <a:ea typeface="돋움" pitchFamily="50" charset="-127"/>
                <a:cs typeface="Times New Roman" pitchFamily="18" charset="0"/>
              </a:rPr>
              <a:t>Giảm nhiệt </a:t>
            </a:r>
            <a:r>
              <a:rPr lang="en-US" altLang="ko-KR" sz="950">
                <a:latin typeface="Times New Roman" pitchFamily="18" charset="0"/>
                <a:ea typeface="돋움" pitchFamily="50" charset="-127"/>
                <a:cs typeface="Times New Roman" pitchFamily="18" charset="0"/>
              </a:rPr>
              <a:t>ma </a:t>
            </a:r>
            <a:r>
              <a:rPr lang="en-US" altLang="ko-KR" sz="950" smtClean="0">
                <a:latin typeface="Times New Roman" pitchFamily="18" charset="0"/>
                <a:ea typeface="돋움" pitchFamily="50" charset="-127"/>
                <a:cs typeface="Times New Roman" pitchFamily="18" charset="0"/>
              </a:rPr>
              <a:t>sát</a:t>
            </a:r>
            <a:endParaRPr lang="en-US" altLang="ko-KR" sz="950">
              <a:latin typeface="Times New Roman" pitchFamily="18" charset="0"/>
              <a:ea typeface="돋움" pitchFamily="50" charset="-127"/>
              <a:cs typeface="Times New Roman" pitchFamily="18" charset="0"/>
            </a:endParaRPr>
          </a:p>
          <a:p>
            <a:pPr marL="228600" indent="-228600">
              <a:buAutoNum type="alphaUcPeriod"/>
            </a:pPr>
            <a:r>
              <a:rPr lang="en-US" altLang="ko-KR" sz="950" smtClean="0">
                <a:latin typeface="Times New Roman" pitchFamily="18" charset="0"/>
                <a:ea typeface="돋움" pitchFamily="50" charset="-127"/>
                <a:cs typeface="Times New Roman" pitchFamily="18" charset="0"/>
              </a:rPr>
              <a:t>Tăng </a:t>
            </a:r>
            <a:r>
              <a:rPr lang="en-US" altLang="ko-KR" sz="950">
                <a:latin typeface="Times New Roman" pitchFamily="18" charset="0"/>
                <a:ea typeface="돋움" pitchFamily="50" charset="-127"/>
                <a:cs typeface="Times New Roman" pitchFamily="18" charset="0"/>
              </a:rPr>
              <a:t>tuổi thọ của Bearing</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marL="228600" indent="-228600">
              <a:buAutoNum type="alphaUcPeriod"/>
            </a:pPr>
            <a:r>
              <a:rPr lang="en-US" altLang="ko-KR" sz="950" smtClean="0">
                <a:solidFill>
                  <a:srgbClr val="FF0000"/>
                </a:solidFill>
                <a:latin typeface="Times New Roman" pitchFamily="18" charset="0"/>
                <a:ea typeface="돋움" pitchFamily="50" charset="-127"/>
                <a:cs typeface="Times New Roman" pitchFamily="18" charset="0"/>
              </a:rPr>
              <a:t>Ngăn </a:t>
            </a:r>
            <a:r>
              <a:rPr lang="en-US" altLang="ko-KR" sz="950">
                <a:solidFill>
                  <a:srgbClr val="FF0000"/>
                </a:solidFill>
                <a:latin typeface="Times New Roman" pitchFamily="18" charset="0"/>
                <a:ea typeface="돋움" pitchFamily="50" charset="-127"/>
                <a:cs typeface="Times New Roman" pitchFamily="18" charset="0"/>
              </a:rPr>
              <a:t>phân tán</a:t>
            </a:r>
            <a:endParaRPr lang="ko-KR" altLang="en-US" sz="950">
              <a:solidFill>
                <a:srgbClr val="FF0000"/>
              </a:solidFill>
              <a:latin typeface="Times New Roman" pitchFamily="18" charset="0"/>
              <a:ea typeface="돋움" pitchFamily="50" charset="-127"/>
              <a:cs typeface="Times New Roman" pitchFamily="18" charset="0"/>
            </a:endParaRPr>
          </a:p>
        </p:txBody>
      </p:sp>
    </p:spTree>
    <p:extLst>
      <p:ext uri="{BB962C8B-B14F-4D97-AF65-F5344CB8AC3E}">
        <p14:creationId xmlns:p14="http://schemas.microsoft.com/office/powerpoint/2010/main" val="3896854231"/>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2573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59" name="Rectangle 7"/>
          <p:cNvSpPr>
            <a:spLocks noChangeArrowheads="1"/>
          </p:cNvSpPr>
          <p:nvPr/>
        </p:nvSpPr>
        <p:spPr bwMode="auto">
          <a:xfrm>
            <a:off x="188640" y="1255253"/>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1</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 </a:t>
            </a:r>
            <a:r>
              <a:rPr lang="vi-VN" altLang="ko-KR" sz="950">
                <a:solidFill>
                  <a:srgbClr val="000000"/>
                </a:solidFill>
                <a:latin typeface="Times New Roman" pitchFamily="18" charset="0"/>
                <a:ea typeface="LG Smart_H Regular" panose="020B0600000101010101" pitchFamily="34" charset="-127"/>
                <a:cs typeface="Times New Roman" pitchFamily="18" charset="0"/>
              </a:rPr>
              <a:t>Thứ tự đúng của các lớp Electron </a:t>
            </a:r>
            <a:r>
              <a:rPr lang="vi-VN" altLang="ko-KR" sz="950" smtClean="0">
                <a:solidFill>
                  <a:srgbClr val="000000"/>
                </a:solidFill>
                <a:latin typeface="Times New Roman" pitchFamily="18" charset="0"/>
                <a:ea typeface="LG Smart_H Regular" panose="020B0600000101010101" pitchFamily="34" charset="-127"/>
                <a:cs typeface="Times New Roman" pitchFamily="18" charset="0"/>
              </a:rPr>
              <a:t>là? </a:t>
            </a:r>
            <a:endParaRPr lang="en-US" altLang="ko-KR" sz="950" dirty="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solidFill>
                <a:srgbClr val="00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Lớp </a:t>
            </a:r>
            <a:r>
              <a:rPr lang="en-US" altLang="ko-KR" sz="950">
                <a:solidFill>
                  <a:srgbClr val="000000"/>
                </a:solidFill>
                <a:latin typeface="Times New Roman" pitchFamily="18" charset="0"/>
                <a:ea typeface="LG Smart_H Regular" panose="020B0600000101010101" pitchFamily="34" charset="-127"/>
                <a:cs typeface="Times New Roman" pitchFamily="18" charset="0"/>
              </a:rPr>
              <a:t>K→lớp M→lớp N→lớp </a:t>
            </a: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L</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Lớp K→lớp N→lớp L→lớp M</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    Lớp </a:t>
            </a:r>
            <a:r>
              <a:rPr lang="en-US" altLang="ko-KR" sz="950">
                <a:solidFill>
                  <a:srgbClr val="FF0000"/>
                </a:solidFill>
                <a:latin typeface="Times New Roman" pitchFamily="18" charset="0"/>
                <a:ea typeface="LG Smart_H Regular" panose="020B0600000101010101" pitchFamily="34" charset="-127"/>
                <a:cs typeface="Times New Roman" pitchFamily="18" charset="0"/>
              </a:rPr>
              <a:t>K→lớp L→lớp M→lớp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N</a:t>
            </a:r>
          </a:p>
          <a:p>
            <a:pPr eaLnBrk="1" fontAlgn="base" hangingPunct="1">
              <a:spcBef>
                <a:spcPct val="0"/>
              </a:spcBef>
              <a:spcAft>
                <a:spcPct val="0"/>
              </a:spcAft>
            </a:pPr>
            <a:r>
              <a:rPr lang="en-US" altLang="ko-KR" sz="950" smtClean="0">
                <a:solidFill>
                  <a:srgbClr val="000000"/>
                </a:solidFill>
                <a:latin typeface="Times New Roman" pitchFamily="18" charset="0"/>
                <a:ea typeface="LG Smart_H Regular" panose="020B0600000101010101" pitchFamily="34" charset="-127"/>
                <a:cs typeface="Times New Roman" pitchFamily="18" charset="0"/>
              </a:rPr>
              <a:t>D.    Lớp </a:t>
            </a:r>
            <a:r>
              <a:rPr lang="en-US" altLang="ko-KR" sz="950">
                <a:solidFill>
                  <a:srgbClr val="000000"/>
                </a:solidFill>
                <a:latin typeface="Times New Roman" pitchFamily="18" charset="0"/>
                <a:ea typeface="LG Smart_H Regular" panose="020B0600000101010101" pitchFamily="34" charset="-127"/>
                <a:cs typeface="Times New Roman" pitchFamily="18" charset="0"/>
              </a:rPr>
              <a:t>L→lớp K→lớp M→lớp N</a:t>
            </a:r>
            <a:endParaRPr lang="en-US" altLang="ko-KR" sz="950" dirty="0">
              <a:solidFill>
                <a:srgbClr val="000000"/>
              </a:solidFill>
              <a:latin typeface="Times New Roman" pitchFamily="18" charset="0"/>
              <a:ea typeface="LG Smart_H Regular" panose="020B0600000101010101" pitchFamily="34" charset="-127"/>
              <a:cs typeface="Times New Roman" pitchFamily="18" charset="0"/>
            </a:endParaRPr>
          </a:p>
        </p:txBody>
      </p:sp>
      <p:sp>
        <p:nvSpPr>
          <p:cNvPr id="60" name="Rectangle 7"/>
          <p:cNvSpPr>
            <a:spLocks noChangeArrowheads="1"/>
          </p:cNvSpPr>
          <p:nvPr/>
        </p:nvSpPr>
        <p:spPr bwMode="auto">
          <a:xfrm>
            <a:off x="188640" y="239932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 </a:t>
            </a:r>
            <a:r>
              <a:rPr lang="vi-VN" altLang="ko-KR" sz="950">
                <a:latin typeface="Times New Roman" pitchFamily="18" charset="0"/>
                <a:ea typeface="LG Smart_H Regular" panose="020B0600000101010101" pitchFamily="34" charset="-127"/>
                <a:cs typeface="Times New Roman" pitchFamily="18" charset="0"/>
              </a:rPr>
              <a:t>Bắt đầu từ việc co cơ, không thể tự thoát ra khỏi nguồn điện. Giá trị hiệu dụng của dòng điện là bao </a:t>
            </a:r>
            <a:r>
              <a:rPr lang="vi-VN" altLang="ko-KR" sz="950" smtClean="0">
                <a:latin typeface="Times New Roman" pitchFamily="18" charset="0"/>
                <a:ea typeface="LG Smart_H Regular" panose="020B0600000101010101" pitchFamily="34" charset="-127"/>
                <a:cs typeface="Times New Roman" pitchFamily="18" charset="0"/>
              </a:rPr>
              <a:t>nhiêu</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30~50mA</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50~100mA</a:t>
            </a: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5~30mA</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Quá 100mA</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188640" y="365685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Đâu là cấu tạo của hạt nhân nguyên </a:t>
            </a:r>
            <a:r>
              <a:rPr lang="vi-VN" altLang="ko-KR" sz="950" smtClean="0">
                <a:latin typeface="Times New Roman" pitchFamily="18" charset="0"/>
                <a:ea typeface="LG Smart_H Regular" panose="020B0600000101010101" pitchFamily="34" charset="-127"/>
                <a:cs typeface="Times New Roman" pitchFamily="18" charset="0"/>
              </a:rPr>
              <a:t>tử?</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Hạt </a:t>
            </a:r>
            <a:r>
              <a:rPr lang="vi-VN" altLang="ko-KR" sz="950">
                <a:solidFill>
                  <a:srgbClr val="FF0000"/>
                </a:solidFill>
                <a:latin typeface="Times New Roman" pitchFamily="18" charset="0"/>
                <a:ea typeface="LG Smart_H Regular" panose="020B0600000101010101" pitchFamily="34" charset="-127"/>
                <a:cs typeface="Times New Roman" pitchFamily="18" charset="0"/>
              </a:rPr>
              <a:t>điện tích dương + hạt trung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tính</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Hạt điện tích dương + hạt </a:t>
            </a:r>
            <a:r>
              <a:rPr lang="vi-VN" altLang="ko-KR" sz="950" smtClean="0">
                <a:latin typeface="Times New Roman" pitchFamily="18" charset="0"/>
                <a:ea typeface="LG Smart_H Regular" panose="020B0600000101010101" pitchFamily="34" charset="-127"/>
                <a:cs typeface="Times New Roman" pitchFamily="18" charset="0"/>
              </a:rPr>
              <a:t>electron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Hạt </a:t>
            </a:r>
            <a:r>
              <a:rPr lang="en-US" altLang="ko-KR" sz="950">
                <a:latin typeface="Times New Roman" pitchFamily="18" charset="0"/>
                <a:ea typeface="LG Smart_H Regular" panose="020B0600000101010101" pitchFamily="34" charset="-127"/>
                <a:cs typeface="Times New Roman" pitchFamily="18" charset="0"/>
              </a:rPr>
              <a:t>electron + hạt trung </a:t>
            </a:r>
            <a:r>
              <a:rPr lang="en-US" altLang="ko-KR" sz="950" smtClean="0">
                <a:latin typeface="Times New Roman" pitchFamily="18" charset="0"/>
                <a:ea typeface="LG Smart_H Regular" panose="020B0600000101010101" pitchFamily="34" charset="-127"/>
                <a:cs typeface="Times New Roman" pitchFamily="18" charset="0"/>
              </a:rPr>
              <a:t>tính</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Hạt điện tích dương + hạt electron + hạt trung tính</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9" name="Rectangle 7"/>
          <p:cNvSpPr>
            <a:spLocks noChangeArrowheads="1"/>
          </p:cNvSpPr>
          <p:nvPr/>
        </p:nvSpPr>
        <p:spPr bwMode="auto">
          <a:xfrm>
            <a:off x="3448472" y="1249701"/>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 </a:t>
            </a:r>
            <a:r>
              <a:rPr lang="vi-VN" altLang="ko-KR" sz="950">
                <a:latin typeface="Times New Roman" pitchFamily="18" charset="0"/>
                <a:ea typeface="LG Smart_H Regular" panose="020B0600000101010101" pitchFamily="34" charset="-127"/>
                <a:cs typeface="Times New Roman" pitchFamily="18" charset="0"/>
              </a:rPr>
              <a:t>Tụ nào Chủ yếu được sử dụng ở dải tần số cao (tần số AM, FM</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Tụ hóa</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Tụ điện </a:t>
            </a:r>
            <a:r>
              <a:rPr lang="vi-VN" altLang="ko-KR" sz="950" smtClean="0">
                <a:latin typeface="Times New Roman" pitchFamily="18" charset="0"/>
                <a:ea typeface="LG Smart_H Regular" panose="020B0600000101010101" pitchFamily="34" charset="-127"/>
                <a:cs typeface="Times New Roman" pitchFamily="18" charset="0"/>
              </a:rPr>
              <a:t>phân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Tụ </a:t>
            </a:r>
            <a:r>
              <a:rPr lang="en-US" altLang="ko-KR" sz="950" smtClean="0">
                <a:latin typeface="Times New Roman" pitchFamily="18" charset="0"/>
                <a:ea typeface="LG Smart_H Regular" panose="020B0600000101010101" pitchFamily="34" charset="-127"/>
                <a:cs typeface="Times New Roman" pitchFamily="18" charset="0"/>
              </a:rPr>
              <a:t>Milar</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Tụ gốm (tụ sứ)</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73" name="Rectangle 7"/>
          <p:cNvSpPr>
            <a:spLocks noChangeArrowheads="1"/>
          </p:cNvSpPr>
          <p:nvPr/>
        </p:nvSpPr>
        <p:spPr bwMode="auto">
          <a:xfrm>
            <a:off x="3429000" y="551460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"Tiết kiệm đi dây" là đặc tính của mạch đầu ra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Tiếp điểm </a:t>
            </a:r>
            <a:r>
              <a:rPr lang="vi-VN" altLang="ko-KR" sz="950" smtClean="0">
                <a:latin typeface="Times New Roman" pitchFamily="18" charset="0"/>
                <a:ea typeface="LG Smart_H Regular" panose="020B0600000101010101" pitchFamily="34" charset="-127"/>
                <a:cs typeface="Times New Roman" pitchFamily="18" charset="0"/>
              </a:rPr>
              <a:t>relay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NPN </a:t>
            </a:r>
            <a:r>
              <a:rPr lang="en-US" altLang="ko-KR" sz="950" smtClean="0">
                <a:latin typeface="Times New Roman" pitchFamily="18" charset="0"/>
                <a:ea typeface="LG Smart_H Regular" panose="020B0600000101010101" pitchFamily="34" charset="-127"/>
                <a:cs typeface="Times New Roman" pitchFamily="18" charset="0"/>
              </a:rPr>
              <a:t>Transistor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Photo </a:t>
            </a:r>
            <a:r>
              <a:rPr lang="en-US" altLang="ko-KR" sz="950" smtClean="0">
                <a:latin typeface="Times New Roman" pitchFamily="18" charset="0"/>
                <a:ea typeface="LG Smart_H Regular" panose="020B0600000101010101" pitchFamily="34" charset="-127"/>
                <a:cs typeface="Times New Roman" pitchFamily="18" charset="0"/>
              </a:rPr>
              <a:t>Transistor</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DC two wire way</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p:txBody>
      </p:sp>
      <p:sp>
        <p:nvSpPr>
          <p:cNvPr id="76" name="Rectangle 7"/>
          <p:cNvSpPr>
            <a:spLocks noChangeArrowheads="1"/>
          </p:cNvSpPr>
          <p:nvPr/>
        </p:nvSpPr>
        <p:spPr bwMode="auto">
          <a:xfrm>
            <a:off x="3439885" y="7581726"/>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 </a:t>
            </a:r>
            <a:r>
              <a:rPr lang="vi-VN" altLang="ko-KR" sz="950">
                <a:latin typeface="Times New Roman" pitchFamily="18" charset="0"/>
                <a:ea typeface="LG Smart_H Regular" panose="020B0600000101010101" pitchFamily="34" charset="-127"/>
                <a:cs typeface="Times New Roman" pitchFamily="18" charset="0"/>
              </a:rPr>
              <a:t>Giá trị </a:t>
            </a:r>
            <a:r>
              <a:rPr lang="vi-VN" altLang="ko-KR" sz="950" smtClean="0">
                <a:latin typeface="Times New Roman" pitchFamily="18" charset="0"/>
                <a:ea typeface="LG Smart_H Regular" panose="020B0600000101010101" pitchFamily="34" charset="-127"/>
                <a:cs typeface="Times New Roman" pitchFamily="18" charset="0"/>
              </a:rPr>
              <a:t>của</a:t>
            </a:r>
            <a:r>
              <a:rPr lang="en-US" altLang="ko-KR" sz="950" smtClean="0">
                <a:latin typeface="Times New Roman" pitchFamily="18" charset="0"/>
                <a:ea typeface="LG Smart_H Regular" panose="020B0600000101010101" pitchFamily="34" charset="-127"/>
                <a:cs typeface="Times New Roman" pitchFamily="18" charset="0"/>
              </a:rPr>
              <a:t> chỗ </a:t>
            </a:r>
            <a:r>
              <a:rPr lang="vi-VN" altLang="ko-KR" sz="950" smtClean="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trong hình </a:t>
            </a:r>
            <a:r>
              <a:rPr lang="vi-VN" altLang="ko-KR" sz="950" smtClean="0">
                <a:latin typeface="Times New Roman" pitchFamily="18" charset="0"/>
                <a:ea typeface="LG Smart_H Regular" panose="020B0600000101010101" pitchFamily="34" charset="-127"/>
                <a:cs typeface="Times New Roman" pitchFamily="18" charset="0"/>
              </a:rPr>
              <a:t>là</a:t>
            </a:r>
            <a:r>
              <a:rPr lang="en-US" altLang="ko-KR" sz="950" smtClean="0">
                <a:latin typeface="Times New Roman" pitchFamily="18" charset="0"/>
                <a:ea typeface="LG Smart_H Regular" panose="020B0600000101010101" pitchFamily="34" charset="-127"/>
                <a:cs typeface="Times New Roman" pitchFamily="18" charset="0"/>
              </a:rPr>
              <a:t> bao nhiêu</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12.7(V)</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10.7(V</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10(V</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7.3(V)</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5" name="Group 4"/>
          <p:cNvGrpSpPr/>
          <p:nvPr/>
        </p:nvGrpSpPr>
        <p:grpSpPr>
          <a:xfrm>
            <a:off x="162099" y="4664968"/>
            <a:ext cx="3239810" cy="1846659"/>
            <a:chOff x="162099" y="4664968"/>
            <a:chExt cx="3239810" cy="1846659"/>
          </a:xfrm>
        </p:grpSpPr>
        <p:sp>
          <p:nvSpPr>
            <p:cNvPr id="62" name="Rectangle 7"/>
            <p:cNvSpPr>
              <a:spLocks noChangeArrowheads="1"/>
            </p:cNvSpPr>
            <p:nvPr/>
          </p:nvSpPr>
          <p:spPr bwMode="auto">
            <a:xfrm>
              <a:off x="162099" y="4664968"/>
              <a:ext cx="3239810"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 </a:t>
              </a:r>
              <a:r>
                <a:rPr lang="vi-VN" altLang="ko-KR" sz="950">
                  <a:latin typeface="Times New Roman" pitchFamily="18" charset="0"/>
                  <a:ea typeface="LG Smart_H Regular" panose="020B0600000101010101" pitchFamily="34" charset="-127"/>
                  <a:cs typeface="Times New Roman" pitchFamily="18" charset="0"/>
                </a:rPr>
                <a:t>Hình dưới đây là hiện tượng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Nhiễu sét</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Nhiễu do biến đổi điện </a:t>
              </a:r>
              <a:r>
                <a:rPr lang="vi-VN" altLang="ko-KR" sz="950" smtClean="0">
                  <a:latin typeface="Times New Roman" pitchFamily="18" charset="0"/>
                  <a:ea typeface="LG Smart_H Regular" panose="020B0600000101010101" pitchFamily="34" charset="-127"/>
                  <a:cs typeface="Times New Roman" pitchFamily="18" charset="0"/>
                </a:rPr>
                <a:t>áp</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Nhiễu tĩnh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 </a:t>
              </a:r>
              <a:r>
                <a:rPr lang="vi-VN" altLang="ko-KR" sz="950">
                  <a:solidFill>
                    <a:srgbClr val="FF0000"/>
                  </a:solidFill>
                  <a:latin typeface="Times New Roman" pitchFamily="18" charset="0"/>
                  <a:ea typeface="LG Smart_H Regular" panose="020B0600000101010101" pitchFamily="34" charset="-127"/>
                  <a:cs typeface="Times New Roman" pitchFamily="18" charset="0"/>
                </a:rPr>
                <a:t>Nhiễu chuyển mạch</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26" name="Group 25"/>
            <p:cNvGrpSpPr/>
            <p:nvPr/>
          </p:nvGrpSpPr>
          <p:grpSpPr>
            <a:xfrm>
              <a:off x="773890" y="4959008"/>
              <a:ext cx="1719006" cy="903732"/>
              <a:chOff x="0" y="0"/>
              <a:chExt cx="2559755" cy="1605640"/>
            </a:xfrm>
          </p:grpSpPr>
          <p:pic>
            <p:nvPicPr>
              <p:cNvPr id="27" name="Picture 26"/>
              <p:cNvPicPr preferRelativeResize="0">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606" y="0"/>
                <a:ext cx="2461258" cy="11974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 name="Text Box 5"/>
              <p:cNvSpPr txBox="1">
                <a:spLocks noChangeArrowheads="1"/>
              </p:cNvSpPr>
              <p:nvPr/>
            </p:nvSpPr>
            <p:spPr bwMode="auto">
              <a:xfrm>
                <a:off x="0" y="1211187"/>
                <a:ext cx="2559755" cy="3944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latinLnBrk="1" hangingPunct="1">
                  <a:lnSpc>
                    <a:spcPct val="100000"/>
                  </a:lnSpc>
                </a:pPr>
                <a:r>
                  <a:rPr lang="en-US" altLang="ko-KR" sz="950">
                    <a:latin typeface="Times New Roman" pitchFamily="18" charset="0"/>
                    <a:cs typeface="Times New Roman" pitchFamily="18" charset="0"/>
                  </a:rPr>
                  <a:t>&lt; Rung, nhiễu điểm tiếp điểm&gt;</a:t>
                </a:r>
              </a:p>
            </p:txBody>
          </p:sp>
        </p:grpSp>
      </p:grpSp>
      <p:sp>
        <p:nvSpPr>
          <p:cNvPr id="57" name="Rectangle 7"/>
          <p:cNvSpPr>
            <a:spLocks noChangeArrowheads="1"/>
          </p:cNvSpPr>
          <p:nvPr/>
        </p:nvSpPr>
        <p:spPr bwMode="auto">
          <a:xfrm>
            <a:off x="184076" y="8553400"/>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Linh kiện nào có tính chất tự cảm?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Tụ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Điot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Điện </a:t>
            </a:r>
            <a:r>
              <a:rPr lang="en-US" altLang="ko-KR" sz="950" smtClean="0">
                <a:latin typeface="Times New Roman" pitchFamily="18" charset="0"/>
                <a:ea typeface="LG Smart_H Regular" panose="020B0600000101010101" pitchFamily="34" charset="-127"/>
                <a:cs typeface="Times New Roman" pitchFamily="18" charset="0"/>
              </a:rPr>
              <a:t>trở</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Cuộn cảm</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7" name="Group 6"/>
          <p:cNvGrpSpPr/>
          <p:nvPr/>
        </p:nvGrpSpPr>
        <p:grpSpPr>
          <a:xfrm>
            <a:off x="3448472" y="3551456"/>
            <a:ext cx="3239810" cy="969496"/>
            <a:chOff x="3448472" y="3551456"/>
            <a:chExt cx="3239810" cy="969496"/>
          </a:xfrm>
        </p:grpSpPr>
        <p:sp>
          <p:nvSpPr>
            <p:cNvPr id="70" name="Rectangle 7"/>
            <p:cNvSpPr>
              <a:spLocks noChangeArrowheads="1"/>
            </p:cNvSpPr>
            <p:nvPr/>
          </p:nvSpPr>
          <p:spPr bwMode="auto">
            <a:xfrm>
              <a:off x="3448472" y="355145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8. </a:t>
              </a:r>
              <a:r>
                <a:rPr lang="vi-VN" altLang="ko-KR" sz="950">
                  <a:latin typeface="Times New Roman" pitchFamily="18" charset="0"/>
                  <a:ea typeface="LG Smart_H Regular" panose="020B0600000101010101" pitchFamily="34" charset="-127"/>
                  <a:cs typeface="Times New Roman" pitchFamily="18" charset="0"/>
                </a:rPr>
                <a:t>Chọn đáp án đúng cho mạch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Smoothing circuit</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Timer circuit</a:t>
              </a: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 </a:t>
              </a:r>
              <a:r>
                <a:rPr lang="vi-VN" altLang="ko-KR" sz="950">
                  <a:solidFill>
                    <a:srgbClr val="FF0000"/>
                  </a:solidFill>
                  <a:latin typeface="Times New Roman" pitchFamily="18" charset="0"/>
                  <a:ea typeface="LG Smart_H Regular" panose="020B0600000101010101" pitchFamily="34" charset="-127"/>
                  <a:cs typeface="Times New Roman" pitchFamily="18" charset="0"/>
                </a:rPr>
                <a:t>Low-pass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Filter</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High-pass Filter</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58" name="Picture 57"/>
            <p:cNvPicPr>
              <a:picLocks noChangeAspect="1"/>
            </p:cNvPicPr>
            <p:nvPr/>
          </p:nvPicPr>
          <p:blipFill rotWithShape="1">
            <a:blip r:embed="rId4"/>
            <a:srcRect t="20363" b="49400"/>
            <a:stretch/>
          </p:blipFill>
          <p:spPr>
            <a:xfrm>
              <a:off x="4881855" y="3800872"/>
              <a:ext cx="1596598" cy="607277"/>
            </a:xfrm>
            <a:prstGeom prst="rect">
              <a:avLst/>
            </a:prstGeom>
          </p:spPr>
        </p:pic>
      </p:grpSp>
      <p:pic>
        <p:nvPicPr>
          <p:cNvPr id="72" name="Picture 71"/>
          <p:cNvPicPr>
            <a:picLocks noChangeAspect="1"/>
          </p:cNvPicPr>
          <p:nvPr/>
        </p:nvPicPr>
        <p:blipFill rotWithShape="1">
          <a:blip r:embed="rId5"/>
          <a:srcRect b="23269"/>
          <a:stretch/>
        </p:blipFill>
        <p:spPr>
          <a:xfrm>
            <a:off x="4149080" y="7797845"/>
            <a:ext cx="2517016" cy="1578857"/>
          </a:xfrm>
          <a:prstGeom prst="rect">
            <a:avLst/>
          </a:prstGeom>
        </p:spPr>
      </p:pic>
      <p:grpSp>
        <p:nvGrpSpPr>
          <p:cNvPr id="56" name="Group 55"/>
          <p:cNvGrpSpPr/>
          <p:nvPr/>
        </p:nvGrpSpPr>
        <p:grpSpPr>
          <a:xfrm>
            <a:off x="184076" y="6863824"/>
            <a:ext cx="3239810" cy="969496"/>
            <a:chOff x="184076" y="6969224"/>
            <a:chExt cx="3239810" cy="969496"/>
          </a:xfrm>
        </p:grpSpPr>
        <p:sp>
          <p:nvSpPr>
            <p:cNvPr id="64" name="Rectangle 7"/>
            <p:cNvSpPr>
              <a:spLocks noChangeArrowheads="1"/>
            </p:cNvSpPr>
            <p:nvPr/>
          </p:nvSpPr>
          <p:spPr bwMode="auto">
            <a:xfrm>
              <a:off x="184076" y="696922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Lượng điện tích của hạt trung tính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0 </a:t>
              </a:r>
              <a:r>
                <a:rPr lang="vi-VN" altLang="ko-KR" sz="950">
                  <a:latin typeface="Times New Roman" pitchFamily="18" charset="0"/>
                  <a:ea typeface="LG Smart_H Regular" panose="020B0600000101010101" pitchFamily="34" charset="-127"/>
                  <a:cs typeface="Times New Roman" pitchFamily="18" charset="0"/>
                </a:rPr>
                <a:t>[V</a:t>
              </a:r>
              <a:r>
                <a:rPr lang="vi-VN" altLang="ko-KR" sz="950" smtClean="0">
                  <a:latin typeface="Times New Roman" pitchFamily="18" charset="0"/>
                  <a:ea typeface="LG Smart_H Regular" panose="020B0600000101010101" pitchFamily="34" charset="-127"/>
                  <a:cs typeface="Times New Roman" pitchFamily="18" charset="0"/>
                </a:rPr>
                <a:t>]</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C.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a:t>
              </a:r>
              <a:r>
                <a:rPr lang="en-US" altLang="ko-KR" sz="950">
                  <a:solidFill>
                    <a:srgbClr val="FF0000"/>
                  </a:solidFill>
                  <a:latin typeface="Times New Roman" pitchFamily="18" charset="0"/>
                  <a:ea typeface="LG Smart_H Regular" panose="020B0600000101010101" pitchFamily="34" charset="-127"/>
                  <a:cs typeface="Times New Roman" pitchFamily="18" charset="0"/>
                </a:rPr>
                <a:t>. 0 [C]</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65" name="Group 64"/>
            <p:cNvGrpSpPr>
              <a:grpSpLocks noChangeAspect="1"/>
            </p:cNvGrpSpPr>
            <p:nvPr/>
          </p:nvGrpSpPr>
          <p:grpSpPr bwMode="auto">
            <a:xfrm>
              <a:off x="1982793" y="7288253"/>
              <a:ext cx="1374199" cy="187062"/>
              <a:chOff x="0" y="-4"/>
              <a:chExt cx="145" cy="45"/>
            </a:xfrm>
          </p:grpSpPr>
          <p:sp>
            <p:nvSpPr>
              <p:cNvPr id="84" name="AutoShape 2"/>
              <p:cNvSpPr>
                <a:spLocks noChangeAspect="1" noChangeArrowheads="1" noTextEdit="1"/>
              </p:cNvSpPr>
              <p:nvPr/>
            </p:nvSpPr>
            <p:spPr bwMode="auto">
              <a:xfrm>
                <a:off x="0" y="0"/>
                <a:ext cx="14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000"/>
              </a:p>
            </p:txBody>
          </p:sp>
          <p:sp>
            <p:nvSpPr>
              <p:cNvPr id="85" name="Rectangle 84"/>
              <p:cNvSpPr>
                <a:spLocks noChangeArrowheads="1"/>
              </p:cNvSpPr>
              <p:nvPr/>
            </p:nvSpPr>
            <p:spPr bwMode="auto">
              <a:xfrm>
                <a:off x="129" y="4"/>
                <a:ext cx="5"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86" name="Rectangle 85"/>
              <p:cNvSpPr>
                <a:spLocks noChangeArrowheads="1"/>
              </p:cNvSpPr>
              <p:nvPr/>
            </p:nvSpPr>
            <p:spPr bwMode="auto">
              <a:xfrm>
                <a:off x="114" y="4"/>
                <a:ext cx="5"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87" name="Rectangle 86"/>
              <p:cNvSpPr>
                <a:spLocks noChangeArrowheads="1"/>
              </p:cNvSpPr>
              <p:nvPr/>
            </p:nvSpPr>
            <p:spPr bwMode="auto">
              <a:xfrm>
                <a:off x="73" y="4"/>
                <a:ext cx="1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10</a:t>
                </a:r>
              </a:p>
            </p:txBody>
          </p:sp>
          <p:sp>
            <p:nvSpPr>
              <p:cNvPr id="88" name="Rectangle 87"/>
              <p:cNvSpPr>
                <a:spLocks noChangeArrowheads="1"/>
              </p:cNvSpPr>
              <p:nvPr/>
            </p:nvSpPr>
            <p:spPr bwMode="auto">
              <a:xfrm>
                <a:off x="27" y="4"/>
                <a:ext cx="3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60219</a:t>
                </a:r>
              </a:p>
            </p:txBody>
          </p:sp>
          <p:sp>
            <p:nvSpPr>
              <p:cNvPr id="89" name="Rectangle 88"/>
              <p:cNvSpPr>
                <a:spLocks noChangeArrowheads="1"/>
              </p:cNvSpPr>
              <p:nvPr/>
            </p:nvSpPr>
            <p:spPr bwMode="auto">
              <a:xfrm>
                <a:off x="23" y="4"/>
                <a:ext cx="3"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90" name="Rectangle 89"/>
              <p:cNvSpPr>
                <a:spLocks noChangeArrowheads="1"/>
              </p:cNvSpPr>
              <p:nvPr/>
            </p:nvSpPr>
            <p:spPr bwMode="auto">
              <a:xfrm>
                <a:off x="14" y="4"/>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a:t>
                </a:r>
              </a:p>
            </p:txBody>
          </p:sp>
          <p:sp>
            <p:nvSpPr>
              <p:cNvPr id="91" name="Rectangle 90"/>
              <p:cNvSpPr>
                <a:spLocks noChangeArrowheads="1"/>
              </p:cNvSpPr>
              <p:nvPr/>
            </p:nvSpPr>
            <p:spPr bwMode="auto">
              <a:xfrm>
                <a:off x="99" y="1"/>
                <a:ext cx="1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19</a:t>
                </a:r>
              </a:p>
            </p:txBody>
          </p:sp>
          <p:sp>
            <p:nvSpPr>
              <p:cNvPr id="92" name="Rectangle 91"/>
              <p:cNvSpPr>
                <a:spLocks noChangeArrowheads="1"/>
              </p:cNvSpPr>
              <p:nvPr/>
            </p:nvSpPr>
            <p:spPr bwMode="auto">
              <a:xfrm>
                <a:off x="118" y="4"/>
                <a:ext cx="9"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1" u="none" strike="noStrike" baseline="0">
                    <a:solidFill>
                      <a:srgbClr val="000000"/>
                    </a:solidFill>
                    <a:latin typeface="Times New Roman"/>
                    <a:cs typeface="Times New Roman"/>
                  </a:rPr>
                  <a:t>C</a:t>
                </a:r>
              </a:p>
            </p:txBody>
          </p:sp>
          <p:sp>
            <p:nvSpPr>
              <p:cNvPr id="93" name="Rectangle 92"/>
              <p:cNvSpPr>
                <a:spLocks noChangeArrowheads="1"/>
              </p:cNvSpPr>
              <p:nvPr/>
            </p:nvSpPr>
            <p:spPr bwMode="auto">
              <a:xfrm>
                <a:off x="91" y="-4"/>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sp>
            <p:nvSpPr>
              <p:cNvPr id="94" name="Rectangle 93"/>
              <p:cNvSpPr>
                <a:spLocks noChangeArrowheads="1"/>
              </p:cNvSpPr>
              <p:nvPr/>
            </p:nvSpPr>
            <p:spPr bwMode="auto">
              <a:xfrm>
                <a:off x="61" y="1"/>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sp>
            <p:nvSpPr>
              <p:cNvPr id="95" name="Rectangle 94"/>
              <p:cNvSpPr>
                <a:spLocks noChangeArrowheads="1"/>
              </p:cNvSpPr>
              <p:nvPr/>
            </p:nvSpPr>
            <p:spPr bwMode="auto">
              <a:xfrm>
                <a:off x="3" y="1"/>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grpSp>
        <p:grpSp>
          <p:nvGrpSpPr>
            <p:cNvPr id="66" name="Group 65"/>
            <p:cNvGrpSpPr>
              <a:grpSpLocks noChangeAspect="1"/>
            </p:cNvGrpSpPr>
            <p:nvPr/>
          </p:nvGrpSpPr>
          <p:grpSpPr bwMode="auto">
            <a:xfrm>
              <a:off x="476672" y="7699402"/>
              <a:ext cx="1260472" cy="187956"/>
              <a:chOff x="0" y="-2"/>
              <a:chExt cx="145" cy="33"/>
            </a:xfrm>
          </p:grpSpPr>
          <p:sp>
            <p:nvSpPr>
              <p:cNvPr id="67" name="AutoShape 2"/>
              <p:cNvSpPr>
                <a:spLocks noChangeAspect="1" noChangeArrowheads="1" noTextEdit="1"/>
              </p:cNvSpPr>
              <p:nvPr/>
            </p:nvSpPr>
            <p:spPr bwMode="auto">
              <a:xfrm>
                <a:off x="0" y="0"/>
                <a:ext cx="14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000"/>
              </a:p>
            </p:txBody>
          </p:sp>
          <p:sp>
            <p:nvSpPr>
              <p:cNvPr id="68" name="Rectangle 67"/>
              <p:cNvSpPr>
                <a:spLocks noChangeArrowheads="1"/>
              </p:cNvSpPr>
              <p:nvPr/>
            </p:nvSpPr>
            <p:spPr bwMode="auto">
              <a:xfrm>
                <a:off x="129" y="4"/>
                <a:ext cx="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71" name="Rectangle 70"/>
              <p:cNvSpPr>
                <a:spLocks noChangeArrowheads="1"/>
              </p:cNvSpPr>
              <p:nvPr/>
            </p:nvSpPr>
            <p:spPr bwMode="auto">
              <a:xfrm>
                <a:off x="113" y="4"/>
                <a:ext cx="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74" name="Rectangle 73"/>
              <p:cNvSpPr>
                <a:spLocks noChangeArrowheads="1"/>
              </p:cNvSpPr>
              <p:nvPr/>
            </p:nvSpPr>
            <p:spPr bwMode="auto">
              <a:xfrm>
                <a:off x="73" y="4"/>
                <a:ext cx="1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10</a:t>
                </a:r>
              </a:p>
            </p:txBody>
          </p:sp>
          <p:sp>
            <p:nvSpPr>
              <p:cNvPr id="75" name="Rectangle 74"/>
              <p:cNvSpPr>
                <a:spLocks noChangeArrowheads="1"/>
              </p:cNvSpPr>
              <p:nvPr/>
            </p:nvSpPr>
            <p:spPr bwMode="auto">
              <a:xfrm>
                <a:off x="27" y="4"/>
                <a:ext cx="37"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60219</a:t>
                </a:r>
              </a:p>
            </p:txBody>
          </p:sp>
          <p:sp>
            <p:nvSpPr>
              <p:cNvPr id="77" name="Rectangle 76"/>
              <p:cNvSpPr>
                <a:spLocks noChangeArrowheads="1"/>
              </p:cNvSpPr>
              <p:nvPr/>
            </p:nvSpPr>
            <p:spPr bwMode="auto">
              <a:xfrm>
                <a:off x="23" y="4"/>
                <a:ext cx="4"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78" name="Rectangle 77"/>
              <p:cNvSpPr>
                <a:spLocks noChangeArrowheads="1"/>
              </p:cNvSpPr>
              <p:nvPr/>
            </p:nvSpPr>
            <p:spPr bwMode="auto">
              <a:xfrm>
                <a:off x="14" y="4"/>
                <a:ext cx="7"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a:t>
                </a:r>
              </a:p>
            </p:txBody>
          </p:sp>
          <p:sp>
            <p:nvSpPr>
              <p:cNvPr id="79" name="Rectangle 78"/>
              <p:cNvSpPr>
                <a:spLocks noChangeArrowheads="1"/>
              </p:cNvSpPr>
              <p:nvPr/>
            </p:nvSpPr>
            <p:spPr bwMode="auto">
              <a:xfrm>
                <a:off x="98" y="1"/>
                <a:ext cx="1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19</a:t>
                </a:r>
              </a:p>
            </p:txBody>
          </p:sp>
          <p:sp>
            <p:nvSpPr>
              <p:cNvPr id="80" name="Rectangle 79"/>
              <p:cNvSpPr>
                <a:spLocks noChangeArrowheads="1"/>
              </p:cNvSpPr>
              <p:nvPr/>
            </p:nvSpPr>
            <p:spPr bwMode="auto">
              <a:xfrm>
                <a:off x="117" y="4"/>
                <a:ext cx="10"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1" u="none" strike="noStrike" baseline="0">
                    <a:solidFill>
                      <a:srgbClr val="000000"/>
                    </a:solidFill>
                    <a:latin typeface="Times New Roman"/>
                    <a:cs typeface="Times New Roman"/>
                  </a:rPr>
                  <a:t>C</a:t>
                </a:r>
              </a:p>
            </p:txBody>
          </p:sp>
          <p:sp>
            <p:nvSpPr>
              <p:cNvPr id="81" name="Rectangle 80"/>
              <p:cNvSpPr>
                <a:spLocks noChangeArrowheads="1"/>
              </p:cNvSpPr>
              <p:nvPr/>
            </p:nvSpPr>
            <p:spPr bwMode="auto">
              <a:xfrm>
                <a:off x="91" y="-2"/>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sp>
            <p:nvSpPr>
              <p:cNvPr id="82" name="Rectangle 81"/>
              <p:cNvSpPr>
                <a:spLocks noChangeArrowheads="1"/>
              </p:cNvSpPr>
              <p:nvPr/>
            </p:nvSpPr>
            <p:spPr bwMode="auto">
              <a:xfrm>
                <a:off x="63" y="1"/>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sp>
            <p:nvSpPr>
              <p:cNvPr id="83" name="Rectangle 82"/>
              <p:cNvSpPr>
                <a:spLocks noChangeArrowheads="1"/>
              </p:cNvSpPr>
              <p:nvPr/>
            </p:nvSpPr>
            <p:spPr bwMode="auto">
              <a:xfrm>
                <a:off x="3" y="1"/>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grpSp>
      </p:grpSp>
    </p:spTree>
    <p:extLst>
      <p:ext uri="{BB962C8B-B14F-4D97-AF65-F5344CB8AC3E}">
        <p14:creationId xmlns:p14="http://schemas.microsoft.com/office/powerpoint/2010/main" val="869148053"/>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9848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4100" name="Rectangle 4"/>
          <p:cNvSpPr>
            <a:spLocks noChangeArrowheads="1"/>
          </p:cNvSpPr>
          <p:nvPr/>
        </p:nvSpPr>
        <p:spPr bwMode="auto">
          <a:xfrm>
            <a:off x="3497536" y="776288"/>
            <a:ext cx="313084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23" name="Rectangle 157"/>
          <p:cNvSpPr>
            <a:spLocks noChangeArrowheads="1"/>
          </p:cNvSpPr>
          <p:nvPr/>
        </p:nvSpPr>
        <p:spPr bwMode="auto">
          <a:xfrm>
            <a:off x="219920" y="2877542"/>
            <a:ext cx="3378670" cy="96949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12</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của</a:t>
            </a:r>
            <a:r>
              <a:rPr lang="en-US" altLang="ko-KR" sz="950" smtClean="0">
                <a:latin typeface="Times New Roman" pitchFamily="18" charset="0"/>
                <a:cs typeface="Times New Roman" pitchFamily="18" charset="0"/>
              </a:rPr>
              <a:t> Photo coupler?</a:t>
            </a:r>
            <a:endParaRPr lang="en-US" altLang="ko-KR"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 </a:t>
            </a:r>
            <a:r>
              <a:rPr lang="en-US" altLang="ko-KR" sz="950" dirty="0" err="1" smtClean="0">
                <a:solidFill>
                  <a:srgbClr val="FF0000"/>
                </a:solidFill>
                <a:latin typeface="Times New Roman" pitchFamily="18" charset="0"/>
                <a:cs typeface="Times New Roman" pitchFamily="18" charset="0"/>
              </a:rPr>
              <a:t>Có</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ảnh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hưởng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của</a:t>
            </a:r>
            <a:r>
              <a:rPr lang="en-US" altLang="ko-KR" sz="950" dirty="0" smtClean="0">
                <a:solidFill>
                  <a:srgbClr val="FF0000"/>
                </a:solidFill>
                <a:latin typeface="Times New Roman" pitchFamily="18" charset="0"/>
                <a:cs typeface="Times New Roman" pitchFamily="18" charset="0"/>
              </a:rPr>
              <a:t> Input </a:t>
            </a:r>
            <a:r>
              <a:rPr lang="en-US" altLang="ko-KR" sz="950" dirty="0" err="1" smtClean="0">
                <a:solidFill>
                  <a:srgbClr val="FF0000"/>
                </a:solidFill>
                <a:latin typeface="Times New Roman" pitchFamily="18" charset="0"/>
                <a:cs typeface="Times New Roman" pitchFamily="18" charset="0"/>
              </a:rPr>
              <a:t>đến</a:t>
            </a:r>
            <a:r>
              <a:rPr lang="en-US" altLang="ko-KR" sz="950" dirty="0" smtClean="0">
                <a:solidFill>
                  <a:srgbClr val="FF0000"/>
                </a:solidFill>
                <a:latin typeface="Times New Roman" pitchFamily="18" charset="0"/>
                <a:cs typeface="Times New Roman" pitchFamily="18" charset="0"/>
              </a:rPr>
              <a:t> output.</a:t>
            </a:r>
            <a:endParaRPr lang="en-US" altLang="ko-KR" sz="950" dirty="0">
              <a:solidFill>
                <a:srgbClr val="FF0000"/>
              </a:solidFill>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hồi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nhanh</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Là loại hạng nhẹ và nhỏ nên có thể tăng mật độ đóng gói </a:t>
            </a:r>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Dễ</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dàng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truyền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giữa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hai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thế</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nhau</a:t>
            </a:r>
            <a:r>
              <a:rPr lang="en-US" altLang="ko-KR"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p:txBody>
      </p:sp>
      <p:grpSp>
        <p:nvGrpSpPr>
          <p:cNvPr id="25" name="Group 24"/>
          <p:cNvGrpSpPr/>
          <p:nvPr/>
        </p:nvGrpSpPr>
        <p:grpSpPr>
          <a:xfrm>
            <a:off x="188640" y="4539243"/>
            <a:ext cx="3124200" cy="1115690"/>
            <a:chOff x="317500" y="2862081"/>
            <a:chExt cx="3124200" cy="1115690"/>
          </a:xfrm>
        </p:grpSpPr>
        <p:sp>
          <p:nvSpPr>
            <p:cNvPr id="26" name="Rectangle 173"/>
            <p:cNvSpPr>
              <a:spLocks noChangeArrowheads="1"/>
            </p:cNvSpPr>
            <p:nvPr/>
          </p:nvSpPr>
          <p:spPr bwMode="auto">
            <a:xfrm>
              <a:off x="317500" y="2862081"/>
              <a:ext cx="3124200" cy="111569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13.Yêu </a:t>
              </a:r>
              <a:r>
                <a:rPr lang="en-US" altLang="ko-KR" sz="950" dirty="0" err="1" smtClean="0">
                  <a:latin typeface="Times New Roman" pitchFamily="18" charset="0"/>
                  <a:cs typeface="Times New Roman" pitchFamily="18" charset="0"/>
                </a:rPr>
                <a:t>tố</a:t>
              </a:r>
              <a:r>
                <a:rPr lang="en-US" altLang="ko-KR" sz="950" dirty="0" smtClean="0">
                  <a:latin typeface="Times New Roman" pitchFamily="18" charset="0"/>
                  <a:cs typeface="Times New Roman" pitchFamily="18" charset="0"/>
                </a:rPr>
                <a:t> ở </a:t>
              </a:r>
              <a:r>
                <a:rPr lang="en-US" altLang="ko-KR" sz="950" dirty="0" err="1" smtClean="0">
                  <a:latin typeface="Times New Roman" pitchFamily="18" charset="0"/>
                  <a:cs typeface="Times New Roman" pitchFamily="18" charset="0"/>
                </a:rPr>
                <a:t>hình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sơ</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đồ</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Photocoupler</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gọi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phần</a:t>
              </a:r>
              <a:r>
                <a:rPr lang="en-US" altLang="ko-KR" sz="950" dirty="0" smtClean="0">
                  <a:latin typeface="Times New Roman" pitchFamily="18" charset="0"/>
                  <a:cs typeface="Times New Roman" pitchFamily="18" charset="0"/>
                </a:rPr>
                <a:t> ⓐ</a:t>
              </a:r>
              <a:r>
                <a:rPr lang="ko-KR" altLang="en-US"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gì</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 </a:t>
              </a:r>
              <a:r>
                <a:rPr lang="en-US" altLang="ko-KR" sz="950" dirty="0" smtClean="0">
                  <a:solidFill>
                    <a:srgbClr val="FF0000"/>
                  </a:solidFill>
                  <a:latin typeface="Times New Roman" pitchFamily="18" charset="0"/>
                  <a:cs typeface="Times New Roman" pitchFamily="18" charset="0"/>
                </a:rPr>
                <a:t>Phototransistor</a:t>
              </a: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LED</a:t>
              </a:r>
            </a:p>
            <a:p>
              <a:pPr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Photocoupler</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FET</a:t>
              </a:r>
            </a:p>
          </p:txBody>
        </p:sp>
        <p:grpSp>
          <p:nvGrpSpPr>
            <p:cNvPr id="27" name="Group 174"/>
            <p:cNvGrpSpPr>
              <a:grpSpLocks/>
            </p:cNvGrpSpPr>
            <p:nvPr/>
          </p:nvGrpSpPr>
          <p:grpSpPr bwMode="auto">
            <a:xfrm>
              <a:off x="2271713" y="3059790"/>
              <a:ext cx="758825" cy="538162"/>
              <a:chOff x="3204" y="3755"/>
              <a:chExt cx="515" cy="373"/>
            </a:xfrm>
          </p:grpSpPr>
          <p:grpSp>
            <p:nvGrpSpPr>
              <p:cNvPr id="28" name="Group 175"/>
              <p:cNvGrpSpPr>
                <a:grpSpLocks/>
              </p:cNvGrpSpPr>
              <p:nvPr/>
            </p:nvGrpSpPr>
            <p:grpSpPr bwMode="auto">
              <a:xfrm>
                <a:off x="3204" y="3755"/>
                <a:ext cx="492" cy="373"/>
                <a:chOff x="3204" y="5339"/>
                <a:chExt cx="492" cy="373"/>
              </a:xfrm>
            </p:grpSpPr>
            <p:sp>
              <p:nvSpPr>
                <p:cNvPr id="32" name="Rectangle 176"/>
                <p:cNvSpPr>
                  <a:spLocks noChangeArrowheads="1"/>
                </p:cNvSpPr>
                <p:nvPr/>
              </p:nvSpPr>
              <p:spPr bwMode="auto">
                <a:xfrm>
                  <a:off x="3204" y="5356"/>
                  <a:ext cx="492" cy="34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solidFill>
                      <a:srgbClr val="000000"/>
                    </a:solidFill>
                    <a:latin typeface="Times New Roman" pitchFamily="18" charset="0"/>
                    <a:cs typeface="Times New Roman" pitchFamily="18" charset="0"/>
                  </a:endParaRPr>
                </a:p>
              </p:txBody>
            </p:sp>
            <p:sp>
              <p:nvSpPr>
                <p:cNvPr id="33" name="AutoShape 177"/>
                <p:cNvSpPr>
                  <a:spLocks noChangeArrowheads="1"/>
                </p:cNvSpPr>
                <p:nvPr/>
              </p:nvSpPr>
              <p:spPr bwMode="auto">
                <a:xfrm>
                  <a:off x="3278" y="5488"/>
                  <a:ext cx="98" cy="105"/>
                </a:xfrm>
                <a:prstGeom prst="flowChartMerge">
                  <a:avLst/>
                </a:prstGeom>
                <a:noFill/>
                <a:ln w="9525">
                  <a:solidFill>
                    <a:schemeClr val="tx1"/>
                  </a:solidFill>
                  <a:miter lim="800000"/>
                  <a:headEnd/>
                  <a:tailEnd/>
                </a:ln>
                <a:effectLst/>
                <a:extLst>
                  <a:ext uri="{909E8E84-426E-40DD-AFC4-6F175D3DCCD1}">
                    <a14:hiddenFill xmlns:a14="http://schemas.microsoft.com/office/drawing/2010/main">
                      <a:solidFill>
                        <a:schemeClr val="tx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solidFill>
                      <a:srgbClr val="000000"/>
                    </a:solidFill>
                    <a:latin typeface="Times New Roman" pitchFamily="18" charset="0"/>
                    <a:cs typeface="Times New Roman" pitchFamily="18" charset="0"/>
                  </a:endParaRPr>
                </a:p>
              </p:txBody>
            </p:sp>
            <p:sp>
              <p:nvSpPr>
                <p:cNvPr id="34" name="Line 178"/>
                <p:cNvSpPr>
                  <a:spLocks noChangeShapeType="1"/>
                </p:cNvSpPr>
                <p:nvPr/>
              </p:nvSpPr>
              <p:spPr bwMode="auto">
                <a:xfrm>
                  <a:off x="3287" y="5593"/>
                  <a:ext cx="9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35" name="Line 179"/>
                <p:cNvSpPr>
                  <a:spLocks noChangeShapeType="1"/>
                </p:cNvSpPr>
                <p:nvPr/>
              </p:nvSpPr>
              <p:spPr bwMode="auto">
                <a:xfrm flipV="1">
                  <a:off x="3327" y="5356"/>
                  <a:ext cx="0" cy="1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36" name="Line 180"/>
                <p:cNvSpPr>
                  <a:spLocks noChangeShapeType="1"/>
                </p:cNvSpPr>
                <p:nvPr/>
              </p:nvSpPr>
              <p:spPr bwMode="auto">
                <a:xfrm flipV="1">
                  <a:off x="3327" y="5593"/>
                  <a:ext cx="0" cy="10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38" name="Line 181"/>
                <p:cNvSpPr>
                  <a:spLocks noChangeShapeType="1"/>
                </p:cNvSpPr>
                <p:nvPr/>
              </p:nvSpPr>
              <p:spPr bwMode="auto">
                <a:xfrm>
                  <a:off x="3505" y="5458"/>
                  <a:ext cx="0" cy="15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39" name="Line 182"/>
                <p:cNvSpPr>
                  <a:spLocks noChangeShapeType="1"/>
                </p:cNvSpPr>
                <p:nvPr/>
              </p:nvSpPr>
              <p:spPr bwMode="auto">
                <a:xfrm flipV="1">
                  <a:off x="3505" y="5451"/>
                  <a:ext cx="74" cy="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40" name="Line 183"/>
                <p:cNvSpPr>
                  <a:spLocks noChangeShapeType="1"/>
                </p:cNvSpPr>
                <p:nvPr/>
              </p:nvSpPr>
              <p:spPr bwMode="auto">
                <a:xfrm rot="-1196941">
                  <a:off x="3515" y="5540"/>
                  <a:ext cx="73" cy="8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41" name="Line 184"/>
                <p:cNvSpPr>
                  <a:spLocks noChangeShapeType="1"/>
                </p:cNvSpPr>
                <p:nvPr/>
              </p:nvSpPr>
              <p:spPr bwMode="auto">
                <a:xfrm flipV="1">
                  <a:off x="3573" y="5356"/>
                  <a:ext cx="0" cy="10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42" name="Line 185"/>
                <p:cNvSpPr>
                  <a:spLocks noChangeShapeType="1"/>
                </p:cNvSpPr>
                <p:nvPr/>
              </p:nvSpPr>
              <p:spPr bwMode="auto">
                <a:xfrm>
                  <a:off x="3582" y="5593"/>
                  <a:ext cx="0" cy="10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43" name="Oval 186"/>
                <p:cNvSpPr>
                  <a:spLocks noChangeArrowheads="1"/>
                </p:cNvSpPr>
                <p:nvPr/>
              </p:nvSpPr>
              <p:spPr bwMode="auto">
                <a:xfrm>
                  <a:off x="3315" y="5339"/>
                  <a:ext cx="24" cy="2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solidFill>
                      <a:srgbClr val="000000"/>
                    </a:solidFill>
                    <a:latin typeface="Times New Roman" pitchFamily="18" charset="0"/>
                    <a:cs typeface="Times New Roman" pitchFamily="18" charset="0"/>
                  </a:endParaRPr>
                </a:p>
              </p:txBody>
            </p:sp>
            <p:sp>
              <p:nvSpPr>
                <p:cNvPr id="44" name="Oval 187"/>
                <p:cNvSpPr>
                  <a:spLocks noChangeArrowheads="1"/>
                </p:cNvSpPr>
                <p:nvPr/>
              </p:nvSpPr>
              <p:spPr bwMode="auto">
                <a:xfrm>
                  <a:off x="3315" y="5686"/>
                  <a:ext cx="24" cy="2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solidFill>
                      <a:srgbClr val="000000"/>
                    </a:solidFill>
                    <a:latin typeface="Times New Roman" pitchFamily="18" charset="0"/>
                    <a:cs typeface="Times New Roman" pitchFamily="18" charset="0"/>
                  </a:endParaRPr>
                </a:p>
              </p:txBody>
            </p:sp>
            <p:sp>
              <p:nvSpPr>
                <p:cNvPr id="45" name="Oval 188"/>
                <p:cNvSpPr>
                  <a:spLocks noChangeArrowheads="1"/>
                </p:cNvSpPr>
                <p:nvPr/>
              </p:nvSpPr>
              <p:spPr bwMode="auto">
                <a:xfrm>
                  <a:off x="3570" y="5686"/>
                  <a:ext cx="25" cy="2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solidFill>
                      <a:srgbClr val="000000"/>
                    </a:solidFill>
                    <a:latin typeface="Times New Roman" pitchFamily="18" charset="0"/>
                    <a:cs typeface="Times New Roman" pitchFamily="18" charset="0"/>
                  </a:endParaRPr>
                </a:p>
              </p:txBody>
            </p:sp>
            <p:sp>
              <p:nvSpPr>
                <p:cNvPr id="46" name="Oval 189"/>
                <p:cNvSpPr>
                  <a:spLocks noChangeArrowheads="1"/>
                </p:cNvSpPr>
                <p:nvPr/>
              </p:nvSpPr>
              <p:spPr bwMode="auto">
                <a:xfrm>
                  <a:off x="3564" y="5342"/>
                  <a:ext cx="24" cy="27"/>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solidFill>
                      <a:srgbClr val="000000"/>
                    </a:solidFill>
                    <a:latin typeface="Times New Roman" pitchFamily="18" charset="0"/>
                    <a:cs typeface="Times New Roman" pitchFamily="18" charset="0"/>
                  </a:endParaRPr>
                </a:p>
              </p:txBody>
            </p:sp>
            <p:sp>
              <p:nvSpPr>
                <p:cNvPr id="47" name="Line 190"/>
                <p:cNvSpPr>
                  <a:spLocks noChangeShapeType="1"/>
                </p:cNvSpPr>
                <p:nvPr/>
              </p:nvSpPr>
              <p:spPr bwMode="auto">
                <a:xfrm>
                  <a:off x="3425" y="5514"/>
                  <a:ext cx="74" cy="26"/>
                </a:xfrm>
                <a:prstGeom prst="line">
                  <a:avLst/>
                </a:prstGeom>
                <a:noFill/>
                <a:ln w="9525">
                  <a:solidFill>
                    <a:schemeClr val="tx1"/>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48" name="Line 191"/>
                <p:cNvSpPr>
                  <a:spLocks noChangeShapeType="1"/>
                </p:cNvSpPr>
                <p:nvPr/>
              </p:nvSpPr>
              <p:spPr bwMode="auto">
                <a:xfrm>
                  <a:off x="3425" y="5514"/>
                  <a:ext cx="25" cy="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49" name="Line 192"/>
                <p:cNvSpPr>
                  <a:spLocks noChangeShapeType="1"/>
                </p:cNvSpPr>
                <p:nvPr/>
              </p:nvSpPr>
              <p:spPr bwMode="auto">
                <a:xfrm flipH="1" flipV="1">
                  <a:off x="3376" y="5514"/>
                  <a:ext cx="74" cy="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grpSp>
          <p:sp>
            <p:nvSpPr>
              <p:cNvPr id="29" name="Rectangle 193"/>
              <p:cNvSpPr>
                <a:spLocks noChangeArrowheads="1"/>
              </p:cNvSpPr>
              <p:nvPr/>
            </p:nvSpPr>
            <p:spPr bwMode="auto">
              <a:xfrm>
                <a:off x="3430" y="3794"/>
                <a:ext cx="245" cy="301"/>
              </a:xfrm>
              <a:prstGeom prst="rect">
                <a:avLst/>
              </a:prstGeom>
              <a:noFill/>
              <a:ln w="12700">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solidFill>
                    <a:srgbClr val="000000"/>
                  </a:solidFill>
                  <a:latin typeface="Times New Roman" pitchFamily="18" charset="0"/>
                  <a:cs typeface="Times New Roman" pitchFamily="18" charset="0"/>
                </a:endParaRPr>
              </a:p>
            </p:txBody>
          </p:sp>
          <p:sp>
            <p:nvSpPr>
              <p:cNvPr id="30" name="Text Box 194"/>
              <p:cNvSpPr txBox="1">
                <a:spLocks noChangeArrowheads="1"/>
              </p:cNvSpPr>
              <p:nvPr/>
            </p:nvSpPr>
            <p:spPr bwMode="auto">
              <a:xfrm>
                <a:off x="3501" y="3836"/>
                <a:ext cx="218" cy="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a:t>
                </a:r>
              </a:p>
            </p:txBody>
          </p:sp>
        </p:grpSp>
      </p:grpSp>
      <p:sp>
        <p:nvSpPr>
          <p:cNvPr id="50" name="Rectangle 211"/>
          <p:cNvSpPr>
            <a:spLocks noChangeArrowheads="1"/>
          </p:cNvSpPr>
          <p:nvPr/>
        </p:nvSpPr>
        <p:spPr bwMode="auto">
          <a:xfrm>
            <a:off x="217030" y="6321152"/>
            <a:ext cx="3124200"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cs typeface="Times New Roman" pitchFamily="18" charset="0"/>
              </a:rPr>
              <a:t>14</a:t>
            </a:r>
            <a:r>
              <a:rPr lang="en-US" altLang="ko-KR" sz="950" dirty="0">
                <a:solidFill>
                  <a:srgbClr val="000000"/>
                </a:solidFill>
                <a:latin typeface="Times New Roman" pitchFamily="18" charset="0"/>
                <a:cs typeface="Times New Roman" pitchFamily="18" charset="0"/>
              </a:rPr>
              <a:t>. </a:t>
            </a:r>
            <a:r>
              <a:rPr lang="en-US" altLang="ko-KR" sz="950" dirty="0" smtClean="0">
                <a:solidFill>
                  <a:srgbClr val="000000"/>
                </a:solidFill>
                <a:latin typeface="Times New Roman" pitchFamily="18" charset="0"/>
                <a:cs typeface="Times New Roman" pitchFamily="18" charset="0"/>
              </a:rPr>
              <a:t>Output </a:t>
            </a:r>
            <a:r>
              <a:rPr lang="en-US" altLang="ko-KR" sz="950" dirty="0" err="1" smtClean="0">
                <a:solidFill>
                  <a:srgbClr val="000000"/>
                </a:solidFill>
                <a:latin typeface="Times New Roman" pitchFamily="18" charset="0"/>
                <a:cs typeface="Times New Roman" pitchFamily="18" charset="0"/>
              </a:rPr>
              <a:t>của</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tiếp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điểm</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điện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tử</a:t>
            </a:r>
            <a:r>
              <a:rPr lang="en-US" altLang="ko-KR" sz="950" dirty="0" smtClean="0">
                <a:solidFill>
                  <a:srgbClr val="000000"/>
                </a:solidFill>
                <a:latin typeface="Times New Roman" pitchFamily="18" charset="0"/>
                <a:cs typeface="Times New Roman" pitchFamily="18" charset="0"/>
              </a:rPr>
              <a:t> ở </a:t>
            </a:r>
            <a:r>
              <a:rPr lang="en-US" altLang="ko-KR" sz="950" dirty="0" err="1" smtClean="0">
                <a:solidFill>
                  <a:srgbClr val="000000"/>
                </a:solidFill>
                <a:latin typeface="Times New Roman" pitchFamily="18" charset="0"/>
                <a:cs typeface="Times New Roman" pitchFamily="18" charset="0"/>
              </a:rPr>
              <a:t>mạch</a:t>
            </a:r>
            <a:r>
              <a:rPr lang="en-US" altLang="ko-KR" sz="950" dirty="0" smtClean="0">
                <a:solidFill>
                  <a:srgbClr val="000000"/>
                </a:solidFill>
                <a:latin typeface="Times New Roman" pitchFamily="18" charset="0"/>
                <a:cs typeface="Times New Roman" pitchFamily="18" charset="0"/>
              </a:rPr>
              <a:t> output sensor </a:t>
            </a:r>
            <a:r>
              <a:rPr lang="en-US" altLang="ko-KR" sz="950" err="1" smtClean="0">
                <a:solidFill>
                  <a:srgbClr val="000000"/>
                </a:solidFill>
                <a:latin typeface="Times New Roman" pitchFamily="18" charset="0"/>
                <a:cs typeface="Times New Roman" pitchFamily="18" charset="0"/>
              </a:rPr>
              <a:t>là</a:t>
            </a:r>
            <a:r>
              <a:rPr lang="en-US" altLang="ko-KR" sz="950" smtClean="0">
                <a:solidFill>
                  <a:srgbClr val="000000"/>
                </a:solidFill>
                <a:latin typeface="Times New Roman" pitchFamily="18" charset="0"/>
                <a:cs typeface="Times New Roman" pitchFamily="18" charset="0"/>
              </a:rPr>
              <a:t> gì?</a:t>
            </a:r>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 </a:t>
            </a:r>
            <a:r>
              <a:rPr lang="en-US" altLang="ko-KR" sz="950" dirty="0" smtClean="0">
                <a:solidFill>
                  <a:srgbClr val="FF0000"/>
                </a:solidFill>
                <a:latin typeface="Times New Roman" pitchFamily="18" charset="0"/>
                <a:cs typeface="Times New Roman" pitchFamily="18" charset="0"/>
              </a:rPr>
              <a:t>NPN transistor</a:t>
            </a:r>
            <a:r>
              <a:rPr lang="ko-KR" altLang="en-US" sz="950" dirty="0" smtClean="0">
                <a:solidFill>
                  <a:srgbClr val="FF0000"/>
                </a:solidFill>
                <a:latin typeface="Times New Roman" pitchFamily="18" charset="0"/>
                <a:cs typeface="Times New Roman" pitchFamily="18" charset="0"/>
              </a:rPr>
              <a:t> </a:t>
            </a:r>
            <a:r>
              <a:rPr lang="en-US" altLang="ko-KR" sz="950" dirty="0">
                <a:solidFill>
                  <a:srgbClr val="FF0000"/>
                </a:solidFill>
                <a:latin typeface="Times New Roman" pitchFamily="18" charset="0"/>
                <a:cs typeface="Times New Roman" pitchFamily="18" charset="0"/>
              </a:rPr>
              <a:t>O</a:t>
            </a:r>
            <a:r>
              <a:rPr lang="en-US" altLang="ko-KR" sz="950" dirty="0" smtClean="0">
                <a:solidFill>
                  <a:srgbClr val="FF0000"/>
                </a:solidFill>
                <a:latin typeface="Times New Roman" pitchFamily="18" charset="0"/>
                <a:cs typeface="Times New Roman" pitchFamily="18" charset="0"/>
              </a:rPr>
              <a:t>pen Collector</a:t>
            </a:r>
            <a:endParaRPr lang="ko-KR" altLang="en-US" sz="950" dirty="0">
              <a:solidFill>
                <a:srgbClr val="FF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B.</a:t>
            </a:r>
            <a:r>
              <a:rPr lang="ko-KR" altLang="en-US" sz="950" smtClean="0">
                <a:solidFill>
                  <a:srgbClr val="000000"/>
                </a:solidFill>
                <a:latin typeface="Times New Roman" pitchFamily="18" charset="0"/>
                <a:cs typeface="Times New Roman" pitchFamily="18" charset="0"/>
              </a:rPr>
              <a:t> </a:t>
            </a:r>
            <a:r>
              <a:rPr lang="en-US" altLang="ko-KR" sz="950" dirty="0">
                <a:solidFill>
                  <a:srgbClr val="000000"/>
                </a:solidFill>
                <a:latin typeface="Times New Roman" pitchFamily="18" charset="0"/>
                <a:cs typeface="Times New Roman" pitchFamily="18" charset="0"/>
              </a:rPr>
              <a:t>PNP transistor</a:t>
            </a:r>
            <a:r>
              <a:rPr lang="ko-KR" altLang="en-US" sz="950" dirty="0" smtClean="0">
                <a:solidFill>
                  <a:srgbClr val="000000"/>
                </a:solidFill>
                <a:latin typeface="Times New Roman" pitchFamily="18" charset="0"/>
                <a:cs typeface="Times New Roman" pitchFamily="18" charset="0"/>
              </a:rPr>
              <a:t>  </a:t>
            </a:r>
            <a:r>
              <a:rPr lang="en-US" altLang="ko-KR" sz="950" dirty="0" smtClean="0">
                <a:solidFill>
                  <a:srgbClr val="000000"/>
                </a:solidFill>
                <a:latin typeface="Times New Roman" pitchFamily="18" charset="0"/>
                <a:cs typeface="Times New Roman" pitchFamily="18" charset="0"/>
              </a:rPr>
              <a:t>open Collector </a:t>
            </a:r>
            <a:r>
              <a:rPr lang="en-US" altLang="ko-KR" sz="950" dirty="0" err="1" smtClean="0">
                <a:solidFill>
                  <a:srgbClr val="000000"/>
                </a:solidFill>
                <a:latin typeface="Times New Roman" pitchFamily="18" charset="0"/>
                <a:cs typeface="Times New Roman" pitchFamily="18" charset="0"/>
              </a:rPr>
              <a:t>dạng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xuyên</a:t>
            </a:r>
            <a:r>
              <a:rPr lang="en-US" altLang="ko-KR" sz="950" dirty="0" smtClean="0">
                <a:solidFill>
                  <a:srgbClr val="000000"/>
                </a:solidFill>
                <a:latin typeface="Times New Roman" pitchFamily="18" charset="0"/>
                <a:cs typeface="Times New Roman" pitchFamily="18" charset="0"/>
              </a:rPr>
              <a:t> qua</a:t>
            </a:r>
            <a:r>
              <a:rPr lang="ko-KR" altLang="en-US" sz="950" dirty="0" smtClean="0">
                <a:solidFill>
                  <a:srgbClr val="000000"/>
                </a:solidFill>
                <a:latin typeface="Times New Roman" pitchFamily="18" charset="0"/>
                <a:cs typeface="Times New Roman" pitchFamily="18" charset="0"/>
              </a:rPr>
              <a:t>  </a:t>
            </a:r>
            <a:endParaRPr lang="ko-KR" altLang="en-US" sz="950" dirty="0">
              <a:solidFill>
                <a:srgbClr val="000000"/>
              </a:solidFill>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hai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Relay</a:t>
            </a:r>
            <a:endParaRPr lang="ko-KR" altLang="en-US" sz="950" dirty="0">
              <a:latin typeface="Times New Roman" pitchFamily="18" charset="0"/>
              <a:cs typeface="Times New Roman" pitchFamily="18" charset="0"/>
            </a:endParaRPr>
          </a:p>
        </p:txBody>
      </p:sp>
      <p:sp>
        <p:nvSpPr>
          <p:cNvPr id="51" name="Rectangle 216"/>
          <p:cNvSpPr>
            <a:spLocks noChangeArrowheads="1"/>
          </p:cNvSpPr>
          <p:nvPr/>
        </p:nvSpPr>
        <p:spPr bwMode="auto">
          <a:xfrm>
            <a:off x="219920" y="8211651"/>
            <a:ext cx="3277616" cy="111569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15</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b="1" dirty="0" err="1" smtClean="0">
                <a:latin typeface="Times New Roman" pitchFamily="18" charset="0"/>
                <a:cs typeface="Times New Roman" pitchFamily="18" charset="0"/>
              </a:rPr>
              <a:t>không</a:t>
            </a:r>
            <a:r>
              <a:rPr lang="en-US" altLang="ko-KR" sz="950" b="1" dirty="0" smtClean="0">
                <a:latin typeface="Times New Roman" pitchFamily="18" charset="0"/>
                <a:cs typeface="Times New Roman" pitchFamily="18" charset="0"/>
              </a:rPr>
              <a:t> </a:t>
            </a:r>
            <a:r>
              <a:rPr lang="en-US" altLang="ko-KR" sz="950" b="1" dirty="0" err="1" smtClean="0">
                <a:latin typeface="Times New Roman" pitchFamily="18" charset="0"/>
                <a:cs typeface="Times New Roman" pitchFamily="18" charset="0"/>
              </a:rPr>
              <a:t>phải</a:t>
            </a:r>
            <a:r>
              <a:rPr lang="en-US" altLang="ko-KR" sz="950" b="1"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Diot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phát</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quang</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hoạt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bằng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dòng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en-US" altLang="ko-KR" sz="950" dirty="0" smtClean="0">
                <a:latin typeface="Times New Roman" pitchFamily="18" charset="0"/>
                <a:cs typeface="Times New Roman" pitchFamily="18" charset="0"/>
              </a:rPr>
              <a:t> hay </a:t>
            </a:r>
            <a:r>
              <a:rPr lang="en-US" altLang="ko-KR" sz="950" dirty="0" err="1" smtClean="0">
                <a:latin typeface="Times New Roman" pitchFamily="18" charset="0"/>
                <a:cs typeface="Times New Roman" pitchFamily="18" charset="0"/>
              </a:rPr>
              <a:t>xoay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hồi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nhanh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biến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dựa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xung</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C. </a:t>
            </a:r>
            <a:r>
              <a:rPr lang="en-US" altLang="ko-KR" sz="950" dirty="0" err="1" smtClean="0">
                <a:solidFill>
                  <a:srgbClr val="FF0000"/>
                </a:solidFill>
                <a:latin typeface="Times New Roman" pitchFamily="18" charset="0"/>
                <a:cs typeface="Times New Roman" pitchFamily="18" charset="0"/>
              </a:rPr>
              <a:t>Hiệu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năng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phát</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quang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cao</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và</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có</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thể</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nhận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được</a:t>
            </a:r>
            <a:r>
              <a:rPr lang="en-US" altLang="ko-KR" sz="950" dirty="0" smtClean="0">
                <a:solidFill>
                  <a:srgbClr val="FF0000"/>
                </a:solidFill>
                <a:latin typeface="Times New Roman" pitchFamily="18" charset="0"/>
                <a:cs typeface="Times New Roman" pitchFamily="18" charset="0"/>
              </a:rPr>
              <a:t> output </a:t>
            </a:r>
            <a:r>
              <a:rPr lang="en-US" altLang="ko-KR" sz="950" dirty="0" err="1" smtClean="0">
                <a:solidFill>
                  <a:srgbClr val="FF0000"/>
                </a:solidFill>
                <a:latin typeface="Times New Roman" pitchFamily="18" charset="0"/>
                <a:cs typeface="Times New Roman" pitchFamily="18" charset="0"/>
              </a:rPr>
              <a:t>cao</a:t>
            </a:r>
            <a:r>
              <a:rPr lang="en-US" altLang="ko-KR" sz="950" dirty="0" smtClean="0">
                <a:solidFill>
                  <a:srgbClr val="FF0000"/>
                </a:solidFill>
                <a:latin typeface="Times New Roman" pitchFamily="18" charset="0"/>
                <a:cs typeface="Times New Roman" pitchFamily="18" charset="0"/>
              </a:rPr>
              <a:t> ở </a:t>
            </a:r>
            <a:r>
              <a:rPr lang="en-US" altLang="ko-KR" sz="950" dirty="0" err="1" smtClean="0">
                <a:solidFill>
                  <a:srgbClr val="FF0000"/>
                </a:solidFill>
                <a:latin typeface="Times New Roman" pitchFamily="18" charset="0"/>
                <a:cs typeface="Times New Roman" pitchFamily="18" charset="0"/>
              </a:rPr>
              <a:t>dòng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điện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cao</a:t>
            </a:r>
            <a:r>
              <a:rPr lang="en-US" altLang="ko-KR" sz="950" dirty="0" smtClean="0">
                <a:solidFill>
                  <a:srgbClr val="FF0000"/>
                </a:solidFill>
                <a:latin typeface="Times New Roman" pitchFamily="18" charset="0"/>
                <a:cs typeface="Times New Roman" pitchFamily="18" charset="0"/>
              </a:rPr>
              <a:t>.</a:t>
            </a:r>
            <a:endParaRPr lang="en-US" altLang="ko-KR" sz="950" dirty="0">
              <a:solidFill>
                <a:srgbClr val="FF0000"/>
              </a:solidFill>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tiêu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thụ</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thấp</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52" name="Rectangle 172"/>
          <p:cNvSpPr>
            <a:spLocks noChangeArrowheads="1"/>
          </p:cNvSpPr>
          <p:nvPr/>
        </p:nvSpPr>
        <p:spPr bwMode="auto">
          <a:xfrm>
            <a:off x="3518528" y="1174955"/>
            <a:ext cx="3132138" cy="111569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16</a:t>
            </a:r>
            <a:r>
              <a:rPr lang="en-US" altLang="ko-KR" sz="950" dirty="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Ở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hai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hai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phía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 B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thứ</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tự</a:t>
            </a:r>
            <a:r>
              <a:rPr lang="en-US" altLang="ko-KR" sz="950" smtClean="0">
                <a:latin typeface="Times New Roman" pitchFamily="18" charset="0"/>
                <a:cs typeface="Times New Roman" pitchFamily="18" charset="0"/>
              </a:rPr>
              <a:t> là?</a:t>
            </a:r>
            <a:endParaRPr lang="en-US" altLang="ko-KR" sz="950" dirty="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a:latin typeface="Times New Roman" pitchFamily="18" charset="0"/>
                <a:cs typeface="Times New Roman" pitchFamily="18" charset="0"/>
              </a:rPr>
              <a:t>11.3V</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0.7V</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dirty="0">
                <a:latin typeface="Times New Roman" pitchFamily="18" charset="0"/>
                <a:cs typeface="Times New Roman" pitchFamily="18" charset="0"/>
              </a:rPr>
              <a:t>0.7V, 11.3V</a:t>
            </a:r>
          </a:p>
          <a:p>
            <a:pPr eaLnBrk="1" hangingPunct="1"/>
            <a:r>
              <a:rPr lang="en-US" altLang="ko-KR" sz="950" smtClean="0">
                <a:solidFill>
                  <a:srgbClr val="FF0000"/>
                </a:solidFill>
                <a:latin typeface="Times New Roman" pitchFamily="18" charset="0"/>
                <a:cs typeface="Times New Roman" pitchFamily="18" charset="0"/>
              </a:rPr>
              <a:t>C. </a:t>
            </a:r>
            <a:r>
              <a:rPr lang="en-US" altLang="ko-KR" sz="950" dirty="0">
                <a:solidFill>
                  <a:srgbClr val="FF0000"/>
                </a:solidFill>
                <a:latin typeface="Times New Roman" pitchFamily="18" charset="0"/>
                <a:cs typeface="Times New Roman" pitchFamily="18" charset="0"/>
              </a:rPr>
              <a:t>2.9V, 9.1V</a:t>
            </a:r>
          </a:p>
          <a:p>
            <a:pPr eaLnBrk="1" hangingPunct="1"/>
            <a:r>
              <a:rPr lang="en-US" altLang="ko-KR" sz="950" smtClean="0">
                <a:latin typeface="Times New Roman" pitchFamily="18" charset="0"/>
                <a:cs typeface="Times New Roman" pitchFamily="18" charset="0"/>
              </a:rPr>
              <a:t>D. </a:t>
            </a:r>
            <a:r>
              <a:rPr lang="en-US" altLang="ko-KR" sz="950" dirty="0">
                <a:latin typeface="Times New Roman" pitchFamily="18" charset="0"/>
                <a:cs typeface="Times New Roman" pitchFamily="18" charset="0"/>
              </a:rPr>
              <a:t>9.1V, 2.9V</a:t>
            </a:r>
          </a:p>
        </p:txBody>
      </p:sp>
      <p:grpSp>
        <p:nvGrpSpPr>
          <p:cNvPr id="53" name="Group 173"/>
          <p:cNvGrpSpPr>
            <a:grpSpLocks/>
          </p:cNvGrpSpPr>
          <p:nvPr/>
        </p:nvGrpSpPr>
        <p:grpSpPr bwMode="auto">
          <a:xfrm>
            <a:off x="4581128" y="1496616"/>
            <a:ext cx="1706564" cy="1041400"/>
            <a:chOff x="835" y="2224"/>
            <a:chExt cx="1075" cy="656"/>
          </a:xfrm>
        </p:grpSpPr>
        <p:sp>
          <p:nvSpPr>
            <p:cNvPr id="54" name="Line 174"/>
            <p:cNvSpPr>
              <a:spLocks noChangeShapeType="1"/>
            </p:cNvSpPr>
            <p:nvPr/>
          </p:nvSpPr>
          <p:spPr bwMode="auto">
            <a:xfrm>
              <a:off x="1170" y="2233"/>
              <a:ext cx="0" cy="315"/>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55" name="Line 175"/>
            <p:cNvSpPr>
              <a:spLocks noChangeShapeType="1"/>
            </p:cNvSpPr>
            <p:nvPr/>
          </p:nvSpPr>
          <p:spPr bwMode="auto">
            <a:xfrm>
              <a:off x="1165" y="2233"/>
              <a:ext cx="448"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56" name="Line 176"/>
            <p:cNvSpPr>
              <a:spLocks noChangeShapeType="1"/>
            </p:cNvSpPr>
            <p:nvPr/>
          </p:nvSpPr>
          <p:spPr bwMode="auto">
            <a:xfrm>
              <a:off x="1617" y="2233"/>
              <a:ext cx="0" cy="96"/>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grpSp>
          <p:nvGrpSpPr>
            <p:cNvPr id="58" name="Group 177"/>
            <p:cNvGrpSpPr>
              <a:grpSpLocks/>
            </p:cNvGrpSpPr>
            <p:nvPr/>
          </p:nvGrpSpPr>
          <p:grpSpPr bwMode="auto">
            <a:xfrm>
              <a:off x="1572" y="2329"/>
              <a:ext cx="90" cy="120"/>
              <a:chOff x="1488" y="1152"/>
              <a:chExt cx="192" cy="336"/>
            </a:xfrm>
          </p:grpSpPr>
          <p:sp>
            <p:nvSpPr>
              <p:cNvPr id="89" name="Line 178"/>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90" name="Line 179"/>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91" name="Line 180"/>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92" name="Line 181"/>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93" name="Line 182"/>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94" name="Line 183"/>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95" name="Line 184"/>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grpSp>
        <p:sp>
          <p:nvSpPr>
            <p:cNvPr id="60" name="Line 185"/>
            <p:cNvSpPr>
              <a:spLocks noChangeShapeType="1"/>
            </p:cNvSpPr>
            <p:nvPr/>
          </p:nvSpPr>
          <p:spPr bwMode="auto">
            <a:xfrm>
              <a:off x="1617" y="2449"/>
              <a:ext cx="0" cy="206"/>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69" name="AutoShape 186"/>
            <p:cNvSpPr>
              <a:spLocks noChangeArrowheads="1"/>
            </p:cNvSpPr>
            <p:nvPr/>
          </p:nvSpPr>
          <p:spPr bwMode="auto">
            <a:xfrm>
              <a:off x="1557" y="2655"/>
              <a:ext cx="120" cy="60"/>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50">
                <a:latin typeface="Times New Roman" pitchFamily="18" charset="0"/>
                <a:cs typeface="Times New Roman" pitchFamily="18" charset="0"/>
              </a:endParaRPr>
            </a:p>
          </p:txBody>
        </p:sp>
        <p:sp>
          <p:nvSpPr>
            <p:cNvPr id="70" name="Line 187"/>
            <p:cNvSpPr>
              <a:spLocks noChangeShapeType="1"/>
            </p:cNvSpPr>
            <p:nvPr/>
          </p:nvSpPr>
          <p:spPr bwMode="auto">
            <a:xfrm>
              <a:off x="1557" y="2715"/>
              <a:ext cx="12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71" name="Line 188"/>
            <p:cNvSpPr>
              <a:spLocks noChangeShapeType="1"/>
            </p:cNvSpPr>
            <p:nvPr/>
          </p:nvSpPr>
          <p:spPr bwMode="auto">
            <a:xfrm>
              <a:off x="1170" y="2874"/>
              <a:ext cx="447"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72" name="Line 189"/>
            <p:cNvSpPr>
              <a:spLocks noChangeShapeType="1"/>
            </p:cNvSpPr>
            <p:nvPr/>
          </p:nvSpPr>
          <p:spPr bwMode="auto">
            <a:xfrm>
              <a:off x="1617" y="2712"/>
              <a:ext cx="0" cy="16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73" name="Text Box 190"/>
            <p:cNvSpPr txBox="1">
              <a:spLocks noChangeArrowheads="1"/>
            </p:cNvSpPr>
            <p:nvPr/>
          </p:nvSpPr>
          <p:spPr bwMode="auto">
            <a:xfrm>
              <a:off x="1442" y="2367"/>
              <a:ext cx="168"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R</a:t>
              </a:r>
            </a:p>
          </p:txBody>
        </p:sp>
        <p:sp>
          <p:nvSpPr>
            <p:cNvPr id="74" name="Line 191"/>
            <p:cNvSpPr>
              <a:spLocks noChangeShapeType="1"/>
            </p:cNvSpPr>
            <p:nvPr/>
          </p:nvSpPr>
          <p:spPr bwMode="auto">
            <a:xfrm flipV="1">
              <a:off x="1170" y="2561"/>
              <a:ext cx="0" cy="31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75" name="Line 192"/>
            <p:cNvSpPr>
              <a:spLocks noChangeShapeType="1"/>
            </p:cNvSpPr>
            <p:nvPr/>
          </p:nvSpPr>
          <p:spPr bwMode="auto">
            <a:xfrm>
              <a:off x="1114" y="2543"/>
              <a:ext cx="116"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76" name="Line 193"/>
            <p:cNvSpPr>
              <a:spLocks noChangeShapeType="1"/>
            </p:cNvSpPr>
            <p:nvPr/>
          </p:nvSpPr>
          <p:spPr bwMode="auto">
            <a:xfrm>
              <a:off x="1132" y="2565"/>
              <a:ext cx="7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77" name="Text Box 194"/>
            <p:cNvSpPr txBox="1">
              <a:spLocks noChangeArrowheads="1"/>
            </p:cNvSpPr>
            <p:nvPr/>
          </p:nvSpPr>
          <p:spPr bwMode="auto">
            <a:xfrm>
              <a:off x="1067" y="2457"/>
              <a:ext cx="160"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a:t>
              </a:r>
            </a:p>
          </p:txBody>
        </p:sp>
        <p:sp>
          <p:nvSpPr>
            <p:cNvPr id="78" name="Line 195"/>
            <p:cNvSpPr>
              <a:spLocks noChangeShapeType="1"/>
            </p:cNvSpPr>
            <p:nvPr/>
          </p:nvSpPr>
          <p:spPr bwMode="auto">
            <a:xfrm>
              <a:off x="1556" y="2655"/>
              <a:ext cx="121"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79" name="Line 196"/>
            <p:cNvSpPr>
              <a:spLocks noChangeShapeType="1"/>
            </p:cNvSpPr>
            <p:nvPr/>
          </p:nvSpPr>
          <p:spPr bwMode="auto">
            <a:xfrm>
              <a:off x="1677" y="2655"/>
              <a:ext cx="37" cy="36"/>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80" name="Line 197"/>
            <p:cNvSpPr>
              <a:spLocks noChangeShapeType="1"/>
            </p:cNvSpPr>
            <p:nvPr/>
          </p:nvSpPr>
          <p:spPr bwMode="auto">
            <a:xfrm flipH="1" flipV="1">
              <a:off x="1514" y="2619"/>
              <a:ext cx="37" cy="36"/>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81" name="Text Box 198"/>
            <p:cNvSpPr txBox="1">
              <a:spLocks noChangeArrowheads="1"/>
            </p:cNvSpPr>
            <p:nvPr/>
          </p:nvSpPr>
          <p:spPr bwMode="auto">
            <a:xfrm>
              <a:off x="1281" y="2600"/>
              <a:ext cx="318"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  ZD</a:t>
              </a:r>
            </a:p>
            <a:p>
              <a:pPr eaLnBrk="1" hangingPunct="1"/>
              <a:r>
                <a:rPr lang="en-US" altLang="ko-KR" sz="950">
                  <a:latin typeface="Times New Roman" pitchFamily="18" charset="0"/>
                  <a:cs typeface="Times New Roman" pitchFamily="18" charset="0"/>
                </a:rPr>
                <a:t>(9.1V)</a:t>
              </a:r>
            </a:p>
          </p:txBody>
        </p:sp>
        <p:sp>
          <p:nvSpPr>
            <p:cNvPr id="82" name="Text Box 199"/>
            <p:cNvSpPr txBox="1">
              <a:spLocks noChangeArrowheads="1"/>
            </p:cNvSpPr>
            <p:nvPr/>
          </p:nvSpPr>
          <p:spPr bwMode="auto">
            <a:xfrm>
              <a:off x="835" y="2472"/>
              <a:ext cx="299"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12[V]</a:t>
              </a:r>
            </a:p>
          </p:txBody>
        </p:sp>
        <p:sp>
          <p:nvSpPr>
            <p:cNvPr id="83" name="Line 200"/>
            <p:cNvSpPr>
              <a:spLocks noChangeShapeType="1"/>
            </p:cNvSpPr>
            <p:nvPr/>
          </p:nvSpPr>
          <p:spPr bwMode="auto">
            <a:xfrm flipH="1" flipV="1">
              <a:off x="1663" y="2224"/>
              <a:ext cx="112" cy="109"/>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84" name="Line 201"/>
            <p:cNvSpPr>
              <a:spLocks noChangeShapeType="1"/>
            </p:cNvSpPr>
            <p:nvPr/>
          </p:nvSpPr>
          <p:spPr bwMode="auto">
            <a:xfrm flipH="1">
              <a:off x="1663" y="2476"/>
              <a:ext cx="149" cy="72"/>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85" name="Text Box 202"/>
            <p:cNvSpPr txBox="1">
              <a:spLocks noChangeArrowheads="1"/>
            </p:cNvSpPr>
            <p:nvPr/>
          </p:nvSpPr>
          <p:spPr bwMode="auto">
            <a:xfrm>
              <a:off x="1737" y="2325"/>
              <a:ext cx="172"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A</a:t>
              </a:r>
            </a:p>
          </p:txBody>
        </p:sp>
        <p:sp>
          <p:nvSpPr>
            <p:cNvPr id="86" name="Line 203"/>
            <p:cNvSpPr>
              <a:spLocks noChangeShapeType="1"/>
            </p:cNvSpPr>
            <p:nvPr/>
          </p:nvSpPr>
          <p:spPr bwMode="auto">
            <a:xfrm flipH="1" flipV="1">
              <a:off x="1668" y="2552"/>
              <a:ext cx="112" cy="109"/>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87" name="Line 204"/>
            <p:cNvSpPr>
              <a:spLocks noChangeShapeType="1"/>
            </p:cNvSpPr>
            <p:nvPr/>
          </p:nvSpPr>
          <p:spPr bwMode="auto">
            <a:xfrm flipH="1">
              <a:off x="1663" y="2799"/>
              <a:ext cx="149" cy="72"/>
            </a:xfrm>
            <a:prstGeom prst="line">
              <a:avLst/>
            </a:prstGeom>
            <a:noFill/>
            <a:ln w="9525">
              <a:solidFill>
                <a:srgbClr val="000000"/>
              </a:solidFill>
              <a:prstDash val="sys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88" name="Text Box 205"/>
            <p:cNvSpPr txBox="1">
              <a:spLocks noChangeArrowheads="1"/>
            </p:cNvSpPr>
            <p:nvPr/>
          </p:nvSpPr>
          <p:spPr bwMode="auto">
            <a:xfrm>
              <a:off x="1742" y="2663"/>
              <a:ext cx="168" cy="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B</a:t>
              </a:r>
            </a:p>
          </p:txBody>
        </p:sp>
      </p:grpSp>
      <p:sp>
        <p:nvSpPr>
          <p:cNvPr id="96" name="Rectangle 209"/>
          <p:cNvSpPr>
            <a:spLocks noChangeArrowheads="1"/>
          </p:cNvSpPr>
          <p:nvPr/>
        </p:nvSpPr>
        <p:spPr bwMode="auto">
          <a:xfrm>
            <a:off x="3518528" y="2936776"/>
            <a:ext cx="3125788"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17</a:t>
            </a:r>
            <a:r>
              <a:rPr lang="en-US" altLang="ko-KR" sz="950" dirty="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Sau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nội</a:t>
            </a:r>
            <a:r>
              <a:rPr lang="en-US" altLang="ko-KR" sz="950" dirty="0" smtClean="0">
                <a:latin typeface="Times New Roman" pitchFamily="18" charset="0"/>
                <a:cs typeface="Times New Roman" pitchFamily="18" charset="0"/>
              </a:rPr>
              <a:t> dung </a:t>
            </a:r>
            <a:r>
              <a:rPr lang="en-US" altLang="ko-KR" sz="950" err="1" smtClean="0">
                <a:latin typeface="Times New Roman" pitchFamily="18" charset="0"/>
                <a:cs typeface="Times New Roman" pitchFamily="18" charset="0"/>
              </a:rPr>
              <a:t>nào</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dirty="0" smtClean="0">
                <a:latin typeface="Times New Roman" pitchFamily="18" charset="0"/>
                <a:cs typeface="Times New Roman" pitchFamily="18" charset="0"/>
              </a:rPr>
              <a:t>‘</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On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Input </a:t>
            </a:r>
            <a:r>
              <a:rPr lang="en-US" altLang="ko-KR" sz="950" dirty="0" err="1" smtClean="0">
                <a:latin typeface="Times New Roman" pitchFamily="18" charset="0"/>
                <a:cs typeface="Times New Roman" pitchFamily="18" charset="0"/>
              </a:rPr>
              <a:t>đưa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vào</a:t>
            </a:r>
            <a:r>
              <a:rPr lang="en-US" altLang="ko-KR" sz="950" dirty="0" smtClean="0">
                <a:latin typeface="Times New Roman" pitchFamily="18" charset="0"/>
                <a:cs typeface="Times New Roman" pitchFamily="18" charset="0"/>
              </a:rPr>
              <a:t>, OFF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hiệu</a:t>
            </a:r>
            <a:r>
              <a:rPr lang="en-US" altLang="ko-KR" sz="950" dirty="0" smtClean="0">
                <a:latin typeface="Times New Roman" pitchFamily="18" charset="0"/>
                <a:cs typeface="Times New Roman" pitchFamily="18" charset="0"/>
              </a:rPr>
              <a:t> Input </a:t>
            </a:r>
            <a:r>
              <a:rPr lang="en-US" altLang="ko-KR" sz="950" dirty="0" err="1" smtClean="0">
                <a:latin typeface="Times New Roman" pitchFamily="18" charset="0"/>
                <a:cs typeface="Times New Roman" pitchFamily="18" charset="0"/>
              </a:rPr>
              <a:t>biến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mất</a:t>
            </a:r>
            <a:r>
              <a:rPr lang="en-US" altLang="ko-KR" sz="950" dirty="0" smtClean="0">
                <a:latin typeface="Times New Roman" pitchFamily="18" charset="0"/>
                <a:cs typeface="Times New Roman" pitchFamily="18" charset="0"/>
              </a:rPr>
              <a:t>, Input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Output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SCR      </a:t>
            </a:r>
            <a:r>
              <a:rPr lang="en-US" altLang="ko-KR" sz="950" smtClean="0">
                <a:solidFill>
                  <a:srgbClr val="FF0000"/>
                </a:solidFill>
                <a:latin typeface="Times New Roman" pitchFamily="18" charset="0"/>
                <a:cs typeface="Times New Roman" pitchFamily="18" charset="0"/>
              </a:rPr>
              <a:t>B. </a:t>
            </a:r>
            <a:r>
              <a:rPr lang="en-US" altLang="ko-KR" sz="950">
                <a:solidFill>
                  <a:srgbClr val="FF0000"/>
                </a:solidFill>
                <a:latin typeface="Times New Roman" pitchFamily="18" charset="0"/>
                <a:cs typeface="Times New Roman" pitchFamily="18" charset="0"/>
              </a:rPr>
              <a:t>SSR      </a:t>
            </a:r>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Đ</a:t>
            </a:r>
            <a:r>
              <a:rPr lang="en-US" altLang="ko-KR" sz="950" smtClean="0">
                <a:latin typeface="Times New Roman" pitchFamily="18" charset="0"/>
                <a:cs typeface="Times New Roman" pitchFamily="18" charset="0"/>
              </a:rPr>
              <a:t>iện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nhiệt</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TRIAC</a:t>
            </a:r>
            <a:endParaRPr lang="ko-KR" altLang="en-US" sz="950" dirty="0">
              <a:latin typeface="Times New Roman" pitchFamily="18" charset="0"/>
              <a:cs typeface="Times New Roman" pitchFamily="18" charset="0"/>
            </a:endParaRPr>
          </a:p>
        </p:txBody>
      </p:sp>
      <p:sp>
        <p:nvSpPr>
          <p:cNvPr id="97" name="Rectangle 132"/>
          <p:cNvSpPr>
            <a:spLocks noChangeArrowheads="1"/>
          </p:cNvSpPr>
          <p:nvPr/>
        </p:nvSpPr>
        <p:spPr bwMode="auto">
          <a:xfrm>
            <a:off x="3502596" y="4592960"/>
            <a:ext cx="3125788" cy="53091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18</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phân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TRANSISTOR</a:t>
            </a:r>
            <a:r>
              <a:rPr lang="ko-KR" altLang="en-US"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Part no, TRANSISTOR  </a:t>
            </a:r>
            <a:r>
              <a:rPr lang="en-US" altLang="ko-KR" sz="950" dirty="0" err="1" smtClean="0">
                <a:latin typeface="Times New Roman" pitchFamily="18" charset="0"/>
                <a:cs typeface="Times New Roman" pitchFamily="18" charset="0"/>
              </a:rPr>
              <a:t>dùng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thấp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PNP TYPE</a:t>
            </a:r>
            <a:r>
              <a:rPr lang="ko-KR" altLang="en-US"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là</a:t>
            </a:r>
            <a:r>
              <a:rPr lang="en-US" altLang="ko-KR" sz="950" smtClean="0">
                <a:latin typeface="Times New Roman" pitchFamily="18" charset="0"/>
                <a:cs typeface="Times New Roman" pitchFamily="18" charset="0"/>
              </a:rPr>
              <a:t> gì? </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2SAxx     </a:t>
            </a:r>
            <a:r>
              <a:rPr lang="en-US" altLang="ko-KR" sz="950" smtClean="0">
                <a:solidFill>
                  <a:srgbClr val="FF0000"/>
                </a:solidFill>
                <a:latin typeface="Times New Roman" pitchFamily="18" charset="0"/>
                <a:cs typeface="Times New Roman" pitchFamily="18" charset="0"/>
              </a:rPr>
              <a:t>B. </a:t>
            </a:r>
            <a:r>
              <a:rPr lang="en-US" altLang="ko-KR" sz="950">
                <a:solidFill>
                  <a:srgbClr val="FF0000"/>
                </a:solidFill>
                <a:latin typeface="Times New Roman" pitchFamily="18" charset="0"/>
                <a:cs typeface="Times New Roman" pitchFamily="18" charset="0"/>
              </a:rPr>
              <a:t>2SBxx     </a:t>
            </a:r>
            <a:r>
              <a:rPr lang="en-US" altLang="ko-KR" sz="950" smtClean="0">
                <a:latin typeface="Times New Roman" pitchFamily="18" charset="0"/>
                <a:cs typeface="Times New Roman" pitchFamily="18" charset="0"/>
              </a:rPr>
              <a:t>C. </a:t>
            </a:r>
            <a:r>
              <a:rPr lang="en-US" altLang="ko-KR" sz="950">
                <a:latin typeface="Times New Roman" pitchFamily="18" charset="0"/>
                <a:cs typeface="Times New Roman" pitchFamily="18" charset="0"/>
              </a:rPr>
              <a:t>2SCxx      </a:t>
            </a:r>
            <a:r>
              <a:rPr lang="en-US" altLang="ko-KR" sz="950" smtClean="0">
                <a:latin typeface="Times New Roman" pitchFamily="18" charset="0"/>
                <a:cs typeface="Times New Roman" pitchFamily="18" charset="0"/>
              </a:rPr>
              <a:t>D. </a:t>
            </a:r>
            <a:r>
              <a:rPr lang="en-US" altLang="ko-KR" sz="950" dirty="0">
                <a:latin typeface="Times New Roman" pitchFamily="18" charset="0"/>
                <a:cs typeface="Times New Roman" pitchFamily="18" charset="0"/>
              </a:rPr>
              <a:t>2SDxx</a:t>
            </a:r>
          </a:p>
        </p:txBody>
      </p:sp>
      <p:sp>
        <p:nvSpPr>
          <p:cNvPr id="98" name="직사각형 10"/>
          <p:cNvSpPr>
            <a:spLocks noChangeArrowheads="1"/>
          </p:cNvSpPr>
          <p:nvPr/>
        </p:nvSpPr>
        <p:spPr bwMode="auto">
          <a:xfrm>
            <a:off x="188640" y="1215842"/>
            <a:ext cx="3308896"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71450" indent="-171450" eaLnBrk="1" hangingPunct="1"/>
            <a:r>
              <a:rPr lang="en-US" altLang="ko-KR" sz="950" smtClean="0">
                <a:latin typeface="Times New Roman" pitchFamily="18" charset="0"/>
                <a:ea typeface="돋움" pitchFamily="50" charset="-127"/>
                <a:cs typeface="Times New Roman" pitchFamily="18" charset="0"/>
              </a:rPr>
              <a:t>11. </a:t>
            </a:r>
            <a:r>
              <a:rPr lang="en-US" altLang="ko-KR" sz="950" dirty="0" err="1" smtClean="0">
                <a:latin typeface="Times New Roman" pitchFamily="18" charset="0"/>
                <a:ea typeface="돋움" pitchFamily="50" charset="-127"/>
                <a:cs typeface="Times New Roman" pitchFamily="18" charset="0"/>
              </a:rPr>
              <a:t>Hiện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tượng</a:t>
            </a:r>
            <a:r>
              <a:rPr lang="en-US" altLang="ko-KR" sz="950" dirty="0" smtClean="0">
                <a:latin typeface="Times New Roman" pitchFamily="18" charset="0"/>
                <a:ea typeface="돋움" pitchFamily="50" charset="-127"/>
                <a:cs typeface="Times New Roman" pitchFamily="18" charset="0"/>
              </a:rPr>
              <a:t> electron </a:t>
            </a:r>
            <a:r>
              <a:rPr lang="en-US" altLang="ko-KR" sz="950" dirty="0" err="1" smtClean="0">
                <a:latin typeface="Times New Roman" pitchFamily="18" charset="0"/>
                <a:ea typeface="돋움" pitchFamily="50" charset="-127"/>
                <a:cs typeface="Times New Roman" pitchFamily="18" charset="0"/>
              </a:rPr>
              <a:t>quỹ</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đạo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nhận</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năng</a:t>
            </a:r>
            <a:r>
              <a:rPr lang="en-US" altLang="ko-KR" sz="950" smtClean="0">
                <a:latin typeface="Times New Roman" pitchFamily="18" charset="0"/>
                <a:ea typeface="돋움" pitchFamily="50" charset="-127"/>
                <a:cs typeface="Times New Roman" pitchFamily="18" charset="0"/>
              </a:rPr>
              <a:t> lượng </a:t>
            </a:r>
            <a:r>
              <a:rPr lang="en-US" altLang="ko-KR" sz="950" dirty="0" err="1" smtClean="0">
                <a:latin typeface="Times New Roman" pitchFamily="18" charset="0"/>
                <a:ea typeface="돋움" pitchFamily="50" charset="-127"/>
                <a:cs typeface="Times New Roman" pitchFamily="18" charset="0"/>
              </a:rPr>
              <a:t>mạnh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rồi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trở</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thành</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electron tự </a:t>
            </a:r>
            <a:r>
              <a:rPr lang="en-US" altLang="ko-KR" sz="950" dirty="0" smtClean="0">
                <a:latin typeface="Times New Roman" pitchFamily="18" charset="0"/>
                <a:ea typeface="돋움" pitchFamily="50" charset="-127"/>
                <a:cs typeface="Times New Roman" pitchFamily="18" charset="0"/>
              </a:rPr>
              <a:t>do </a:t>
            </a:r>
            <a:r>
              <a:rPr lang="en-US" altLang="ko-KR" sz="950" err="1" smtClean="0">
                <a:latin typeface="Times New Roman" pitchFamily="18" charset="0"/>
                <a:ea typeface="돋움" pitchFamily="50" charset="-127"/>
                <a:cs typeface="Times New Roman" pitchFamily="18" charset="0"/>
              </a:rPr>
              <a:t>trong</a:t>
            </a:r>
            <a:r>
              <a:rPr lang="en-US" altLang="ko-KR"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nguyên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gọi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marL="0" indent="0" eaLnBrk="1" hangingPunct="1"/>
            <a:endParaRPr lang="en-US" altLang="ko-KR" sz="950" dirty="0">
              <a:latin typeface="Times New Roman" pitchFamily="18" charset="0"/>
              <a:ea typeface="돋움" pitchFamily="50" charset="-127"/>
              <a:cs typeface="Times New Roman" pitchFamily="18" charset="0"/>
            </a:endParaRPr>
          </a:p>
          <a:p>
            <a:pPr marL="0" indent="0" eaLnBrk="1" hangingPunct="1"/>
            <a:r>
              <a:rPr lang="en-US" altLang="ko-KR" sz="950" smtClean="0">
                <a:latin typeface="Times New Roman" pitchFamily="18" charset="0"/>
                <a:ea typeface="돋움" pitchFamily="50" charset="-127"/>
                <a:cs typeface="Times New Roman" pitchFamily="18" charset="0"/>
              </a:rPr>
              <a:t>A. Kích </a:t>
            </a:r>
            <a:r>
              <a:rPr lang="en-US" altLang="ko-KR" sz="950" err="1" smtClean="0">
                <a:latin typeface="Times New Roman" pitchFamily="18" charset="0"/>
                <a:ea typeface="돋움" pitchFamily="50" charset="-127"/>
                <a:cs typeface="Times New Roman" pitchFamily="18" charset="0"/>
              </a:rPr>
              <a:t>thích</a:t>
            </a:r>
            <a:r>
              <a:rPr lang="ko-KR" altLang="en-US" sz="950" smtClean="0">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B.</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dirty="0" smtClean="0">
                <a:solidFill>
                  <a:srgbClr val="FF0000"/>
                </a:solidFill>
                <a:latin typeface="Times New Roman" pitchFamily="18" charset="0"/>
                <a:ea typeface="돋움" pitchFamily="50" charset="-127"/>
                <a:cs typeface="Times New Roman" pitchFamily="18" charset="0"/>
              </a:rPr>
              <a:t>Ion </a:t>
            </a:r>
            <a:r>
              <a:rPr lang="en-US" altLang="ko-KR" sz="950" err="1" smtClean="0">
                <a:solidFill>
                  <a:srgbClr val="FF0000"/>
                </a:solidFill>
                <a:latin typeface="Times New Roman" pitchFamily="18" charset="0"/>
                <a:ea typeface="돋움" pitchFamily="50" charset="-127"/>
                <a:cs typeface="Times New Roman" pitchFamily="18" charset="0"/>
              </a:rPr>
              <a:t>hóa</a:t>
            </a:r>
            <a:r>
              <a:rPr lang="ko-KR" altLang="en-US" sz="950" smtClean="0">
                <a:solidFill>
                  <a:srgbClr val="FF0000"/>
                </a:solidFill>
                <a:latin typeface="Times New Roman" pitchFamily="18" charset="0"/>
                <a:ea typeface="돋움" pitchFamily="50" charset="-127"/>
                <a:cs typeface="Times New Roman" pitchFamily="18" charset="0"/>
              </a:rPr>
              <a:t>    </a:t>
            </a:r>
            <a:endParaRPr lang="en-US" altLang="ko-KR" sz="950">
              <a:solidFill>
                <a:srgbClr val="FF0000"/>
              </a:solidFill>
              <a:latin typeface="Times New Roman" pitchFamily="18" charset="0"/>
              <a:ea typeface="돋움" pitchFamily="50" charset="-127"/>
              <a:cs typeface="Times New Roman" pitchFamily="18" charset="0"/>
            </a:endParaRPr>
          </a:p>
          <a:p>
            <a:pPr marL="0" indent="0" eaLnBrk="1" hangingPunct="1"/>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P</a:t>
            </a:r>
            <a:r>
              <a:rPr lang="en-US" altLang="ko-KR" sz="950" smtClean="0">
                <a:latin typeface="Times New Roman" pitchFamily="18" charset="0"/>
                <a:ea typeface="돋움" pitchFamily="50" charset="-127"/>
                <a:cs typeface="Times New Roman" pitchFamily="18" charset="0"/>
              </a:rPr>
              <a:t>hoton</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P</a:t>
            </a:r>
            <a:r>
              <a:rPr lang="en-US" altLang="ko-KR" sz="950" smtClean="0">
                <a:latin typeface="Times New Roman" pitchFamily="18" charset="0"/>
                <a:ea typeface="돋움" pitchFamily="50" charset="-127"/>
                <a:cs typeface="Times New Roman" pitchFamily="18" charset="0"/>
              </a:rPr>
              <a:t>hóng </a:t>
            </a:r>
            <a:r>
              <a:rPr lang="en-US" altLang="ko-KR" sz="950" dirty="0" err="1" smtClean="0">
                <a:latin typeface="Times New Roman" pitchFamily="18" charset="0"/>
                <a:ea typeface="돋움" pitchFamily="50" charset="-127"/>
                <a:cs typeface="Times New Roman" pitchFamily="18" charset="0"/>
              </a:rPr>
              <a:t>bức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xạ</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điện</a:t>
            </a:r>
            <a:r>
              <a:rPr lang="en-US" altLang="ko-KR" sz="950" smtClean="0">
                <a:latin typeface="Times New Roman" pitchFamily="18" charset="0"/>
                <a:ea typeface="돋움" pitchFamily="50" charset="-127"/>
                <a:cs typeface="Times New Roman" pitchFamily="18" charset="0"/>
              </a:rPr>
              <a:t> từ</a:t>
            </a:r>
            <a:endParaRPr lang="ko-KR" altLang="en-US" sz="950" dirty="0">
              <a:latin typeface="Times New Roman" pitchFamily="18" charset="0"/>
              <a:ea typeface="돋움" pitchFamily="50" charset="-127"/>
              <a:cs typeface="Times New Roman" pitchFamily="18" charset="0"/>
            </a:endParaRPr>
          </a:p>
        </p:txBody>
      </p:sp>
      <p:sp>
        <p:nvSpPr>
          <p:cNvPr id="99" name="Rectangle 290"/>
          <p:cNvSpPr>
            <a:spLocks noChangeArrowheads="1"/>
          </p:cNvSpPr>
          <p:nvPr/>
        </p:nvSpPr>
        <p:spPr bwMode="auto">
          <a:xfrm>
            <a:off x="3501007" y="6339443"/>
            <a:ext cx="3190365"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19</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không</a:t>
            </a:r>
            <a:r>
              <a:rPr lang="en-US" altLang="ko-KR" sz="950" smtClean="0">
                <a:latin typeface="Times New Roman" pitchFamily="18" charset="0"/>
                <a:cs typeface="Times New Roman" pitchFamily="18" charset="0"/>
              </a:rPr>
              <a:t> phải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Diot</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smtClean="0">
                <a:latin typeface="Times New Roman" pitchFamily="18" charset="0"/>
                <a:cs typeface="Times New Roman" pitchFamily="18" charset="0"/>
              </a:rPr>
              <a:t>Cho </a:t>
            </a:r>
            <a:r>
              <a:rPr lang="en-US" altLang="ko-KR" sz="950" dirty="0" err="1" smtClean="0">
                <a:latin typeface="Times New Roman" pitchFamily="18" charset="0"/>
                <a:cs typeface="Times New Roman" pitchFamily="18" charset="0"/>
              </a:rPr>
              <a:t>dòng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a:t>
            </a:r>
            <a:r>
              <a:rPr lang="en-US" altLang="ko-KR" sz="950" dirty="0" smtClean="0">
                <a:latin typeface="Times New Roman" pitchFamily="18" charset="0"/>
                <a:cs typeface="Times New Roman" pitchFamily="18" charset="0"/>
              </a:rPr>
              <a:t> qua </a:t>
            </a:r>
            <a:r>
              <a:rPr lang="en-US" altLang="ko-KR" sz="950" dirty="0" err="1" smtClean="0">
                <a:latin typeface="Times New Roman" pitchFamily="18" charset="0"/>
                <a:cs typeface="Times New Roman" pitchFamily="18" charset="0"/>
              </a:rPr>
              <a:t>tốt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Hầu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như</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dòng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a:t>
            </a:r>
            <a:r>
              <a:rPr lang="en-US" altLang="ko-KR" sz="950" dirty="0" smtClean="0">
                <a:latin typeface="Times New Roman" pitchFamily="18" charset="0"/>
                <a:cs typeface="Times New Roman" pitchFamily="18" charset="0"/>
              </a:rPr>
              <a:t> qua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hướng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lại</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xuôi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thấp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trở</a:t>
            </a:r>
            <a:r>
              <a:rPr lang="en-US" altLang="ko-KR" sz="950" smtClean="0">
                <a:latin typeface="Times New Roman" pitchFamily="18" charset="0"/>
                <a:cs typeface="Times New Roman" pitchFamily="18" charset="0"/>
              </a:rPr>
              <a:t> hướng ngược </a:t>
            </a:r>
            <a:r>
              <a:rPr lang="en-US" altLang="ko-KR" sz="950" dirty="0" err="1" smtClean="0">
                <a:latin typeface="Times New Roman" pitchFamily="18" charset="0"/>
                <a:cs typeface="Times New Roman" pitchFamily="18" charset="0"/>
              </a:rPr>
              <a:t>lại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rất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cao</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D. </a:t>
            </a:r>
            <a:r>
              <a:rPr lang="en-US" altLang="ko-KR" sz="950" dirty="0" err="1" smtClean="0">
                <a:solidFill>
                  <a:srgbClr val="FF0000"/>
                </a:solidFill>
                <a:latin typeface="Times New Roman" pitchFamily="18" charset="0"/>
                <a:cs typeface="Times New Roman" pitchFamily="18" charset="0"/>
              </a:rPr>
              <a:t>Tất</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cả</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diot</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bán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dẫn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đa</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số</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đều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có</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đặc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tính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hai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hướng</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grpSp>
        <p:nvGrpSpPr>
          <p:cNvPr id="100" name="Group 99"/>
          <p:cNvGrpSpPr/>
          <p:nvPr/>
        </p:nvGrpSpPr>
        <p:grpSpPr>
          <a:xfrm>
            <a:off x="3501008" y="8193360"/>
            <a:ext cx="3190365" cy="677108"/>
            <a:chOff x="3335065" y="2091797"/>
            <a:chExt cx="3190365" cy="677108"/>
          </a:xfrm>
        </p:grpSpPr>
        <p:sp>
          <p:nvSpPr>
            <p:cNvPr id="101" name="Rectangle 287"/>
            <p:cNvSpPr>
              <a:spLocks noChangeArrowheads="1"/>
            </p:cNvSpPr>
            <p:nvPr/>
          </p:nvSpPr>
          <p:spPr bwMode="auto">
            <a:xfrm>
              <a:off x="3335065" y="2091797"/>
              <a:ext cx="3095625" cy="67710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2</a:t>
              </a:r>
              <a:r>
                <a:rPr lang="en-US" altLang="ko-KR" sz="950" smtClean="0">
                  <a:latin typeface="Times New Roman" pitchFamily="18" charset="0"/>
                  <a:cs typeface="Times New Roman" pitchFamily="18" charset="0"/>
                </a:rPr>
                <a:t>0</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Giá</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thị</a:t>
              </a:r>
              <a:r>
                <a:rPr lang="en-US" altLang="ko-KR" sz="950" dirty="0" smtClean="0">
                  <a:latin typeface="Times New Roman" pitchFamily="18" charset="0"/>
                  <a:cs typeface="Times New Roman" pitchFamily="18" charset="0"/>
                </a:rPr>
                <a:t> ở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Chip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ko-KR" altLang="en-US" sz="950" dirty="0" smtClean="0">
                  <a:latin typeface="Times New Roman" pitchFamily="18" charset="0"/>
                  <a:cs typeface="Times New Roman" pitchFamily="18" charset="0"/>
                </a:rPr>
                <a:t> </a:t>
              </a:r>
              <a:r>
                <a:rPr lang="ko-KR" altLang="en-US" sz="950" dirty="0">
                  <a:latin typeface="Times New Roman" pitchFamily="18" charset="0"/>
                  <a:cs typeface="Times New Roman" pitchFamily="18" charset="0"/>
                </a:rPr>
                <a:t>“</a:t>
              </a:r>
              <a:r>
                <a:rPr lang="en-US" altLang="ko-KR" sz="950">
                  <a:latin typeface="Times New Roman" pitchFamily="18" charset="0"/>
                  <a:cs typeface="Times New Roman" pitchFamily="18" charset="0"/>
                </a:rPr>
                <a:t>106</a:t>
              </a:r>
              <a:r>
                <a:rPr lang="en-US" altLang="ko-KR" sz="950" smtClean="0">
                  <a:latin typeface="Times New Roman" pitchFamily="18" charset="0"/>
                  <a:cs typeface="Times New Roman" pitchFamily="18" charset="0"/>
                </a:rPr>
                <a:t>”.Giá </a:t>
              </a:r>
              <a:r>
                <a:rPr lang="en-US" altLang="ko-KR" sz="950" dirty="0" err="1" smtClean="0">
                  <a:latin typeface="Times New Roman" pitchFamily="18" charset="0"/>
                  <a:cs typeface="Times New Roman" pitchFamily="18" charset="0"/>
                </a:rPr>
                <a:t>trị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bao</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nhiêu</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a:latin typeface="Times New Roman" pitchFamily="18" charset="0"/>
                  <a:cs typeface="Times New Roman" pitchFamily="18" charset="0"/>
                </a:rPr>
                <a:t>106 </a:t>
              </a:r>
              <a:r>
                <a:rPr lang="en-US" altLang="ko-KR" sz="950">
                  <a:latin typeface="Times New Roman" pitchFamily="18" charset="0"/>
                  <a:cs typeface="Times New Roman" pitchFamily="18" charset="0"/>
                </a:rPr>
                <a:t>Ω     </a:t>
              </a:r>
              <a:r>
                <a:rPr lang="en-US" altLang="ko-KR" sz="950" smtClean="0">
                  <a:latin typeface="Times New Roman" pitchFamily="18" charset="0"/>
                  <a:cs typeface="Times New Roman" pitchFamily="18" charset="0"/>
                </a:rPr>
                <a:t>B. </a:t>
              </a:r>
              <a:r>
                <a:rPr lang="en-US" altLang="ko-KR" sz="950" dirty="0">
                  <a:latin typeface="Times New Roman" pitchFamily="18" charset="0"/>
                  <a:cs typeface="Times New Roman" pitchFamily="18" charset="0"/>
                </a:rPr>
                <a:t>106 ㏀</a:t>
              </a:r>
            </a:p>
            <a:p>
              <a:pPr eaLnBrk="1" hangingPunct="1"/>
              <a:r>
                <a:rPr lang="en-US" altLang="ko-KR" sz="950" smtClean="0">
                  <a:latin typeface="Times New Roman" pitchFamily="18" charset="0"/>
                  <a:cs typeface="Times New Roman" pitchFamily="18" charset="0"/>
                </a:rPr>
                <a:t>C. </a:t>
              </a:r>
              <a:r>
                <a:rPr lang="en-US" altLang="ko-KR" sz="950" dirty="0">
                  <a:latin typeface="Times New Roman" pitchFamily="18" charset="0"/>
                  <a:cs typeface="Times New Roman" pitchFamily="18" charset="0"/>
                </a:rPr>
                <a:t>10 </a:t>
              </a:r>
              <a:r>
                <a:rPr lang="en-US" altLang="ko-KR" sz="950">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D. </a:t>
              </a:r>
              <a:r>
                <a:rPr lang="en-US" altLang="ko-KR" sz="950" dirty="0">
                  <a:solidFill>
                    <a:srgbClr val="FF0000"/>
                  </a:solidFill>
                  <a:latin typeface="Times New Roman" pitchFamily="18" charset="0"/>
                  <a:cs typeface="Times New Roman" pitchFamily="18" charset="0"/>
                </a:rPr>
                <a:t>10 ㏁</a:t>
              </a:r>
            </a:p>
          </p:txBody>
        </p:sp>
        <p:grpSp>
          <p:nvGrpSpPr>
            <p:cNvPr id="102" name="Group 293"/>
            <p:cNvGrpSpPr>
              <a:grpSpLocks/>
            </p:cNvGrpSpPr>
            <p:nvPr/>
          </p:nvGrpSpPr>
          <p:grpSpPr bwMode="auto">
            <a:xfrm>
              <a:off x="5376080" y="2385415"/>
              <a:ext cx="1149350" cy="314325"/>
              <a:chOff x="3174" y="1850"/>
              <a:chExt cx="724" cy="342"/>
            </a:xfrm>
          </p:grpSpPr>
          <p:pic>
            <p:nvPicPr>
              <p:cNvPr id="103" name="Picture 29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4" y="1850"/>
                <a:ext cx="724" cy="3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4" name="Rectangle 295"/>
              <p:cNvSpPr>
                <a:spLocks noChangeArrowheads="1"/>
              </p:cNvSpPr>
              <p:nvPr/>
            </p:nvSpPr>
            <p:spPr bwMode="auto">
              <a:xfrm>
                <a:off x="3354" y="1930"/>
                <a:ext cx="363" cy="181"/>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algn="ctr" eaLnBrk="1" hangingPunct="1"/>
                <a:r>
                  <a:rPr lang="en-US" altLang="ko-KR" sz="950" b="1">
                    <a:solidFill>
                      <a:schemeClr val="bg1"/>
                    </a:solidFill>
                    <a:latin typeface="Times New Roman" pitchFamily="18" charset="0"/>
                    <a:cs typeface="Times New Roman" pitchFamily="18" charset="0"/>
                  </a:rPr>
                  <a:t>106</a:t>
                </a:r>
              </a:p>
            </p:txBody>
          </p:sp>
        </p:grpSp>
      </p:grpSp>
    </p:spTree>
    <p:extLst>
      <p:ext uri="{BB962C8B-B14F-4D97-AF65-F5344CB8AC3E}">
        <p14:creationId xmlns:p14="http://schemas.microsoft.com/office/powerpoint/2010/main" val="73007125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solidFill>
                <a:srgbClr val="000000"/>
              </a:solidFill>
              <a:latin typeface="Times New Roman" pitchFamily="18" charset="0"/>
              <a:cs typeface="Times New Roman" pitchFamily="18" charset="0"/>
            </a:endParaRPr>
          </a:p>
          <a:p>
            <a:pPr eaLnBrk="1" fontAlgn="base" hangingPunct="1">
              <a:spcBef>
                <a:spcPct val="0"/>
              </a:spcBef>
              <a:spcAft>
                <a:spcPct val="0"/>
              </a:spcAft>
            </a:pPr>
            <a:endParaRPr lang="en-US" altLang="ko-KR" smtClean="0">
              <a:solidFill>
                <a:srgbClr val="000000"/>
              </a:solidFill>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solidFill>
                <a:srgbClr val="000000"/>
              </a:solidFill>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solidFill>
                  <a:srgbClr val="000000"/>
                </a:solidFill>
                <a:latin typeface="Times New Roman" pitchFamily="18" charset="0"/>
                <a:cs typeface="Times New Roman" pitchFamily="18" charset="0"/>
              </a:rPr>
              <a:t>※ PLC : </a:t>
            </a:r>
            <a:r>
              <a:rPr lang="vi-VN" altLang="ko-KR" sz="950" b="1" dirty="0" smtClean="0">
                <a:solidFill>
                  <a:srgbClr val="000000"/>
                </a:solidFill>
                <a:latin typeface="Times New Roman" pitchFamily="18" charset="0"/>
                <a:cs typeface="Times New Roman" pitchFamily="18" charset="0"/>
              </a:rPr>
              <a:t>câu </a:t>
            </a:r>
            <a:r>
              <a:rPr lang="en-US" altLang="ko-KR" sz="950" b="1" dirty="0" smtClean="0">
                <a:solidFill>
                  <a:srgbClr val="000000"/>
                </a:solidFill>
                <a:latin typeface="Times New Roman" pitchFamily="18" charset="0"/>
                <a:cs typeface="Times New Roman" pitchFamily="18" charset="0"/>
              </a:rPr>
              <a:t>21</a:t>
            </a:r>
            <a:r>
              <a:rPr lang="ko-KR" altLang="en-US" sz="950" b="1" dirty="0" smtClean="0">
                <a:solidFill>
                  <a:srgbClr val="000000"/>
                </a:solidFill>
                <a:latin typeface="Times New Roman" pitchFamily="18" charset="0"/>
                <a:cs typeface="Times New Roman" pitchFamily="18" charset="0"/>
              </a:rPr>
              <a:t> </a:t>
            </a:r>
            <a:r>
              <a:rPr lang="en-US" altLang="ko-KR" sz="950" b="1" dirty="0" smtClean="0">
                <a:solidFill>
                  <a:srgbClr val="000000"/>
                </a:solidFill>
                <a:latin typeface="Times New Roman" pitchFamily="18" charset="0"/>
                <a:cs typeface="Times New Roman" pitchFamily="18" charset="0"/>
              </a:rPr>
              <a:t>~ </a:t>
            </a:r>
            <a:r>
              <a:rPr lang="vi-VN" altLang="ko-KR" sz="950" b="1" dirty="0" smtClean="0">
                <a:solidFill>
                  <a:srgbClr val="000000"/>
                </a:solidFill>
                <a:latin typeface="Times New Roman" pitchFamily="18" charset="0"/>
                <a:cs typeface="Times New Roman" pitchFamily="18" charset="0"/>
              </a:rPr>
              <a:t>câu </a:t>
            </a:r>
            <a:r>
              <a:rPr lang="en-US" altLang="ko-KR" sz="950" b="1" dirty="0" smtClean="0">
                <a:solidFill>
                  <a:srgbClr val="000000"/>
                </a:solidFill>
                <a:latin typeface="Times New Roman" pitchFamily="18" charset="0"/>
                <a:cs typeface="Times New Roman" pitchFamily="18" charset="0"/>
              </a:rPr>
              <a:t>40</a:t>
            </a:r>
            <a:endParaRPr lang="ko-KR" altLang="en-US" sz="950" b="1" dirty="0" smtClean="0">
              <a:solidFill>
                <a:srgbClr val="000000"/>
              </a:solidFill>
              <a:latin typeface="Times New Roman" pitchFamily="18" charset="0"/>
              <a:cs typeface="Times New Roman" pitchFamily="18" charset="0"/>
            </a:endParaRPr>
          </a:p>
        </p:txBody>
      </p:sp>
      <p:sp>
        <p:nvSpPr>
          <p:cNvPr id="105" name="Rectangle 7"/>
          <p:cNvSpPr>
            <a:spLocks noChangeArrowheads="1"/>
          </p:cNvSpPr>
          <p:nvPr/>
        </p:nvSpPr>
        <p:spPr bwMode="auto">
          <a:xfrm>
            <a:off x="116632" y="131920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 </a:t>
            </a:r>
            <a:r>
              <a:rPr lang="vi-VN" altLang="ko-KR" sz="950">
                <a:latin typeface="Times New Roman" pitchFamily="18" charset="0"/>
                <a:ea typeface="LG Smart_H Regular" panose="020B0600000101010101" pitchFamily="34" charset="-127"/>
                <a:cs typeface="Times New Roman" pitchFamily="18" charset="0"/>
              </a:rPr>
              <a:t>Đâu không thuộc tín hiệu đầu vào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a:latin typeface="Times New Roman" pitchFamily="18" charset="0"/>
                <a:ea typeface="LG Smart_H Regular" panose="020B0600000101010101" pitchFamily="34" charset="-127"/>
                <a:cs typeface="Times New Roman" pitchFamily="18" charset="0"/>
              </a:rPr>
              <a:t>Push button switch</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Limit </a:t>
            </a:r>
            <a:r>
              <a:rPr lang="vi-VN" altLang="ko-KR" sz="950" smtClean="0">
                <a:latin typeface="Times New Roman" pitchFamily="18" charset="0"/>
                <a:ea typeface="LG Smart_H Regular" panose="020B0600000101010101" pitchFamily="34" charset="-127"/>
                <a:cs typeface="Times New Roman" pitchFamily="18" charset="0"/>
              </a:rPr>
              <a:t>switch</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Toggle </a:t>
            </a:r>
            <a:r>
              <a:rPr lang="vi-VN" altLang="ko-KR" sz="950" smtClean="0">
                <a:latin typeface="Times New Roman" pitchFamily="18" charset="0"/>
                <a:ea typeface="LG Smart_H Regular" panose="020B0600000101010101" pitchFamily="34" charset="-127"/>
                <a:cs typeface="Times New Roman" pitchFamily="18" charset="0"/>
              </a:rPr>
              <a:t>switch</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 </a:t>
            </a:r>
            <a:r>
              <a:rPr lang="vi-VN" altLang="ko-KR" sz="950">
                <a:solidFill>
                  <a:srgbClr val="FF0000"/>
                </a:solidFill>
                <a:latin typeface="Times New Roman" pitchFamily="18" charset="0"/>
                <a:ea typeface="LG Smart_H Regular" panose="020B0600000101010101" pitchFamily="34" charset="-127"/>
                <a:cs typeface="Times New Roman" pitchFamily="18" charset="0"/>
              </a:rPr>
              <a:t>Van điện</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106" name="Rectangle 7"/>
          <p:cNvSpPr>
            <a:spLocks noChangeArrowheads="1"/>
          </p:cNvSpPr>
          <p:nvPr/>
        </p:nvSpPr>
        <p:spPr bwMode="auto">
          <a:xfrm>
            <a:off x="174625" y="2615352"/>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22. </a:t>
            </a:r>
            <a:r>
              <a:rPr lang="vi-VN" altLang="ko-KR" sz="950">
                <a:latin typeface="Times New Roman" pitchFamily="18" charset="0"/>
                <a:ea typeface="LG Smart_H Regular" panose="020B0600000101010101" pitchFamily="34" charset="-127"/>
                <a:cs typeface="Times New Roman" pitchFamily="18" charset="0"/>
              </a:rPr>
              <a:t>File Register được lưu ở bộ nhớ nào bên trong </a:t>
            </a:r>
            <a:r>
              <a:rPr lang="vi-VN" altLang="ko-KR" sz="950" smtClean="0">
                <a:latin typeface="Times New Roman" pitchFamily="18" charset="0"/>
                <a:ea typeface="LG Smart_H Regular" panose="020B0600000101010101" pitchFamily="34" charset="-127"/>
                <a:cs typeface="Times New Roman" pitchFamily="18" charset="0"/>
              </a:rPr>
              <a:t>CPU?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Program </a:t>
            </a:r>
            <a:r>
              <a:rPr lang="en-US" altLang="ko-KR" sz="950" smtClean="0">
                <a:latin typeface="Times New Roman" pitchFamily="18" charset="0"/>
                <a:ea typeface="LG Smart_H Regular" panose="020B0600000101010101" pitchFamily="34" charset="-127"/>
                <a:cs typeface="Times New Roman" pitchFamily="18" charset="0"/>
              </a:rPr>
              <a:t>memory</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ROM tiêu </a:t>
            </a:r>
            <a:r>
              <a:rPr lang="en-US" altLang="ko-KR" sz="950" smtClean="0">
                <a:latin typeface="Times New Roman" pitchFamily="18" charset="0"/>
                <a:ea typeface="LG Smart_H Regular" panose="020B0600000101010101" pitchFamily="34" charset="-127"/>
                <a:cs typeface="Times New Roman" pitchFamily="18" charset="0"/>
              </a:rPr>
              <a:t>chuẩn</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SYSTEM </a:t>
            </a:r>
            <a:r>
              <a:rPr lang="en-US" altLang="ko-KR" sz="950" smtClean="0">
                <a:latin typeface="Times New Roman" pitchFamily="18" charset="0"/>
                <a:ea typeface="LG Smart_H Regular" panose="020B0600000101010101" pitchFamily="34" charset="-127"/>
                <a:cs typeface="Times New Roman" pitchFamily="18" charset="0"/>
              </a:rPr>
              <a:t>memory</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RAM tiêu chuẩn</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107" name="Rectangle 7"/>
          <p:cNvSpPr>
            <a:spLocks noChangeArrowheads="1"/>
          </p:cNvSpPr>
          <p:nvPr/>
        </p:nvSpPr>
        <p:spPr bwMode="auto">
          <a:xfrm>
            <a:off x="201890" y="391367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 </a:t>
            </a:r>
            <a:r>
              <a:rPr lang="vi-VN" altLang="ko-KR" sz="950">
                <a:latin typeface="Times New Roman" pitchFamily="18" charset="0"/>
                <a:ea typeface="LG Smart_H Regular" panose="020B0600000101010101" pitchFamily="34" charset="-127"/>
                <a:cs typeface="Times New Roman" pitchFamily="18" charset="0"/>
              </a:rPr>
              <a:t>Để tiếng ồn của thiết bị bên ngoài không được truyền vào bên trong CPU, cần sử dụng cái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Photo Transistor</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Card đặc </a:t>
            </a:r>
            <a:r>
              <a:rPr lang="vi-VN" altLang="ko-KR" sz="950" smtClean="0">
                <a:latin typeface="Times New Roman" pitchFamily="18" charset="0"/>
                <a:ea typeface="LG Smart_H Regular" panose="020B0600000101010101" pitchFamily="34" charset="-127"/>
                <a:cs typeface="Times New Roman" pitchFamily="18" charset="0"/>
              </a:rPr>
              <a:t>biệt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Photo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Coupler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Diot phân cực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9" name="Rectangle 7"/>
          <p:cNvSpPr>
            <a:spLocks noChangeArrowheads="1"/>
          </p:cNvSpPr>
          <p:nvPr/>
        </p:nvSpPr>
        <p:spPr bwMode="auto">
          <a:xfrm>
            <a:off x="215483" y="6645622"/>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Động tác như vậy được lặp lại với tốc độ cao và phương thức như vậy được gọi là “phương thức tính toán lặp lại” và thời gian để thực hiện 1 vòng được gọi là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 </a:t>
            </a:r>
            <a:r>
              <a:rPr lang="en-US" altLang="ko-KR" sz="950">
                <a:solidFill>
                  <a:srgbClr val="FF0000"/>
                </a:solidFill>
                <a:latin typeface="Times New Roman" pitchFamily="18" charset="0"/>
                <a:ea typeface="LG Smart_H Regular" panose="020B0600000101010101" pitchFamily="34" charset="-127"/>
                <a:cs typeface="Times New Roman" pitchFamily="18" charset="0"/>
              </a:rPr>
              <a:t>1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SCAN </a:t>
            </a:r>
            <a:r>
              <a:rPr lang="en-US" altLang="ko-KR" sz="950">
                <a:solidFill>
                  <a:srgbClr val="FF0000"/>
                </a:solidFill>
                <a:latin typeface="Times New Roman" pitchFamily="18" charset="0"/>
                <a:ea typeface="LG Smart_H Regular" panose="020B0600000101010101" pitchFamily="34" charset="-127"/>
                <a:cs typeface="Times New Roman" pitchFamily="18" charset="0"/>
              </a:rPr>
              <a:t>TIME</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en-US" altLang="ko-KR" sz="950">
                <a:latin typeface="Times New Roman" pitchFamily="18" charset="0"/>
                <a:ea typeface="LG Smart_H Regular" panose="020B0600000101010101" pitchFamily="34" charset="-127"/>
                <a:cs typeface="Times New Roman" pitchFamily="18" charset="0"/>
              </a:rPr>
              <a:t>Xử lý END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en-US" altLang="ko-KR" sz="950">
                <a:latin typeface="Times New Roman" pitchFamily="18" charset="0"/>
                <a:ea typeface="LG Smart_H Regular" panose="020B0600000101010101" pitchFamily="34" charset="-127"/>
                <a:cs typeface="Times New Roman" pitchFamily="18" charset="0"/>
              </a:rPr>
              <a:t>Tiến hành Sub Program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P</a:t>
            </a:r>
            <a:r>
              <a:rPr lang="vi-VN" altLang="ko-KR" sz="950" smtClean="0">
                <a:latin typeface="Times New Roman" pitchFamily="18" charset="0"/>
                <a:ea typeface="LG Smart_H Regular" panose="020B0600000101010101" pitchFamily="34" charset="-127"/>
                <a:cs typeface="Times New Roman" pitchFamily="18" charset="0"/>
              </a:rPr>
              <a:t>hương </a:t>
            </a:r>
            <a:r>
              <a:rPr lang="vi-VN" altLang="ko-KR" sz="950">
                <a:latin typeface="Times New Roman" pitchFamily="18" charset="0"/>
                <a:ea typeface="LG Smart_H Regular" panose="020B0600000101010101" pitchFamily="34" charset="-127"/>
                <a:cs typeface="Times New Roman" pitchFamily="18" charset="0"/>
              </a:rPr>
              <a:t>thức tính toán lặp lại</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188640" y="816214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Comment là giải thích về điều gì trong Program PLC?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 </a:t>
            </a:r>
            <a:r>
              <a:rPr lang="en-US" altLang="ko-KR" sz="950">
                <a:solidFill>
                  <a:srgbClr val="FF0000"/>
                </a:solidFill>
                <a:latin typeface="Times New Roman" pitchFamily="18" charset="0"/>
                <a:ea typeface="LG Smart_H Regular" panose="020B0600000101010101" pitchFamily="34" charset="-127"/>
                <a:cs typeface="Times New Roman" pitchFamily="18" charset="0"/>
              </a:rPr>
              <a:t>Giải thích về Device</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a:latin typeface="Times New Roman" pitchFamily="18" charset="0"/>
                <a:ea typeface="LG Smart_H Regular" panose="020B0600000101010101" pitchFamily="34" charset="-127"/>
                <a:cs typeface="Times New Roman" pitchFamily="18" charset="0"/>
              </a:rPr>
              <a:t>Giải thích phần đặc trưng của Ladder</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vi-VN" altLang="ko-KR" sz="950">
                <a:latin typeface="Times New Roman" pitchFamily="18" charset="0"/>
                <a:ea typeface="LG Smart_H Regular" panose="020B0600000101010101" pitchFamily="34" charset="-127"/>
                <a:cs typeface="Times New Roman" pitchFamily="18" charset="0"/>
              </a:rPr>
              <a:t>Giải thích phần đặc trưng của toàn bộ chương trình</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Giải thích phần đặc trưng phần kết quả</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1319208"/>
            <a:ext cx="323981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Cài đặt Driver giao tiếp USB giữa PLC và PC?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1.Computer </a:t>
            </a:r>
            <a:r>
              <a:rPr lang="vi-VN" altLang="ko-KR" sz="950">
                <a:solidFill>
                  <a:srgbClr val="FF0000"/>
                </a:solidFill>
                <a:latin typeface="Times New Roman" pitchFamily="18" charset="0"/>
                <a:ea typeface="LG Smart_H Regular" panose="020B0600000101010101" pitchFamily="34" charset="-127"/>
                <a:cs typeface="Times New Roman" pitchFamily="18" charset="0"/>
              </a:rPr>
              <a:t>của tôi → 2.Bảng điều khiển → 3.System → 4.Hardware → 5.Người quản lý thiết bị → 6.Universal serial bus controller. </a:t>
            </a:r>
            <a:endParaRPr lang="en-US" altLang="ko-KR" sz="950">
              <a:solidFill>
                <a:srgbClr val="FF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B. </a:t>
            </a:r>
            <a:r>
              <a:rPr lang="vi-VN" altLang="ko-KR" sz="950">
                <a:latin typeface="Times New Roman" pitchFamily="18" charset="0"/>
                <a:ea typeface="LG Smart_H Regular" panose="020B0600000101010101" pitchFamily="34" charset="-127"/>
                <a:cs typeface="Times New Roman" pitchFamily="18" charset="0"/>
              </a:rPr>
              <a:t>1.Computer của tôi → 2.System → 3.Bảng điều khiển →  4.Hardware → 5.Người quản lý thiết bị → 6.Universal serial bus controller.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1.Computer của tôi → 2.Bảng điều khiển → 3.System → 4.Người quản lý thiết bị → 5.Hardware →  6.Universal serial bus controller.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1.Computer của tôi → 2.Bảng điều khiển → 3.System → 4.Hardware → → 5.Universal serial bus controller.  6.Người quản lý thiết bị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2" name="Rectangle 7"/>
          <p:cNvSpPr>
            <a:spLocks noChangeArrowheads="1"/>
          </p:cNvSpPr>
          <p:nvPr/>
        </p:nvSpPr>
        <p:spPr bwMode="auto">
          <a:xfrm>
            <a:off x="3419475" y="3475092"/>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Để có thể biết được những card  đang được sử dụng có bình thường hay không thì phải sử dụng thao tác nào sau đây</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System monitor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PLC </a:t>
            </a:r>
            <a:r>
              <a:rPr lang="en-US" altLang="ko-KR" sz="950" smtClean="0">
                <a:latin typeface="Times New Roman" pitchFamily="18" charset="0"/>
                <a:ea typeface="LG Smart_H Regular" panose="020B0600000101010101" pitchFamily="34" charset="-127"/>
                <a:cs typeface="Times New Roman" pitchFamily="18" charset="0"/>
              </a:rPr>
              <a:t>Diagnostics</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Ethernet </a:t>
            </a:r>
            <a:r>
              <a:rPr lang="en-US" altLang="ko-KR" sz="950" smtClean="0">
                <a:latin typeface="Times New Roman" pitchFamily="18" charset="0"/>
                <a:ea typeface="LG Smart_H Regular" panose="020B0600000101010101" pitchFamily="34" charset="-127"/>
                <a:cs typeface="Times New Roman" pitchFamily="18" charset="0"/>
              </a:rPr>
              <a:t>Diagnostics</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Melsecnet Diagnostics</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06479" y="5169024"/>
            <a:ext cx="3239810" cy="1368152"/>
            <a:chOff x="206479" y="5169024"/>
            <a:chExt cx="3239810" cy="1368152"/>
          </a:xfrm>
        </p:grpSpPr>
        <p:sp>
          <p:nvSpPr>
            <p:cNvPr id="108" name="Rectangle 7"/>
            <p:cNvSpPr>
              <a:spLocks noChangeArrowheads="1"/>
            </p:cNvSpPr>
            <p:nvPr/>
          </p:nvSpPr>
          <p:spPr bwMode="auto">
            <a:xfrm>
              <a:off x="206479" y="5169024"/>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vi-VN" altLang="ko-KR" sz="950">
                  <a:latin typeface="Times New Roman" pitchFamily="18" charset="0"/>
                  <a:ea typeface="LG Smart_H Regular" panose="020B0600000101010101" pitchFamily="34" charset="-127"/>
                  <a:cs typeface="Times New Roman" pitchFamily="18" charset="0"/>
                </a:rPr>
                <a:t>Switch nào của TIP SWITCH dùng để thiết lập connector hệ thống?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SW1</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SW2</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SW3</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SW4</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3" name="Picture 22"/>
            <p:cNvPicPr>
              <a:picLocks noChangeAspect="1"/>
            </p:cNvPicPr>
            <p:nvPr/>
          </p:nvPicPr>
          <p:blipFill>
            <a:blip r:embed="rId3"/>
            <a:stretch>
              <a:fillRect/>
            </a:stretch>
          </p:blipFill>
          <p:spPr>
            <a:xfrm>
              <a:off x="1794530" y="5453062"/>
              <a:ext cx="1000125" cy="1084114"/>
            </a:xfrm>
            <a:prstGeom prst="rect">
              <a:avLst/>
            </a:prstGeom>
          </p:spPr>
        </p:pic>
      </p:grpSp>
      <p:grpSp>
        <p:nvGrpSpPr>
          <p:cNvPr id="6" name="Group 5"/>
          <p:cNvGrpSpPr/>
          <p:nvPr/>
        </p:nvGrpSpPr>
        <p:grpSpPr>
          <a:xfrm>
            <a:off x="3425951" y="4664968"/>
            <a:ext cx="3239810" cy="1992853"/>
            <a:chOff x="3425951" y="4664968"/>
            <a:chExt cx="3239810" cy="1992853"/>
          </a:xfrm>
        </p:grpSpPr>
        <p:sp>
          <p:nvSpPr>
            <p:cNvPr id="183" name="Rectangle 7"/>
            <p:cNvSpPr>
              <a:spLocks noChangeArrowheads="1"/>
            </p:cNvSpPr>
            <p:nvPr/>
          </p:nvSpPr>
          <p:spPr bwMode="auto">
            <a:xfrm>
              <a:off x="3425951" y="4664968"/>
              <a:ext cx="3239810" cy="1992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Tìm đáp án thích hợp để điền vào (?) sao cho chương trình hoạt động theo time Chart?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K1                 B</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K100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K10                  </a:t>
              </a:r>
              <a:r>
                <a:rPr lang="en-US" altLang="ko-KR" sz="950" smtClean="0">
                  <a:latin typeface="Times New Roman" pitchFamily="18" charset="0"/>
                  <a:ea typeface="LG Smart_H Regular" panose="020B0600000101010101" pitchFamily="34" charset="-127"/>
                  <a:cs typeface="Times New Roman" pitchFamily="18" charset="0"/>
                </a:rPr>
                <a:t>D</a:t>
              </a:r>
              <a:r>
                <a:rPr lang="en-US" altLang="ko-KR" sz="950">
                  <a:latin typeface="Times New Roman" pitchFamily="18" charset="0"/>
                  <a:ea typeface="LG Smart_H Regular" panose="020B0600000101010101" pitchFamily="34" charset="-127"/>
                  <a:cs typeface="Times New Roman" pitchFamily="18" charset="0"/>
                </a:rPr>
                <a:t>. K20</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5" name="그림 4"/>
            <p:cNvPicPr>
              <a:picLocks noChangeAspect="1"/>
            </p:cNvPicPr>
            <p:nvPr/>
          </p:nvPicPr>
          <p:blipFill>
            <a:blip r:embed="rId4"/>
            <a:stretch>
              <a:fillRect/>
            </a:stretch>
          </p:blipFill>
          <p:spPr>
            <a:xfrm>
              <a:off x="3446289" y="5025008"/>
              <a:ext cx="3212995" cy="1296144"/>
            </a:xfrm>
            <a:prstGeom prst="rect">
              <a:avLst/>
            </a:prstGeom>
          </p:spPr>
        </p:pic>
      </p:grpSp>
      <p:grpSp>
        <p:nvGrpSpPr>
          <p:cNvPr id="2" name="Group 1"/>
          <p:cNvGrpSpPr/>
          <p:nvPr/>
        </p:nvGrpSpPr>
        <p:grpSpPr>
          <a:xfrm>
            <a:off x="3412872" y="7062425"/>
            <a:ext cx="3239810" cy="2139047"/>
            <a:chOff x="3412872" y="7062425"/>
            <a:chExt cx="3239810" cy="2139047"/>
          </a:xfrm>
        </p:grpSpPr>
        <p:sp>
          <p:nvSpPr>
            <p:cNvPr id="184" name="Rectangle 7"/>
            <p:cNvSpPr>
              <a:spLocks noChangeArrowheads="1"/>
            </p:cNvSpPr>
            <p:nvPr/>
          </p:nvSpPr>
          <p:spPr bwMode="auto">
            <a:xfrm>
              <a:off x="3412872" y="7062425"/>
              <a:ext cx="323981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fr-FR" altLang="ko-KR" sz="950">
                  <a:latin typeface="Times New Roman" pitchFamily="18" charset="0"/>
                  <a:ea typeface="LG Smart_H Regular" panose="020B0600000101010101" pitchFamily="34" charset="-127"/>
                  <a:cs typeface="Times New Roman" pitchFamily="18" charset="0"/>
                </a:rPr>
                <a:t>Nhấn X1 sau bao lâu thì Y50 </a:t>
              </a:r>
              <a:r>
                <a:rPr lang="fr-FR" altLang="ko-KR" sz="950" smtClean="0">
                  <a:latin typeface="Times New Roman" pitchFamily="18" charset="0"/>
                  <a:ea typeface="LG Smart_H Regular" panose="020B0600000101010101" pitchFamily="34" charset="-127"/>
                  <a:cs typeface="Times New Roman" pitchFamily="18" charset="0"/>
                </a:rPr>
                <a:t>ON?</a:t>
              </a:r>
              <a:r>
                <a:rPr lang="vi-VN" altLang="ko-KR" sz="950" smtClean="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4 giây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B. </a:t>
              </a:r>
              <a:r>
                <a:rPr lang="en-US" altLang="ko-KR" sz="950" smtClean="0">
                  <a:latin typeface="Times New Roman" pitchFamily="18" charset="0"/>
                  <a:ea typeface="LG Smart_H Regular" panose="020B0600000101010101" pitchFamily="34" charset="-127"/>
                  <a:cs typeface="Times New Roman" pitchFamily="18" charset="0"/>
                </a:rPr>
                <a:t>8 </a:t>
              </a:r>
              <a:r>
                <a:rPr lang="en-US" altLang="ko-KR" sz="950">
                  <a:latin typeface="Times New Roman" pitchFamily="18" charset="0"/>
                  <a:ea typeface="LG Smart_H Regular" panose="020B0600000101010101" pitchFamily="34" charset="-127"/>
                  <a:cs typeface="Times New Roman" pitchFamily="18" charset="0"/>
                </a:rPr>
                <a:t>giây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4.4 </a:t>
              </a:r>
              <a:r>
                <a:rPr lang="en-US" altLang="ko-KR" sz="950">
                  <a:solidFill>
                    <a:srgbClr val="FF0000"/>
                  </a:solidFill>
                  <a:latin typeface="Times New Roman" pitchFamily="18" charset="0"/>
                  <a:ea typeface="LG Smart_H Regular" panose="020B0600000101010101" pitchFamily="34" charset="-127"/>
                  <a:cs typeface="Times New Roman" pitchFamily="18" charset="0"/>
                </a:rPr>
                <a:t>giây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D. </a:t>
              </a:r>
              <a:r>
                <a:rPr lang="en-US" altLang="ko-KR" sz="950" smtClean="0">
                  <a:latin typeface="Times New Roman" pitchFamily="18" charset="0"/>
                  <a:ea typeface="LG Smart_H Regular" panose="020B0600000101010101" pitchFamily="34" charset="-127"/>
                  <a:cs typeface="Times New Roman" pitchFamily="18" charset="0"/>
                </a:rPr>
                <a:t>0.4 </a:t>
              </a:r>
              <a:r>
                <a:rPr lang="en-US" altLang="ko-KR" sz="950">
                  <a:latin typeface="Times New Roman" pitchFamily="18" charset="0"/>
                  <a:ea typeface="LG Smart_H Regular" panose="020B0600000101010101" pitchFamily="34" charset="-127"/>
                  <a:cs typeface="Times New Roman" pitchFamily="18" charset="0"/>
                </a:rPr>
                <a:t>giây</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31947" y="7573977"/>
              <a:ext cx="3220735" cy="1176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42494291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8" name="Rectangle 99"/>
          <p:cNvSpPr>
            <a:spLocks noChangeArrowheads="1"/>
          </p:cNvSpPr>
          <p:nvPr/>
        </p:nvSpPr>
        <p:spPr bwMode="auto">
          <a:xfrm>
            <a:off x="174625" y="1034951"/>
            <a:ext cx="3429000"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cs typeface="Times New Roman" pitchFamily="18" charset="0"/>
              </a:rPr>
              <a:t>31. </a:t>
            </a:r>
            <a:r>
              <a:rPr lang="en-US" altLang="ko-KR" sz="950" dirty="0" err="1" smtClean="0">
                <a:solidFill>
                  <a:srgbClr val="000000"/>
                </a:solidFill>
                <a:latin typeface="Times New Roman" pitchFamily="18" charset="0"/>
                <a:cs typeface="Times New Roman" pitchFamily="18" charset="0"/>
              </a:rPr>
              <a:t>Đáp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nào</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không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phải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ngôn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ngữ</a:t>
            </a:r>
            <a:r>
              <a:rPr lang="en-US" altLang="ko-KR" sz="950" dirty="0" smtClean="0">
                <a:solidFill>
                  <a:srgbClr val="000000"/>
                </a:solidFill>
                <a:latin typeface="Times New Roman" pitchFamily="18" charset="0"/>
                <a:cs typeface="Times New Roman" pitchFamily="18" charset="0"/>
              </a:rPr>
              <a:t> PLC </a:t>
            </a:r>
            <a:r>
              <a:rPr lang="en-US" altLang="ko-KR" sz="950" dirty="0" err="1" smtClean="0">
                <a:solidFill>
                  <a:srgbClr val="000000"/>
                </a:solidFill>
                <a:latin typeface="Times New Roman" pitchFamily="18" charset="0"/>
                <a:cs typeface="Times New Roman" pitchFamily="18" charset="0"/>
              </a:rPr>
              <a:t>tiêu</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chuẩn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quốc</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tế</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hangingPunct="1"/>
            <a:endParaRPr lang="en-US" altLang="ko-KR" sz="950" dirty="0">
              <a:solidFill>
                <a:srgbClr val="000000"/>
              </a:solidFill>
              <a:latin typeface="Times New Roman" pitchFamily="18" charset="0"/>
              <a:cs typeface="Times New Roman" pitchFamily="18" charset="0"/>
            </a:endParaRPr>
          </a:p>
          <a:p>
            <a:pPr eaLnBrk="1" hangingPunct="1"/>
            <a:r>
              <a:rPr lang="en-US" altLang="ko-KR" sz="95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      A . LD         B .IL                   C. SFC                  </a:t>
            </a:r>
            <a:r>
              <a:rPr lang="en-US" altLang="ko-KR" sz="950" smtClean="0">
                <a:solidFill>
                  <a:srgbClr val="FF0000"/>
                </a:solidFill>
                <a:latin typeface="Times New Roman" pitchFamily="18" charset="0"/>
                <a:cs typeface="Times New Roman" pitchFamily="18" charset="0"/>
              </a:rPr>
              <a:t>D. SBC</a:t>
            </a:r>
            <a:endParaRPr lang="en-US" altLang="ko-KR" sz="950" dirty="0">
              <a:solidFill>
                <a:srgbClr val="000000"/>
              </a:solidFill>
              <a:latin typeface="Times New Roman" pitchFamily="18" charset="0"/>
              <a:cs typeface="Times New Roman" pitchFamily="18" charset="0"/>
            </a:endParaRPr>
          </a:p>
        </p:txBody>
      </p:sp>
      <p:sp>
        <p:nvSpPr>
          <p:cNvPr id="59" name="Rectangle 100"/>
          <p:cNvSpPr>
            <a:spLocks noChangeArrowheads="1"/>
          </p:cNvSpPr>
          <p:nvPr/>
        </p:nvSpPr>
        <p:spPr bwMode="auto">
          <a:xfrm>
            <a:off x="161680" y="1931566"/>
            <a:ext cx="3429000" cy="170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ea typeface="돋움" pitchFamily="50" charset="-127"/>
                <a:cs typeface="Times New Roman" pitchFamily="18" charset="0"/>
              </a:rPr>
              <a:t>32. </a:t>
            </a:r>
            <a:r>
              <a:rPr lang="en-US" altLang="ko-KR" sz="950" dirty="0" err="1" smtClean="0">
                <a:solidFill>
                  <a:srgbClr val="000000"/>
                </a:solidFill>
                <a:latin typeface="Times New Roman" pitchFamily="18" charset="0"/>
                <a:ea typeface="돋움" pitchFamily="50" charset="-127"/>
                <a:cs typeface="Times New Roman" pitchFamily="18" charset="0"/>
              </a:rPr>
              <a:t>Đây</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nội</a:t>
            </a:r>
            <a:r>
              <a:rPr lang="en-US" altLang="ko-KR" sz="950" dirty="0" smtClean="0">
                <a:solidFill>
                  <a:srgbClr val="000000"/>
                </a:solidFill>
                <a:latin typeface="Times New Roman" pitchFamily="18" charset="0"/>
                <a:ea typeface="돋움" pitchFamily="50" charset="-127"/>
                <a:cs typeface="Times New Roman" pitchFamily="18" charset="0"/>
              </a:rPr>
              <a:t> dung </a:t>
            </a:r>
            <a:r>
              <a:rPr lang="en-US" altLang="ko-KR" sz="950" dirty="0" err="1" smtClean="0">
                <a:solidFill>
                  <a:srgbClr val="000000"/>
                </a:solidFill>
                <a:latin typeface="Times New Roman" pitchFamily="18" charset="0"/>
                <a:ea typeface="돋움" pitchFamily="50" charset="-127"/>
                <a:cs typeface="Times New Roman" pitchFamily="18" charset="0"/>
              </a:rPr>
              <a:t>giải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thích</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về</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cái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gì</a:t>
            </a:r>
            <a:r>
              <a:rPr lang="en-US" altLang="ko-KR" sz="950" dirty="0" smtClean="0">
                <a:solidFill>
                  <a:srgbClr val="000000"/>
                </a:solidFill>
                <a:latin typeface="Times New Roman" pitchFamily="18" charset="0"/>
                <a:ea typeface="돋움" pitchFamily="50" charset="-127"/>
                <a:cs typeface="Times New Roman" pitchFamily="18" charset="0"/>
              </a:rPr>
              <a:t>?</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dirty="0">
                <a:solidFill>
                  <a:srgbClr val="000000"/>
                </a:solidFill>
                <a:latin typeface="Times New Roman" pitchFamily="18" charset="0"/>
                <a:ea typeface="돋움" pitchFamily="50" charset="-127"/>
                <a:cs typeface="Times New Roman" pitchFamily="18" charset="0"/>
              </a:rPr>
              <a:t> [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thuật</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ngữ</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nói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về</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tiếp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điểm</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chuyển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đổi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theo</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hình</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thức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chia sẻ</a:t>
            </a:r>
          </a:p>
          <a:p>
            <a:pPr eaLnBrk="1" hangingPunct="1"/>
            <a:r>
              <a:rPr lang="en-US" altLang="ko-KR" sz="95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tiếp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điểm</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động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được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dùng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chung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bởi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tiếp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điểm</a:t>
            </a:r>
            <a:r>
              <a:rPr lang="en-US" altLang="ko-KR" sz="950" dirty="0" smtClean="0">
                <a:solidFill>
                  <a:srgbClr val="000000"/>
                </a:solidFill>
                <a:latin typeface="Times New Roman" pitchFamily="18" charset="0"/>
                <a:ea typeface="돋움" pitchFamily="50" charset="-127"/>
                <a:cs typeface="Times New Roman" pitchFamily="18" charset="0"/>
              </a:rPr>
              <a:t> A </a:t>
            </a:r>
            <a:r>
              <a:rPr lang="en-US" altLang="ko-KR" sz="950" dirty="0" err="1" smtClean="0">
                <a:solidFill>
                  <a:srgbClr val="000000"/>
                </a:solidFill>
                <a:latin typeface="Times New Roman" pitchFamily="18" charset="0"/>
                <a:ea typeface="돋움" pitchFamily="50" charset="-127"/>
                <a:cs typeface="Times New Roman" pitchFamily="18" charset="0"/>
              </a:rPr>
              <a:t>và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tiếp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điểm</a:t>
            </a:r>
            <a:r>
              <a:rPr lang="en-US" altLang="ko-KR" sz="950" dirty="0" smtClean="0">
                <a:solidFill>
                  <a:srgbClr val="000000"/>
                </a:solidFill>
                <a:latin typeface="Times New Roman" pitchFamily="18" charset="0"/>
                <a:ea typeface="돋움" pitchFamily="50" charset="-127"/>
                <a:cs typeface="Times New Roman" pitchFamily="18" charset="0"/>
              </a:rPr>
              <a:t> B</a:t>
            </a:r>
            <a:r>
              <a:rPr lang="en-US" altLang="ko-KR" sz="950" smtClean="0">
                <a:solidFill>
                  <a:srgbClr val="000000"/>
                </a:solidFill>
                <a:latin typeface="Times New Roman" pitchFamily="18" charset="0"/>
                <a:ea typeface="돋움" pitchFamily="50" charset="-127"/>
                <a:cs typeface="Times New Roman" pitchFamily="18" charset="0"/>
              </a:rPr>
              <a:t>, </a:t>
            </a:r>
          </a:p>
          <a:p>
            <a:pPr eaLnBrk="1" hangingPunct="1"/>
            <a:r>
              <a:rPr lang="en-US" altLang="ko-KR" sz="950" smtClean="0">
                <a:solidFill>
                  <a:srgbClr val="000000"/>
                </a:solidFill>
                <a:latin typeface="Times New Roman" pitchFamily="18" charset="0"/>
                <a:ea typeface="돋움" pitchFamily="50" charset="-127"/>
                <a:cs typeface="Times New Roman" pitchFamily="18" charset="0"/>
              </a:rPr>
              <a:t>còn </a:t>
            </a:r>
            <a:r>
              <a:rPr lang="en-US" altLang="ko-KR" sz="950" dirty="0" err="1" smtClean="0">
                <a:solidFill>
                  <a:srgbClr val="000000"/>
                </a:solidFill>
                <a:latin typeface="Times New Roman" pitchFamily="18" charset="0"/>
                <a:ea typeface="돋움" pitchFamily="50" charset="-127"/>
                <a:cs typeface="Times New Roman" pitchFamily="18" charset="0"/>
              </a:rPr>
              <a:t>được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gọi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a:solidFill>
                  <a:srgbClr val="000000"/>
                </a:solidFill>
                <a:latin typeface="Times New Roman" pitchFamily="18" charset="0"/>
                <a:ea typeface="돋움" pitchFamily="50" charset="-127"/>
                <a:cs typeface="Times New Roman" pitchFamily="18" charset="0"/>
              </a:rPr>
              <a:t>Transfer </a:t>
            </a:r>
            <a:r>
              <a:rPr lang="en-US" altLang="ko-KR" sz="950" dirty="0" smtClean="0">
                <a:solidFill>
                  <a:srgbClr val="000000"/>
                </a:solidFill>
                <a:latin typeface="Times New Roman" pitchFamily="18" charset="0"/>
                <a:ea typeface="돋움" pitchFamily="50" charset="-127"/>
                <a:cs typeface="Times New Roman" pitchFamily="18" charset="0"/>
              </a:rPr>
              <a:t>Contact </a:t>
            </a:r>
            <a:r>
              <a:rPr lang="en-US" altLang="ko-KR" sz="950" dirty="0" err="1" smtClean="0">
                <a:solidFill>
                  <a:srgbClr val="000000"/>
                </a:solidFill>
                <a:latin typeface="Times New Roman" pitchFamily="18" charset="0"/>
                <a:ea typeface="돋움" pitchFamily="50" charset="-127"/>
                <a:cs typeface="Times New Roman" pitchFamily="18" charset="0"/>
              </a:rPr>
              <a:t>với</a:t>
            </a:r>
            <a:r>
              <a:rPr lang="en-US" altLang="ko-KR" sz="950" dirty="0" smtClean="0">
                <a:solidFill>
                  <a:srgbClr val="000000"/>
                </a:solidFill>
                <a:latin typeface="Times New Roman" pitchFamily="18" charset="0"/>
                <a:ea typeface="돋움" pitchFamily="50" charset="-127"/>
                <a:cs typeface="Times New Roman" pitchFamily="18" charset="0"/>
              </a:rPr>
              <a:t> ý </a:t>
            </a:r>
            <a:r>
              <a:rPr lang="en-US" altLang="ko-KR" sz="950" dirty="0" err="1" smtClean="0">
                <a:solidFill>
                  <a:srgbClr val="000000"/>
                </a:solidFill>
                <a:latin typeface="Times New Roman" pitchFamily="18" charset="0"/>
                <a:ea typeface="돋움" pitchFamily="50" charset="-127"/>
                <a:cs typeface="Times New Roman" pitchFamily="18" charset="0"/>
              </a:rPr>
              <a:t>nghĩa</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tiếp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điểm</a:t>
            </a:r>
            <a:r>
              <a:rPr lang="en-US" altLang="ko-KR" sz="950" dirty="0" smtClean="0">
                <a:solidFill>
                  <a:srgbClr val="000000"/>
                </a:solidFill>
                <a:latin typeface="Times New Roman" pitchFamily="18" charset="0"/>
                <a:ea typeface="돋움" pitchFamily="50" charset="-127"/>
                <a:cs typeface="Times New Roman" pitchFamily="18" charset="0"/>
              </a:rPr>
              <a:t> di </a:t>
            </a:r>
            <a:r>
              <a:rPr lang="en-US" altLang="ko-KR" sz="950" dirty="0" err="1" smtClean="0">
                <a:solidFill>
                  <a:srgbClr val="000000"/>
                </a:solidFill>
                <a:latin typeface="Times New Roman" pitchFamily="18" charset="0"/>
                <a:ea typeface="돋움" pitchFamily="50" charset="-127"/>
                <a:cs typeface="Times New Roman" pitchFamily="18" charset="0"/>
              </a:rPr>
              <a:t>chuyển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bằng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cách</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tiếp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xúc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với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tiếp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điểm</a:t>
            </a:r>
            <a:r>
              <a:rPr lang="en-US" altLang="ko-KR" sz="950" dirty="0" smtClean="0">
                <a:solidFill>
                  <a:srgbClr val="000000"/>
                </a:solidFill>
                <a:latin typeface="Times New Roman" pitchFamily="18" charset="0"/>
                <a:ea typeface="돋움" pitchFamily="50" charset="-127"/>
                <a:cs typeface="Times New Roman" pitchFamily="18" charset="0"/>
              </a:rPr>
              <a:t> B </a:t>
            </a:r>
            <a:r>
              <a:rPr lang="en-US" altLang="ko-KR" sz="950" dirty="0" err="1" smtClean="0">
                <a:solidFill>
                  <a:srgbClr val="000000"/>
                </a:solidFill>
                <a:latin typeface="Times New Roman" pitchFamily="18" charset="0"/>
                <a:ea typeface="돋움" pitchFamily="50" charset="-127"/>
                <a:cs typeface="Times New Roman" pitchFamily="18" charset="0"/>
              </a:rPr>
              <a:t>hoặc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tiếp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điểm</a:t>
            </a:r>
            <a:r>
              <a:rPr lang="en-US" altLang="ko-KR" sz="950" dirty="0" smtClean="0">
                <a:solidFill>
                  <a:srgbClr val="000000"/>
                </a:solidFill>
                <a:latin typeface="Times New Roman" pitchFamily="18" charset="0"/>
                <a:ea typeface="돋움" pitchFamily="50" charset="-127"/>
                <a:cs typeface="Times New Roman" pitchFamily="18" charset="0"/>
              </a:rPr>
              <a:t> A </a:t>
            </a:r>
            <a:r>
              <a:rPr lang="en-US" altLang="ko-KR" sz="950" dirty="0" err="1" smtClean="0">
                <a:solidFill>
                  <a:srgbClr val="000000"/>
                </a:solidFill>
                <a:latin typeface="Times New Roman" pitchFamily="18" charset="0"/>
                <a:ea typeface="돋움" pitchFamily="50" charset="-127"/>
                <a:cs typeface="Times New Roman" pitchFamily="18" charset="0"/>
              </a:rPr>
              <a:t>bằng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lực</a:t>
            </a:r>
            <a:r>
              <a:rPr lang="en-US" altLang="ko-KR" sz="950" dirty="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điều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khiển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để</a:t>
            </a:r>
            <a:r>
              <a:rPr lang="en-US" altLang="ko-KR" sz="950" dirty="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chuyển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đổi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tín</a:t>
            </a:r>
            <a:r>
              <a:rPr lang="en-US" altLang="ko-KR" sz="950" dirty="0" smtClean="0">
                <a:solidFill>
                  <a:srgbClr val="000000"/>
                </a:solidFill>
                <a:latin typeface="Times New Roman" pitchFamily="18" charset="0"/>
                <a:ea typeface="돋움" pitchFamily="50" charset="-127"/>
                <a:cs typeface="Times New Roman" pitchFamily="18" charset="0"/>
              </a:rPr>
              <a:t>..]</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smtClean="0">
                <a:solidFill>
                  <a:srgbClr val="000000"/>
                </a:solidFill>
                <a:latin typeface="Times New Roman" pitchFamily="18" charset="0"/>
                <a:ea typeface="돋움" pitchFamily="50" charset="-127"/>
                <a:cs typeface="Times New Roman" pitchFamily="18" charset="0"/>
              </a:rPr>
              <a:t>A. Tiếp </a:t>
            </a:r>
            <a:r>
              <a:rPr lang="en-US" altLang="ko-KR" sz="950" dirty="0" err="1" smtClean="0">
                <a:solidFill>
                  <a:srgbClr val="000000"/>
                </a:solidFill>
                <a:latin typeface="Times New Roman" pitchFamily="18" charset="0"/>
                <a:ea typeface="돋움" pitchFamily="50" charset="-127"/>
                <a:cs typeface="Times New Roman" pitchFamily="18" charset="0"/>
              </a:rPr>
              <a:t>điểm</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A </a:t>
            </a:r>
            <a:r>
              <a:rPr lang="ko-KR" altLang="en-US" sz="950" smtClean="0">
                <a:solidFill>
                  <a:srgbClr val="000000"/>
                </a:solidFill>
                <a:latin typeface="Times New Roman" pitchFamily="18" charset="0"/>
                <a:ea typeface="돋움" pitchFamily="50" charset="-127"/>
                <a:cs typeface="Times New Roman" pitchFamily="18" charset="0"/>
              </a:rPr>
              <a:t>   </a:t>
            </a:r>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en-US" altLang="ko-KR" sz="950" smtClean="0">
                <a:solidFill>
                  <a:srgbClr val="000000"/>
                </a:solidFill>
                <a:latin typeface="Times New Roman" pitchFamily="18" charset="0"/>
                <a:ea typeface="돋움" pitchFamily="50" charset="-127"/>
                <a:cs typeface="Times New Roman" pitchFamily="18" charset="0"/>
              </a:rPr>
              <a:t>B. Tiếp </a:t>
            </a:r>
            <a:r>
              <a:rPr lang="en-US" altLang="ko-KR" sz="950" dirty="0" err="1" smtClean="0">
                <a:solidFill>
                  <a:srgbClr val="000000"/>
                </a:solidFill>
                <a:latin typeface="Times New Roman" pitchFamily="18" charset="0"/>
                <a:ea typeface="돋움" pitchFamily="50" charset="-127"/>
                <a:cs typeface="Times New Roman" pitchFamily="18" charset="0"/>
              </a:rPr>
              <a:t>điểm</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B</a:t>
            </a:r>
            <a:r>
              <a:rPr lang="ko-KR" altLang="en-US" sz="950" smtClean="0">
                <a:solidFill>
                  <a:srgbClr val="000000"/>
                </a:solidFill>
                <a:latin typeface="Times New Roman" pitchFamily="18" charset="0"/>
                <a:ea typeface="돋움" pitchFamily="50" charset="-127"/>
                <a:cs typeface="Times New Roman" pitchFamily="18" charset="0"/>
              </a:rPr>
              <a:t>  </a:t>
            </a:r>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en-US" altLang="ko-KR" sz="950" smtClean="0">
                <a:solidFill>
                  <a:srgbClr val="000000"/>
                </a:solidFill>
                <a:latin typeface="Times New Roman" pitchFamily="18" charset="0"/>
                <a:ea typeface="돋움" pitchFamily="50" charset="-127"/>
                <a:cs typeface="Times New Roman" pitchFamily="18" charset="0"/>
              </a:rPr>
              <a:t>C. </a:t>
            </a:r>
            <a:r>
              <a:rPr lang="en-US" altLang="ko-KR" sz="950" smtClean="0">
                <a:solidFill>
                  <a:srgbClr val="FF0000"/>
                </a:solidFill>
                <a:latin typeface="Times New Roman" pitchFamily="18" charset="0"/>
                <a:ea typeface="돋움" pitchFamily="50" charset="-127"/>
                <a:cs typeface="Times New Roman" pitchFamily="18" charset="0"/>
              </a:rPr>
              <a:t>Tiếp </a:t>
            </a:r>
            <a:r>
              <a:rPr lang="en-US" altLang="ko-KR" sz="950" dirty="0" err="1" smtClean="0">
                <a:solidFill>
                  <a:srgbClr val="FF0000"/>
                </a:solidFill>
                <a:latin typeface="Times New Roman" pitchFamily="18" charset="0"/>
                <a:ea typeface="돋움" pitchFamily="50" charset="-127"/>
                <a:cs typeface="Times New Roman" pitchFamily="18" charset="0"/>
              </a:rPr>
              <a:t>điểm</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C</a:t>
            </a:r>
            <a:r>
              <a:rPr lang="ko-KR" altLang="en-US" sz="950" smtClean="0">
                <a:solidFill>
                  <a:srgbClr val="FF0000"/>
                </a:solidFill>
                <a:latin typeface="Times New Roman" pitchFamily="18" charset="0"/>
                <a:ea typeface="돋움" pitchFamily="50" charset="-127"/>
                <a:cs typeface="Times New Roman" pitchFamily="18" charset="0"/>
              </a:rPr>
              <a:t>   </a:t>
            </a:r>
            <a:endParaRPr lang="en-US" altLang="ko-KR" sz="950" smtClean="0">
              <a:solidFill>
                <a:srgbClr val="FF0000"/>
              </a:solidFill>
              <a:latin typeface="Times New Roman" pitchFamily="18" charset="0"/>
              <a:ea typeface="돋움" pitchFamily="50" charset="-127"/>
              <a:cs typeface="Times New Roman" pitchFamily="18" charset="0"/>
            </a:endParaRPr>
          </a:p>
          <a:p>
            <a:pPr eaLnBrk="1" hangingPunct="1"/>
            <a:r>
              <a:rPr lang="en-US" altLang="ko-KR" sz="950" smtClean="0">
                <a:solidFill>
                  <a:srgbClr val="000000"/>
                </a:solidFill>
                <a:latin typeface="Times New Roman" pitchFamily="18" charset="0"/>
                <a:ea typeface="돋움" pitchFamily="50" charset="-127"/>
                <a:cs typeface="Times New Roman" pitchFamily="18" charset="0"/>
              </a:rPr>
              <a:t>D.</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Tiếp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điểm</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D </a:t>
            </a:r>
            <a:endParaRPr lang="en-US" altLang="ko-KR" sz="950" dirty="0">
              <a:solidFill>
                <a:srgbClr val="000000"/>
              </a:solidFill>
              <a:latin typeface="Times New Roman" pitchFamily="18" charset="0"/>
              <a:ea typeface="돋움" pitchFamily="50" charset="-127"/>
              <a:cs typeface="Times New Roman" pitchFamily="18" charset="0"/>
            </a:endParaRPr>
          </a:p>
        </p:txBody>
      </p:sp>
      <p:sp>
        <p:nvSpPr>
          <p:cNvPr id="60" name="Rectangle 101"/>
          <p:cNvSpPr>
            <a:spLocks noChangeArrowheads="1"/>
          </p:cNvSpPr>
          <p:nvPr/>
        </p:nvSpPr>
        <p:spPr bwMode="auto">
          <a:xfrm>
            <a:off x="154920" y="5931495"/>
            <a:ext cx="3271517"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ea typeface="돋움" pitchFamily="50" charset="-127"/>
                <a:cs typeface="Times New Roman" pitchFamily="18" charset="0"/>
              </a:rPr>
              <a:t>34.</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Đâu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không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phải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đáp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án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giải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thích</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về</a:t>
            </a:r>
            <a:r>
              <a:rPr lang="en-US" altLang="ko-KR" sz="950" dirty="0" smtClean="0">
                <a:solidFill>
                  <a:srgbClr val="000000"/>
                </a:solidFill>
                <a:latin typeface="Times New Roman" pitchFamily="18" charset="0"/>
                <a:ea typeface="돋움" pitchFamily="50" charset="-127"/>
                <a:cs typeface="Times New Roman" pitchFamily="18" charset="0"/>
              </a:rPr>
              <a:t> Control Panel Relay?</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A.  </a:t>
            </a:r>
            <a:r>
              <a:rPr lang="en-US" altLang="ko-KR" sz="950" dirty="0" err="1" smtClean="0">
                <a:solidFill>
                  <a:srgbClr val="000000"/>
                </a:solidFill>
                <a:latin typeface="Times New Roman" pitchFamily="18" charset="0"/>
                <a:ea typeface="돋움" pitchFamily="50" charset="-127"/>
                <a:cs typeface="Times New Roman" pitchFamily="18" charset="0"/>
              </a:rPr>
              <a:t>Tiếp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điểm</a:t>
            </a:r>
            <a:r>
              <a:rPr lang="en-US" altLang="ko-KR" sz="950" dirty="0">
                <a:solidFill>
                  <a:srgbClr val="000000"/>
                </a:solidFill>
                <a:latin typeface="Times New Roman" pitchFamily="18" charset="0"/>
                <a:ea typeface="돋움" pitchFamily="50" charset="-127"/>
                <a:cs typeface="Times New Roman" pitchFamily="18" charset="0"/>
              </a:rPr>
              <a:t> </a:t>
            </a:r>
            <a:r>
              <a:rPr lang="en-US" altLang="ko-KR" sz="950" err="1" smtClean="0">
                <a:solidFill>
                  <a:srgbClr val="000000"/>
                </a:solidFill>
                <a:latin typeface="Times New Roman" pitchFamily="18" charset="0"/>
                <a:ea typeface="돋움" pitchFamily="50" charset="-127"/>
                <a:cs typeface="Times New Roman" pitchFamily="18" charset="0"/>
              </a:rPr>
              <a:t>cơ</a:t>
            </a:r>
            <a:r>
              <a:rPr lang="en-US" altLang="ko-KR" sz="950" smtClean="0">
                <a:solidFill>
                  <a:srgbClr val="000000"/>
                </a:solidFill>
                <a:latin typeface="Times New Roman" pitchFamily="18" charset="0"/>
                <a:ea typeface="돋움" pitchFamily="50" charset="-127"/>
                <a:cs typeface="Times New Roman" pitchFamily="18" charset="0"/>
              </a:rPr>
              <a:t>                   B. </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khó</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nhỏ</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lại</a:t>
            </a:r>
            <a:r>
              <a:rPr lang="en-US" altLang="ko-KR" sz="950" dirty="0" smtClean="0">
                <a:solidFill>
                  <a:srgbClr val="000000"/>
                </a:solidFill>
                <a:latin typeface="Times New Roman" pitchFamily="18" charset="0"/>
                <a:ea typeface="돋움" pitchFamily="50" charset="-127"/>
                <a:cs typeface="Times New Roman" pitchFamily="18" charset="0"/>
              </a:rPr>
              <a:t> </a:t>
            </a:r>
            <a:endParaRPr lang="ko-KR" altLang="en-US" sz="950" dirty="0">
              <a:solidFill>
                <a:srgbClr val="000000"/>
              </a:solidFill>
              <a:latin typeface="Times New Roman" pitchFamily="18" charset="0"/>
              <a:ea typeface="돋움" pitchFamily="50" charset="-127"/>
              <a:cs typeface="Times New Roman" pitchFamily="18" charset="0"/>
            </a:endParaRPr>
          </a:p>
          <a:p>
            <a:pPr eaLnBrk="1" hangingPunct="1"/>
            <a:r>
              <a:rPr lang="ko-KR" altLang="en-US" sz="950">
                <a:solidFill>
                  <a:srgbClr val="000000"/>
                </a:solidFill>
                <a:latin typeface="Times New Roman" pitchFamily="18" charset="0"/>
                <a:ea typeface="돋움" pitchFamily="50" charset="-127"/>
                <a:cs typeface="Times New Roman" pitchFamily="18" charset="0"/>
              </a:rPr>
              <a:t> </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C.</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Khó</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mở</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rộng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hệ</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err="1" smtClean="0">
                <a:solidFill>
                  <a:srgbClr val="000000"/>
                </a:solidFill>
                <a:latin typeface="Times New Roman" pitchFamily="18" charset="0"/>
                <a:ea typeface="돋움" pitchFamily="50" charset="-127"/>
                <a:cs typeface="Times New Roman" pitchFamily="18" charset="0"/>
              </a:rPr>
              <a:t>thống</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D. </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Dễ</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bảo</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trì</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và</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sửa</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chữa</a:t>
            </a:r>
            <a:endParaRPr lang="ko-KR" altLang="en-US" sz="950" dirty="0">
              <a:solidFill>
                <a:srgbClr val="FF0000"/>
              </a:solidFill>
              <a:latin typeface="Times New Roman" pitchFamily="18" charset="0"/>
              <a:ea typeface="돋움" pitchFamily="50" charset="-127"/>
              <a:cs typeface="Times New Roman" pitchFamily="18" charset="0"/>
            </a:endParaRPr>
          </a:p>
        </p:txBody>
      </p:sp>
      <p:sp>
        <p:nvSpPr>
          <p:cNvPr id="61" name="Rectangle 102"/>
          <p:cNvSpPr>
            <a:spLocks noChangeArrowheads="1"/>
          </p:cNvSpPr>
          <p:nvPr/>
        </p:nvSpPr>
        <p:spPr bwMode="auto">
          <a:xfrm>
            <a:off x="196575" y="7329264"/>
            <a:ext cx="3245125" cy="20390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ea typeface="돋움" pitchFamily="50" charset="-127"/>
                <a:cs typeface="Times New Roman" pitchFamily="18" charset="0"/>
              </a:rPr>
              <a:t>35</a:t>
            </a:r>
            <a:r>
              <a:rPr lang="en-US" altLang="ko-KR" sz="950" dirty="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Hãy</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chọn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đáp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án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err="1" smtClean="0">
                <a:solidFill>
                  <a:srgbClr val="000000"/>
                </a:solidFill>
                <a:latin typeface="Times New Roman" pitchFamily="18" charset="0"/>
                <a:ea typeface="돋움" pitchFamily="50" charset="-127"/>
                <a:cs typeface="Times New Roman" pitchFamily="18" charset="0"/>
              </a:rPr>
              <a:t>giải</a:t>
            </a:r>
            <a:r>
              <a:rPr lang="en-US" altLang="ko-KR" sz="950" smtClean="0">
                <a:solidFill>
                  <a:srgbClr val="000000"/>
                </a:solidFill>
                <a:latin typeface="Times New Roman" pitchFamily="18" charset="0"/>
                <a:ea typeface="돋움" pitchFamily="50" charset="-127"/>
                <a:cs typeface="Times New Roman" pitchFamily="18" charset="0"/>
              </a:rPr>
              <a:t> thích </a:t>
            </a:r>
            <a:r>
              <a:rPr lang="en-US" altLang="ko-KR" sz="950" dirty="0" err="1" smtClean="0">
                <a:solidFill>
                  <a:srgbClr val="000000"/>
                </a:solidFill>
                <a:latin typeface="Times New Roman" pitchFamily="18" charset="0"/>
                <a:ea typeface="돋움" pitchFamily="50" charset="-127"/>
                <a:cs typeface="Times New Roman" pitchFamily="18" charset="0"/>
              </a:rPr>
              <a:t>về</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cấu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trúc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của</a:t>
            </a:r>
            <a:r>
              <a:rPr lang="en-US" altLang="ko-KR" sz="950" dirty="0" smtClean="0">
                <a:solidFill>
                  <a:srgbClr val="000000"/>
                </a:solidFill>
                <a:latin typeface="Times New Roman" pitchFamily="18" charset="0"/>
                <a:ea typeface="돋움" pitchFamily="50" charset="-127"/>
                <a:cs typeface="Times New Roman" pitchFamily="18" charset="0"/>
              </a:rPr>
              <a:t> PLC </a:t>
            </a:r>
            <a:r>
              <a:rPr lang="en-US" altLang="ko-KR" sz="950" dirty="0" err="1" smtClean="0">
                <a:solidFill>
                  <a:srgbClr val="000000"/>
                </a:solidFill>
                <a:latin typeface="Times New Roman" pitchFamily="18" charset="0"/>
                <a:ea typeface="돋움" pitchFamily="50" charset="-127"/>
                <a:cs typeface="Times New Roman" pitchFamily="18" charset="0"/>
              </a:rPr>
              <a:t>tương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err="1" smtClean="0">
                <a:solidFill>
                  <a:srgbClr val="000000"/>
                </a:solidFill>
                <a:latin typeface="Times New Roman" pitchFamily="18" charset="0"/>
                <a:ea typeface="돋움" pitchFamily="50" charset="-127"/>
                <a:cs typeface="Times New Roman" pitchFamily="18" charset="0"/>
              </a:rPr>
              <a:t>ứng</a:t>
            </a:r>
            <a:r>
              <a:rPr lang="en-US" altLang="ko-KR" sz="950" smtClean="0">
                <a:solidFill>
                  <a:srgbClr val="000000"/>
                </a:solidFill>
                <a:latin typeface="Times New Roman" pitchFamily="18" charset="0"/>
                <a:ea typeface="돋움" pitchFamily="50" charset="-127"/>
                <a:cs typeface="Times New Roman" pitchFamily="18" charset="0"/>
              </a:rPr>
              <a:t> với các </a:t>
            </a:r>
            <a:r>
              <a:rPr lang="en-US" altLang="ko-KR" sz="950" dirty="0" err="1" smtClean="0">
                <a:solidFill>
                  <a:srgbClr val="000000"/>
                </a:solidFill>
                <a:latin typeface="Times New Roman" pitchFamily="18" charset="0"/>
                <a:ea typeface="돋움" pitchFamily="50" charset="-127"/>
                <a:cs typeface="Times New Roman" pitchFamily="18" charset="0"/>
              </a:rPr>
              <a:t>câu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sau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vào</a:t>
            </a:r>
            <a:r>
              <a:rPr lang="en-US" altLang="ko-KR" sz="950" dirty="0" smtClean="0">
                <a:solidFill>
                  <a:srgbClr val="000000"/>
                </a:solidFill>
                <a:latin typeface="Times New Roman" pitchFamily="18" charset="0"/>
                <a:ea typeface="돋움" pitchFamily="50" charset="-127"/>
                <a:cs typeface="Times New Roman" pitchFamily="18" charset="0"/>
              </a:rPr>
              <a:t> ô </a:t>
            </a:r>
            <a:r>
              <a:rPr lang="en-US" altLang="ko-KR" sz="950" err="1" smtClean="0">
                <a:solidFill>
                  <a:srgbClr val="000000"/>
                </a:solidFill>
                <a:latin typeface="Times New Roman" pitchFamily="18" charset="0"/>
                <a:ea typeface="돋움" pitchFamily="50" charset="-127"/>
                <a:cs typeface="Times New Roman" pitchFamily="18" charset="0"/>
              </a:rPr>
              <a:t>trống</a:t>
            </a:r>
            <a:r>
              <a:rPr lang="en-US" altLang="ko-KR" sz="950">
                <a:solidFill>
                  <a:srgbClr val="000000"/>
                </a:solidFill>
                <a:latin typeface="Times New Roman" pitchFamily="18" charset="0"/>
                <a:ea typeface="돋움" pitchFamily="50" charset="-127"/>
                <a:cs typeface="Times New Roman" pitchFamily="18" charset="0"/>
              </a:rPr>
              <a:t>. </a:t>
            </a:r>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en-US" altLang="ko-KR" sz="1000">
                <a:solidFill>
                  <a:srgbClr val="000000"/>
                </a:solidFill>
                <a:latin typeface="Arial" panose="020B0604020202020204" pitchFamily="34" charset="0"/>
                <a:ea typeface="돋움" pitchFamily="50" charset="-127"/>
                <a:cs typeface="Arial" panose="020B0604020202020204" pitchFamily="34" charset="0"/>
              </a:rPr>
              <a:t>- ( </a:t>
            </a:r>
            <a:r>
              <a:rPr lang="en-US" altLang="ko-KR" sz="1000" smtClean="0">
                <a:solidFill>
                  <a:srgbClr val="000000"/>
                </a:solidFill>
                <a:latin typeface="Arial" panose="020B0604020202020204" pitchFamily="34" charset="0"/>
                <a:ea typeface="돋움" pitchFamily="50" charset="-127"/>
                <a:cs typeface="Arial" panose="020B0604020202020204" pitchFamily="34" charset="0"/>
              </a:rPr>
              <a:t> </a:t>
            </a:r>
            <a:r>
              <a:rPr lang="en-US" altLang="ko-KR" sz="1000">
                <a:solidFill>
                  <a:srgbClr val="000000"/>
                </a:solidFill>
                <a:latin typeface="Arial" panose="020B0604020202020204" pitchFamily="34" charset="0"/>
                <a:ea typeface="돋움" pitchFamily="50" charset="-127"/>
                <a:cs typeface="Arial" panose="020B0604020202020204" pitchFamily="34" charset="0"/>
              </a:rPr>
              <a:t>1  </a:t>
            </a:r>
            <a:r>
              <a:rPr lang="en-US" altLang="ko-KR" sz="1000" smtClean="0">
                <a:solidFill>
                  <a:srgbClr val="000000"/>
                </a:solidFill>
                <a:latin typeface="Arial" panose="020B0604020202020204" pitchFamily="34" charset="0"/>
                <a:ea typeface="돋움" pitchFamily="50" charset="-127"/>
                <a:cs typeface="Arial" panose="020B0604020202020204" pitchFamily="34" charset="0"/>
              </a:rPr>
              <a:t>) </a:t>
            </a:r>
            <a:r>
              <a:rPr lang="en-US" altLang="ko-KR" sz="1000">
                <a:solidFill>
                  <a:srgbClr val="000000"/>
                </a:solidFill>
                <a:latin typeface="Arial" panose="020B0604020202020204" pitchFamily="34" charset="0"/>
                <a:ea typeface="돋움" pitchFamily="50" charset="-127"/>
                <a:cs typeface="Arial" panose="020B0604020202020204" pitchFamily="34" charset="0"/>
              </a:rPr>
              <a:t>đóng vai trò là bộ não của system, được cấu trúc chủ yếu bằng Microprocessor và Memory.</a:t>
            </a:r>
          </a:p>
          <a:p>
            <a:pPr eaLnBrk="1" hangingPunct="1"/>
            <a:r>
              <a:rPr lang="en-US" altLang="ko-KR" sz="1000">
                <a:solidFill>
                  <a:srgbClr val="000000"/>
                </a:solidFill>
                <a:latin typeface="Arial" panose="020B0604020202020204" pitchFamily="34" charset="0"/>
                <a:ea typeface="돋움" pitchFamily="50" charset="-127"/>
                <a:cs typeface="Arial" panose="020B0604020202020204" pitchFamily="34" charset="0"/>
              </a:rPr>
              <a:t>- ( </a:t>
            </a:r>
            <a:r>
              <a:rPr lang="en-US" altLang="ko-KR" sz="1000" smtClean="0">
                <a:solidFill>
                  <a:srgbClr val="000000"/>
                </a:solidFill>
                <a:latin typeface="Arial" panose="020B0604020202020204" pitchFamily="34" charset="0"/>
                <a:ea typeface="돋움" pitchFamily="50" charset="-127"/>
                <a:cs typeface="Arial" panose="020B0604020202020204" pitchFamily="34" charset="0"/>
              </a:rPr>
              <a:t> </a:t>
            </a:r>
            <a:r>
              <a:rPr lang="en-US" altLang="ko-KR" sz="1000">
                <a:solidFill>
                  <a:srgbClr val="000000"/>
                </a:solidFill>
                <a:latin typeface="Arial" panose="020B0604020202020204" pitchFamily="34" charset="0"/>
                <a:ea typeface="돋움" pitchFamily="50" charset="-127"/>
                <a:cs typeface="Arial" panose="020B0604020202020204" pitchFamily="34" charset="0"/>
              </a:rPr>
              <a:t>2 </a:t>
            </a:r>
            <a:r>
              <a:rPr lang="en-US" altLang="ko-KR" sz="1000" smtClean="0">
                <a:solidFill>
                  <a:srgbClr val="000000"/>
                </a:solidFill>
                <a:latin typeface="Arial" panose="020B0604020202020204" pitchFamily="34" charset="0"/>
                <a:ea typeface="돋움" pitchFamily="50" charset="-127"/>
                <a:cs typeface="Arial" panose="020B0604020202020204" pitchFamily="34" charset="0"/>
              </a:rPr>
              <a:t> </a:t>
            </a:r>
            <a:r>
              <a:rPr lang="en-US" altLang="ko-KR" sz="1000">
                <a:solidFill>
                  <a:srgbClr val="000000"/>
                </a:solidFill>
                <a:latin typeface="Arial" panose="020B0604020202020204" pitchFamily="34" charset="0"/>
                <a:ea typeface="돋움" pitchFamily="50" charset="-127"/>
                <a:cs typeface="Arial" panose="020B0604020202020204" pitchFamily="34" charset="0"/>
              </a:rPr>
              <a:t>) có vai trò kết nối tín hiệu với các thiết bị bên ngoài</a:t>
            </a:r>
          </a:p>
          <a:p>
            <a:pPr eaLnBrk="1" hangingPunct="1"/>
            <a:r>
              <a:rPr lang="en-US" altLang="ko-KR" sz="1000">
                <a:solidFill>
                  <a:srgbClr val="000000"/>
                </a:solidFill>
                <a:latin typeface="Arial" panose="020B0604020202020204" pitchFamily="34" charset="0"/>
                <a:ea typeface="돋움" pitchFamily="50" charset="-127"/>
                <a:cs typeface="Arial" panose="020B0604020202020204" pitchFamily="34" charset="0"/>
              </a:rPr>
              <a:t>- ( </a:t>
            </a:r>
            <a:r>
              <a:rPr lang="en-US" altLang="ko-KR" sz="1000" smtClean="0">
                <a:solidFill>
                  <a:srgbClr val="000000"/>
                </a:solidFill>
                <a:latin typeface="Arial" panose="020B0604020202020204" pitchFamily="34" charset="0"/>
                <a:ea typeface="돋움" pitchFamily="50" charset="-127"/>
                <a:cs typeface="Arial" panose="020B0604020202020204" pitchFamily="34" charset="0"/>
              </a:rPr>
              <a:t> 3  </a:t>
            </a:r>
            <a:r>
              <a:rPr lang="en-US" altLang="ko-KR" sz="1000">
                <a:solidFill>
                  <a:srgbClr val="000000"/>
                </a:solidFill>
                <a:latin typeface="Arial" panose="020B0604020202020204" pitchFamily="34" charset="0"/>
                <a:ea typeface="돋움" pitchFamily="50" charset="-127"/>
                <a:cs typeface="Arial" panose="020B0604020202020204" pitchFamily="34" charset="0"/>
              </a:rPr>
              <a:t>) có vai trò cung cấp nguồn cho các bộ phận</a:t>
            </a:r>
          </a:p>
          <a:p>
            <a:pPr eaLnBrk="1" hangingPunct="1"/>
            <a:r>
              <a:rPr lang="en-US" altLang="ko-KR" sz="1000">
                <a:solidFill>
                  <a:srgbClr val="000000"/>
                </a:solidFill>
                <a:latin typeface="Arial" panose="020B0604020202020204" pitchFamily="34" charset="0"/>
                <a:ea typeface="돋움" pitchFamily="50" charset="-127"/>
                <a:cs typeface="Arial" panose="020B0604020202020204" pitchFamily="34" charset="0"/>
              </a:rPr>
              <a:t>- ( </a:t>
            </a:r>
            <a:r>
              <a:rPr lang="en-US" altLang="ko-KR" sz="1000" smtClean="0">
                <a:solidFill>
                  <a:srgbClr val="000000"/>
                </a:solidFill>
                <a:latin typeface="Arial" panose="020B0604020202020204" pitchFamily="34" charset="0"/>
                <a:ea typeface="돋움" pitchFamily="50" charset="-127"/>
                <a:cs typeface="Arial" panose="020B0604020202020204" pitchFamily="34" charset="0"/>
              </a:rPr>
              <a:t> 4  </a:t>
            </a:r>
            <a:r>
              <a:rPr lang="en-US" altLang="ko-KR" sz="1000">
                <a:solidFill>
                  <a:srgbClr val="000000"/>
                </a:solidFill>
                <a:latin typeface="Arial" panose="020B0604020202020204" pitchFamily="34" charset="0"/>
                <a:ea typeface="돋움" pitchFamily="50" charset="-127"/>
                <a:cs typeface="Arial" panose="020B0604020202020204" pitchFamily="34" charset="0"/>
              </a:rPr>
              <a:t>) có vai trò ghi chép lại chương trình vào bộ </a:t>
            </a:r>
            <a:r>
              <a:rPr lang="en-US" altLang="ko-KR" sz="1000" smtClean="0">
                <a:solidFill>
                  <a:srgbClr val="000000"/>
                </a:solidFill>
                <a:latin typeface="Arial" panose="020B0604020202020204" pitchFamily="34" charset="0"/>
                <a:ea typeface="돋움" pitchFamily="50" charset="-127"/>
                <a:cs typeface="Arial" panose="020B0604020202020204" pitchFamily="34" charset="0"/>
              </a:rPr>
              <a:t>nhớ</a:t>
            </a:r>
            <a:endParaRPr lang="en-US" altLang="ko-KR" sz="950" smtClean="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a:t>
            </a:r>
            <a:r>
              <a:rPr lang="en-US" altLang="ko-KR" sz="950">
                <a:latin typeface="Times New Roman" pitchFamily="18" charset="0"/>
                <a:ea typeface="돋움" pitchFamily="50" charset="-127"/>
                <a:cs typeface="Times New Roman" pitchFamily="18" charset="0"/>
              </a:rPr>
              <a:t>. CPU, I / O Unit, Power part, thiết bị xung quanh </a:t>
            </a:r>
            <a:r>
              <a:rPr lang="ko-KR" altLang="en-US" sz="950">
                <a:solidFill>
                  <a:srgbClr val="FF0000"/>
                </a:solidFill>
                <a:latin typeface="Times New Roman" pitchFamily="18" charset="0"/>
                <a:ea typeface="돋움" pitchFamily="50" charset="-127"/>
                <a:cs typeface="Times New Roman" pitchFamily="18" charset="0"/>
              </a:rPr>
              <a:t> </a:t>
            </a:r>
          </a:p>
          <a:p>
            <a:pPr eaLnBrk="1" hangingPunct="1"/>
            <a:r>
              <a:rPr lang="en-US" altLang="ko-KR" sz="950">
                <a:solidFill>
                  <a:srgbClr val="FF0000"/>
                </a:solidFill>
                <a:latin typeface="Times New Roman" pitchFamily="18" charset="0"/>
                <a:ea typeface="돋움" pitchFamily="50" charset="-127"/>
                <a:cs typeface="Times New Roman" pitchFamily="18" charset="0"/>
              </a:rPr>
              <a:t>B. CPU, I / O Unit, Power part, Loader</a:t>
            </a:r>
          </a:p>
          <a:p>
            <a:pPr eaLnBrk="1" hangingPunct="1"/>
            <a:r>
              <a:rPr lang="en-US" altLang="ko-KR" sz="950">
                <a:solidFill>
                  <a:srgbClr val="000000"/>
                </a:solidFill>
                <a:latin typeface="Times New Roman" pitchFamily="18" charset="0"/>
                <a:ea typeface="돋움" pitchFamily="50" charset="-127"/>
                <a:cs typeface="Times New Roman" pitchFamily="18" charset="0"/>
              </a:rPr>
              <a:t>C. Micro Process. I / O Unit, Power part,Loader</a:t>
            </a:r>
          </a:p>
          <a:p>
            <a:pPr eaLnBrk="1" hangingPunct="1"/>
            <a:r>
              <a:rPr lang="en-US" altLang="ko-KR" sz="950">
                <a:solidFill>
                  <a:srgbClr val="000000"/>
                </a:solidFill>
                <a:latin typeface="Times New Roman" pitchFamily="18" charset="0"/>
                <a:ea typeface="돋움" pitchFamily="50" charset="-127"/>
                <a:cs typeface="Times New Roman" pitchFamily="18" charset="0"/>
              </a:rPr>
              <a:t>D. Micro Process. I / O Unit, Power </a:t>
            </a:r>
            <a:r>
              <a:rPr lang="en-US" altLang="ko-KR" sz="950" smtClean="0">
                <a:solidFill>
                  <a:srgbClr val="000000"/>
                </a:solidFill>
                <a:latin typeface="Times New Roman" pitchFamily="18" charset="0"/>
                <a:ea typeface="돋움" pitchFamily="50" charset="-127"/>
                <a:cs typeface="Times New Roman" pitchFamily="18" charset="0"/>
              </a:rPr>
              <a:t>part,CPU</a:t>
            </a:r>
            <a:endParaRPr lang="ko-KR" altLang="en-US" sz="950">
              <a:solidFill>
                <a:srgbClr val="000000"/>
              </a:solidFill>
              <a:latin typeface="Times New Roman" pitchFamily="18" charset="0"/>
              <a:ea typeface="돋움" pitchFamily="50" charset="-127"/>
              <a:cs typeface="Times New Roman" pitchFamily="18" charset="0"/>
            </a:endParaRPr>
          </a:p>
        </p:txBody>
      </p:sp>
      <p:sp>
        <p:nvSpPr>
          <p:cNvPr id="62" name="Rectangle 103"/>
          <p:cNvSpPr>
            <a:spLocks noChangeArrowheads="1"/>
          </p:cNvSpPr>
          <p:nvPr/>
        </p:nvSpPr>
        <p:spPr bwMode="auto">
          <a:xfrm>
            <a:off x="3429000" y="4232920"/>
            <a:ext cx="3398838" cy="67710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smtClean="0">
                <a:solidFill>
                  <a:srgbClr val="000000"/>
                </a:solidFill>
                <a:latin typeface="Times New Roman" pitchFamily="18" charset="0"/>
                <a:ea typeface="돋움" pitchFamily="50" charset="-127"/>
                <a:cs typeface="Times New Roman" pitchFamily="18" charset="0"/>
              </a:rPr>
              <a:t>38</a:t>
            </a:r>
            <a:r>
              <a:rPr lang="en-US" altLang="ko-KR" sz="950" dirty="0">
                <a:solidFill>
                  <a:srgbClr val="000000"/>
                </a:solidFill>
                <a:latin typeface="Times New Roman" pitchFamily="18" charset="0"/>
                <a:ea typeface="돋움" pitchFamily="50" charset="-127"/>
                <a:cs typeface="Times New Roman" pitchFamily="18" charset="0"/>
              </a:rPr>
              <a:t>.</a:t>
            </a:r>
            <a:r>
              <a:rPr lang="ko-KR" altLang="en-US" sz="950" dirty="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Đâu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đáp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án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không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thuộc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bộ</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nhớ</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chương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trình</a:t>
            </a:r>
            <a:r>
              <a:rPr lang="en-US" altLang="ko-KR" sz="950" dirty="0" smtClean="0">
                <a:solidFill>
                  <a:srgbClr val="000000"/>
                </a:solidFill>
                <a:latin typeface="Times New Roman" pitchFamily="18" charset="0"/>
                <a:ea typeface="돋움" pitchFamily="50" charset="-127"/>
                <a:cs typeface="Times New Roman" pitchFamily="18" charset="0"/>
              </a:rPr>
              <a:t>/ Device??</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dirty="0">
                <a:solidFill>
                  <a:srgbClr val="000000"/>
                </a:solidFill>
                <a:latin typeface="Times New Roman" pitchFamily="18" charset="0"/>
                <a:ea typeface="돋움" pitchFamily="50" charset="-127"/>
                <a:cs typeface="Times New Roman" pitchFamily="18" charset="0"/>
              </a:rPr>
              <a:t> </a:t>
            </a:r>
          </a:p>
          <a:p>
            <a:pPr eaLnBrk="1" hangingPunct="1"/>
            <a:r>
              <a:rPr lang="en-US" altLang="ko-KR" sz="950" smtClean="0">
                <a:solidFill>
                  <a:srgbClr val="000000"/>
                </a:solidFill>
                <a:latin typeface="Times New Roman" pitchFamily="18" charset="0"/>
                <a:ea typeface="돋움" pitchFamily="50" charset="-127"/>
                <a:cs typeface="Times New Roman" pitchFamily="18" charset="0"/>
              </a:rPr>
              <a:t>   A. Program </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B. Device</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C. </a:t>
            </a:r>
            <a:r>
              <a:rPr lang="en-US" altLang="ko-KR" sz="950" dirty="0">
                <a:solidFill>
                  <a:srgbClr val="FF0000"/>
                </a:solidFill>
                <a:latin typeface="Times New Roman" pitchFamily="18" charset="0"/>
                <a:ea typeface="돋움" pitchFamily="50" charset="-127"/>
                <a:cs typeface="Times New Roman" pitchFamily="18" charset="0"/>
              </a:rPr>
              <a:t>F</a:t>
            </a:r>
            <a:r>
              <a:rPr lang="en-US" altLang="ko-KR" sz="950" smtClean="0">
                <a:solidFill>
                  <a:srgbClr val="FF0000"/>
                </a:solidFill>
                <a:latin typeface="Times New Roman" pitchFamily="18" charset="0"/>
                <a:ea typeface="돋움" pitchFamily="50" charset="-127"/>
                <a:cs typeface="Times New Roman" pitchFamily="18" charset="0"/>
              </a:rPr>
              <a:t>ile </a:t>
            </a:r>
            <a:r>
              <a:rPr lang="en-US" altLang="ko-KR" sz="950">
                <a:solidFill>
                  <a:srgbClr val="FF0000"/>
                </a:solidFill>
                <a:latin typeface="Times New Roman" pitchFamily="18" charset="0"/>
                <a:ea typeface="돋움" pitchFamily="50" charset="-127"/>
                <a:cs typeface="Times New Roman" pitchFamily="18" charset="0"/>
              </a:rPr>
              <a:t>register</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D. </a:t>
            </a:r>
            <a:r>
              <a:rPr lang="en-US" altLang="ko-KR" sz="950" dirty="0" smtClean="0">
                <a:solidFill>
                  <a:srgbClr val="000000"/>
                </a:solidFill>
                <a:latin typeface="Times New Roman" pitchFamily="18" charset="0"/>
                <a:ea typeface="돋움" pitchFamily="50" charset="-127"/>
                <a:cs typeface="Times New Roman" pitchFamily="18" charset="0"/>
              </a:rPr>
              <a:t>Parameter</a:t>
            </a:r>
            <a:endParaRPr lang="ko-KR" altLang="en-US" sz="950" dirty="0">
              <a:solidFill>
                <a:srgbClr val="000000"/>
              </a:solidFill>
              <a:latin typeface="Times New Roman" pitchFamily="18" charset="0"/>
              <a:ea typeface="돋움" pitchFamily="50" charset="-127"/>
              <a:cs typeface="Times New Roman" pitchFamily="18" charset="0"/>
            </a:endParaRPr>
          </a:p>
        </p:txBody>
      </p:sp>
      <p:grpSp>
        <p:nvGrpSpPr>
          <p:cNvPr id="4" name="Group 3"/>
          <p:cNvGrpSpPr/>
          <p:nvPr/>
        </p:nvGrpSpPr>
        <p:grpSpPr>
          <a:xfrm>
            <a:off x="144016" y="3972614"/>
            <a:ext cx="3429000" cy="1700466"/>
            <a:chOff x="144016" y="2792760"/>
            <a:chExt cx="3429000" cy="1700466"/>
          </a:xfrm>
        </p:grpSpPr>
        <p:sp>
          <p:nvSpPr>
            <p:cNvPr id="56" name="Rectangle 101"/>
            <p:cNvSpPr>
              <a:spLocks noChangeArrowheads="1"/>
            </p:cNvSpPr>
            <p:nvPr/>
          </p:nvSpPr>
          <p:spPr bwMode="auto">
            <a:xfrm>
              <a:off x="144016" y="2792760"/>
              <a:ext cx="3429000" cy="170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anose="02020603050405020304" pitchFamily="18" charset="0"/>
                  <a:ea typeface="돋움" pitchFamily="50" charset="-127"/>
                  <a:cs typeface="Times New Roman" panose="02020603050405020304" pitchFamily="18" charset="0"/>
                </a:rPr>
                <a:t>33. Đây </a:t>
              </a:r>
              <a:r>
                <a:rPr lang="en-US" altLang="ko-KR" sz="950">
                  <a:solidFill>
                    <a:srgbClr val="000000"/>
                  </a:solidFill>
                  <a:latin typeface="Times New Roman" pitchFamily="18" charset="0"/>
                  <a:ea typeface="돋움" pitchFamily="50" charset="-127"/>
                  <a:cs typeface="Times New Roman" pitchFamily="18" charset="0"/>
                </a:rPr>
                <a:t>là mạch gì</a:t>
              </a:r>
              <a:r>
                <a:rPr lang="en-US" altLang="ko-KR" sz="950" smtClean="0">
                  <a:solidFill>
                    <a:srgbClr val="000000"/>
                  </a:solidFill>
                  <a:latin typeface="Times New Roman" pitchFamily="18" charset="0"/>
                  <a:ea typeface="돋움" pitchFamily="50" charset="-127"/>
                  <a:cs typeface="Times New Roman" pitchFamily="18" charset="0"/>
                </a:rPr>
                <a:t>?</a:t>
              </a:r>
            </a:p>
            <a:p>
              <a:pPr eaLnBrk="1" hangingPunct="1"/>
              <a:endParaRPr lang="en-US" altLang="ko-KR" sz="950">
                <a:solidFill>
                  <a:srgbClr val="000000"/>
                </a:solidFill>
                <a:latin typeface="Times New Roman" pitchFamily="18" charset="0"/>
                <a:ea typeface="돋움" pitchFamily="50" charset="-127"/>
                <a:cs typeface="Times New Roman" pitchFamily="18" charset="0"/>
              </a:endParaRPr>
            </a:p>
            <a:p>
              <a:pPr eaLnBrk="1" hangingPunct="1"/>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en-US" altLang="ko-KR" sz="950" smtClean="0">
                  <a:solidFill>
                    <a:srgbClr val="FF0000"/>
                  </a:solidFill>
                  <a:latin typeface="Times New Roman" pitchFamily="18" charset="0"/>
                  <a:ea typeface="돋움" pitchFamily="50" charset="-127"/>
                  <a:cs typeface="Times New Roman" pitchFamily="18" charset="0"/>
                </a:rPr>
                <a:t> </a:t>
              </a:r>
            </a:p>
            <a:p>
              <a:pPr eaLnBrk="1" hangingPunct="1"/>
              <a:endParaRPr lang="en-US" altLang="ko-KR" sz="950">
                <a:solidFill>
                  <a:srgbClr val="FF0000"/>
                </a:solidFill>
                <a:latin typeface="Times New Roman" pitchFamily="18" charset="0"/>
                <a:ea typeface="돋움" pitchFamily="50" charset="-127"/>
                <a:cs typeface="Times New Roman" pitchFamily="18" charset="0"/>
              </a:endParaRPr>
            </a:p>
            <a:p>
              <a:pPr eaLnBrk="1" hangingPunct="1"/>
              <a:endParaRPr lang="en-US" altLang="ko-KR" sz="950" smtClean="0">
                <a:solidFill>
                  <a:srgbClr val="FF0000"/>
                </a:solidFill>
                <a:latin typeface="Times New Roman" pitchFamily="18" charset="0"/>
                <a:ea typeface="돋움" pitchFamily="50" charset="-127"/>
                <a:cs typeface="Times New Roman" pitchFamily="18" charset="0"/>
              </a:endParaRPr>
            </a:p>
            <a:p>
              <a:pPr eaLnBrk="1" hangingPunct="1"/>
              <a:endParaRPr lang="en-US" altLang="ko-KR" sz="950">
                <a:solidFill>
                  <a:srgbClr val="FF0000"/>
                </a:solidFill>
                <a:latin typeface="Times New Roman" pitchFamily="18" charset="0"/>
                <a:ea typeface="돋움" pitchFamily="50" charset="-127"/>
                <a:cs typeface="Times New Roman" pitchFamily="18" charset="0"/>
              </a:endParaRPr>
            </a:p>
            <a:p>
              <a:pPr eaLnBrk="1" hangingPunct="1"/>
              <a:r>
                <a:rPr lang="en-US" altLang="ko-KR" sz="950" smtClean="0">
                  <a:solidFill>
                    <a:srgbClr val="FF0000"/>
                  </a:solidFill>
                  <a:latin typeface="Times New Roman" pitchFamily="18" charset="0"/>
                  <a:ea typeface="돋움" pitchFamily="50" charset="-127"/>
                  <a:cs typeface="Times New Roman" pitchFamily="18" charset="0"/>
                </a:rPr>
                <a:t> A.</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Mạch </a:t>
              </a:r>
              <a:r>
                <a:rPr lang="en-US" altLang="ko-KR" sz="950">
                  <a:solidFill>
                    <a:srgbClr val="FF0000"/>
                  </a:solidFill>
                  <a:latin typeface="Times New Roman" pitchFamily="18" charset="0"/>
                  <a:ea typeface="돋움" pitchFamily="50" charset="-127"/>
                  <a:cs typeface="Times New Roman" pitchFamily="18" charset="0"/>
                </a:rPr>
                <a:t>ưu tiên chạy, mạch ưu tiên dừng</a:t>
              </a:r>
              <a:r>
                <a:rPr lang="ko-KR" altLang="en-US" sz="950">
                  <a:solidFill>
                    <a:srgbClr val="FF0000"/>
                  </a:solidFill>
                  <a:latin typeface="Times New Roman" pitchFamily="18" charset="0"/>
                  <a:ea typeface="돋움" pitchFamily="50" charset="-127"/>
                  <a:cs typeface="Times New Roman" pitchFamily="18" charset="0"/>
                </a:rPr>
                <a:t> </a:t>
              </a:r>
              <a:endParaRPr lang="en-US" altLang="ko-KR" sz="950">
                <a:solidFill>
                  <a:srgbClr val="FF0000"/>
                </a:solidFill>
                <a:latin typeface="Times New Roman" pitchFamily="18" charset="0"/>
                <a:ea typeface="돋움" pitchFamily="50" charset="-127"/>
                <a:cs typeface="Times New Roman" pitchFamily="18" charset="0"/>
              </a:endParaRPr>
            </a:p>
            <a:p>
              <a:pPr eaLnBrk="1" hangingPunct="1"/>
              <a:r>
                <a:rPr lang="ko-KR" altLang="en-US" sz="950">
                  <a:solidFill>
                    <a:srgbClr val="FF0000"/>
                  </a:solidFill>
                  <a:latin typeface="Times New Roman" pitchFamily="18" charset="0"/>
                  <a:ea typeface="돋움" pitchFamily="50" charset="-127"/>
                  <a:cs typeface="Times New Roman" pitchFamily="18" charset="0"/>
                </a:rPr>
                <a:t> </a:t>
              </a:r>
              <a:r>
                <a:rPr lang="en-US" altLang="ko-KR" sz="950">
                  <a:solidFill>
                    <a:srgbClr val="000000"/>
                  </a:solidFill>
                  <a:latin typeface="Times New Roman" pitchFamily="18" charset="0"/>
                  <a:ea typeface="돋움" pitchFamily="50" charset="-127"/>
                  <a:cs typeface="Times New Roman" pitchFamily="18" charset="0"/>
                </a:rPr>
                <a:t>B. </a:t>
              </a:r>
              <a:r>
                <a:rPr lang="ko-KR" altLang="en-US" sz="950">
                  <a:solidFill>
                    <a:srgbClr val="000000"/>
                  </a:solidFill>
                  <a:latin typeface="Times New Roman" pitchFamily="18" charset="0"/>
                  <a:ea typeface="돋움" pitchFamily="50" charset="-127"/>
                  <a:cs typeface="Times New Roman" pitchFamily="18" charset="0"/>
                </a:rPr>
                <a:t> </a:t>
              </a:r>
              <a:r>
                <a:rPr lang="en-US" altLang="ko-KR" sz="950">
                  <a:solidFill>
                    <a:srgbClr val="000000"/>
                  </a:solidFill>
                  <a:latin typeface="Times New Roman" pitchFamily="18" charset="0"/>
                  <a:ea typeface="돋움" pitchFamily="50" charset="-127"/>
                  <a:cs typeface="Times New Roman" pitchFamily="18" charset="0"/>
                </a:rPr>
                <a:t>Mạch ưu tiên dừng. mạch OR</a:t>
              </a:r>
              <a:r>
                <a:rPr lang="ko-KR" altLang="en-US" sz="950">
                  <a:solidFill>
                    <a:srgbClr val="000000"/>
                  </a:solidFill>
                  <a:latin typeface="Times New Roman" pitchFamily="18" charset="0"/>
                  <a:ea typeface="돋움" pitchFamily="50" charset="-127"/>
                  <a:cs typeface="Times New Roman" pitchFamily="18" charset="0"/>
                </a:rPr>
                <a:t> </a:t>
              </a:r>
              <a:endParaRPr lang="en-US" altLang="ko-KR" sz="95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C.</a:t>
              </a:r>
              <a:r>
                <a:rPr lang="ko-KR" altLang="en-US" sz="950">
                  <a:solidFill>
                    <a:srgbClr val="000000"/>
                  </a:solidFill>
                  <a:latin typeface="Times New Roman" pitchFamily="18" charset="0"/>
                  <a:ea typeface="돋움" pitchFamily="50" charset="-127"/>
                  <a:cs typeface="Times New Roman" pitchFamily="18" charset="0"/>
                </a:rPr>
                <a:t>  </a:t>
              </a:r>
              <a:r>
                <a:rPr lang="en-US" altLang="ko-KR" sz="950">
                  <a:solidFill>
                    <a:srgbClr val="000000"/>
                  </a:solidFill>
                  <a:latin typeface="Times New Roman" pitchFamily="18" charset="0"/>
                  <a:ea typeface="돋움" pitchFamily="50" charset="-127"/>
                  <a:cs typeface="Times New Roman" pitchFamily="18" charset="0"/>
                </a:rPr>
                <a:t>Mạch ưu tiên chạy, mạch OR </a:t>
              </a:r>
            </a:p>
            <a:p>
              <a:pPr eaLnBrk="1" hangingPunct="1"/>
              <a:r>
                <a:rPr lang="ko-KR" altLang="en-US" sz="950">
                  <a:solidFill>
                    <a:srgbClr val="000000"/>
                  </a:solidFill>
                  <a:latin typeface="Times New Roman" pitchFamily="18" charset="0"/>
                  <a:ea typeface="돋움" pitchFamily="50" charset="-127"/>
                  <a:cs typeface="Times New Roman" pitchFamily="18" charset="0"/>
                </a:rPr>
                <a:t> </a:t>
              </a:r>
              <a:r>
                <a:rPr lang="en-US" altLang="ko-KR" sz="950">
                  <a:solidFill>
                    <a:srgbClr val="000000"/>
                  </a:solidFill>
                  <a:latin typeface="Times New Roman" pitchFamily="18" charset="0"/>
                  <a:ea typeface="돋움" pitchFamily="50" charset="-127"/>
                  <a:cs typeface="Times New Roman" pitchFamily="18" charset="0"/>
                </a:rPr>
                <a:t>D. </a:t>
              </a:r>
              <a:r>
                <a:rPr lang="ko-KR" altLang="en-US" sz="950">
                  <a:solidFill>
                    <a:srgbClr val="000000"/>
                  </a:solidFill>
                  <a:latin typeface="Times New Roman" pitchFamily="18" charset="0"/>
                  <a:ea typeface="돋움" pitchFamily="50" charset="-127"/>
                  <a:cs typeface="Times New Roman" pitchFamily="18" charset="0"/>
                </a:rPr>
                <a:t> </a:t>
              </a:r>
              <a:r>
                <a:rPr lang="en-US" altLang="ko-KR" sz="950">
                  <a:solidFill>
                    <a:srgbClr val="000000"/>
                  </a:solidFill>
                  <a:latin typeface="Times New Roman" pitchFamily="18" charset="0"/>
                  <a:ea typeface="돋움" pitchFamily="50" charset="-127"/>
                  <a:cs typeface="Times New Roman" pitchFamily="18" charset="0"/>
                </a:rPr>
                <a:t>Mạch ưu tiên chạy, mạch tự duy trì</a:t>
              </a:r>
              <a:r>
                <a:rPr lang="ko-KR" altLang="en-US" sz="950">
                  <a:solidFill>
                    <a:srgbClr val="000000"/>
                  </a:solidFill>
                  <a:latin typeface="Times New Roman" pitchFamily="18" charset="0"/>
                  <a:ea typeface="돋움" pitchFamily="50" charset="-127"/>
                  <a:cs typeface="Times New Roman" pitchFamily="18" charset="0"/>
                </a:rPr>
                <a:t> </a:t>
              </a:r>
            </a:p>
          </p:txBody>
        </p:sp>
        <p:pic>
          <p:nvPicPr>
            <p:cNvPr id="6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109" y="3057064"/>
              <a:ext cx="3009900" cy="719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67" name="Rectangle 44"/>
          <p:cNvSpPr>
            <a:spLocks noChangeArrowheads="1"/>
          </p:cNvSpPr>
          <p:nvPr/>
        </p:nvSpPr>
        <p:spPr bwMode="auto">
          <a:xfrm>
            <a:off x="3426437" y="1064568"/>
            <a:ext cx="3124200"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ea typeface="돋움" pitchFamily="50" charset="-127"/>
                <a:cs typeface="Times New Roman" pitchFamily="18" charset="0"/>
              </a:rPr>
              <a:t>36</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Nội</a:t>
            </a:r>
            <a:r>
              <a:rPr lang="en-US" altLang="ko-KR" sz="950" dirty="0" smtClean="0">
                <a:solidFill>
                  <a:srgbClr val="000000"/>
                </a:solidFill>
                <a:latin typeface="Times New Roman" pitchFamily="18" charset="0"/>
                <a:ea typeface="돋움" pitchFamily="50" charset="-127"/>
                <a:cs typeface="Times New Roman" pitchFamily="18" charset="0"/>
              </a:rPr>
              <a:t> dung </a:t>
            </a:r>
            <a:r>
              <a:rPr lang="en-US" altLang="ko-KR" sz="950" dirty="0" err="1" smtClean="0">
                <a:solidFill>
                  <a:srgbClr val="000000"/>
                </a:solidFill>
                <a:latin typeface="Times New Roman" pitchFamily="18" charset="0"/>
                <a:ea typeface="돋움" pitchFamily="50" charset="-127"/>
                <a:cs typeface="Times New Roman" pitchFamily="18" charset="0"/>
              </a:rPr>
              <a:t>sau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giải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thích</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về</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cái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gì</a:t>
            </a:r>
            <a:r>
              <a:rPr lang="en-US" altLang="ko-KR" sz="950" dirty="0" smtClean="0">
                <a:solidFill>
                  <a:srgbClr val="000000"/>
                </a:solidFill>
                <a:latin typeface="Times New Roman" pitchFamily="18" charset="0"/>
                <a:ea typeface="돋움" pitchFamily="50" charset="-127"/>
                <a:cs typeface="Times New Roman" pitchFamily="18" charset="0"/>
              </a:rPr>
              <a:t>?</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dirty="0">
                <a:solidFill>
                  <a:srgbClr val="000000"/>
                </a:solidFill>
                <a:latin typeface="Times New Roman" pitchFamily="18" charset="0"/>
                <a:ea typeface="돋움" pitchFamily="50" charset="-127"/>
                <a:cs typeface="Times New Roman" pitchFamily="18" charset="0"/>
              </a:rPr>
              <a:t> [ </a:t>
            </a:r>
            <a:r>
              <a:rPr lang="en-US" altLang="ko-KR" sz="950" dirty="0" smtClean="0">
                <a:solidFill>
                  <a:srgbClr val="000000"/>
                </a:solidFill>
                <a:latin typeface="Times New Roman" pitchFamily="18" charset="0"/>
                <a:ea typeface="돋움" pitchFamily="50" charset="-127"/>
                <a:cs typeface="Times New Roman" pitchFamily="18" charset="0"/>
              </a:rPr>
              <a:t>Do </a:t>
            </a:r>
            <a:r>
              <a:rPr lang="en-US" altLang="ko-KR" sz="950" dirty="0" err="1" smtClean="0">
                <a:solidFill>
                  <a:srgbClr val="000000"/>
                </a:solidFill>
                <a:latin typeface="Times New Roman" pitchFamily="18" charset="0"/>
                <a:ea typeface="돋움" pitchFamily="50" charset="-127"/>
                <a:cs typeface="Times New Roman" pitchFamily="18" charset="0"/>
              </a:rPr>
              <a:t>chỉ</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dùng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để</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đọc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không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thể</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thay</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đổi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nội</a:t>
            </a:r>
            <a:r>
              <a:rPr lang="en-US" altLang="ko-KR" sz="950" dirty="0" smtClean="0">
                <a:solidFill>
                  <a:srgbClr val="000000"/>
                </a:solidFill>
                <a:latin typeface="Times New Roman" pitchFamily="18" charset="0"/>
                <a:ea typeface="돋움" pitchFamily="50" charset="-127"/>
                <a:cs typeface="Times New Roman" pitchFamily="18" charset="0"/>
              </a:rPr>
              <a:t> dung </a:t>
            </a:r>
            <a:r>
              <a:rPr lang="en-US" altLang="ko-KR" sz="950" dirty="0" err="1" smtClean="0">
                <a:solidFill>
                  <a:srgbClr val="000000"/>
                </a:solidFill>
                <a:latin typeface="Times New Roman" pitchFamily="18" charset="0"/>
                <a:ea typeface="돋움" pitchFamily="50" charset="-127"/>
                <a:cs typeface="Times New Roman" pitchFamily="18" charset="0"/>
              </a:rPr>
              <a:t>bộ</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nhớ</a:t>
            </a:r>
            <a:r>
              <a:rPr lang="en-US" altLang="ko-KR" sz="950" dirty="0" smtClean="0">
                <a:solidFill>
                  <a:srgbClr val="000000"/>
                </a:solidFill>
                <a:latin typeface="Times New Roman" pitchFamily="18" charset="0"/>
                <a:ea typeface="돋움" pitchFamily="50" charset="-127"/>
                <a:cs typeface="Times New Roman" pitchFamily="18" charset="0"/>
              </a:rPr>
              <a:t>. Do </a:t>
            </a:r>
            <a:r>
              <a:rPr lang="en-US" altLang="ko-KR" sz="950" dirty="0" err="1" smtClean="0">
                <a:solidFill>
                  <a:srgbClr val="000000"/>
                </a:solidFill>
                <a:latin typeface="Times New Roman" pitchFamily="18" charset="0"/>
                <a:ea typeface="돋움" pitchFamily="50" charset="-127"/>
                <a:cs typeface="Times New Roman" pitchFamily="18" charset="0"/>
              </a:rPr>
              <a:t>đó</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những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thông</a:t>
            </a:r>
            <a:r>
              <a:rPr lang="en-US" altLang="ko-KR" sz="950" dirty="0" smtClean="0">
                <a:solidFill>
                  <a:srgbClr val="000000"/>
                </a:solidFill>
                <a:latin typeface="Times New Roman" pitchFamily="18" charset="0"/>
                <a:ea typeface="돋움" pitchFamily="50" charset="-127"/>
                <a:cs typeface="Times New Roman" pitchFamily="18" charset="0"/>
              </a:rPr>
              <a:t> tin </a:t>
            </a:r>
            <a:r>
              <a:rPr lang="en-US" altLang="ko-KR" sz="950" dirty="0" err="1" smtClean="0">
                <a:solidFill>
                  <a:srgbClr val="000000"/>
                </a:solidFill>
                <a:latin typeface="Times New Roman" pitchFamily="18" charset="0"/>
                <a:ea typeface="돋움" pitchFamily="50" charset="-127"/>
                <a:cs typeface="Times New Roman" pitchFamily="18" charset="0"/>
              </a:rPr>
              <a:t>được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ghi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vào</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cố</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định</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Đây</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bộ</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nhớ</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bất</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biến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thông</a:t>
            </a:r>
            <a:r>
              <a:rPr lang="en-US" altLang="ko-KR" sz="950" dirty="0" smtClean="0">
                <a:solidFill>
                  <a:srgbClr val="000000"/>
                </a:solidFill>
                <a:latin typeface="Times New Roman" pitchFamily="18" charset="0"/>
                <a:ea typeface="돋움" pitchFamily="50" charset="-127"/>
                <a:cs typeface="Times New Roman" pitchFamily="18" charset="0"/>
              </a:rPr>
              <a:t> tin ở </a:t>
            </a:r>
            <a:r>
              <a:rPr lang="en-US" altLang="ko-KR" sz="950" dirty="0" err="1" smtClean="0">
                <a:solidFill>
                  <a:srgbClr val="000000"/>
                </a:solidFill>
                <a:latin typeface="Times New Roman" pitchFamily="18" charset="0"/>
                <a:ea typeface="돋움" pitchFamily="50" charset="-127"/>
                <a:cs typeface="Times New Roman" pitchFamily="18" charset="0"/>
              </a:rPr>
              <a:t>vùng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nhớ</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này</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dù</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bị</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ngắt</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điện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nội</a:t>
            </a:r>
            <a:r>
              <a:rPr lang="en-US" altLang="ko-KR" sz="950" dirty="0" smtClean="0">
                <a:solidFill>
                  <a:srgbClr val="000000"/>
                </a:solidFill>
                <a:latin typeface="Times New Roman" pitchFamily="18" charset="0"/>
                <a:ea typeface="돋움" pitchFamily="50" charset="-127"/>
                <a:cs typeface="Times New Roman" pitchFamily="18" charset="0"/>
              </a:rPr>
              <a:t> dung </a:t>
            </a:r>
            <a:r>
              <a:rPr lang="en-US" altLang="ko-KR" sz="950" dirty="0" err="1" smtClean="0">
                <a:solidFill>
                  <a:srgbClr val="000000"/>
                </a:solidFill>
                <a:latin typeface="Times New Roman" pitchFamily="18" charset="0"/>
                <a:ea typeface="돋움" pitchFamily="50" charset="-127"/>
                <a:cs typeface="Times New Roman" pitchFamily="18" charset="0"/>
              </a:rPr>
              <a:t>được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ghi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nhớ</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vẫn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được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bảo</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toàn</a:t>
            </a:r>
            <a:r>
              <a:rPr lang="en-US" altLang="ko-KR" sz="950" dirty="0" smtClean="0">
                <a:solidFill>
                  <a:srgbClr val="000000"/>
                </a:solidFill>
                <a:latin typeface="Times New Roman" pitchFamily="18" charset="0"/>
                <a:ea typeface="돋움" pitchFamily="50" charset="-127"/>
                <a:cs typeface="Times New Roman" pitchFamily="18" charset="0"/>
              </a:rPr>
              <a:t>.]</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a:solidFill>
                  <a:srgbClr val="FF0000"/>
                </a:solidFill>
                <a:latin typeface="Times New Roman" pitchFamily="18" charset="0"/>
                <a:ea typeface="돋움" pitchFamily="50" charset="-127"/>
                <a:cs typeface="Times New Roman" pitchFamily="18" charset="0"/>
              </a:rPr>
              <a:t>ROM  </a:t>
            </a:r>
            <a:r>
              <a:rPr lang="en-US" altLang="ko-KR" sz="950" smtClean="0">
                <a:solidFill>
                  <a:srgbClr val="000000"/>
                </a:solidFill>
                <a:latin typeface="Times New Roman" pitchFamily="18" charset="0"/>
                <a:ea typeface="돋움" pitchFamily="50" charset="-127"/>
                <a:cs typeface="Times New Roman" pitchFamily="18" charset="0"/>
              </a:rPr>
              <a:t>B. </a:t>
            </a:r>
            <a:r>
              <a:rPr lang="en-US" altLang="ko-KR" sz="950">
                <a:solidFill>
                  <a:srgbClr val="000000"/>
                </a:solidFill>
                <a:latin typeface="Times New Roman" pitchFamily="18" charset="0"/>
                <a:ea typeface="돋움" pitchFamily="50" charset="-127"/>
                <a:cs typeface="Times New Roman" pitchFamily="18" charset="0"/>
              </a:rPr>
              <a:t>RAM </a:t>
            </a:r>
            <a:r>
              <a:rPr lang="en-US" altLang="ko-KR" sz="950" smtClean="0">
                <a:solidFill>
                  <a:srgbClr val="000000"/>
                </a:solidFill>
                <a:latin typeface="Times New Roman" pitchFamily="18" charset="0"/>
                <a:ea typeface="돋움" pitchFamily="50" charset="-127"/>
                <a:cs typeface="Times New Roman" pitchFamily="18" charset="0"/>
              </a:rPr>
              <a:t> C. </a:t>
            </a:r>
            <a:r>
              <a:rPr lang="en-US" altLang="ko-KR" sz="950" dirty="0" smtClean="0">
                <a:solidFill>
                  <a:srgbClr val="000000"/>
                </a:solidFill>
                <a:latin typeface="Times New Roman" pitchFamily="18" charset="0"/>
                <a:ea typeface="돋움" pitchFamily="50" charset="-127"/>
                <a:cs typeface="Times New Roman" pitchFamily="18" charset="0"/>
              </a:rPr>
              <a:t>Program </a:t>
            </a:r>
            <a:r>
              <a:rPr lang="en-US" altLang="ko-KR" sz="950" smtClean="0">
                <a:solidFill>
                  <a:srgbClr val="000000"/>
                </a:solidFill>
                <a:latin typeface="Times New Roman" pitchFamily="18" charset="0"/>
                <a:ea typeface="돋움" pitchFamily="50" charset="-127"/>
                <a:cs typeface="Times New Roman" pitchFamily="18" charset="0"/>
              </a:rPr>
              <a:t>Memory</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D. </a:t>
            </a:r>
            <a:r>
              <a:rPr lang="en-US" altLang="ko-KR" sz="950" dirty="0">
                <a:solidFill>
                  <a:srgbClr val="000000"/>
                </a:solidFill>
                <a:latin typeface="Times New Roman" pitchFamily="18" charset="0"/>
                <a:ea typeface="돋움" pitchFamily="50" charset="-127"/>
                <a:cs typeface="Times New Roman" pitchFamily="18" charset="0"/>
              </a:rPr>
              <a:t>CPU</a:t>
            </a:r>
            <a:endParaRPr lang="ko-KR" altLang="en-US" sz="950" dirty="0">
              <a:solidFill>
                <a:srgbClr val="000000"/>
              </a:solidFill>
              <a:latin typeface="Times New Roman" pitchFamily="18" charset="0"/>
              <a:ea typeface="돋움" pitchFamily="50" charset="-127"/>
              <a:cs typeface="Times New Roman" pitchFamily="18" charset="0"/>
            </a:endParaRPr>
          </a:p>
        </p:txBody>
      </p:sp>
      <p:sp>
        <p:nvSpPr>
          <p:cNvPr id="68" name="Rectangle 103"/>
          <p:cNvSpPr>
            <a:spLocks noChangeArrowheads="1"/>
          </p:cNvSpPr>
          <p:nvPr/>
        </p:nvSpPr>
        <p:spPr bwMode="auto">
          <a:xfrm>
            <a:off x="3441700" y="2683004"/>
            <a:ext cx="3398837" cy="126188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smtClean="0">
                <a:solidFill>
                  <a:srgbClr val="000000"/>
                </a:solidFill>
                <a:latin typeface="Times New Roman" pitchFamily="18" charset="0"/>
                <a:ea typeface="돋움" pitchFamily="50" charset="-127"/>
                <a:cs typeface="Times New Roman" pitchFamily="18" charset="0"/>
              </a:rPr>
              <a:t>37</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Đâu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giả</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thích</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không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đúng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về</a:t>
            </a:r>
            <a:r>
              <a:rPr lang="en-US" altLang="ko-KR" sz="950" dirty="0" smtClean="0">
                <a:solidFill>
                  <a:srgbClr val="000000"/>
                </a:solidFill>
                <a:latin typeface="Times New Roman" pitchFamily="18" charset="0"/>
                <a:ea typeface="돋움" pitchFamily="50" charset="-127"/>
                <a:cs typeface="Times New Roman" pitchFamily="18" charset="0"/>
              </a:rPr>
              <a:t> RAM?</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dirty="0">
                <a:solidFill>
                  <a:srgbClr val="000000"/>
                </a:solidFill>
                <a:latin typeface="Times New Roman" pitchFamily="18" charset="0"/>
                <a:ea typeface="돋움" pitchFamily="50" charset="-127"/>
                <a:cs typeface="Times New Roman" pitchFamily="18" charset="0"/>
              </a:rPr>
              <a:t> </a:t>
            </a: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A. </a:t>
            </a:r>
            <a:r>
              <a:rPr lang="en-US" altLang="ko-KR" sz="950" dirty="0" err="1" smtClean="0">
                <a:solidFill>
                  <a:srgbClr val="000000"/>
                </a:solidFill>
                <a:latin typeface="Times New Roman" pitchFamily="18" charset="0"/>
                <a:ea typeface="돋움" pitchFamily="50" charset="-127"/>
                <a:cs typeface="Times New Roman" pitchFamily="18" charset="0"/>
              </a:rPr>
              <a:t>Có</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thể</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đọc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viết</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thông</a:t>
            </a:r>
            <a:r>
              <a:rPr lang="en-US" altLang="ko-KR" sz="950" dirty="0" smtClean="0">
                <a:solidFill>
                  <a:srgbClr val="000000"/>
                </a:solidFill>
                <a:latin typeface="Times New Roman" pitchFamily="18" charset="0"/>
                <a:ea typeface="돋움" pitchFamily="50" charset="-127"/>
                <a:cs typeface="Times New Roman" pitchFamily="18" charset="0"/>
              </a:rPr>
              <a:t> tin </a:t>
            </a:r>
            <a:r>
              <a:rPr lang="en-US" altLang="ko-KR" sz="950" dirty="0" err="1" smtClean="0">
                <a:solidFill>
                  <a:srgbClr val="000000"/>
                </a:solidFill>
                <a:latin typeface="Times New Roman" pitchFamily="18" charset="0"/>
                <a:ea typeface="돋움" pitchFamily="50" charset="-127"/>
                <a:cs typeface="Times New Roman" pitchFamily="18" charset="0"/>
              </a:rPr>
              <a:t>bộ</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nhớ</a:t>
            </a:r>
            <a:r>
              <a:rPr lang="en-US" altLang="ko-KR" sz="950" dirty="0" smtClean="0">
                <a:solidFill>
                  <a:srgbClr val="000000"/>
                </a:solidFill>
                <a:latin typeface="Times New Roman" pitchFamily="18" charset="0"/>
                <a:ea typeface="돋움" pitchFamily="50" charset="-127"/>
                <a:cs typeface="Times New Roman" pitchFamily="18" charset="0"/>
              </a:rPr>
              <a:t>.</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B. </a:t>
            </a:r>
            <a:r>
              <a:rPr lang="en-US" altLang="ko-KR" sz="950" dirty="0" err="1" smtClean="0">
                <a:solidFill>
                  <a:srgbClr val="000000"/>
                </a:solidFill>
                <a:latin typeface="Times New Roman" pitchFamily="18" charset="0"/>
                <a:ea typeface="돋움" pitchFamily="50" charset="-127"/>
                <a:cs typeface="Times New Roman" pitchFamily="18" charset="0"/>
              </a:rPr>
              <a:t>Khi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bị</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ngắt</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điện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nội</a:t>
            </a:r>
            <a:r>
              <a:rPr lang="en-US" altLang="ko-KR" sz="950" dirty="0" smtClean="0">
                <a:solidFill>
                  <a:srgbClr val="000000"/>
                </a:solidFill>
                <a:latin typeface="Times New Roman" pitchFamily="18" charset="0"/>
                <a:ea typeface="돋움" pitchFamily="50" charset="-127"/>
                <a:cs typeface="Times New Roman" pitchFamily="18" charset="0"/>
              </a:rPr>
              <a:t> dung </a:t>
            </a:r>
            <a:r>
              <a:rPr lang="en-US" altLang="ko-KR" sz="950" dirty="0" err="1" smtClean="0">
                <a:solidFill>
                  <a:srgbClr val="000000"/>
                </a:solidFill>
                <a:latin typeface="Times New Roman" pitchFamily="18" charset="0"/>
                <a:ea typeface="돋움" pitchFamily="50" charset="-127"/>
                <a:cs typeface="Times New Roman" pitchFamily="18" charset="0"/>
              </a:rPr>
              <a:t>thông</a:t>
            </a:r>
            <a:r>
              <a:rPr lang="en-US" altLang="ko-KR" sz="950" dirty="0" smtClean="0">
                <a:solidFill>
                  <a:srgbClr val="000000"/>
                </a:solidFill>
                <a:latin typeface="Times New Roman" pitchFamily="18" charset="0"/>
                <a:ea typeface="돋움" pitchFamily="50" charset="-127"/>
                <a:cs typeface="Times New Roman" pitchFamily="18" charset="0"/>
              </a:rPr>
              <a:t> tin </a:t>
            </a:r>
            <a:r>
              <a:rPr lang="en-US" altLang="ko-KR" sz="950" dirty="0" err="1" smtClean="0">
                <a:solidFill>
                  <a:srgbClr val="000000"/>
                </a:solidFill>
                <a:latin typeface="Times New Roman" pitchFamily="18" charset="0"/>
                <a:ea typeface="돋움" pitchFamily="50" charset="-127"/>
                <a:cs typeface="Times New Roman" pitchFamily="18" charset="0"/>
              </a:rPr>
              <a:t>đã</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nhớ</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sẽ</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bị</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mất</a:t>
            </a:r>
            <a:r>
              <a:rPr lang="en-US" altLang="ko-KR" sz="950" dirty="0" smtClean="0">
                <a:solidFill>
                  <a:srgbClr val="000000"/>
                </a:solidFill>
                <a:latin typeface="Times New Roman" pitchFamily="18" charset="0"/>
                <a:ea typeface="돋움" pitchFamily="50" charset="-127"/>
                <a:cs typeface="Times New Roman" pitchFamily="18" charset="0"/>
              </a:rPr>
              <a:t>.</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C.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bộ</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nhớ</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khả</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biến</a:t>
            </a:r>
            <a:r>
              <a:rPr lang="en-US" altLang="ko-KR" sz="950" dirty="0" smtClean="0">
                <a:solidFill>
                  <a:srgbClr val="000000"/>
                </a:solidFill>
                <a:latin typeface="Times New Roman" pitchFamily="18" charset="0"/>
                <a:ea typeface="돋움" pitchFamily="50" charset="-127"/>
                <a:cs typeface="Times New Roman" pitchFamily="18" charset="0"/>
              </a:rPr>
              <a:t> .</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D. </a:t>
            </a:r>
            <a:r>
              <a:rPr lang="en-US" altLang="ko-KR" sz="950" dirty="0" err="1">
                <a:solidFill>
                  <a:srgbClr val="FF0000"/>
                </a:solidFill>
                <a:latin typeface="Times New Roman" pitchFamily="18" charset="0"/>
                <a:ea typeface="돋움" pitchFamily="50" charset="-127"/>
                <a:cs typeface="Times New Roman" pitchFamily="18" charset="0"/>
              </a:rPr>
              <a:t>Không</a:t>
            </a:r>
            <a:r>
              <a:rPr lang="en-US" altLang="ko-KR" sz="950" dirty="0">
                <a:solidFill>
                  <a:srgbClr val="FF0000"/>
                </a:solidFill>
                <a:latin typeface="Times New Roman" pitchFamily="18" charset="0"/>
                <a:ea typeface="돋움" pitchFamily="50" charset="-127"/>
                <a:cs typeface="Times New Roman" pitchFamily="18" charset="0"/>
              </a:rPr>
              <a:t> </a:t>
            </a:r>
            <a:r>
              <a:rPr lang="en-US" altLang="ko-KR" sz="950" dirty="0" err="1">
                <a:solidFill>
                  <a:srgbClr val="FF0000"/>
                </a:solidFill>
                <a:latin typeface="Times New Roman" pitchFamily="18" charset="0"/>
                <a:ea typeface="돋움" pitchFamily="50" charset="-127"/>
                <a:cs typeface="Times New Roman" pitchFamily="18" charset="0"/>
              </a:rPr>
              <a:t>thể</a:t>
            </a:r>
            <a:r>
              <a:rPr lang="en-US" altLang="ko-KR" sz="950" dirty="0">
                <a:solidFill>
                  <a:srgbClr val="FF0000"/>
                </a:solidFill>
                <a:latin typeface="Times New Roman" pitchFamily="18" charset="0"/>
                <a:ea typeface="돋움" pitchFamily="50" charset="-127"/>
                <a:cs typeface="Times New Roman" pitchFamily="18" charset="0"/>
              </a:rPr>
              <a:t> </a:t>
            </a:r>
            <a:r>
              <a:rPr lang="en-US" altLang="ko-KR" sz="950" dirty="0" err="1">
                <a:solidFill>
                  <a:srgbClr val="FF0000"/>
                </a:solidFill>
                <a:latin typeface="Times New Roman" pitchFamily="18" charset="0"/>
                <a:ea typeface="돋움" pitchFamily="50" charset="-127"/>
                <a:cs typeface="Times New Roman" pitchFamily="18" charset="0"/>
              </a:rPr>
              <a:t>sử</a:t>
            </a:r>
            <a:r>
              <a:rPr lang="en-US" altLang="ko-KR" sz="950" dirty="0">
                <a:solidFill>
                  <a:srgbClr val="FF0000"/>
                </a:solidFill>
                <a:latin typeface="Times New Roman" pitchFamily="18" charset="0"/>
                <a:ea typeface="돋움" pitchFamily="50" charset="-127"/>
                <a:cs typeface="Times New Roman" pitchFamily="18" charset="0"/>
              </a:rPr>
              <a:t> </a:t>
            </a:r>
            <a:r>
              <a:rPr lang="en-US" altLang="ko-KR" sz="950" dirty="0" err="1">
                <a:solidFill>
                  <a:srgbClr val="FF0000"/>
                </a:solidFill>
                <a:latin typeface="Times New Roman" pitchFamily="18" charset="0"/>
                <a:ea typeface="돋움" pitchFamily="50" charset="-127"/>
                <a:cs typeface="Times New Roman" pitchFamily="18" charset="0"/>
              </a:rPr>
              <a:t>dụng</a:t>
            </a:r>
            <a:r>
              <a:rPr lang="en-US" altLang="ko-KR" sz="950" dirty="0">
                <a:solidFill>
                  <a:srgbClr val="FF0000"/>
                </a:solidFill>
                <a:latin typeface="Times New Roman" pitchFamily="18" charset="0"/>
                <a:ea typeface="돋움" pitchFamily="50" charset="-127"/>
                <a:cs typeface="Times New Roman" pitchFamily="18" charset="0"/>
              </a:rPr>
              <a:t> </a:t>
            </a:r>
            <a:r>
              <a:rPr lang="en-US" altLang="ko-KR" sz="950" dirty="0" err="1">
                <a:solidFill>
                  <a:srgbClr val="FF0000"/>
                </a:solidFill>
                <a:latin typeface="Times New Roman" pitchFamily="18" charset="0"/>
                <a:ea typeface="돋움" pitchFamily="50" charset="-127"/>
                <a:cs typeface="Times New Roman" pitchFamily="18" charset="0"/>
              </a:rPr>
              <a:t>như</a:t>
            </a:r>
            <a:r>
              <a:rPr lang="en-US" altLang="ko-KR" sz="950" dirty="0">
                <a:solidFill>
                  <a:srgbClr val="FF0000"/>
                </a:solidFill>
                <a:latin typeface="Times New Roman" pitchFamily="18" charset="0"/>
                <a:ea typeface="돋움" pitchFamily="50" charset="-127"/>
                <a:cs typeface="Times New Roman" pitchFamily="18" charset="0"/>
              </a:rPr>
              <a:t> </a:t>
            </a:r>
            <a:r>
              <a:rPr lang="en-US" altLang="ko-KR" sz="950" dirty="0" err="1">
                <a:solidFill>
                  <a:srgbClr val="FF0000"/>
                </a:solidFill>
                <a:latin typeface="Times New Roman" pitchFamily="18" charset="0"/>
                <a:ea typeface="돋움" pitchFamily="50" charset="-127"/>
                <a:cs typeface="Times New Roman" pitchFamily="18" charset="0"/>
              </a:rPr>
              <a:t>một</a:t>
            </a:r>
            <a:r>
              <a:rPr lang="en-US" altLang="ko-KR" sz="950" dirty="0">
                <a:solidFill>
                  <a:srgbClr val="FF0000"/>
                </a:solidFill>
                <a:latin typeface="Times New Roman" pitchFamily="18" charset="0"/>
                <a:ea typeface="돋움" pitchFamily="50" charset="-127"/>
                <a:cs typeface="Times New Roman" pitchFamily="18" charset="0"/>
              </a:rPr>
              <a:t> </a:t>
            </a:r>
            <a:r>
              <a:rPr lang="en-US" altLang="ko-KR" sz="950" dirty="0" err="1">
                <a:solidFill>
                  <a:srgbClr val="FF0000"/>
                </a:solidFill>
                <a:latin typeface="Times New Roman" pitchFamily="18" charset="0"/>
                <a:ea typeface="돋움" pitchFamily="50" charset="-127"/>
                <a:cs typeface="Times New Roman" pitchFamily="18" charset="0"/>
              </a:rPr>
              <a:t>bộ</a:t>
            </a:r>
            <a:r>
              <a:rPr lang="en-US" altLang="ko-KR" sz="950" dirty="0">
                <a:solidFill>
                  <a:srgbClr val="FF0000"/>
                </a:solidFill>
                <a:latin typeface="Times New Roman" pitchFamily="18" charset="0"/>
                <a:ea typeface="돋움" pitchFamily="50" charset="-127"/>
                <a:cs typeface="Times New Roman" pitchFamily="18" charset="0"/>
              </a:rPr>
              <a:t> </a:t>
            </a:r>
            <a:r>
              <a:rPr lang="en-US" altLang="ko-KR" sz="950" dirty="0" err="1">
                <a:solidFill>
                  <a:srgbClr val="FF0000"/>
                </a:solidFill>
                <a:latin typeface="Times New Roman" pitchFamily="18" charset="0"/>
                <a:ea typeface="돋움" pitchFamily="50" charset="-127"/>
                <a:cs typeface="Times New Roman" pitchFamily="18" charset="0"/>
              </a:rPr>
              <a:t>nhớ</a:t>
            </a:r>
            <a:r>
              <a:rPr lang="en-US" altLang="ko-KR" sz="950" dirty="0">
                <a:solidFill>
                  <a:srgbClr val="FF0000"/>
                </a:solidFill>
                <a:latin typeface="Times New Roman" pitchFamily="18" charset="0"/>
                <a:ea typeface="돋움" pitchFamily="50" charset="-127"/>
                <a:cs typeface="Times New Roman" pitchFamily="18" charset="0"/>
              </a:rPr>
              <a:t> </a:t>
            </a:r>
            <a:r>
              <a:rPr lang="en-US" altLang="ko-KR" sz="950" dirty="0" err="1">
                <a:solidFill>
                  <a:srgbClr val="FF0000"/>
                </a:solidFill>
                <a:latin typeface="Times New Roman" pitchFamily="18" charset="0"/>
                <a:ea typeface="돋움" pitchFamily="50" charset="-127"/>
                <a:cs typeface="Times New Roman" pitchFamily="18" charset="0"/>
              </a:rPr>
              <a:t>bất</a:t>
            </a:r>
            <a:r>
              <a:rPr lang="en-US" altLang="ko-KR" sz="950" dirty="0">
                <a:solidFill>
                  <a:srgbClr val="FF0000"/>
                </a:solidFill>
                <a:latin typeface="Times New Roman" pitchFamily="18" charset="0"/>
                <a:ea typeface="돋움" pitchFamily="50" charset="-127"/>
                <a:cs typeface="Times New Roman" pitchFamily="18" charset="0"/>
              </a:rPr>
              <a:t> </a:t>
            </a:r>
            <a:r>
              <a:rPr lang="en-US" altLang="ko-KR" sz="950" dirty="0" err="1">
                <a:solidFill>
                  <a:srgbClr val="FF0000"/>
                </a:solidFill>
                <a:latin typeface="Times New Roman" pitchFamily="18" charset="0"/>
                <a:ea typeface="돋움" pitchFamily="50" charset="-127"/>
                <a:cs typeface="Times New Roman" pitchFamily="18" charset="0"/>
              </a:rPr>
              <a:t>biến</a:t>
            </a:r>
            <a:r>
              <a:rPr lang="en-US" altLang="ko-KR" sz="950" dirty="0">
                <a:solidFill>
                  <a:srgbClr val="FF0000"/>
                </a:solidFill>
                <a:latin typeface="Times New Roman" pitchFamily="18" charset="0"/>
                <a:ea typeface="돋움" pitchFamily="50" charset="-127"/>
                <a:cs typeface="Times New Roman" pitchFamily="18" charset="0"/>
              </a:rPr>
              <a:t> do Battery backup </a:t>
            </a:r>
            <a:r>
              <a:rPr lang="en-US" altLang="ko-KR" sz="950" dirty="0">
                <a:solidFill>
                  <a:srgbClr val="000000"/>
                </a:solidFill>
                <a:latin typeface="Times New Roman" pitchFamily="18" charset="0"/>
                <a:ea typeface="돋움" pitchFamily="50" charset="-127"/>
                <a:cs typeface="Times New Roman" pitchFamily="18" charset="0"/>
              </a:rPr>
              <a:t>	</a:t>
            </a:r>
            <a:endParaRPr lang="ko-KR" altLang="en-US" sz="950" dirty="0">
              <a:solidFill>
                <a:srgbClr val="000000"/>
              </a:solidFill>
              <a:latin typeface="Times New Roman" pitchFamily="18" charset="0"/>
              <a:ea typeface="돋움" pitchFamily="50" charset="-127"/>
              <a:cs typeface="Times New Roman" pitchFamily="18" charset="0"/>
            </a:endParaRPr>
          </a:p>
        </p:txBody>
      </p:sp>
      <p:sp>
        <p:nvSpPr>
          <p:cNvPr id="71" name="Rectangle 107"/>
          <p:cNvSpPr>
            <a:spLocks noChangeArrowheads="1"/>
          </p:cNvSpPr>
          <p:nvPr/>
        </p:nvSpPr>
        <p:spPr bwMode="auto">
          <a:xfrm>
            <a:off x="3441700" y="5673080"/>
            <a:ext cx="3227660" cy="67710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ea typeface="돋움" pitchFamily="50" charset="-127"/>
                <a:cs typeface="Times New Roman" pitchFamily="18" charset="0"/>
              </a:rPr>
              <a:t>39</a:t>
            </a:r>
            <a:r>
              <a:rPr lang="en-US" altLang="ko-KR" sz="950" dirty="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Trong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số</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những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giải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thích</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về</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các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thay</a:t>
            </a:r>
            <a:r>
              <a:rPr lang="en-US" altLang="ko-KR" sz="950" dirty="0" smtClean="0">
                <a:solidFill>
                  <a:srgbClr val="000000"/>
                </a:solidFill>
                <a:latin typeface="Times New Roman" pitchFamily="18" charset="0"/>
                <a:ea typeface="돋움" pitchFamily="50" charset="-127"/>
                <a:cs typeface="Times New Roman" pitchFamily="18" charset="0"/>
              </a:rPr>
              <a:t> Pin </a:t>
            </a:r>
            <a:r>
              <a:rPr lang="en-US" altLang="ko-KR" sz="950" dirty="0" err="1" smtClean="0">
                <a:solidFill>
                  <a:srgbClr val="000000"/>
                </a:solidFill>
                <a:latin typeface="Times New Roman" pitchFamily="18" charset="0"/>
                <a:ea typeface="돋움" pitchFamily="50" charset="-127"/>
                <a:cs typeface="Times New Roman" pitchFamily="18" charset="0"/>
              </a:rPr>
              <a:t>của</a:t>
            </a:r>
            <a:r>
              <a:rPr lang="en-US" altLang="ko-KR" sz="950" dirty="0" smtClean="0">
                <a:solidFill>
                  <a:srgbClr val="000000"/>
                </a:solidFill>
                <a:latin typeface="Times New Roman" pitchFamily="18" charset="0"/>
                <a:ea typeface="돋움" pitchFamily="50" charset="-127"/>
                <a:cs typeface="Times New Roman" pitchFamily="18" charset="0"/>
              </a:rPr>
              <a:t> CPU, </a:t>
            </a:r>
            <a:r>
              <a:rPr lang="en-US" altLang="ko-KR" sz="950" dirty="0" err="1" smtClean="0">
                <a:solidFill>
                  <a:srgbClr val="000000"/>
                </a:solidFill>
                <a:latin typeface="Times New Roman" pitchFamily="18" charset="0"/>
                <a:ea typeface="돋움" pitchFamily="50" charset="-127"/>
                <a:cs typeface="Times New Roman" pitchFamily="18" charset="0"/>
              </a:rPr>
              <a:t>thời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gian</a:t>
            </a:r>
            <a:r>
              <a:rPr lang="en-US" altLang="ko-KR" sz="950" dirty="0" smtClean="0">
                <a:solidFill>
                  <a:srgbClr val="000000"/>
                </a:solidFill>
                <a:latin typeface="Times New Roman" pitchFamily="18" charset="0"/>
                <a:ea typeface="돋움" pitchFamily="50" charset="-127"/>
                <a:cs typeface="Times New Roman" pitchFamily="18" charset="0"/>
              </a:rPr>
              <a:t> Backup </a:t>
            </a:r>
            <a:r>
              <a:rPr lang="en-US" altLang="ko-KR" sz="950" dirty="0" err="1" smtClean="0">
                <a:solidFill>
                  <a:srgbClr val="000000"/>
                </a:solidFill>
                <a:latin typeface="Times New Roman" pitchFamily="18" charset="0"/>
                <a:ea typeface="돋움" pitchFamily="50" charset="-127"/>
                <a:cs typeface="Times New Roman" pitchFamily="18" charset="0"/>
              </a:rPr>
              <a:t>nhờ</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tụ</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điện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sau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bỏ</a:t>
            </a:r>
            <a:r>
              <a:rPr lang="en-US" altLang="ko-KR" sz="950" dirty="0" smtClean="0">
                <a:solidFill>
                  <a:srgbClr val="000000"/>
                </a:solidFill>
                <a:latin typeface="Times New Roman" pitchFamily="18" charset="0"/>
                <a:ea typeface="돋움" pitchFamily="50" charset="-127"/>
                <a:cs typeface="Times New Roman" pitchFamily="18" charset="0"/>
              </a:rPr>
              <a:t> pin </a:t>
            </a:r>
            <a:r>
              <a:rPr lang="en-US" altLang="ko-KR" sz="950" err="1" smtClean="0">
                <a:solidFill>
                  <a:srgbClr val="000000"/>
                </a:solidFill>
                <a:latin typeface="Times New Roman" pitchFamily="18" charset="0"/>
                <a:ea typeface="돋움" pitchFamily="50" charset="-127"/>
                <a:cs typeface="Times New Roman" pitchFamily="18" charset="0"/>
              </a:rPr>
              <a:t>đi</a:t>
            </a:r>
            <a:r>
              <a:rPr lang="en-US" altLang="ko-KR" sz="950" smtClean="0">
                <a:solidFill>
                  <a:srgbClr val="000000"/>
                </a:solidFill>
                <a:latin typeface="Times New Roman" pitchFamily="18" charset="0"/>
                <a:ea typeface="돋움" pitchFamily="50" charset="-127"/>
                <a:cs typeface="Times New Roman" pitchFamily="18" charset="0"/>
              </a:rPr>
              <a:t> là bao nhiêu phút</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     </a:t>
            </a:r>
          </a:p>
          <a:p>
            <a:pPr eaLnBrk="1" hangingPunct="1"/>
            <a:r>
              <a:rPr lang="en-US" altLang="ko-KR" sz="950" smtClean="0">
                <a:solidFill>
                  <a:srgbClr val="FF0000"/>
                </a:solidFill>
                <a:latin typeface="Times New Roman" pitchFamily="18" charset="0"/>
                <a:ea typeface="돋움" pitchFamily="50" charset="-127"/>
                <a:cs typeface="Times New Roman" pitchFamily="18" charset="0"/>
              </a:rPr>
              <a:t>A . 3 </a:t>
            </a:r>
            <a:r>
              <a:rPr lang="en-US" altLang="ko-KR" sz="950" err="1" smtClean="0">
                <a:solidFill>
                  <a:srgbClr val="FF0000"/>
                </a:solidFill>
                <a:latin typeface="Times New Roman" pitchFamily="18" charset="0"/>
                <a:ea typeface="돋움" pitchFamily="50" charset="-127"/>
                <a:cs typeface="Times New Roman" pitchFamily="18" charset="0"/>
              </a:rPr>
              <a:t>phút</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B. 4</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err="1" smtClean="0">
                <a:solidFill>
                  <a:srgbClr val="000000"/>
                </a:solidFill>
                <a:latin typeface="Times New Roman" pitchFamily="18" charset="0"/>
                <a:ea typeface="돋움" pitchFamily="50" charset="-127"/>
                <a:cs typeface="Times New Roman" pitchFamily="18" charset="0"/>
              </a:rPr>
              <a:t>phút</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C. 5 </a:t>
            </a:r>
            <a:r>
              <a:rPr lang="en-US" altLang="ko-KR" sz="950" err="1" smtClean="0">
                <a:solidFill>
                  <a:srgbClr val="000000"/>
                </a:solidFill>
                <a:latin typeface="Times New Roman" pitchFamily="18" charset="0"/>
                <a:ea typeface="돋움" pitchFamily="50" charset="-127"/>
                <a:cs typeface="Times New Roman" pitchFamily="18" charset="0"/>
              </a:rPr>
              <a:t>phút</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D. 10</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phút</a:t>
            </a:r>
            <a:endParaRPr lang="en-US" altLang="ko-KR" sz="950" dirty="0">
              <a:solidFill>
                <a:srgbClr val="000000"/>
              </a:solidFill>
              <a:latin typeface="Times New Roman" pitchFamily="18" charset="0"/>
              <a:ea typeface="돋움" pitchFamily="50" charset="-127"/>
              <a:cs typeface="Times New Roman" pitchFamily="18" charset="0"/>
            </a:endParaRPr>
          </a:p>
        </p:txBody>
      </p:sp>
      <p:grpSp>
        <p:nvGrpSpPr>
          <p:cNvPr id="3" name="Group 2"/>
          <p:cNvGrpSpPr/>
          <p:nvPr/>
        </p:nvGrpSpPr>
        <p:grpSpPr>
          <a:xfrm>
            <a:off x="3441700" y="7041232"/>
            <a:ext cx="3429000" cy="2431435"/>
            <a:chOff x="3441700" y="6537176"/>
            <a:chExt cx="3429000" cy="2431435"/>
          </a:xfrm>
        </p:grpSpPr>
        <p:sp>
          <p:nvSpPr>
            <p:cNvPr id="72" name="Rectangle 104"/>
            <p:cNvSpPr>
              <a:spLocks noChangeArrowheads="1"/>
            </p:cNvSpPr>
            <p:nvPr/>
          </p:nvSpPr>
          <p:spPr bwMode="auto">
            <a:xfrm>
              <a:off x="3441700" y="6537176"/>
              <a:ext cx="3429000" cy="243143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solidFill>
                    <a:srgbClr val="000000"/>
                  </a:solidFill>
                  <a:latin typeface="Times New Roman" pitchFamily="18" charset="0"/>
                  <a:ea typeface="돋움" pitchFamily="50" charset="-127"/>
                  <a:cs typeface="Times New Roman" pitchFamily="18" charset="0"/>
                </a:rPr>
                <a:t>4</a:t>
              </a:r>
              <a:r>
                <a:rPr lang="en-US" altLang="ko-KR" sz="950" smtClean="0">
                  <a:solidFill>
                    <a:srgbClr val="000000"/>
                  </a:solidFill>
                  <a:latin typeface="Times New Roman" pitchFamily="18" charset="0"/>
                  <a:ea typeface="돋움" pitchFamily="50" charset="-127"/>
                  <a:cs typeface="Times New Roman" pitchFamily="18" charset="0"/>
                </a:rPr>
                <a:t>0. </a:t>
              </a:r>
              <a:r>
                <a:rPr lang="en-US" altLang="ko-KR" sz="950" dirty="0" err="1" smtClean="0">
                  <a:solidFill>
                    <a:srgbClr val="000000"/>
                  </a:solidFill>
                  <a:latin typeface="Times New Roman" pitchFamily="18" charset="0"/>
                  <a:ea typeface="돋움" pitchFamily="50" charset="-127"/>
                  <a:cs typeface="Times New Roman" pitchFamily="18" charset="0"/>
                </a:rPr>
                <a:t>Hình</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dưới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đây</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giải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thích</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về</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vấn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đề</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err="1" smtClean="0">
                  <a:solidFill>
                    <a:srgbClr val="000000"/>
                  </a:solidFill>
                  <a:latin typeface="Times New Roman" pitchFamily="18" charset="0"/>
                  <a:ea typeface="돋움" pitchFamily="50" charset="-127"/>
                  <a:cs typeface="Times New Roman" pitchFamily="18" charset="0"/>
                </a:rPr>
                <a:t>gì</a:t>
              </a:r>
              <a:r>
                <a:rPr lang="en-US" altLang="ko-KR" sz="950" smtClean="0">
                  <a:solidFill>
                    <a:srgbClr val="000000"/>
                  </a:solidFill>
                  <a:latin typeface="Times New Roman" pitchFamily="18" charset="0"/>
                  <a:ea typeface="돋움" pitchFamily="50" charset="-127"/>
                  <a:cs typeface="Times New Roman" pitchFamily="18" charset="0"/>
                </a:rPr>
                <a:t>?</a:t>
              </a:r>
            </a:p>
            <a:p>
              <a:pPr eaLnBrk="1" hangingPunct="1"/>
              <a:endParaRPr lang="en-US" altLang="ko-KR" sz="950" smtClean="0">
                <a:solidFill>
                  <a:srgbClr val="FF0000"/>
                </a:solidFill>
                <a:latin typeface="Times New Roman" pitchFamily="18" charset="0"/>
                <a:ea typeface="돋움" pitchFamily="50" charset="-127"/>
                <a:cs typeface="Times New Roman" pitchFamily="18" charset="0"/>
              </a:endParaRPr>
            </a:p>
            <a:p>
              <a:pPr eaLnBrk="1" hangingPunct="1"/>
              <a:endParaRPr lang="en-US" altLang="ko-KR" sz="950" smtClean="0">
                <a:solidFill>
                  <a:srgbClr val="FF0000"/>
                </a:solidFill>
                <a:latin typeface="Times New Roman" pitchFamily="18" charset="0"/>
                <a:ea typeface="돋움" pitchFamily="50" charset="-127"/>
                <a:cs typeface="Times New Roman" pitchFamily="18" charset="0"/>
              </a:endParaRPr>
            </a:p>
            <a:p>
              <a:pPr eaLnBrk="1" hangingPunct="1"/>
              <a:endParaRPr lang="en-US" altLang="ko-KR" sz="950">
                <a:solidFill>
                  <a:srgbClr val="FF0000"/>
                </a:solidFill>
                <a:latin typeface="Times New Roman" pitchFamily="18" charset="0"/>
                <a:ea typeface="돋움" pitchFamily="50" charset="-127"/>
                <a:cs typeface="Times New Roman" pitchFamily="18" charset="0"/>
              </a:endParaRPr>
            </a:p>
            <a:p>
              <a:pPr eaLnBrk="1" hangingPunct="1"/>
              <a:endParaRPr lang="en-US" altLang="ko-KR" sz="950">
                <a:solidFill>
                  <a:srgbClr val="FF0000"/>
                </a:solidFill>
                <a:latin typeface="Times New Roman" pitchFamily="18" charset="0"/>
                <a:ea typeface="돋움" pitchFamily="50" charset="-127"/>
                <a:cs typeface="Times New Roman" pitchFamily="18" charset="0"/>
              </a:endParaRPr>
            </a:p>
            <a:p>
              <a:pPr eaLnBrk="1" hangingPunct="1"/>
              <a:endParaRPr lang="en-US" altLang="ko-KR" sz="950" smtClean="0">
                <a:solidFill>
                  <a:srgbClr val="FF0000"/>
                </a:solidFill>
                <a:latin typeface="Times New Roman" pitchFamily="18" charset="0"/>
                <a:ea typeface="돋움" pitchFamily="50" charset="-127"/>
                <a:cs typeface="Times New Roman" pitchFamily="18" charset="0"/>
              </a:endParaRPr>
            </a:p>
            <a:p>
              <a:pPr eaLnBrk="1" hangingPunct="1"/>
              <a:endParaRPr lang="en-US" altLang="ko-KR" sz="950" smtClean="0">
                <a:solidFill>
                  <a:srgbClr val="FF0000"/>
                </a:solidFill>
                <a:latin typeface="Times New Roman" pitchFamily="18" charset="0"/>
                <a:ea typeface="돋움" pitchFamily="50" charset="-127"/>
                <a:cs typeface="Times New Roman" pitchFamily="18" charset="0"/>
              </a:endParaRPr>
            </a:p>
            <a:p>
              <a:pPr eaLnBrk="1" hangingPunct="1"/>
              <a:endParaRPr lang="en-US" altLang="ko-KR" sz="950">
                <a:solidFill>
                  <a:srgbClr val="FF0000"/>
                </a:solidFill>
                <a:latin typeface="Times New Roman" pitchFamily="18" charset="0"/>
                <a:ea typeface="돋움" pitchFamily="50" charset="-127"/>
                <a:cs typeface="Times New Roman" pitchFamily="18" charset="0"/>
              </a:endParaRPr>
            </a:p>
            <a:p>
              <a:pPr eaLnBrk="1" hangingPunct="1"/>
              <a:endParaRPr lang="en-US" altLang="ko-KR" sz="950" smtClean="0">
                <a:solidFill>
                  <a:srgbClr val="FF0000"/>
                </a:solidFill>
                <a:latin typeface="Times New Roman" pitchFamily="18" charset="0"/>
                <a:ea typeface="돋움" pitchFamily="50" charset="-127"/>
                <a:cs typeface="Times New Roman" pitchFamily="18" charset="0"/>
              </a:endParaRPr>
            </a:p>
            <a:p>
              <a:pPr eaLnBrk="1" hangingPunct="1"/>
              <a:endParaRPr lang="en-US" altLang="ko-KR" sz="950">
                <a:solidFill>
                  <a:srgbClr val="FF0000"/>
                </a:solidFill>
                <a:latin typeface="Times New Roman" pitchFamily="18" charset="0"/>
                <a:ea typeface="돋움" pitchFamily="50" charset="-127"/>
                <a:cs typeface="Times New Roman" pitchFamily="18" charset="0"/>
              </a:endParaRPr>
            </a:p>
            <a:p>
              <a:pPr eaLnBrk="1" hangingPunct="1"/>
              <a:endParaRPr lang="en-US" altLang="ko-KR" sz="950" smtClean="0">
                <a:solidFill>
                  <a:srgbClr val="FF0000"/>
                </a:solidFill>
                <a:latin typeface="Times New Roman" pitchFamily="18" charset="0"/>
                <a:ea typeface="돋움" pitchFamily="50" charset="-127"/>
                <a:cs typeface="Times New Roman" pitchFamily="18" charset="0"/>
              </a:endParaRPr>
            </a:p>
            <a:p>
              <a:pPr eaLnBrk="1" hangingPunct="1"/>
              <a:endParaRPr lang="en-US" altLang="ko-KR" sz="950" smtClean="0">
                <a:solidFill>
                  <a:srgbClr val="FF0000"/>
                </a:solidFill>
                <a:latin typeface="Times New Roman" pitchFamily="18" charset="0"/>
                <a:ea typeface="돋움" pitchFamily="50" charset="-127"/>
                <a:cs typeface="Times New Roman" pitchFamily="18" charset="0"/>
              </a:endParaRPr>
            </a:p>
            <a:p>
              <a:pPr marL="228600" indent="-228600" eaLnBrk="1" hangingPunct="1">
                <a:buAutoNum type="alphaUcPeriod"/>
              </a:pPr>
              <a:r>
                <a:rPr lang="en-US" altLang="ko-KR" sz="950" smtClean="0">
                  <a:solidFill>
                    <a:srgbClr val="FF0000"/>
                  </a:solidFill>
                  <a:latin typeface="Times New Roman" pitchFamily="18" charset="0"/>
                  <a:ea typeface="돋움" pitchFamily="50" charset="-127"/>
                  <a:cs typeface="Times New Roman" pitchFamily="18" charset="0"/>
                </a:rPr>
                <a:t>Input </a:t>
              </a:r>
              <a:r>
                <a:rPr lang="en-US" altLang="ko-KR" sz="950">
                  <a:solidFill>
                    <a:srgbClr val="FF0000"/>
                  </a:solidFill>
                  <a:latin typeface="Times New Roman" pitchFamily="18" charset="0"/>
                  <a:ea typeface="돋움" pitchFamily="50" charset="-127"/>
                  <a:cs typeface="Times New Roman" pitchFamily="18" charset="0"/>
                </a:rPr>
                <a:t>Unit  </a:t>
              </a:r>
              <a:endParaRPr lang="en-US" altLang="ko-KR" sz="950" smtClean="0">
                <a:solidFill>
                  <a:srgbClr val="FF0000"/>
                </a:solidFill>
                <a:latin typeface="Times New Roman" pitchFamily="18" charset="0"/>
                <a:ea typeface="돋움" pitchFamily="50" charset="-127"/>
                <a:cs typeface="Times New Roman" pitchFamily="18" charset="0"/>
              </a:endParaRPr>
            </a:p>
            <a:p>
              <a:pPr marL="228600" indent="-228600" eaLnBrk="1" hangingPunct="1">
                <a:buAutoNum type="alphaUcPeriod"/>
              </a:pPr>
              <a:r>
                <a:rPr lang="en-US" altLang="ko-KR" sz="950" smtClean="0">
                  <a:solidFill>
                    <a:srgbClr val="000000"/>
                  </a:solidFill>
                  <a:latin typeface="Times New Roman" pitchFamily="18" charset="0"/>
                  <a:ea typeface="돋움" pitchFamily="50" charset="-127"/>
                  <a:cs typeface="Times New Roman" pitchFamily="18" charset="0"/>
                </a:rPr>
                <a:t>Output </a:t>
              </a:r>
              <a:r>
                <a:rPr lang="en-US" altLang="ko-KR" sz="950">
                  <a:solidFill>
                    <a:srgbClr val="000000"/>
                  </a:solidFill>
                  <a:latin typeface="Times New Roman" pitchFamily="18" charset="0"/>
                  <a:ea typeface="돋움" pitchFamily="50" charset="-127"/>
                  <a:cs typeface="Times New Roman" pitchFamily="18" charset="0"/>
                </a:rPr>
                <a:t>Unit  </a:t>
              </a:r>
              <a:endParaRPr lang="en-US" altLang="ko-KR" sz="950" smtClean="0">
                <a:solidFill>
                  <a:srgbClr val="000000"/>
                </a:solidFill>
                <a:latin typeface="Times New Roman" pitchFamily="18" charset="0"/>
                <a:ea typeface="돋움" pitchFamily="50" charset="-127"/>
                <a:cs typeface="Times New Roman" pitchFamily="18" charset="0"/>
              </a:endParaRPr>
            </a:p>
            <a:p>
              <a:pPr marL="228600" indent="-228600" eaLnBrk="1" hangingPunct="1">
                <a:buAutoNum type="alphaUcPeriod"/>
              </a:pPr>
              <a:r>
                <a:rPr lang="en-US" altLang="ko-KR" sz="950" smtClean="0">
                  <a:solidFill>
                    <a:srgbClr val="000000"/>
                  </a:solidFill>
                  <a:latin typeface="Times New Roman" pitchFamily="18" charset="0"/>
                  <a:ea typeface="돋움" pitchFamily="50" charset="-127"/>
                  <a:cs typeface="Times New Roman" pitchFamily="18" charset="0"/>
                </a:rPr>
                <a:t>Unit </a:t>
              </a:r>
              <a:r>
                <a:rPr lang="en-US" altLang="ko-KR" sz="950">
                  <a:solidFill>
                    <a:srgbClr val="000000"/>
                  </a:solidFill>
                  <a:latin typeface="Times New Roman" pitchFamily="18" charset="0"/>
                  <a:ea typeface="돋움" pitchFamily="50" charset="-127"/>
                  <a:cs typeface="Times New Roman" pitchFamily="18" charset="0"/>
                </a:rPr>
                <a:t>đặc thù   </a:t>
              </a:r>
              <a:endParaRPr lang="en-US" altLang="ko-KR" sz="950" smtClean="0">
                <a:solidFill>
                  <a:srgbClr val="000000"/>
                </a:solidFill>
                <a:latin typeface="Times New Roman" pitchFamily="18" charset="0"/>
                <a:ea typeface="돋움" pitchFamily="50" charset="-127"/>
                <a:cs typeface="Times New Roman" pitchFamily="18" charset="0"/>
              </a:endParaRPr>
            </a:p>
            <a:p>
              <a:pPr marL="228600" indent="-228600" eaLnBrk="1" hangingPunct="1">
                <a:buAutoNum type="alphaUcPeriod"/>
              </a:pPr>
              <a:r>
                <a:rPr lang="en-US" altLang="ko-KR" sz="950" smtClean="0">
                  <a:solidFill>
                    <a:srgbClr val="000000"/>
                  </a:solidFill>
                  <a:latin typeface="Times New Roman" pitchFamily="18" charset="0"/>
                  <a:ea typeface="돋움" pitchFamily="50" charset="-127"/>
                  <a:cs typeface="Times New Roman" pitchFamily="18" charset="0"/>
                </a:rPr>
                <a:t>Card </a:t>
              </a:r>
              <a:r>
                <a:rPr lang="en-US" altLang="ko-KR" sz="950">
                  <a:solidFill>
                    <a:srgbClr val="000000"/>
                  </a:solidFill>
                  <a:latin typeface="Times New Roman" pitchFamily="18" charset="0"/>
                  <a:ea typeface="돋움" pitchFamily="50" charset="-127"/>
                  <a:cs typeface="Times New Roman" pitchFamily="18" charset="0"/>
                </a:rPr>
                <a:t>đặc </a:t>
              </a:r>
              <a:r>
                <a:rPr lang="en-US" altLang="ko-KR" sz="950" smtClean="0">
                  <a:solidFill>
                    <a:srgbClr val="000000"/>
                  </a:solidFill>
                  <a:latin typeface="Times New Roman" pitchFamily="18" charset="0"/>
                  <a:ea typeface="돋움" pitchFamily="50" charset="-127"/>
                  <a:cs typeface="Times New Roman" pitchFamily="18" charset="0"/>
                </a:rPr>
                <a:t>thù</a:t>
              </a:r>
              <a:endParaRPr lang="ko-KR" altLang="en-US" sz="950">
                <a:solidFill>
                  <a:srgbClr val="000000"/>
                </a:solidFill>
                <a:latin typeface="Times New Roman" pitchFamily="18" charset="0"/>
                <a:ea typeface="돋움" pitchFamily="50" charset="-127"/>
                <a:cs typeface="Times New Roman" pitchFamily="18" charset="0"/>
              </a:endParaRPr>
            </a:p>
          </p:txBody>
        </p:sp>
        <p:grpSp>
          <p:nvGrpSpPr>
            <p:cNvPr id="2" name="Group 1"/>
            <p:cNvGrpSpPr/>
            <p:nvPr/>
          </p:nvGrpSpPr>
          <p:grpSpPr>
            <a:xfrm>
              <a:off x="3441700" y="6897216"/>
              <a:ext cx="2867620" cy="1296075"/>
              <a:chOff x="6955795" y="1691600"/>
              <a:chExt cx="2867620" cy="1296075"/>
            </a:xfrm>
          </p:grpSpPr>
          <p:pic>
            <p:nvPicPr>
              <p:cNvPr id="74" name="Picture 317" descr="clip_image003"/>
              <p:cNvPicPr>
                <a:picLocks noChangeAspect="1" noChangeArrowheads="1"/>
              </p:cNvPicPr>
              <p:nvPr/>
            </p:nvPicPr>
            <p:blipFill>
              <a:blip r:embed="rId4">
                <a:extLst>
                  <a:ext uri="{28A0092B-C50C-407E-A947-70E740481C1C}">
                    <a14:useLocalDpi xmlns:a14="http://schemas.microsoft.com/office/drawing/2010/main" val="0"/>
                  </a:ext>
                </a:extLst>
              </a:blip>
              <a:srcRect b="13994"/>
              <a:stretch>
                <a:fillRect/>
              </a:stretch>
            </p:blipFill>
            <p:spPr bwMode="auto">
              <a:xfrm>
                <a:off x="7263159" y="1692275"/>
                <a:ext cx="2411413" cy="129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 name="Rectangle 74"/>
              <p:cNvSpPr/>
              <p:nvPr/>
            </p:nvSpPr>
            <p:spPr>
              <a:xfrm>
                <a:off x="6955795" y="1979640"/>
                <a:ext cx="420077" cy="576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err="1" smtClean="0">
                    <a:solidFill>
                      <a:schemeClr val="tx1"/>
                    </a:solidFill>
                    <a:latin typeface="Times New Roman" pitchFamily="18" charset="0"/>
                    <a:cs typeface="Times New Roman" pitchFamily="18" charset="0"/>
                  </a:rPr>
                  <a:t>Nguồn</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bên</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ngoài</a:t>
                </a:r>
                <a:endParaRPr lang="en-US" sz="600" dirty="0">
                  <a:solidFill>
                    <a:schemeClr val="tx1"/>
                  </a:solidFill>
                  <a:latin typeface="Times New Roman" pitchFamily="18" charset="0"/>
                  <a:cs typeface="Times New Roman" pitchFamily="18" charset="0"/>
                </a:endParaRPr>
              </a:p>
            </p:txBody>
          </p:sp>
          <p:sp>
            <p:nvSpPr>
              <p:cNvPr id="76" name="Rectangle 75"/>
              <p:cNvSpPr/>
              <p:nvPr/>
            </p:nvSpPr>
            <p:spPr>
              <a:xfrm>
                <a:off x="7354219" y="1764285"/>
                <a:ext cx="448065" cy="143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err="1" smtClean="0">
                    <a:solidFill>
                      <a:schemeClr val="tx1"/>
                    </a:solidFill>
                    <a:latin typeface="Times New Roman" pitchFamily="18" charset="0"/>
                    <a:cs typeface="Times New Roman" pitchFamily="18" charset="0"/>
                  </a:rPr>
                  <a:t>Tiếp</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điểm</a:t>
                </a:r>
                <a:endParaRPr lang="en-US" sz="600" dirty="0">
                  <a:solidFill>
                    <a:schemeClr val="tx1"/>
                  </a:solidFill>
                  <a:latin typeface="Times New Roman" pitchFamily="18" charset="0"/>
                  <a:cs typeface="Times New Roman" pitchFamily="18" charset="0"/>
                </a:endParaRPr>
              </a:p>
            </p:txBody>
          </p:sp>
          <p:sp>
            <p:nvSpPr>
              <p:cNvPr id="77" name="Rectangle 76"/>
              <p:cNvSpPr/>
              <p:nvPr/>
            </p:nvSpPr>
            <p:spPr>
              <a:xfrm>
                <a:off x="7874294" y="1691600"/>
                <a:ext cx="448065" cy="143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smtClean="0">
                    <a:solidFill>
                      <a:schemeClr val="tx1"/>
                    </a:solidFill>
                    <a:latin typeface="Times New Roman" pitchFamily="18" charset="0"/>
                    <a:cs typeface="Times New Roman" pitchFamily="18" charset="0"/>
                  </a:rPr>
                  <a:t>LED </a:t>
                </a:r>
                <a:r>
                  <a:rPr lang="en-US" sz="600" dirty="0" err="1" smtClean="0">
                    <a:solidFill>
                      <a:schemeClr val="tx1"/>
                    </a:solidFill>
                    <a:latin typeface="Times New Roman" pitchFamily="18" charset="0"/>
                    <a:cs typeface="Times New Roman" pitchFamily="18" charset="0"/>
                  </a:rPr>
                  <a:t>hiển</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thị</a:t>
                </a:r>
                <a:endParaRPr lang="en-US" sz="600" dirty="0">
                  <a:solidFill>
                    <a:schemeClr val="tx1"/>
                  </a:solidFill>
                  <a:latin typeface="Times New Roman" pitchFamily="18" charset="0"/>
                  <a:cs typeface="Times New Roman" pitchFamily="18" charset="0"/>
                </a:endParaRPr>
              </a:p>
            </p:txBody>
          </p:sp>
          <p:sp>
            <p:nvSpPr>
              <p:cNvPr id="78" name="Rectangle 77"/>
              <p:cNvSpPr/>
              <p:nvPr/>
            </p:nvSpPr>
            <p:spPr>
              <a:xfrm>
                <a:off x="8954444" y="1691600"/>
                <a:ext cx="720128" cy="1433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smtClean="0">
                    <a:solidFill>
                      <a:schemeClr val="tx1"/>
                    </a:solidFill>
                    <a:latin typeface="Times New Roman" pitchFamily="18" charset="0"/>
                    <a:cs typeface="Times New Roman" pitchFamily="18" charset="0"/>
                  </a:rPr>
                  <a:t>CPU </a:t>
                </a:r>
                <a:endParaRPr lang="en-US" sz="600" dirty="0">
                  <a:solidFill>
                    <a:schemeClr val="tx1"/>
                  </a:solidFill>
                  <a:latin typeface="Times New Roman" pitchFamily="18" charset="0"/>
                  <a:cs typeface="Times New Roman" pitchFamily="18" charset="0"/>
                </a:endParaRPr>
              </a:p>
            </p:txBody>
          </p:sp>
          <p:sp>
            <p:nvSpPr>
              <p:cNvPr id="79" name="Rectangle 78"/>
              <p:cNvSpPr/>
              <p:nvPr/>
            </p:nvSpPr>
            <p:spPr>
              <a:xfrm>
                <a:off x="7175530" y="2676880"/>
                <a:ext cx="616470" cy="2160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err="1" smtClean="0">
                    <a:solidFill>
                      <a:schemeClr val="tx1"/>
                    </a:solidFill>
                    <a:latin typeface="Times New Roman" pitchFamily="18" charset="0"/>
                    <a:cs typeface="Times New Roman" pitchFamily="18" charset="0"/>
                  </a:rPr>
                  <a:t>Thiết</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bị</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bên</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ngoài</a:t>
                </a:r>
                <a:endParaRPr lang="en-US" sz="600" dirty="0">
                  <a:solidFill>
                    <a:schemeClr val="tx1"/>
                  </a:solidFill>
                  <a:latin typeface="Times New Roman" pitchFamily="18" charset="0"/>
                  <a:cs typeface="Times New Roman" pitchFamily="18" charset="0"/>
                </a:endParaRPr>
              </a:p>
            </p:txBody>
          </p:sp>
          <p:sp>
            <p:nvSpPr>
              <p:cNvPr id="80" name="Rectangle 79"/>
              <p:cNvSpPr/>
              <p:nvPr/>
            </p:nvSpPr>
            <p:spPr>
              <a:xfrm>
                <a:off x="9170475" y="2661640"/>
                <a:ext cx="652940" cy="2160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err="1" smtClean="0">
                    <a:solidFill>
                      <a:schemeClr val="tx1"/>
                    </a:solidFill>
                    <a:latin typeface="Times New Roman" pitchFamily="18" charset="0"/>
                    <a:cs typeface="Times New Roman" pitchFamily="18" charset="0"/>
                  </a:rPr>
                  <a:t>Thiết</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bị</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bên</a:t>
                </a:r>
                <a:r>
                  <a:rPr lang="en-US" sz="600" dirty="0" smtClean="0">
                    <a:solidFill>
                      <a:schemeClr val="tx1"/>
                    </a:solidFill>
                    <a:latin typeface="Times New Roman" pitchFamily="18" charset="0"/>
                    <a:cs typeface="Times New Roman" pitchFamily="18" charset="0"/>
                  </a:rPr>
                  <a:t> </a:t>
                </a:r>
                <a:r>
                  <a:rPr lang="en-US" sz="600" dirty="0" err="1" smtClean="0">
                    <a:solidFill>
                      <a:schemeClr val="tx1"/>
                    </a:solidFill>
                    <a:latin typeface="Times New Roman" pitchFamily="18" charset="0"/>
                    <a:cs typeface="Times New Roman" pitchFamily="18" charset="0"/>
                  </a:rPr>
                  <a:t>trong</a:t>
                </a:r>
                <a:endParaRPr lang="en-US" sz="600" dirty="0">
                  <a:solidFill>
                    <a:schemeClr val="tx1"/>
                  </a:solidFill>
                  <a:latin typeface="Times New Roman" pitchFamily="18" charset="0"/>
                  <a:cs typeface="Times New Roman" pitchFamily="18" charset="0"/>
                </a:endParaRPr>
              </a:p>
            </p:txBody>
          </p:sp>
          <p:sp>
            <p:nvSpPr>
              <p:cNvPr id="82" name="Rectangle 81"/>
              <p:cNvSpPr/>
              <p:nvPr/>
            </p:nvSpPr>
            <p:spPr>
              <a:xfrm>
                <a:off x="8954444" y="2123660"/>
                <a:ext cx="541378" cy="2160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err="1" smtClean="0">
                    <a:solidFill>
                      <a:schemeClr val="tx1"/>
                    </a:solidFill>
                    <a:latin typeface="Times New Roman" pitchFamily="18" charset="0"/>
                    <a:cs typeface="Times New Roman" pitchFamily="18" charset="0"/>
                  </a:rPr>
                  <a:t>Photocoupler</a:t>
                </a:r>
                <a:endParaRPr lang="en-US" sz="600" dirty="0">
                  <a:solidFill>
                    <a:schemeClr val="tx1"/>
                  </a:solidFill>
                  <a:latin typeface="Times New Roman" pitchFamily="18" charset="0"/>
                  <a:cs typeface="Times New Roman" pitchFamily="18" charset="0"/>
                </a:endParaRPr>
              </a:p>
            </p:txBody>
          </p:sp>
          <p:sp>
            <p:nvSpPr>
              <p:cNvPr id="83" name="Rectangle 82"/>
              <p:cNvSpPr/>
              <p:nvPr/>
            </p:nvSpPr>
            <p:spPr>
              <a:xfrm>
                <a:off x="8291113" y="2665804"/>
                <a:ext cx="580957" cy="21662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600" dirty="0" smtClean="0">
                    <a:solidFill>
                      <a:schemeClr val="tx1"/>
                    </a:solidFill>
                    <a:latin typeface="Times New Roman" pitchFamily="18" charset="0"/>
                    <a:cs typeface="Times New Roman" pitchFamily="18" charset="0"/>
                  </a:rPr>
                  <a:t>Unit Input</a:t>
                </a:r>
                <a:endParaRPr lang="en-US" sz="600" dirty="0">
                  <a:solidFill>
                    <a:schemeClr val="tx1"/>
                  </a:solidFill>
                  <a:latin typeface="Times New Roman" pitchFamily="18" charset="0"/>
                  <a:cs typeface="Times New Roman" pitchFamily="18" charset="0"/>
                </a:endParaRPr>
              </a:p>
            </p:txBody>
          </p:sp>
        </p:grpSp>
      </p:grpSp>
    </p:spTree>
    <p:extLst>
      <p:ext uri="{BB962C8B-B14F-4D97-AF65-F5344CB8AC3E}">
        <p14:creationId xmlns:p14="http://schemas.microsoft.com/office/powerpoint/2010/main" val="171052317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dirty="0">
                <a:latin typeface="Times New Roman" pitchFamily="18" charset="0"/>
                <a:cs typeface="Times New Roman" pitchFamily="18" charset="0"/>
              </a:rPr>
              <a:t>Khí nén</a:t>
            </a:r>
            <a:r>
              <a:rPr lang="en-US" altLang="ko-KR" dirty="0">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solidFill>
                <a:srgbClr val="000000"/>
              </a:solidFill>
              <a:latin typeface="Times New Roman" pitchFamily="18" charset="0"/>
              <a:cs typeface="Times New Roman" pitchFamily="18" charset="0"/>
            </a:endParaRPr>
          </a:p>
          <a:p>
            <a:pPr eaLnBrk="1" fontAlgn="base" hangingPunct="1">
              <a:spcBef>
                <a:spcPct val="0"/>
              </a:spcBef>
              <a:spcAft>
                <a:spcPct val="0"/>
              </a:spcAft>
            </a:pPr>
            <a:endParaRPr lang="en-US" altLang="ko-KR" sz="950" smtClean="0">
              <a:solidFill>
                <a:srgbClr val="000000"/>
              </a:solidFill>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sp>
        <p:nvSpPr>
          <p:cNvPr id="25" name="Rectangle 7"/>
          <p:cNvSpPr>
            <a:spLocks noChangeArrowheads="1"/>
          </p:cNvSpPr>
          <p:nvPr/>
        </p:nvSpPr>
        <p:spPr bwMode="auto">
          <a:xfrm>
            <a:off x="206479" y="113657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a:t>
            </a:r>
            <a:r>
              <a:rPr lang="vi-VN" altLang="ko-KR" sz="950">
                <a:latin typeface="Times New Roman" pitchFamily="18" charset="0"/>
                <a:ea typeface="LG Smart_H Regular" panose="020B0600000101010101" pitchFamily="34" charset="-127"/>
                <a:cs typeface="Times New Roman" pitchFamily="18" charset="0"/>
              </a:rPr>
              <a:t>Đâu không phải là ưu điểm của công nghệ khí nén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Có </a:t>
            </a:r>
            <a:r>
              <a:rPr lang="vi-VN" altLang="ko-KR" sz="950">
                <a:solidFill>
                  <a:srgbClr val="FF0000"/>
                </a:solidFill>
                <a:latin typeface="Times New Roman" pitchFamily="18" charset="0"/>
                <a:ea typeface="LG Smart_H Regular" panose="020B0600000101010101" pitchFamily="34" charset="-127"/>
                <a:cs typeface="Times New Roman" pitchFamily="18" charset="0"/>
              </a:rPr>
              <a:t>thể nhận được lực lớn nhờ van tăng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áp</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Điều khiển đơn </a:t>
            </a:r>
            <a:r>
              <a:rPr lang="vi-VN" altLang="ko-KR" sz="950" smtClean="0">
                <a:latin typeface="Times New Roman" pitchFamily="18" charset="0"/>
                <a:ea typeface="LG Smart_H Regular" panose="020B0600000101010101" pitchFamily="34" charset="-127"/>
                <a:cs typeface="Times New Roman" pitchFamily="18" charset="0"/>
              </a:rPr>
              <a:t>giản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Truyền lực đơn </a:t>
            </a:r>
            <a:r>
              <a:rPr lang="vi-VN" altLang="ko-KR" sz="950" smtClean="0">
                <a:latin typeface="Times New Roman" pitchFamily="18" charset="0"/>
                <a:ea typeface="LG Smart_H Regular" panose="020B0600000101010101" pitchFamily="34" charset="-127"/>
                <a:cs typeface="Times New Roman" pitchFamily="18" charset="0"/>
              </a:rPr>
              <a:t>giản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Tích lũy dễ dàng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9" name="Rectangle 7"/>
          <p:cNvSpPr>
            <a:spLocks noChangeArrowheads="1"/>
          </p:cNvSpPr>
          <p:nvPr/>
        </p:nvSpPr>
        <p:spPr bwMode="auto">
          <a:xfrm>
            <a:off x="240892" y="2144688"/>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42. Đâu không phải là đặc điểm của ống dẫn khí nén ?</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Tiêu hao năng lượng truyền và can thiệp giữa các máy nhỏ nên có thể  dẫn khí nén đến từng góc của nhà máy..</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Ống dẫn khí nén dễ bị rỉ sét do hơi nước của bình ngưng tụ và oxy có trong không khí. </a:t>
            </a: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Mạch </a:t>
            </a:r>
            <a:r>
              <a:rPr lang="vi-VN" altLang="ko-KR" sz="950">
                <a:solidFill>
                  <a:srgbClr val="FF0000"/>
                </a:solidFill>
                <a:latin typeface="Times New Roman" pitchFamily="18" charset="0"/>
                <a:ea typeface="LG Smart_H Regular" panose="020B0600000101010101" pitchFamily="34" charset="-127"/>
                <a:cs typeface="Times New Roman" pitchFamily="18" charset="0"/>
              </a:rPr>
              <a:t>khí nén là hệ thống kín, tuần hoàn năng lượng.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Không khí bên trong đường ống khí nén có được nén hay không, thì nhiệt độ vẫn giảm, phát sinh lượng lớn ở bình ngưng tụ. </a:t>
            </a:r>
          </a:p>
        </p:txBody>
      </p:sp>
      <p:sp>
        <p:nvSpPr>
          <p:cNvPr id="30" name="Rectangle 7"/>
          <p:cNvSpPr>
            <a:spLocks noChangeArrowheads="1"/>
          </p:cNvSpPr>
          <p:nvPr/>
        </p:nvSpPr>
        <p:spPr bwMode="auto">
          <a:xfrm>
            <a:off x="232664" y="5889104"/>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Đâu không phải là ưu điểm của ống </a:t>
            </a:r>
            <a:r>
              <a:rPr lang="vi-VN" altLang="ko-KR" sz="950" smtClean="0">
                <a:latin typeface="Times New Roman" pitchFamily="18" charset="0"/>
                <a:ea typeface="LG Smart_H Regular" panose="020B0600000101010101" pitchFamily="34" charset="-127"/>
                <a:cs typeface="Times New Roman" pitchFamily="18" charset="0"/>
              </a:rPr>
              <a:t>Plastic?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Thao tác với ống dẫn đơn giản và nhanh chóng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Giá ống dẫn rẻ</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Vì dễ duy trì, bảo dưỡng ống seal nên rò rỉ khí ở  ống dẫn nhỏ, có khả năng tăng dung lượng nhiều hơn so với tỷ lệ đường kính ống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Vì ống nhựa có tính mềm dẻo, linh động nên dễ thao tác nhưng chú ý khi sử dụng ống dẫn của máy có bộ phận quay.</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73132" y="1136576"/>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Actuaator truyền động quay kiểu cánh gạt có cấu tạo giống động cơ khí nén nhưng bị giới hạn góc độ quay và quyết định lực sinh ra qua áp suất khí sử dụng và diện tích nhận áp suất nước của cánh gạt.Loại cánh gạt kép có góc quay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270~300 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90~120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độ</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Dưới 60 </a:t>
            </a:r>
            <a:r>
              <a:rPr lang="vi-VN" altLang="ko-KR" sz="950" smtClean="0">
                <a:latin typeface="Times New Roman" pitchFamily="18" charset="0"/>
                <a:ea typeface="LG Smart_H Regular" panose="020B0600000101010101" pitchFamily="34" charset="-127"/>
                <a:cs typeface="Times New Roman" pitchFamily="18" charset="0"/>
              </a:rPr>
              <a:t>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150~210 độ</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0" name="Rectangle 7"/>
          <p:cNvSpPr>
            <a:spLocks noChangeArrowheads="1"/>
          </p:cNvSpPr>
          <p:nvPr/>
        </p:nvSpPr>
        <p:spPr bwMode="auto">
          <a:xfrm>
            <a:off x="3468850" y="2864768"/>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a:latin typeface="Times New Roman" pitchFamily="18" charset="0"/>
                <a:ea typeface="LG Smart_H Regular" panose="020B0600000101010101" pitchFamily="34" charset="-127"/>
                <a:cs typeface="Times New Roman" pitchFamily="18" charset="0"/>
              </a:rPr>
              <a:t>Van gì có thể điều khiển thứ tự hoạt động trong mạch có từ 2 mạch trở </a:t>
            </a:r>
            <a:r>
              <a:rPr lang="vi-VN" altLang="ko-KR" sz="950" smtClean="0">
                <a:latin typeface="Times New Roman" pitchFamily="18" charset="0"/>
                <a:ea typeface="LG Smart_H Regular" panose="020B0600000101010101" pitchFamily="34" charset="-127"/>
                <a:cs typeface="Times New Roman" pitchFamily="18" charset="0"/>
              </a:rPr>
              <a:t>lên?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khiển tốc </a:t>
            </a:r>
            <a:r>
              <a:rPr lang="vi-VN" altLang="ko-KR" sz="950" smtClean="0">
                <a:latin typeface="Times New Roman" pitchFamily="18" charset="0"/>
                <a:ea typeface="LG Smart_H Regular" panose="020B0600000101010101" pitchFamily="34" charset="-127"/>
                <a:cs typeface="Times New Roman" pitchFamily="18" charset="0"/>
              </a:rPr>
              <a:t>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Van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kiểm </a:t>
            </a:r>
            <a:r>
              <a:rPr lang="en-US" altLang="ko-KR" sz="950" smtClean="0">
                <a:latin typeface="Times New Roman" pitchFamily="18" charset="0"/>
                <a:ea typeface="LG Smart_H Regular" panose="020B0600000101010101" pitchFamily="34" charset="-127"/>
                <a:cs typeface="Times New Roman" pitchFamily="18" charset="0"/>
              </a:rPr>
              <a:t>tra</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Van tuần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tự</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relief</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1" name="Rectangle 7"/>
          <p:cNvSpPr>
            <a:spLocks noChangeArrowheads="1"/>
          </p:cNvSpPr>
          <p:nvPr/>
        </p:nvSpPr>
        <p:spPr bwMode="auto">
          <a:xfrm>
            <a:off x="3449538" y="4016896"/>
            <a:ext cx="3180502"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Đâu không phải giải thích về meter </a:t>
            </a:r>
            <a:r>
              <a:rPr lang="vi-VN" altLang="ko-KR" sz="950" smtClean="0">
                <a:latin typeface="Times New Roman" pitchFamily="18" charset="0"/>
                <a:ea typeface="LG Smart_H Regular" panose="020B0600000101010101" pitchFamily="34" charset="-127"/>
                <a:cs typeface="Times New Roman" pitchFamily="18" charset="0"/>
              </a:rPr>
              <a:t>out?</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Vì </a:t>
            </a:r>
            <a:r>
              <a:rPr lang="vi-VN" altLang="ko-KR" sz="950">
                <a:latin typeface="Times New Roman" pitchFamily="18" charset="0"/>
                <a:ea typeface="LG Smart_H Regular" panose="020B0600000101010101" pitchFamily="34" charset="-127"/>
                <a:cs typeface="Times New Roman" pitchFamily="18" charset="0"/>
              </a:rPr>
              <a:t>trạng thái tự do phía ① nên khí áp tăng ngay lập tức</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Khí của ② được tiết lưu ở cửa ra rồi xả ra ngoài nên bị giới hạn tốc độ xả</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Piston di chuyển tương đối cân bằng bằng lực đẩy dựa vào chênh lệch áp suất của ① và </a:t>
            </a:r>
            <a:r>
              <a:rPr lang="vi-VN" altLang="ko-KR" sz="950" smtClean="0">
                <a:latin typeface="Times New Roman" pitchFamily="18" charset="0"/>
                <a:ea typeface="LG Smart_H Regular" panose="020B0600000101010101" pitchFamily="34" charset="-127"/>
                <a:cs typeface="Times New Roman" pitchFamily="18" charset="0"/>
              </a:rPr>
              <a:t>②</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Do trạng thái dòng chảy tự do nên áp suất của phía ② giảm xuống trạng thái áp suất khí quyển.</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52" name="Rectangle 7"/>
          <p:cNvSpPr>
            <a:spLocks noChangeArrowheads="1"/>
          </p:cNvSpPr>
          <p:nvPr/>
        </p:nvSpPr>
        <p:spPr bwMode="auto">
          <a:xfrm>
            <a:off x="3449538" y="6393160"/>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Phân loại thiết bị sử dụng trong </a:t>
            </a:r>
            <a:r>
              <a:rPr lang="vi-VN" altLang="ko-KR" sz="950" smtClean="0">
                <a:latin typeface="Times New Roman" pitchFamily="18" charset="0"/>
                <a:ea typeface="LG Smart_H Regular" panose="020B0600000101010101" pitchFamily="34" charset="-127"/>
                <a:cs typeface="Times New Roman" pitchFamily="18" charset="0"/>
              </a:rPr>
              <a:t>mạch?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Công tắc  phân tích : Rơ le kiểm soát, rơ le time, rơ le nhiệt</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Công tắc vận hành : nút nhấn, công tắc  selector, công tắc xoay</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Thiết bị vận hành : Chuông, đèn báo, còi,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Thiết bị kiểm soát : Chuông, đèn báo, còi,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3" name="Rectangle 7"/>
          <p:cNvSpPr>
            <a:spLocks noChangeArrowheads="1"/>
          </p:cNvSpPr>
          <p:nvPr/>
        </p:nvSpPr>
        <p:spPr bwMode="auto">
          <a:xfrm>
            <a:off x="3457922" y="7977336"/>
            <a:ext cx="3180502"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Tính năng của bộ hẹn giờ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Thiết bị xử lí tín hiệu điện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Thiết bị kiểm soát tuần tự ON, OFF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Thiết bị xử lí tín hiệu số.</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Thiết bị kiểm soát thời gian Delay ON, OFF .</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260648" y="3728864"/>
            <a:ext cx="3180502" cy="1872064"/>
            <a:chOff x="260648" y="4377080"/>
            <a:chExt cx="3180502" cy="1872064"/>
          </a:xfrm>
        </p:grpSpPr>
        <p:sp>
          <p:nvSpPr>
            <p:cNvPr id="23" name="Rectangle 7"/>
            <p:cNvSpPr>
              <a:spLocks noChangeArrowheads="1"/>
            </p:cNvSpPr>
            <p:nvPr/>
          </p:nvSpPr>
          <p:spPr bwMode="auto">
            <a:xfrm>
              <a:off x="260648" y="4377080"/>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43. Phân loại, máy khí nén theo nguyên lý hoạt động. Đâu không phải là loại máy nén khí dung tích?</a:t>
              </a: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 </a:t>
              </a: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a:t>
              </a:r>
              <a:r>
                <a:rPr lang="en-US" altLang="ko-KR" sz="950" smtClean="0">
                  <a:latin typeface="Times New Roman" pitchFamily="18" charset="0"/>
                  <a:ea typeface="LG Smart_H Regular" panose="020B0600000101010101" pitchFamily="34" charset="-127"/>
                  <a:cs typeface="Times New Roman" pitchFamily="18" charset="0"/>
                </a:rPr>
                <a:t>.                                            D. </a:t>
              </a:r>
            </a:p>
          </p:txBody>
        </p:sp>
        <p:pic>
          <p:nvPicPr>
            <p:cNvPr id="33" name="Picture 3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2856" y="5576577"/>
              <a:ext cx="624058" cy="6725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5" name="Picture 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0848" y="4786277"/>
              <a:ext cx="697273" cy="649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 name="Picture 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2696" y="4808984"/>
              <a:ext cx="654707" cy="626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7" name="Picture 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92696" y="5616542"/>
              <a:ext cx="660978" cy="632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 name="Group 2"/>
          <p:cNvGrpSpPr/>
          <p:nvPr/>
        </p:nvGrpSpPr>
        <p:grpSpPr>
          <a:xfrm>
            <a:off x="206479" y="7617296"/>
            <a:ext cx="3180502" cy="1872208"/>
            <a:chOff x="3451715" y="1136576"/>
            <a:chExt cx="3180502" cy="1872208"/>
          </a:xfrm>
        </p:grpSpPr>
        <p:sp>
          <p:nvSpPr>
            <p:cNvPr id="32" name="Rectangle 7"/>
            <p:cNvSpPr>
              <a:spLocks noChangeArrowheads="1"/>
            </p:cNvSpPr>
            <p:nvPr/>
          </p:nvSpPr>
          <p:spPr bwMode="auto">
            <a:xfrm>
              <a:off x="3451715" y="1136576"/>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Đâu là giải thích đúng về định luật </a:t>
              </a:r>
              <a:r>
                <a:rPr lang="vi-VN" altLang="ko-KR" sz="950" smtClean="0">
                  <a:latin typeface="Times New Roman" pitchFamily="18" charset="0"/>
                  <a:ea typeface="LG Smart_H Regular" panose="020B0600000101010101" pitchFamily="34" charset="-127"/>
                  <a:cs typeface="Times New Roman" pitchFamily="18" charset="0"/>
                </a:rPr>
                <a:t>Charles?</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 </a:t>
              </a: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a:t>
              </a:r>
              <a:r>
                <a:rPr lang="en-US" altLang="ko-KR" sz="950" smtClean="0">
                  <a:latin typeface="Times New Roman" pitchFamily="18" charset="0"/>
                  <a:ea typeface="LG Smart_H Regular" panose="020B0600000101010101" pitchFamily="34" charset="-127"/>
                  <a:cs typeface="Times New Roman" pitchFamily="18" charset="0"/>
                </a:rPr>
                <a:t>.                                            D. </a:t>
              </a:r>
            </a:p>
          </p:txBody>
        </p:sp>
        <p:pic>
          <p:nvPicPr>
            <p:cNvPr id="38" name="Picture 3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3234" y="1332268"/>
              <a:ext cx="1198094" cy="807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4" name="Picture 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89040" y="2144853"/>
              <a:ext cx="1108910" cy="863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5" name="Picture 44"/>
            <p:cNvPicPr>
              <a:picLocks noChangeAspect="1"/>
            </p:cNvPicPr>
            <p:nvPr/>
          </p:nvPicPr>
          <p:blipFill>
            <a:blip r:embed="rId9"/>
            <a:stretch>
              <a:fillRect/>
            </a:stretch>
          </p:blipFill>
          <p:spPr>
            <a:xfrm>
              <a:off x="5313254" y="2288848"/>
              <a:ext cx="1068074" cy="719936"/>
            </a:xfrm>
            <a:prstGeom prst="rect">
              <a:avLst/>
            </a:prstGeom>
          </p:spPr>
        </p:pic>
        <p:pic>
          <p:nvPicPr>
            <p:cNvPr id="1026" name="Picture 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3789041" y="1448084"/>
              <a:ext cx="1008112" cy="574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39" name="Picture 38"/>
          <p:cNvPicPr>
            <a:picLocks noChangeAspect="1"/>
          </p:cNvPicPr>
          <p:nvPr/>
        </p:nvPicPr>
        <p:blipFill>
          <a:blip r:embed="rId11"/>
          <a:stretch>
            <a:fillRect/>
          </a:stretch>
        </p:blipFill>
        <p:spPr>
          <a:xfrm>
            <a:off x="5229199" y="4319733"/>
            <a:ext cx="837521" cy="513266"/>
          </a:xfrm>
          <a:prstGeom prst="rect">
            <a:avLst/>
          </a:prstGeom>
        </p:spPr>
      </p:pic>
    </p:spTree>
    <p:extLst>
      <p:ext uri="{BB962C8B-B14F-4D97-AF65-F5344CB8AC3E}">
        <p14:creationId xmlns:p14="http://schemas.microsoft.com/office/powerpoint/2010/main" val="3139646906"/>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a:latin typeface="Times New Roman" pitchFamily="18" charset="0"/>
                <a:cs typeface="Times New Roman" pitchFamily="18" charset="0"/>
              </a:rPr>
              <a:t>Khí nén</a:t>
            </a:r>
            <a:r>
              <a:rPr lang="en-US" altLang="ko-KR">
                <a:latin typeface="Times New Roman" pitchFamily="18" charset="0"/>
                <a:cs typeface="Times New Roman" pitchFamily="18" charset="0"/>
              </a:rPr>
              <a:t>] </a:t>
            </a:r>
            <a:endParaRPr lang="en-US" altLang="ko-KR" dirty="0">
              <a:latin typeface="Times New Roman" pitchFamily="18" charset="0"/>
              <a:cs typeface="Times New Roman" pitchFamily="18" charset="0"/>
            </a:endParaRPr>
          </a:p>
        </p:txBody>
      </p:sp>
      <p:sp>
        <p:nvSpPr>
          <p:cNvPr id="8196" name="Rectangle 17"/>
          <p:cNvSpPr>
            <a:spLocks noChangeArrowheads="1"/>
          </p:cNvSpPr>
          <p:nvPr/>
        </p:nvSpPr>
        <p:spPr bwMode="auto">
          <a:xfrm>
            <a:off x="226740"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8197" name="Rectangle 18"/>
          <p:cNvSpPr>
            <a:spLocks noChangeArrowheads="1"/>
          </p:cNvSpPr>
          <p:nvPr/>
        </p:nvSpPr>
        <p:spPr bwMode="auto">
          <a:xfrm>
            <a:off x="3416808" y="776288"/>
            <a:ext cx="317500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29" name="Rectangle 603"/>
          <p:cNvSpPr>
            <a:spLocks noChangeArrowheads="1"/>
          </p:cNvSpPr>
          <p:nvPr/>
        </p:nvSpPr>
        <p:spPr bwMode="auto">
          <a:xfrm>
            <a:off x="260649" y="1136576"/>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51</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ưu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kĩ</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thuật</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khí</a:t>
            </a:r>
            <a:r>
              <a:rPr lang="en-US" altLang="ko-KR" sz="950" smtClean="0">
                <a:latin typeface="Times New Roman" pitchFamily="18" charset="0"/>
                <a:cs typeface="Times New Roman" pitchFamily="18" charset="0"/>
              </a:rPr>
              <a:t> nén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nguồn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C. </a:t>
            </a:r>
            <a:r>
              <a:rPr lang="en-US" altLang="ko-KR" sz="950" dirty="0" err="1" smtClean="0">
                <a:solidFill>
                  <a:srgbClr val="FF0000"/>
                </a:solidFill>
                <a:latin typeface="Times New Roman" pitchFamily="18" charset="0"/>
                <a:cs typeface="Times New Roman" pitchFamily="18" charset="0"/>
              </a:rPr>
              <a:t>Có</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thể</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nhận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được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lực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lớn</a:t>
            </a:r>
            <a:r>
              <a:rPr lang="en-US" altLang="ko-KR" sz="950" dirty="0" smtClean="0">
                <a:solidFill>
                  <a:srgbClr val="FF0000"/>
                </a:solidFill>
                <a:latin typeface="Times New Roman" pitchFamily="18" charset="0"/>
                <a:cs typeface="Times New Roman" pitchFamily="18" charset="0"/>
              </a:rPr>
              <a:t>.</a:t>
            </a:r>
            <a:endParaRPr lang="en-US" altLang="ko-KR" sz="950" dirty="0">
              <a:solidFill>
                <a:srgbClr val="FF0000"/>
              </a:solidFill>
              <a:latin typeface="Times New Roman" pitchFamily="18" charset="0"/>
              <a:cs typeface="Times New Roman" pitchFamily="18" charset="0"/>
            </a:endParaRPr>
          </a:p>
          <a:p>
            <a:pPr marL="109538" indent="-109538" eaLnBrk="1" hangingPunct="1"/>
            <a:r>
              <a:rPr lang="en-US" altLang="ko-KR" sz="950" smtClean="0">
                <a:latin typeface="Times New Roman" pitchFamily="18" charset="0"/>
                <a:cs typeface="Times New Roman" pitchFamily="18" charset="0"/>
              </a:rPr>
              <a:t>D. </a:t>
            </a:r>
            <a:r>
              <a:rPr lang="en-US" altLang="ko-KR" sz="950" dirty="0" err="1">
                <a:latin typeface="Times New Roman" pitchFamily="18" charset="0"/>
                <a:cs typeface="Times New Roman" pitchFamily="18" charset="0"/>
              </a:rPr>
              <a:t>T</a:t>
            </a:r>
            <a:r>
              <a:rPr lang="en-US" altLang="ko-KR" sz="950" smtClean="0">
                <a:latin typeface="Times New Roman" pitchFamily="18" charset="0"/>
                <a:cs typeface="Times New Roman" pitchFamily="18" charset="0"/>
              </a:rPr>
              <a:t>ruyền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truyền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ở </a:t>
            </a:r>
            <a:r>
              <a:rPr lang="en-US" altLang="ko-KR" sz="950" dirty="0" err="1" smtClean="0">
                <a:latin typeface="Times New Roman" pitchFamily="18" charset="0"/>
                <a:cs typeface="Times New Roman" pitchFamily="18" charset="0"/>
              </a:rPr>
              <a:t>bất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30" name="Rectangle 621"/>
          <p:cNvSpPr>
            <a:spLocks noChangeArrowheads="1"/>
          </p:cNvSpPr>
          <p:nvPr/>
        </p:nvSpPr>
        <p:spPr bwMode="auto">
          <a:xfrm>
            <a:off x="260648" y="2263921"/>
            <a:ext cx="3124200" cy="530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52</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áp</a:t>
            </a:r>
            <a:r>
              <a:rPr lang="en-US" altLang="ko-KR" sz="950" smtClean="0">
                <a:latin typeface="Times New Roman" pitchFamily="18" charset="0"/>
                <a:cs typeface="Times New Roman" pitchFamily="18" charset="0"/>
              </a:rPr>
              <a:t> lực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1013 </a:t>
            </a:r>
            <a:r>
              <a:rPr lang="en-US" altLang="ko-KR" sz="950">
                <a:latin typeface="Times New Roman" pitchFamily="18" charset="0"/>
                <a:cs typeface="Times New Roman" pitchFamily="18" charset="0"/>
              </a:rPr>
              <a:t>B</a:t>
            </a:r>
            <a:r>
              <a:rPr lang="en-US" altLang="ko-KR" sz="950" smtClean="0">
                <a:latin typeface="Times New Roman" pitchFamily="18" charset="0"/>
                <a:cs typeface="Times New Roman" pitchFamily="18" charset="0"/>
              </a:rPr>
              <a:t>ar                 B. 0.1013 </a:t>
            </a:r>
            <a:r>
              <a:rPr lang="en-US" altLang="ko-KR" sz="950" dirty="0">
                <a:latin typeface="Times New Roman" pitchFamily="18" charset="0"/>
                <a:cs typeface="Times New Roman" pitchFamily="18" charset="0"/>
              </a:rPr>
              <a:t>Pa </a:t>
            </a:r>
          </a:p>
          <a:p>
            <a:pPr eaLnBrk="1" hangingPunct="1"/>
            <a:r>
              <a:rPr lang="en-US" altLang="ko-KR" sz="950" smtClean="0">
                <a:latin typeface="Times New Roman" pitchFamily="18" charset="0"/>
                <a:cs typeface="Times New Roman" pitchFamily="18" charset="0"/>
              </a:rPr>
              <a:t>C. 1.033 </a:t>
            </a:r>
            <a:r>
              <a:rPr lang="en-US" altLang="ko-KR" sz="950" dirty="0" err="1">
                <a:latin typeface="Times New Roman" pitchFamily="18" charset="0"/>
                <a:cs typeface="Times New Roman" pitchFamily="18" charset="0"/>
              </a:rPr>
              <a:t>Kgf</a:t>
            </a:r>
            <a:r>
              <a:rPr lang="en-US" altLang="ko-KR" sz="950" dirty="0">
                <a:latin typeface="Times New Roman" pitchFamily="18" charset="0"/>
                <a:cs typeface="Times New Roman" pitchFamily="18" charset="0"/>
              </a:rPr>
              <a:t>/</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D. 760 </a:t>
            </a:r>
            <a:r>
              <a:rPr lang="en-US" altLang="ko-KR" sz="950" dirty="0">
                <a:solidFill>
                  <a:srgbClr val="FF0000"/>
                </a:solidFill>
                <a:latin typeface="Times New Roman" pitchFamily="18" charset="0"/>
                <a:cs typeface="Times New Roman" pitchFamily="18" charset="0"/>
              </a:rPr>
              <a:t>mmH2g</a:t>
            </a:r>
          </a:p>
        </p:txBody>
      </p:sp>
      <p:sp>
        <p:nvSpPr>
          <p:cNvPr id="31" name="Rectangle 46"/>
          <p:cNvSpPr>
            <a:spLocks noChangeArrowheads="1"/>
          </p:cNvSpPr>
          <p:nvPr/>
        </p:nvSpPr>
        <p:spPr bwMode="auto">
          <a:xfrm>
            <a:off x="260648" y="3063304"/>
            <a:ext cx="3168651"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09538" indent="-109538" eaLnBrk="1" hangingPunct="1"/>
            <a:r>
              <a:rPr lang="en-US" altLang="ko-KR" sz="950" smtClean="0">
                <a:latin typeface="Times New Roman" pitchFamily="18" charset="0"/>
                <a:cs typeface="Times New Roman" pitchFamily="18" charset="0"/>
              </a:rPr>
              <a:t>53</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trục</a:t>
            </a:r>
            <a:r>
              <a:rPr lang="en-US" altLang="ko-KR" sz="950" smtClean="0">
                <a:latin typeface="Times New Roman" pitchFamily="18" charset="0"/>
                <a:cs typeface="Times New Roman" pitchFamily="18" charset="0"/>
              </a:rPr>
              <a:t> vít</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Screw?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Trục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xoay</a:t>
            </a:r>
            <a:r>
              <a:rPr lang="en-US" altLang="ko-KR" sz="950" dirty="0" smtClean="0">
                <a:latin typeface="Times New Roman" pitchFamily="18" charset="0"/>
                <a:cs typeface="Times New Roman" pitchFamily="18" charset="0"/>
              </a:rPr>
              <a:t> song </a:t>
            </a:r>
            <a:r>
              <a:rPr lang="en-US" altLang="ko-KR" sz="950" dirty="0" err="1" smtClean="0">
                <a:latin typeface="Times New Roman" pitchFamily="18" charset="0"/>
                <a:cs typeface="Times New Roman" pitchFamily="18" charset="0"/>
              </a:rPr>
              <a:t>song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xoay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ít</a:t>
            </a:r>
            <a:r>
              <a:rPr lang="en-US" altLang="ko-KR" sz="950" dirty="0" smtClean="0">
                <a:latin typeface="Times New Roman" pitchFamily="18" charset="0"/>
                <a:cs typeface="Times New Roman" pitchFamily="18" charset="0"/>
              </a:rPr>
              <a:t> rung.</a:t>
            </a:r>
            <a:endParaRPr lang="en-US" altLang="ko-KR" sz="950" dirty="0">
              <a:latin typeface="Times New Roman" pitchFamily="18" charset="0"/>
              <a:cs typeface="Times New Roman" pitchFamily="18" charset="0"/>
            </a:endParaRPr>
          </a:p>
          <a:p>
            <a:pPr marL="109538" indent="-109538"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Xả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liên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tượng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bị</a:t>
            </a:r>
            <a:r>
              <a:rPr lang="en-US" altLang="ko-KR" sz="950" dirty="0" smtClean="0">
                <a:latin typeface="Times New Roman" pitchFamily="18" charset="0"/>
                <a:cs typeface="Times New Roman" pitchFamily="18" charset="0"/>
              </a:rPr>
              <a:t> rung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tank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lớn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09538" indent="-109538" eaLnBrk="1" hangingPunct="1"/>
            <a:r>
              <a:rPr lang="en-US" altLang="ko-KR" sz="950" smtClean="0">
                <a:solidFill>
                  <a:srgbClr val="FF0000"/>
                </a:solidFill>
                <a:latin typeface="Times New Roman" pitchFamily="18" charset="0"/>
                <a:cs typeface="Times New Roman" pitchFamily="18" charset="0"/>
              </a:rPr>
              <a:t>C. </a:t>
            </a:r>
            <a:r>
              <a:rPr lang="en-US" altLang="ko-KR" sz="950" dirty="0" smtClean="0">
                <a:solidFill>
                  <a:srgbClr val="FF0000"/>
                </a:solidFill>
                <a:latin typeface="Times New Roman" pitchFamily="18" charset="0"/>
                <a:cs typeface="Times New Roman" pitchFamily="18" charset="0"/>
              </a:rPr>
              <a:t>Do </a:t>
            </a:r>
            <a:r>
              <a:rPr lang="en-US" altLang="ko-KR" sz="950" dirty="0" err="1" smtClean="0">
                <a:solidFill>
                  <a:srgbClr val="FF0000"/>
                </a:solidFill>
                <a:latin typeface="Times New Roman" pitchFamily="18" charset="0"/>
                <a:cs typeface="Times New Roman" pitchFamily="18" charset="0"/>
              </a:rPr>
              <a:t>có</a:t>
            </a:r>
            <a:r>
              <a:rPr lang="en-US" altLang="ko-KR" sz="950" dirty="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nhiều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phần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nhiễu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bên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trong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máy</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nén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nên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dầu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cấp</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phải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sạch</a:t>
            </a:r>
            <a:r>
              <a:rPr lang="en-US" altLang="ko-KR" sz="950" dirty="0" smtClean="0">
                <a:solidFill>
                  <a:srgbClr val="FF0000"/>
                </a:solidFill>
                <a:latin typeface="Times New Roman" pitchFamily="18" charset="0"/>
                <a:cs typeface="Times New Roman" pitchFamily="18" charset="0"/>
              </a:rPr>
              <a:t> .</a:t>
            </a:r>
            <a:endParaRPr lang="en-US" altLang="ko-KR" sz="950" dirty="0">
              <a:solidFill>
                <a:srgbClr val="FF0000"/>
              </a:solidFill>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ồn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thấp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dễ</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dàng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ồn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32" name="Rectangle 238"/>
          <p:cNvSpPr>
            <a:spLocks noChangeArrowheads="1"/>
          </p:cNvSpPr>
          <p:nvPr/>
        </p:nvSpPr>
        <p:spPr bwMode="auto">
          <a:xfrm>
            <a:off x="260648" y="4605154"/>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54</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pha</a:t>
            </a:r>
            <a:r>
              <a:rPr lang="en-US" altLang="ko-KR" sz="950" dirty="0" smtClean="0">
                <a:latin typeface="Times New Roman" pitchFamily="18" charset="0"/>
                <a:cs typeface="Times New Roman" pitchFamily="18" charset="0"/>
              </a:rPr>
              <a:t> 90’ </a:t>
            </a:r>
            <a:r>
              <a:rPr lang="en-US" altLang="ko-KR" sz="950" dirty="0" err="1" smtClean="0">
                <a:latin typeface="Times New Roman" pitchFamily="18" charset="0"/>
                <a:cs typeface="Times New Roman" pitchFamily="18" charset="0"/>
              </a:rPr>
              <a:t>cho</a:t>
            </a:r>
            <a:r>
              <a:rPr lang="en-US" altLang="ko-KR" sz="950" dirty="0" smtClean="0">
                <a:latin typeface="Times New Roman" pitchFamily="18" charset="0"/>
                <a:cs typeface="Times New Roman" pitchFamily="18" charset="0"/>
              </a:rPr>
              <a:t> hay rotor </a:t>
            </a:r>
            <a:r>
              <a:rPr lang="en-US" altLang="ko-KR" sz="950" dirty="0" err="1" smtClean="0">
                <a:latin typeface="Times New Roman" pitchFamily="18" charset="0"/>
                <a:cs typeface="Times New Roman" pitchFamily="18" charset="0"/>
              </a:rPr>
              <a:t>để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giữa</a:t>
            </a:r>
            <a:r>
              <a:rPr lang="en-US" altLang="ko-KR" sz="950" dirty="0" smtClean="0">
                <a:latin typeface="Times New Roman" pitchFamily="18" charset="0"/>
                <a:cs typeface="Times New Roman" pitchFamily="18" charset="0"/>
              </a:rPr>
              <a:t> casing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rotor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đóng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di </a:t>
            </a:r>
            <a:r>
              <a:rPr lang="en-US" altLang="ko-KR" sz="950" dirty="0" err="1" smtClean="0">
                <a:latin typeface="Times New Roman" pitchFamily="18" charset="0"/>
                <a:cs typeface="Times New Roman" pitchFamily="18" charset="0"/>
              </a:rPr>
              <a:t>chuyển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ra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phía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cửa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sự</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dung </a:t>
            </a:r>
            <a:r>
              <a:rPr lang="en-US" altLang="ko-KR" sz="950" dirty="0" err="1" smtClean="0">
                <a:latin typeface="Times New Roman" pitchFamily="18" charset="0"/>
                <a:cs typeface="Times New Roman" pitchFamily="18" charset="0"/>
              </a:rPr>
              <a:t>tích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228600" indent="-228600" eaLnBrk="1" hangingPunct="1">
              <a:buAutoNum type="alphaUcPeriod"/>
            </a:pPr>
            <a:r>
              <a:rPr lang="en-US" altLang="ko-KR" sz="950" smtClean="0">
                <a:latin typeface="Times New Roman" pitchFamily="18" charset="0"/>
                <a:cs typeface="Times New Roman" pitchFamily="18" charset="0"/>
              </a:rPr>
              <a:t>Máy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khí</a:t>
            </a:r>
            <a:r>
              <a:rPr lang="en-US" altLang="ko-KR" sz="950" smtClean="0">
                <a:latin typeface="Times New Roman" pitchFamily="18" charset="0"/>
                <a:cs typeface="Times New Roman" pitchFamily="18" charset="0"/>
              </a:rPr>
              <a:t> piston </a:t>
            </a:r>
            <a:r>
              <a:rPr lang="en-US" altLang="ko-KR" sz="950" dirty="0" err="1" smtClean="0">
                <a:latin typeface="Times New Roman" pitchFamily="18" charset="0"/>
                <a:cs typeface="Times New Roman" pitchFamily="18" charset="0"/>
              </a:rPr>
              <a:t>đa</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tầng</a:t>
            </a:r>
            <a:r>
              <a:rPr lang="ko-KR" altLang="en-US" sz="950" smtClean="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eaLnBrk="1" hangingPunct="1">
              <a:buAutoNum type="alphaUcPeriod"/>
            </a:pPr>
            <a:r>
              <a:rPr lang="en-US" altLang="ko-KR" sz="950" smtClean="0">
                <a:latin typeface="Times New Roman" pitchFamily="18" charset="0"/>
                <a:cs typeface="Times New Roman" pitchFamily="18" charset="0"/>
              </a:rPr>
              <a:t>Máy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trục</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Vít</a:t>
            </a:r>
            <a:r>
              <a:rPr lang="en-US" altLang="ko-KR" sz="950" smtClean="0">
                <a:latin typeface="Times New Roman" pitchFamily="18" charset="0"/>
                <a:cs typeface="Times New Roman" pitchFamily="18" charset="0"/>
              </a:rPr>
              <a:t> Screw</a:t>
            </a:r>
            <a:endParaRPr lang="en-US" altLang="ko-KR" sz="950" dirty="0">
              <a:latin typeface="Times New Roman" pitchFamily="18" charset="0"/>
              <a:cs typeface="Times New Roman" pitchFamily="18" charset="0"/>
            </a:endParaRPr>
          </a:p>
          <a:p>
            <a:pPr marL="228600" indent="-228600" eaLnBrk="1" hangingPunct="1">
              <a:buAutoNum type="alphaUcPeriod"/>
            </a:pPr>
            <a:r>
              <a:rPr lang="en-US" altLang="ko-KR" sz="950" smtClean="0">
                <a:latin typeface="Times New Roman" pitchFamily="18" charset="0"/>
                <a:cs typeface="Times New Roman" pitchFamily="18" charset="0"/>
              </a:rPr>
              <a:t>Máy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quạt</a:t>
            </a:r>
            <a:r>
              <a:rPr lang="ko-KR" altLang="en-US" sz="950" smtClean="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eaLnBrk="1" hangingPunct="1">
              <a:buAutoNum type="alphaUcPeriod"/>
            </a:pPr>
            <a:r>
              <a:rPr lang="en-US" altLang="ko-KR" sz="950" smtClean="0">
                <a:solidFill>
                  <a:srgbClr val="FF0000"/>
                </a:solidFill>
                <a:latin typeface="Times New Roman" pitchFamily="18" charset="0"/>
                <a:cs typeface="Times New Roman" pitchFamily="18" charset="0"/>
              </a:rPr>
              <a:t>Root </a:t>
            </a:r>
            <a:r>
              <a:rPr lang="en-US" altLang="ko-KR" sz="950" dirty="0" smtClean="0">
                <a:solidFill>
                  <a:srgbClr val="FF0000"/>
                </a:solidFill>
                <a:latin typeface="Times New Roman" pitchFamily="18" charset="0"/>
                <a:cs typeface="Times New Roman" pitchFamily="18" charset="0"/>
              </a:rPr>
              <a:t>Blower</a:t>
            </a:r>
            <a:endParaRPr lang="ko-KR" altLang="en-US" sz="950" dirty="0">
              <a:solidFill>
                <a:srgbClr val="FF0000"/>
              </a:solidFill>
              <a:latin typeface="Times New Roman" pitchFamily="18" charset="0"/>
              <a:cs typeface="Times New Roman" pitchFamily="18" charset="0"/>
            </a:endParaRPr>
          </a:p>
        </p:txBody>
      </p:sp>
      <p:sp>
        <p:nvSpPr>
          <p:cNvPr id="33" name="Rectangle 240"/>
          <p:cNvSpPr>
            <a:spLocks noChangeArrowheads="1"/>
          </p:cNvSpPr>
          <p:nvPr/>
        </p:nvSpPr>
        <p:spPr bwMode="auto">
          <a:xfrm>
            <a:off x="260648" y="6066219"/>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fontAlgn="b" hangingPunct="1"/>
            <a:r>
              <a:rPr lang="en-US" altLang="ko-KR" sz="950" smtClean="0">
                <a:latin typeface="Times New Roman" pitchFamily="18" charset="0"/>
                <a:cs typeface="Times New Roman" pitchFamily="18" charset="0"/>
              </a:rPr>
              <a:t>55</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ô </a:t>
            </a:r>
            <a:r>
              <a:rPr lang="en-US" altLang="ko-KR" sz="950" dirty="0" err="1" smtClean="0">
                <a:latin typeface="Times New Roman" pitchFamily="18" charset="0"/>
                <a:cs typeface="Times New Roman" pitchFamily="18" charset="0"/>
              </a:rPr>
              <a:t>nhiêm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nội</a:t>
            </a:r>
            <a:r>
              <a:rPr lang="en-US" altLang="ko-KR" sz="950" dirty="0" smtClean="0">
                <a:latin typeface="Times New Roman" pitchFamily="18" charset="0"/>
                <a:cs typeface="Times New Roman" pitchFamily="18" charset="0"/>
              </a:rPr>
              <a:t> dung </a:t>
            </a:r>
            <a:r>
              <a:rPr lang="en-US" altLang="ko-KR" sz="950" dirty="0" err="1" smtClean="0">
                <a:latin typeface="Times New Roman" pitchFamily="18" charset="0"/>
                <a:cs typeface="Times New Roman" pitchFamily="18" charset="0"/>
              </a:rPr>
              <a:t>nói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fontAlgn="b" hangingPunct="1"/>
            <a:r>
              <a:rPr lang="en-US" altLang="ko-KR" sz="950" dirty="0" smtClean="0">
                <a:latin typeface="Times New Roman" pitchFamily="18" charset="0"/>
                <a:cs typeface="Times New Roman" pitchFamily="18" charset="0"/>
              </a:rPr>
              <a:t>-</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ra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vấn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tuổi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thọ</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bám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vào</a:t>
            </a:r>
            <a:r>
              <a:rPr lang="en-US" altLang="ko-KR" sz="950" dirty="0" smtClean="0">
                <a:latin typeface="Times New Roman" pitchFamily="18" charset="0"/>
                <a:cs typeface="Times New Roman" pitchFamily="18" charset="0"/>
              </a:rPr>
              <a:t> valve do </a:t>
            </a:r>
            <a:r>
              <a:rPr lang="en-US" altLang="ko-KR" sz="950" dirty="0" err="1" smtClean="0">
                <a:latin typeface="Times New Roman" pitchFamily="18" charset="0"/>
                <a:cs typeface="Times New Roman" pitchFamily="18" charset="0"/>
              </a:rPr>
              <a:t>phát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sinh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nổ</a:t>
            </a:r>
            <a:r>
              <a:rPr lang="en-US" altLang="ko-KR" sz="950" dirty="0" smtClean="0">
                <a:latin typeface="Times New Roman" pitchFamily="18" charset="0"/>
                <a:cs typeface="Times New Roman" pitchFamily="18" charset="0"/>
              </a:rPr>
              <a:t>, ô </a:t>
            </a:r>
            <a:r>
              <a:rPr lang="en-US" altLang="ko-KR" sz="950" dirty="0" err="1" smtClean="0">
                <a:latin typeface="Times New Roman" pitchFamily="18" charset="0"/>
                <a:cs typeface="Times New Roman" pitchFamily="18" charset="0"/>
              </a:rPr>
              <a:t>nhiễm</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NG Seal, </a:t>
            </a:r>
            <a:r>
              <a:rPr lang="en-US" altLang="ko-KR" sz="950" dirty="0" err="1" smtClean="0">
                <a:latin typeface="Times New Roman" pitchFamily="18" charset="0"/>
                <a:cs typeface="Times New Roman" pitchFamily="18" charset="0"/>
              </a:rPr>
              <a:t>tích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tụ</a:t>
            </a:r>
            <a:r>
              <a:rPr lang="en-US" altLang="ko-KR"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fontAlgn="b" hangingPunct="1"/>
            <a:r>
              <a:rPr lang="en-US" altLang="ko-KR" sz="950" smtClean="0">
                <a:solidFill>
                  <a:srgbClr val="FF0000"/>
                </a:solidFill>
                <a:latin typeface="Times New Roman" pitchFamily="18" charset="0"/>
                <a:cs typeface="Times New Roman" pitchFamily="18" charset="0"/>
              </a:rPr>
              <a:t>     A.</a:t>
            </a:r>
            <a:r>
              <a:rPr lang="ko-KR" altLang="en-US" sz="950" smtClean="0">
                <a:solidFill>
                  <a:srgbClr val="FF0000"/>
                </a:solidFill>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Carbon</a:t>
            </a:r>
            <a:r>
              <a:rPr lang="ko-KR" altLang="en-US" sz="950" smtClean="0">
                <a:solidFill>
                  <a:srgbClr val="FF000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dầu</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err="1">
                <a:latin typeface="Times New Roman" pitchFamily="18" charset="0"/>
                <a:cs typeface="Times New Roman" pitchFamily="18" charset="0"/>
              </a:rPr>
              <a:t>N</a:t>
            </a:r>
            <a:r>
              <a:rPr lang="en-US" altLang="ko-KR" sz="950" smtClean="0">
                <a:latin typeface="Times New Roman" pitchFamily="18" charset="0"/>
                <a:cs typeface="Times New Roman" pitchFamily="18" charset="0"/>
              </a:rPr>
              <a:t>ước</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a:t>
            </a:r>
            <a:r>
              <a:rPr lang="en-US" altLang="ko-KR" sz="950" smtClean="0">
                <a:latin typeface="Times New Roman" pitchFamily="18" charset="0"/>
                <a:cs typeface="Times New Roman" pitchFamily="18" charset="0"/>
              </a:rPr>
              <a:t>ụi</a:t>
            </a:r>
            <a:endParaRPr lang="ko-KR" altLang="en-US" sz="950" dirty="0">
              <a:latin typeface="Times New Roman" pitchFamily="18" charset="0"/>
              <a:cs typeface="Times New Roman" pitchFamily="18" charset="0"/>
            </a:endParaRPr>
          </a:p>
        </p:txBody>
      </p:sp>
      <p:sp>
        <p:nvSpPr>
          <p:cNvPr id="34" name="Rectangle 121"/>
          <p:cNvSpPr>
            <a:spLocks noChangeArrowheads="1"/>
          </p:cNvSpPr>
          <p:nvPr/>
        </p:nvSpPr>
        <p:spPr bwMode="auto">
          <a:xfrm>
            <a:off x="260648" y="7473280"/>
            <a:ext cx="3133725" cy="19928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56</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 </a:t>
            </a:r>
            <a:r>
              <a:rPr lang="en-US" altLang="ko-KR" sz="950" dirty="0" err="1" smtClean="0">
                <a:solidFill>
                  <a:srgbClr val="FF0000"/>
                </a:solidFill>
                <a:latin typeface="Times New Roman" pitchFamily="18" charset="0"/>
                <a:cs typeface="Times New Roman" pitchFamily="18" charset="0"/>
              </a:rPr>
              <a:t>Đường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mạch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khí</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nén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là</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loại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kín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có</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trao</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đổi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khí</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vào</a:t>
            </a:r>
            <a:r>
              <a:rPr lang="en-US" altLang="ko-KR" sz="950" dirty="0" smtClean="0">
                <a:solidFill>
                  <a:srgbClr val="FF0000"/>
                </a:solidFill>
                <a:latin typeface="Times New Roman" pitchFamily="18" charset="0"/>
                <a:cs typeface="Times New Roman" pitchFamily="18" charset="0"/>
              </a:rPr>
              <a:t>/</a:t>
            </a:r>
            <a:r>
              <a:rPr lang="en-US" altLang="ko-KR" sz="950" dirty="0" err="1" smtClean="0">
                <a:solidFill>
                  <a:srgbClr val="FF0000"/>
                </a:solidFill>
                <a:latin typeface="Times New Roman" pitchFamily="18" charset="0"/>
                <a:cs typeface="Times New Roman" pitchFamily="18" charset="0"/>
              </a:rPr>
              <a:t>khí</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thảo</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ra</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với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không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khí</a:t>
            </a:r>
            <a:r>
              <a:rPr lang="en-US" altLang="ko-KR" sz="950" dirty="0" smtClean="0">
                <a:solidFill>
                  <a:srgbClr val="FF0000"/>
                </a:solidFill>
                <a:latin typeface="Times New Roman" pitchFamily="18" charset="0"/>
                <a:cs typeface="Times New Roman" pitchFamily="18" charset="0"/>
              </a:rPr>
              <a:t> </a:t>
            </a:r>
            <a:r>
              <a:rPr lang="en-US" altLang="ko-KR" sz="950" err="1" smtClean="0">
                <a:solidFill>
                  <a:srgbClr val="FF0000"/>
                </a:solidFill>
                <a:latin typeface="Times New Roman" pitchFamily="18" charset="0"/>
                <a:cs typeface="Times New Roman" pitchFamily="18" charset="0"/>
              </a:rPr>
              <a:t>bên</a:t>
            </a:r>
            <a:r>
              <a:rPr lang="en-US" altLang="ko-KR" sz="950" smtClean="0">
                <a:solidFill>
                  <a:srgbClr val="FF0000"/>
                </a:solidFill>
                <a:latin typeface="Times New Roman" pitchFamily="18" charset="0"/>
                <a:cs typeface="Times New Roman" pitchFamily="18" charset="0"/>
              </a:rPr>
              <a:t> ngoài,cần </a:t>
            </a:r>
            <a:r>
              <a:rPr lang="en-US" altLang="ko-KR" sz="950" dirty="0" err="1" smtClean="0">
                <a:solidFill>
                  <a:srgbClr val="FF0000"/>
                </a:solidFill>
                <a:latin typeface="Times New Roman" pitchFamily="18" charset="0"/>
                <a:cs typeface="Times New Roman" pitchFamily="18" charset="0"/>
              </a:rPr>
              <a:t>đường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ống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hồi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giống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như</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mạch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thủy</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lực</a:t>
            </a:r>
            <a:r>
              <a:rPr lang="en-US" altLang="ko-KR" sz="950" dirty="0" smtClean="0">
                <a:solidFill>
                  <a:srgbClr val="FF0000"/>
                </a:solidFill>
                <a:latin typeface="Times New Roman" pitchFamily="18" charset="0"/>
                <a:cs typeface="Times New Roman" pitchFamily="18" charset="0"/>
              </a:rPr>
              <a:t>.</a:t>
            </a:r>
            <a:endParaRPr lang="en-US" altLang="ko-KR" sz="950" dirty="0">
              <a:solidFill>
                <a:srgbClr val="FF0000"/>
              </a:solidFill>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 </a:t>
            </a:r>
            <a:r>
              <a:rPr lang="en-US" altLang="ko-KR" sz="950" dirty="0" smtClean="0">
                <a:latin typeface="Times New Roman" pitchFamily="18" charset="0"/>
                <a:cs typeface="Times New Roman" pitchFamily="18" charset="0"/>
              </a:rPr>
              <a:t>Do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hay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nhớt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tổn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so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thủy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smtClean="0">
                <a:latin typeface="Times New Roman" pitchFamily="18" charset="0"/>
                <a:cs typeface="Times New Roman" pitchFamily="18" charset="0"/>
              </a:rPr>
              <a:t>Do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dù</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dùng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đồng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thời</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thiết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cùng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cũng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sảy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ra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ảnh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hưởng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giữa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 </a:t>
            </a:r>
            <a:r>
              <a:rPr lang="en-US" altLang="ko-KR" sz="950" dirty="0" smtClean="0">
                <a:latin typeface="Times New Roman" pitchFamily="18" charset="0"/>
                <a:cs typeface="Times New Roman" pitchFamily="18" charset="0"/>
              </a:rPr>
              <a:t>Ở </a:t>
            </a:r>
            <a:r>
              <a:rPr lang="en-US" altLang="ko-KR" sz="950" dirty="0" err="1" smtClean="0">
                <a:latin typeface="Times New Roman" pitchFamily="18" charset="0"/>
                <a:cs typeface="Times New Roman" pitchFamily="18" charset="0"/>
              </a:rPr>
              <a:t>khía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tổn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lượng</a:t>
            </a:r>
            <a:r>
              <a:rPr lang="en-US" altLang="ko-KR" sz="950" dirty="0" smtClean="0">
                <a:latin typeface="Times New Roman" pitchFamily="18" charset="0"/>
                <a:cs typeface="Times New Roman" pitchFamily="18" charset="0"/>
              </a:rPr>
              <a:t> di </a:t>
            </a:r>
            <a:r>
              <a:rPr lang="en-US" altLang="ko-KR" sz="950" dirty="0" err="1" smtClean="0">
                <a:latin typeface="Times New Roman" pitchFamily="18" charset="0"/>
                <a:cs typeface="Times New Roman" pitchFamily="18" charset="0"/>
              </a:rPr>
              <a:t>chuyển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ảnh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hưởng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giữa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thiết</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lắp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đến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góc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35" name="Rectangle 7"/>
          <p:cNvSpPr>
            <a:spLocks noChangeArrowheads="1"/>
          </p:cNvSpPr>
          <p:nvPr/>
        </p:nvSpPr>
        <p:spPr bwMode="auto">
          <a:xfrm>
            <a:off x="3429000" y="1136576"/>
            <a:ext cx="312420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ea typeface="돋움" pitchFamily="50" charset="-127"/>
                <a:cs typeface="Times New Roman" pitchFamily="18" charset="0"/>
              </a:rPr>
              <a:t>57</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sau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loại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ống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nén</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nào</a:t>
            </a:r>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dirty="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OOOO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ống</a:t>
            </a:r>
            <a:r>
              <a:rPr lang="en-US" altLang="ko-KR" sz="950" dirty="0" smtClean="0">
                <a:latin typeface="Times New Roman" pitchFamily="18" charset="0"/>
                <a:ea typeface="돋움" pitchFamily="50" charset="-127"/>
                <a:cs typeface="Times New Roman" pitchFamily="18" charset="0"/>
              </a:rPr>
              <a:t> di </a:t>
            </a:r>
            <a:r>
              <a:rPr lang="en-US" altLang="ko-KR" sz="950" dirty="0" err="1" smtClean="0">
                <a:latin typeface="Times New Roman" pitchFamily="18" charset="0"/>
                <a:ea typeface="돋움" pitchFamily="50" charset="-127"/>
                <a:cs typeface="Times New Roman" pitchFamily="18" charset="0"/>
              </a:rPr>
              <a:t>chuyển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từ</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nguồn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đến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máy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hoặc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thiết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bị</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Còn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chia </a:t>
            </a:r>
            <a:r>
              <a:rPr lang="en-US" altLang="ko-KR" sz="950" dirty="0" err="1" smtClean="0">
                <a:latin typeface="Times New Roman" pitchFamily="18" charset="0"/>
                <a:ea typeface="돋움" pitchFamily="50" charset="-127"/>
                <a:cs typeface="Times New Roman" pitchFamily="18" charset="0"/>
              </a:rPr>
              <a:t>làm</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hai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loại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ống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chính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lắp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đặt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xưởng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ống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phân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nhánh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nối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từ</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đến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máy</a:t>
            </a:r>
            <a:r>
              <a:rPr lang="en-US" altLang="ko-KR" sz="950" dirty="0" smtClean="0">
                <a:latin typeface="Times New Roman" pitchFamily="18" charset="0"/>
                <a:ea typeface="돋움" pitchFamily="50" charset="-127"/>
                <a:cs typeface="Times New Roman" pitchFamily="18" charset="0"/>
              </a:rPr>
              <a:t> </a:t>
            </a:r>
            <a:r>
              <a:rPr lang="ko-KR" altLang="en-US" sz="950" dirty="0" smtClean="0">
                <a:latin typeface="Times New Roman" pitchFamily="18" charset="0"/>
                <a:ea typeface="돋움" pitchFamily="50" charset="-127"/>
                <a:cs typeface="Times New Roman" pitchFamily="18" charset="0"/>
              </a:rPr>
              <a:t>”</a:t>
            </a:r>
            <a:endParaRPr lang="ko-KR" altLang="en-US"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Ống</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xả</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solidFill>
                  <a:srgbClr val="FF0000"/>
                </a:solidFill>
                <a:latin typeface="Times New Roman" pitchFamily="18" charset="0"/>
                <a:ea typeface="돋움" pitchFamily="50" charset="-127"/>
                <a:cs typeface="Times New Roman" pitchFamily="18" charset="0"/>
              </a:rPr>
              <a:t>B.</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dirty="0" err="1">
                <a:solidFill>
                  <a:srgbClr val="FF0000"/>
                </a:solidFill>
                <a:latin typeface="Times New Roman" pitchFamily="18" charset="0"/>
                <a:ea typeface="돋움" pitchFamily="50" charset="-127"/>
                <a:cs typeface="Times New Roman" pitchFamily="18" charset="0"/>
              </a:rPr>
              <a:t>Ố</a:t>
            </a:r>
            <a:r>
              <a:rPr lang="en-US" altLang="ko-KR" sz="950" smtClean="0">
                <a:solidFill>
                  <a:srgbClr val="FF0000"/>
                </a:solidFill>
                <a:latin typeface="Times New Roman" pitchFamily="18" charset="0"/>
                <a:ea typeface="돋움" pitchFamily="50" charset="-127"/>
                <a:cs typeface="Times New Roman" pitchFamily="18" charset="0"/>
              </a:rPr>
              <a:t>ng </a:t>
            </a:r>
            <a:r>
              <a:rPr lang="en-US" altLang="ko-KR" sz="950" dirty="0" err="1" smtClean="0">
                <a:solidFill>
                  <a:srgbClr val="FF0000"/>
                </a:solidFill>
                <a:latin typeface="Times New Roman" pitchFamily="18" charset="0"/>
                <a:ea typeface="돋움" pitchFamily="50" charset="-127"/>
                <a:cs typeface="Times New Roman" pitchFamily="18" charset="0"/>
              </a:rPr>
              <a:t>thông</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err="1" smtClean="0">
                <a:solidFill>
                  <a:srgbClr val="FF0000"/>
                </a:solidFill>
                <a:latin typeface="Times New Roman" pitchFamily="18" charset="0"/>
                <a:ea typeface="돋움" pitchFamily="50" charset="-127"/>
                <a:cs typeface="Times New Roman" pitchFamily="18" charset="0"/>
              </a:rPr>
              <a:t>kh</a:t>
            </a:r>
            <a:r>
              <a:rPr lang="en-US" altLang="ko-KR" sz="950" err="1" smtClean="0">
                <a:latin typeface="Times New Roman" pitchFamily="18" charset="0"/>
                <a:ea typeface="돋움" pitchFamily="50" charset="-127"/>
                <a:cs typeface="Times New Roman" pitchFamily="18" charset="0"/>
              </a:rPr>
              <a:t>í</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 Ống </a:t>
            </a:r>
            <a:r>
              <a:rPr lang="en-US" altLang="ko-KR" sz="950" dirty="0" err="1" smtClean="0">
                <a:latin typeface="Times New Roman" pitchFamily="18" charset="0"/>
                <a:ea typeface="돋움" pitchFamily="50" charset="-127"/>
                <a:cs typeface="Times New Roman" pitchFamily="18" charset="0"/>
              </a:rPr>
              <a:t>điều</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khiển</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Ống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hút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endParaRPr lang="ko-KR" altLang="en-US" sz="950" dirty="0">
              <a:latin typeface="Times New Roman" pitchFamily="18" charset="0"/>
              <a:ea typeface="돋움" pitchFamily="50" charset="-127"/>
              <a:cs typeface="Times New Roman" pitchFamily="18" charset="0"/>
            </a:endParaRPr>
          </a:p>
        </p:txBody>
      </p:sp>
      <p:grpSp>
        <p:nvGrpSpPr>
          <p:cNvPr id="36" name="Group 35"/>
          <p:cNvGrpSpPr/>
          <p:nvPr/>
        </p:nvGrpSpPr>
        <p:grpSpPr>
          <a:xfrm>
            <a:off x="3458765" y="3080792"/>
            <a:ext cx="3138885" cy="1408078"/>
            <a:chOff x="3458765" y="1161871"/>
            <a:chExt cx="3138885" cy="1408078"/>
          </a:xfrm>
        </p:grpSpPr>
        <p:sp>
          <p:nvSpPr>
            <p:cNvPr id="37" name="Rectangle 23"/>
            <p:cNvSpPr>
              <a:spLocks noChangeArrowheads="1"/>
            </p:cNvSpPr>
            <p:nvPr/>
          </p:nvSpPr>
          <p:spPr bwMode="auto">
            <a:xfrm>
              <a:off x="3473450" y="1161871"/>
              <a:ext cx="3124200"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58</a:t>
              </a:r>
              <a:r>
                <a:rPr lang="en-US" altLang="ko-KR" sz="950" dirty="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Cylinder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đúng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dirty="0">
                  <a:latin typeface="Times New Roman" pitchFamily="18" charset="0"/>
                  <a:cs typeface="Times New Roman" pitchFamily="18" charset="0"/>
                </a:rPr>
                <a:t> </a:t>
              </a: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Cylinder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đơn</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Cylinder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đôi</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C.</a:t>
              </a:r>
              <a:r>
                <a:rPr lang="ko-KR" altLang="en-US" sz="950" smtClean="0">
                  <a:solidFill>
                    <a:srgbClr val="FF0000"/>
                  </a:solidFill>
                  <a:latin typeface="Times New Roman" pitchFamily="18" charset="0"/>
                  <a:cs typeface="Times New Roman" pitchFamily="18" charset="0"/>
                </a:rPr>
                <a:t> </a:t>
              </a:r>
              <a:r>
                <a:rPr lang="en-US" altLang="ko-KR" sz="950">
                  <a:solidFill>
                    <a:srgbClr val="FF0000"/>
                  </a:solidFill>
                  <a:latin typeface="Times New Roman" pitchFamily="18" charset="0"/>
                  <a:cs typeface="Times New Roman" pitchFamily="18" charset="0"/>
                </a:rPr>
                <a:t>C</a:t>
              </a:r>
              <a:r>
                <a:rPr lang="en-US" altLang="ko-KR" sz="950" smtClean="0">
                  <a:solidFill>
                    <a:srgbClr val="FF0000"/>
                  </a:solidFill>
                  <a:latin typeface="Times New Roman" pitchFamily="18" charset="0"/>
                  <a:cs typeface="Times New Roman" pitchFamily="18" charset="0"/>
                </a:rPr>
                <a:t>ylinder </a:t>
              </a:r>
              <a:r>
                <a:rPr lang="en-US" altLang="ko-KR" sz="950">
                  <a:solidFill>
                    <a:srgbClr val="FF0000"/>
                  </a:solidFill>
                  <a:latin typeface="Times New Roman" pitchFamily="18" charset="0"/>
                  <a:cs typeface="Times New Roman" pitchFamily="18" charset="0"/>
                </a:rPr>
                <a:t>Diaphragm </a:t>
              </a:r>
              <a:r>
                <a:rPr lang="en-US" altLang="ko-KR" sz="950" smtClean="0">
                  <a:solidFill>
                    <a:srgbClr val="FF000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Cylinder Tandem</a:t>
              </a:r>
              <a:endParaRPr lang="ko-KR" altLang="en-US" sz="950" dirty="0">
                <a:latin typeface="Times New Roman" pitchFamily="18" charset="0"/>
                <a:cs typeface="Times New Roman" pitchFamily="18" charset="0"/>
              </a:endParaRPr>
            </a:p>
          </p:txBody>
        </p:sp>
        <p:sp>
          <p:nvSpPr>
            <p:cNvPr id="38" name="Rectangle 24"/>
            <p:cNvSpPr>
              <a:spLocks noChangeArrowheads="1"/>
            </p:cNvSpPr>
            <p:nvPr/>
          </p:nvSpPr>
          <p:spPr bwMode="auto">
            <a:xfrm>
              <a:off x="3458765" y="1371600"/>
              <a:ext cx="3094435" cy="641349"/>
            </a:xfrm>
            <a:prstGeom prst="rect">
              <a:avLst/>
            </a:prstGeom>
            <a:noFill/>
            <a:ln w="9525">
              <a:solidFill>
                <a:srgbClr val="808080"/>
              </a:solidFill>
              <a:prstDash val="sysDot"/>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smtClean="0">
                  <a:latin typeface="Times New Roman" pitchFamily="18" charset="0"/>
                  <a:ea typeface="돋움" pitchFamily="50" charset="-127"/>
                  <a:cs typeface="Times New Roman" pitchFamily="18" charset="0"/>
                </a:rPr>
                <a:t>Cylinder </a:t>
              </a:r>
              <a:r>
                <a:rPr lang="en-US" altLang="ko-KR" sz="950" dirty="0" err="1" smtClean="0">
                  <a:latin typeface="Times New Roman" pitchFamily="18" charset="0"/>
                  <a:ea typeface="돋움" pitchFamily="50" charset="-127"/>
                  <a:cs typeface="Times New Roman" pitchFamily="18" charset="0"/>
                </a:rPr>
                <a:t>này</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thước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nhỏ</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cấu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trúc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hơn</a:t>
              </a:r>
              <a:r>
                <a:rPr lang="en-US" altLang="ko-KR" sz="950" dirty="0" smtClean="0">
                  <a:latin typeface="Times New Roman" pitchFamily="18" charset="0"/>
                  <a:ea typeface="돋움" pitchFamily="50" charset="-127"/>
                  <a:cs typeface="Times New Roman" pitchFamily="18" charset="0"/>
                </a:rPr>
                <a:t> so </a:t>
              </a:r>
            </a:p>
            <a:p>
              <a:pPr eaLnBrk="1" hangingPunct="1"/>
              <a:r>
                <a:rPr lang="en-US" altLang="ko-KR" sz="950" dirty="0" err="1">
                  <a:latin typeface="Times New Roman" pitchFamily="18" charset="0"/>
                  <a:ea typeface="돋움" pitchFamily="50" charset="-127"/>
                  <a:cs typeface="Times New Roman" pitchFamily="18" charset="0"/>
                </a:rPr>
                <a:t>v</a:t>
              </a:r>
              <a:r>
                <a:rPr lang="en-US" altLang="ko-KR" sz="950" dirty="0" err="1" smtClean="0">
                  <a:latin typeface="Times New Roman" pitchFamily="18" charset="0"/>
                  <a:ea typeface="돋움" pitchFamily="50" charset="-127"/>
                  <a:cs typeface="Times New Roman" pitchFamily="18" charset="0"/>
                </a:rPr>
                <a:t>ới</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loại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pittong</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tiện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việc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lắp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đặt</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đang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p>
            <a:p>
              <a:pPr eaLnBrk="1" hangingPunct="1"/>
              <a:r>
                <a:rPr lang="en-US" altLang="ko-KR" sz="950" dirty="0" err="1">
                  <a:latin typeface="Times New Roman" pitchFamily="18" charset="0"/>
                  <a:ea typeface="돋움" pitchFamily="50" charset="-127"/>
                  <a:cs typeface="Times New Roman" pitchFamily="18" charset="0"/>
                </a:rPr>
                <a:t>d</a:t>
              </a:r>
              <a:r>
                <a:rPr lang="en-US" altLang="ko-KR" sz="950" dirty="0" err="1" smtClean="0">
                  <a:latin typeface="Times New Roman" pitchFamily="18" charset="0"/>
                  <a:ea typeface="돋움" pitchFamily="50" charset="-127"/>
                  <a:cs typeface="Times New Roman" pitchFamily="18" charset="0"/>
                </a:rPr>
                <a:t>ụng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nhiều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để</a:t>
              </a:r>
              <a:r>
                <a:rPr lang="en-US" altLang="ko-KR" sz="950" dirty="0" smtClean="0">
                  <a:latin typeface="Times New Roman" pitchFamily="18" charset="0"/>
                  <a:ea typeface="돋움" pitchFamily="50" charset="-127"/>
                  <a:cs typeface="Times New Roman" pitchFamily="18" charset="0"/>
                </a:rPr>
                <a:t> clamping.</a:t>
              </a:r>
              <a:r>
                <a:rPr lang="en-US" altLang="ko-KR" sz="950" dirty="0">
                  <a:latin typeface="Times New Roman" pitchFamily="18" charset="0"/>
                  <a:ea typeface="돋움" pitchFamily="50" charset="-127"/>
                  <a:cs typeface="Times New Roman" pitchFamily="18" charset="0"/>
                </a:rPr>
                <a:t> </a:t>
              </a:r>
            </a:p>
            <a:p>
              <a:pPr eaLnBrk="1" hangingPunct="1"/>
              <a:r>
                <a:rPr lang="en-US" altLang="ko-KR" sz="950" dirty="0" err="1" smtClean="0">
                  <a:latin typeface="Times New Roman" pitchFamily="18" charset="0"/>
                  <a:ea typeface="돋움" pitchFamily="50" charset="-127"/>
                  <a:cs typeface="Times New Roman" pitchFamily="18" charset="0"/>
                </a:rPr>
                <a:t>Quãng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tối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khoảng</a:t>
              </a:r>
              <a:r>
                <a:rPr lang="en-US" altLang="ko-KR" sz="950" dirty="0" smtClean="0">
                  <a:latin typeface="Times New Roman" pitchFamily="18" charset="0"/>
                  <a:ea typeface="돋움" pitchFamily="50" charset="-127"/>
                  <a:cs typeface="Times New Roman" pitchFamily="18" charset="0"/>
                </a:rPr>
                <a:t> </a:t>
              </a:r>
              <a:r>
                <a:rPr lang="ko-KR" altLang="en-US" sz="950" dirty="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5[㎜] </a:t>
              </a:r>
              <a:endParaRPr lang="ko-KR" altLang="en-US" sz="950" dirty="0">
                <a:latin typeface="Times New Roman" pitchFamily="18" charset="0"/>
                <a:ea typeface="돋움" pitchFamily="50" charset="-127"/>
                <a:cs typeface="Times New Roman" pitchFamily="18" charset="0"/>
              </a:endParaRPr>
            </a:p>
          </p:txBody>
        </p:sp>
      </p:grpSp>
      <p:grpSp>
        <p:nvGrpSpPr>
          <p:cNvPr id="41" name="Group 40"/>
          <p:cNvGrpSpPr/>
          <p:nvPr/>
        </p:nvGrpSpPr>
        <p:grpSpPr>
          <a:xfrm>
            <a:off x="3429000" y="5366943"/>
            <a:ext cx="3190082" cy="2285241"/>
            <a:chOff x="3429000" y="2771775"/>
            <a:chExt cx="3190082" cy="2285241"/>
          </a:xfrm>
        </p:grpSpPr>
        <p:sp>
          <p:nvSpPr>
            <p:cNvPr id="42" name="Rectangle 26"/>
            <p:cNvSpPr>
              <a:spLocks noChangeArrowheads="1"/>
            </p:cNvSpPr>
            <p:nvPr/>
          </p:nvSpPr>
          <p:spPr bwMode="auto">
            <a:xfrm>
              <a:off x="3429000" y="2771775"/>
              <a:ext cx="3190082" cy="228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ea typeface="돋움" pitchFamily="50" charset="-127"/>
                  <a:cs typeface="Times New Roman" pitchFamily="18" charset="0"/>
                </a:rPr>
                <a:t>59</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gọi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để</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dấu</a:t>
              </a:r>
              <a:r>
                <a:rPr lang="en-US" altLang="ko-KR" sz="950" smtClean="0">
                  <a:latin typeface="Times New Roman" pitchFamily="18" charset="0"/>
                  <a:ea typeface="돋움" pitchFamily="50" charset="-127"/>
                  <a:cs typeface="Times New Roman" pitchFamily="18" charset="0"/>
                </a:rPr>
                <a:t> (?) </a:t>
              </a:r>
              <a:r>
                <a:rPr lang="en-US" altLang="ko-KR" sz="950" dirty="0" err="1">
                  <a:latin typeface="Times New Roman" pitchFamily="18" charset="0"/>
                  <a:ea typeface="돋움" pitchFamily="50" charset="-127"/>
                  <a:cs typeface="Times New Roman" pitchFamily="18" charset="0"/>
                </a:rPr>
                <a:t>t</a:t>
              </a:r>
              <a:r>
                <a:rPr lang="en-US" altLang="ko-KR" sz="950" dirty="0" err="1" smtClean="0">
                  <a:latin typeface="Times New Roman" pitchFamily="18" charset="0"/>
                  <a:ea typeface="돋움" pitchFamily="50" charset="-127"/>
                  <a:cs typeface="Times New Roman" pitchFamily="18" charset="0"/>
                </a:rPr>
                <a:t>rong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gì</a:t>
              </a:r>
              <a:r>
                <a:rPr lang="en-US" altLang="ko-KR" sz="950" dirty="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smtClean="0">
                  <a:latin typeface="Times New Roman" panose="02020603050405020304" pitchFamily="18" charset="0"/>
                  <a:cs typeface="Times New Roman" panose="02020603050405020304" pitchFamily="18" charset="0"/>
                </a:rPr>
                <a:t>Vòng làm kín</a:t>
              </a:r>
              <a:r>
                <a:rPr lang="ko-KR" altLang="en-US" sz="950" smtClean="0">
                  <a:latin typeface="Times New Roman" panose="02020603050405020304" pitchFamily="18" charset="0"/>
                  <a:cs typeface="Times New Roman" panose="02020603050405020304"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Đệm giảm chấn</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anose="02020603050405020304" pitchFamily="18" charset="0"/>
                  <a:cs typeface="Times New Roman" panose="02020603050405020304" pitchFamily="18" charset="0"/>
                </a:rPr>
                <a:t>Piston</a:t>
              </a:r>
              <a:r>
                <a:rPr lang="ko-KR" altLang="en-US" sz="950" smtClean="0">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D.</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Vòng giảm chấn</a:t>
              </a:r>
              <a:endParaRPr lang="ko-KR" altLang="en-US" sz="950" dirty="0">
                <a:solidFill>
                  <a:srgbClr val="FF0000"/>
                </a:solidFill>
                <a:latin typeface="Times New Roman" pitchFamily="18" charset="0"/>
                <a:ea typeface="돋움" pitchFamily="50" charset="-127"/>
                <a:cs typeface="Times New Roman" pitchFamily="18" charset="0"/>
              </a:endParaRPr>
            </a:p>
          </p:txBody>
        </p:sp>
        <p:grpSp>
          <p:nvGrpSpPr>
            <p:cNvPr id="43" name="Group 27"/>
            <p:cNvGrpSpPr>
              <a:grpSpLocks/>
            </p:cNvGrpSpPr>
            <p:nvPr/>
          </p:nvGrpSpPr>
          <p:grpSpPr bwMode="auto">
            <a:xfrm>
              <a:off x="3657600" y="3053780"/>
              <a:ext cx="2537934" cy="1343277"/>
              <a:chOff x="2215" y="4481"/>
              <a:chExt cx="1834" cy="984"/>
            </a:xfrm>
          </p:grpSpPr>
          <p:pic>
            <p:nvPicPr>
              <p:cNvPr id="44" name="Picture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15" y="4481"/>
                <a:ext cx="1834" cy="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Text Box 29"/>
              <p:cNvSpPr txBox="1">
                <a:spLocks noChangeArrowheads="1"/>
              </p:cNvSpPr>
              <p:nvPr/>
            </p:nvSpPr>
            <p:spPr bwMode="auto">
              <a:xfrm>
                <a:off x="2777" y="5290"/>
                <a:ext cx="279" cy="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b="1">
                    <a:latin typeface="Times New Roman" pitchFamily="18" charset="0"/>
                    <a:ea typeface="돋움" pitchFamily="50" charset="-127"/>
                    <a:cs typeface="Times New Roman" pitchFamily="18" charset="0"/>
                  </a:rPr>
                  <a:t>( ? )</a:t>
                </a:r>
              </a:p>
            </p:txBody>
          </p:sp>
        </p:grpSp>
      </p:grpSp>
      <p:sp>
        <p:nvSpPr>
          <p:cNvPr id="46" name="Rectangle 34"/>
          <p:cNvSpPr>
            <a:spLocks noChangeArrowheads="1"/>
          </p:cNvSpPr>
          <p:nvPr/>
        </p:nvSpPr>
        <p:spPr bwMode="auto">
          <a:xfrm>
            <a:off x="3429000" y="7959333"/>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6</a:t>
            </a:r>
            <a:r>
              <a:rPr lang="en-US" altLang="ko-KR" sz="950" smtClean="0">
                <a:latin typeface="Times New Roman" pitchFamily="18" charset="0"/>
                <a:ea typeface="돋움" pitchFamily="50" charset="-127"/>
                <a:cs typeface="Times New Roman" pitchFamily="18" charset="0"/>
              </a:rPr>
              <a:t>0</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Phân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loại</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theo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lắp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phương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lắp</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nào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phù</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hợp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nội</a:t>
            </a:r>
            <a:r>
              <a:rPr lang="en-US" altLang="ko-KR" sz="950" dirty="0" smtClean="0">
                <a:latin typeface="Times New Roman" pitchFamily="18" charset="0"/>
                <a:ea typeface="돋움" pitchFamily="50" charset="-127"/>
                <a:cs typeface="Times New Roman" pitchFamily="18" charset="0"/>
              </a:rPr>
              <a:t> dung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dirty="0">
                <a:latin typeface="Times New Roman" pitchFamily="18" charset="0"/>
                <a:ea typeface="돋움" pitchFamily="50" charset="-127"/>
                <a:cs typeface="Times New Roman" pitchFamily="18" charset="0"/>
              </a:rPr>
              <a:t> “ </a:t>
            </a:r>
            <a:r>
              <a:rPr lang="en-US" altLang="ko-KR" sz="950" dirty="0" err="1" smtClean="0">
                <a:latin typeface="Times New Roman" pitchFamily="18" charset="0"/>
                <a:ea typeface="돋움" pitchFamily="50" charset="-127"/>
                <a:cs typeface="Times New Roman" pitchFamily="18" charset="0"/>
              </a:rPr>
              <a:t>Phụ</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vận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động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tịnh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tiến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lắp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chắc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chắt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nhất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số</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lắp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này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đồng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nhất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trục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tâm</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hướng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vận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động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phụ</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tải</a:t>
            </a:r>
            <a:r>
              <a:rPr lang="en-US" altLang="ko-KR" sz="950" dirty="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a:t>
            </a: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dirty="0" smtClean="0">
                <a:latin typeface="Times New Roman" pitchFamily="18" charset="0"/>
                <a:ea typeface="돋움" pitchFamily="50" charset="-127"/>
                <a:cs typeface="Times New Roman" pitchFamily="18" charset="0"/>
              </a:rPr>
              <a:t>Foot </a:t>
            </a:r>
            <a:r>
              <a:rPr lang="en-US" altLang="ko-KR" sz="950" smtClean="0">
                <a:latin typeface="Times New Roman" pitchFamily="18" charset="0"/>
                <a:ea typeface="돋움" pitchFamily="50" charset="-127"/>
                <a:cs typeface="Times New Roman" pitchFamily="18" charset="0"/>
              </a:rPr>
              <a:t>Type</a:t>
            </a:r>
            <a:r>
              <a:rPr lang="ko-KR" altLang="en-US" sz="950" smtClean="0">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B.</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dirty="0">
                <a:solidFill>
                  <a:srgbClr val="FF0000"/>
                </a:solidFill>
                <a:latin typeface="Times New Roman" pitchFamily="18" charset="0"/>
                <a:ea typeface="돋움" pitchFamily="50" charset="-127"/>
                <a:cs typeface="Times New Roman" pitchFamily="18" charset="0"/>
              </a:rPr>
              <a:t>F</a:t>
            </a:r>
            <a:r>
              <a:rPr lang="en-US" altLang="ko-KR" sz="950" smtClean="0">
                <a:solidFill>
                  <a:srgbClr val="FF0000"/>
                </a:solidFill>
                <a:latin typeface="Times New Roman" pitchFamily="18" charset="0"/>
                <a:ea typeface="돋움" pitchFamily="50" charset="-127"/>
                <a:cs typeface="Times New Roman" pitchFamily="18" charset="0"/>
              </a:rPr>
              <a:t>lange </a:t>
            </a:r>
            <a:r>
              <a:rPr lang="en-US" altLang="ko-KR" sz="950" dirty="0" smtClean="0">
                <a:solidFill>
                  <a:srgbClr val="FF0000"/>
                </a:solidFill>
                <a:latin typeface="Times New Roman" pitchFamily="18" charset="0"/>
                <a:ea typeface="돋움" pitchFamily="50" charset="-127"/>
                <a:cs typeface="Times New Roman" pitchFamily="18" charset="0"/>
              </a:rPr>
              <a:t>type </a:t>
            </a:r>
            <a:endParaRPr lang="ko-KR" altLang="en-US" sz="950" dirty="0">
              <a:solidFill>
                <a:srgbClr val="FF0000"/>
              </a:solidFill>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L</a:t>
            </a:r>
            <a:r>
              <a:rPr lang="en-US" altLang="ko-KR" sz="950" smtClean="0">
                <a:latin typeface="Times New Roman" pitchFamily="18" charset="0"/>
                <a:ea typeface="돋움" pitchFamily="50" charset="-127"/>
                <a:cs typeface="Times New Roman" pitchFamily="18" charset="0"/>
              </a:rPr>
              <a:t>oại </a:t>
            </a:r>
            <a:r>
              <a:rPr lang="en-US" altLang="ko-KR" sz="950" dirty="0" err="1" smtClean="0">
                <a:latin typeface="Times New Roman" pitchFamily="18" charset="0"/>
                <a:ea typeface="돋움" pitchFamily="50" charset="-127"/>
                <a:cs typeface="Times New Roman" pitchFamily="18" charset="0"/>
              </a:rPr>
              <a:t>kẹp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chữ</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U</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dirty="0" err="1">
                <a:latin typeface="Times New Roman" pitchFamily="18" charset="0"/>
                <a:ea typeface="돋움" pitchFamily="50" charset="-127"/>
                <a:cs typeface="Times New Roman" pitchFamily="18" charset="0"/>
              </a:rPr>
              <a:t>L</a:t>
            </a:r>
            <a:r>
              <a:rPr lang="en-US" altLang="ko-KR" sz="950" smtClean="0">
                <a:latin typeface="Times New Roman" pitchFamily="18" charset="0"/>
                <a:ea typeface="돋움" pitchFamily="50" charset="-127"/>
                <a:cs typeface="Times New Roman" pitchFamily="18" charset="0"/>
              </a:rPr>
              <a:t>oại </a:t>
            </a:r>
            <a:r>
              <a:rPr lang="en-US" altLang="ko-KR" sz="950" dirty="0" err="1" smtClean="0">
                <a:latin typeface="Times New Roman" pitchFamily="18" charset="0"/>
                <a:ea typeface="돋움" pitchFamily="50" charset="-127"/>
                <a:cs typeface="Times New Roman" pitchFamily="18" charset="0"/>
              </a:rPr>
              <a:t>trục</a:t>
            </a:r>
            <a:r>
              <a:rPr lang="en-US" altLang="ko-KR" sz="950" dirty="0" smtClean="0">
                <a:latin typeface="Times New Roman" pitchFamily="18" charset="0"/>
                <a:ea typeface="돋움" pitchFamily="50" charset="-127"/>
                <a:cs typeface="Times New Roman" pitchFamily="18" charset="0"/>
              </a:rPr>
              <a:t> quay</a:t>
            </a:r>
            <a:endParaRPr lang="ko-KR" altLang="en-US" sz="950" dirty="0">
              <a:latin typeface="Times New Roman" pitchFamily="18" charset="0"/>
              <a:ea typeface="돋움" pitchFamily="50" charset="-127"/>
              <a:cs typeface="Times New Roman" pitchFamily="18" charset="0"/>
            </a:endParaRPr>
          </a:p>
        </p:txBody>
      </p:sp>
    </p:spTree>
    <p:extLst>
      <p:ext uri="{BB962C8B-B14F-4D97-AF65-F5344CB8AC3E}">
        <p14:creationId xmlns:p14="http://schemas.microsoft.com/office/powerpoint/2010/main" val="421097364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solidFill>
                  <a:srgbClr val="000000"/>
                </a:solidFill>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solidFill>
                  <a:srgbClr val="000000"/>
                </a:solidFill>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p:txBody>
      </p:sp>
      <p:sp>
        <p:nvSpPr>
          <p:cNvPr id="32" name="Rectangle 7"/>
          <p:cNvSpPr>
            <a:spLocks noChangeArrowheads="1"/>
          </p:cNvSpPr>
          <p:nvPr/>
        </p:nvSpPr>
        <p:spPr bwMode="auto">
          <a:xfrm>
            <a:off x="188640" y="12085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Trong tiêu chuẩn công nghiệp của Hàn Quốc có bao nhiêu ngành </a:t>
            </a:r>
            <a:r>
              <a:rPr lang="vi-VN" altLang="ko-KR" sz="950" smtClean="0">
                <a:latin typeface="Times New Roman" pitchFamily="18" charset="0"/>
                <a:ea typeface="LG Smart_H Regular" panose="020B0600000101010101" pitchFamily="34" charset="-127"/>
                <a:cs typeface="Times New Roman" pitchFamily="18" charset="0"/>
              </a:rPr>
              <a:t>nghề?</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10</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15</a:t>
            </a: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20</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25</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37" name="Rectangle 7"/>
          <p:cNvSpPr>
            <a:spLocks noChangeArrowheads="1"/>
          </p:cNvSpPr>
          <p:nvPr/>
        </p:nvSpPr>
        <p:spPr bwMode="auto">
          <a:xfrm>
            <a:off x="184150" y="2608613"/>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Trục nào cần phải quan tâm đến cả độ mài mòn bên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Spindl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Arbor</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Transmission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Axle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Chốt dùng để cố định ốc sau khi nối bolt với nut.Sau khi khoan lỗ trên bolt, gắn chốt pin và tách hai đầu chốt ra.Vậy loại nào đang được nhắc </a:t>
            </a:r>
            <a:r>
              <a:rPr lang="vi-VN" altLang="ko-KR" sz="950" smtClean="0">
                <a:latin typeface="Times New Roman" pitchFamily="18" charset="0"/>
                <a:ea typeface="LG Smart_H Regular" panose="020B0600000101010101" pitchFamily="34" charset="-127"/>
                <a:cs typeface="Times New Roman" pitchFamily="18" charset="0"/>
              </a:rPr>
              <a:t>tới?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Chốt </a:t>
            </a:r>
            <a:r>
              <a:rPr lang="vi-VN" altLang="ko-KR" sz="950">
                <a:solidFill>
                  <a:srgbClr val="FF0000"/>
                </a:solidFill>
                <a:latin typeface="Times New Roman" pitchFamily="18" charset="0"/>
                <a:ea typeface="LG Smart_H Regular" panose="020B0600000101010101" pitchFamily="34" charset="-127"/>
                <a:cs typeface="Times New Roman" pitchFamily="18" charset="0"/>
              </a:rPr>
              <a:t>hãm(split pin</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Chốt côn(taper pin</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fr-FR" altLang="ko-KR" sz="950">
                <a:latin typeface="Times New Roman" pitchFamily="18" charset="0"/>
                <a:ea typeface="LG Smart_H Regular" panose="020B0600000101010101" pitchFamily="34" charset="-127"/>
                <a:cs typeface="Times New Roman" pitchFamily="18" charset="0"/>
              </a:rPr>
              <a:t>Chốt bình hành(parallel pin</a:t>
            </a:r>
            <a:r>
              <a:rPr lang="fr-FR"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fr-FR" altLang="ko-KR" sz="950">
                <a:latin typeface="Times New Roman" pitchFamily="18" charset="0"/>
                <a:ea typeface="LG Smart_H Regular" panose="020B0600000101010101" pitchFamily="34" charset="-127"/>
                <a:cs typeface="Times New Roman" pitchFamily="18" charset="0"/>
              </a:rPr>
              <a:t>Knuckle pin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Máy giảm tốc nào có cấu tạo vỏ ngoài khép kín nên ngăn chặn được bụi bẩn từ bên </a:t>
            </a:r>
            <a:r>
              <a:rPr lang="vi-VN" altLang="ko-KR" sz="950" smtClean="0">
                <a:latin typeface="Times New Roman" pitchFamily="18" charset="0"/>
                <a:ea typeface="LG Smart_H Regular" panose="020B0600000101010101" pitchFamily="34" charset="-127"/>
                <a:cs typeface="Times New Roman" pitchFamily="18" charset="0"/>
              </a:rPr>
              <a:t>ngoài?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giảm tốc </a:t>
            </a:r>
            <a:r>
              <a:rPr lang="vi-VN" altLang="ko-KR" sz="950" smtClean="0">
                <a:latin typeface="Times New Roman" pitchFamily="18" charset="0"/>
                <a:ea typeface="LG Smart_H Regular" panose="020B0600000101010101" pitchFamily="34" charset="-127"/>
                <a:cs typeface="Times New Roman" pitchFamily="18" charset="0"/>
              </a:rPr>
              <a:t>Cyclo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giảm tốc </a:t>
            </a:r>
            <a:r>
              <a:rPr lang="vi-VN" altLang="ko-KR" sz="950" smtClean="0">
                <a:latin typeface="Times New Roman" pitchFamily="18" charset="0"/>
                <a:ea typeface="LG Smart_H Regular" panose="020B0600000101010101" pitchFamily="34" charset="-127"/>
                <a:cs typeface="Times New Roman" pitchFamily="18" charset="0"/>
              </a:rPr>
              <a:t>RV</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Máy giảm tốc bánh răng hành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tinh</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Harmonic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5" name="Rectangle 7"/>
          <p:cNvSpPr>
            <a:spLocks noChangeArrowheads="1"/>
          </p:cNvSpPr>
          <p:nvPr/>
        </p:nvSpPr>
        <p:spPr bwMode="auto">
          <a:xfrm>
            <a:off x="3379882" y="60717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Hình nào là </a:t>
            </a:r>
            <a:r>
              <a:rPr lang="en-US" altLang="ko-KR" sz="950">
                <a:latin typeface="Times New Roman" pitchFamily="18" charset="0"/>
                <a:ea typeface="LG Smart_H Regular" panose="020B0600000101010101" pitchFamily="34" charset="-127"/>
                <a:cs typeface="Times New Roman" pitchFamily="18" charset="0"/>
              </a:rPr>
              <a:t>Ball Spline dạng Straight-sided </a:t>
            </a:r>
            <a:r>
              <a:rPr lang="en-US" altLang="ko-KR" sz="950" smtClean="0">
                <a:latin typeface="Times New Roman" pitchFamily="18" charset="0"/>
                <a:ea typeface="LG Smart_H Regular" panose="020B0600000101010101" pitchFamily="34" charset="-127"/>
                <a:cs typeface="Times New Roman" pitchFamily="18" charset="0"/>
              </a:rPr>
              <a:t>spline</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                                      </a:t>
            </a:r>
            <a:r>
              <a:rPr lang="en-US" altLang="ko-KR" sz="950" smtClean="0">
                <a:latin typeface="Times New Roman" pitchFamily="18" charset="0"/>
                <a:ea typeface="LG Smart_H Regular" panose="020B0600000101010101" pitchFamily="34" charset="-127"/>
                <a:cs typeface="Times New Roman" pitchFamily="18" charset="0"/>
              </a:rPr>
              <a:t>B.</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C.                                       D.</a:t>
            </a:r>
          </a:p>
        </p:txBody>
      </p:sp>
      <p:sp>
        <p:nvSpPr>
          <p:cNvPr id="46" name="Rectangle 7"/>
          <p:cNvSpPr>
            <a:spLocks noChangeArrowheads="1"/>
          </p:cNvSpPr>
          <p:nvPr/>
        </p:nvSpPr>
        <p:spPr bwMode="auto">
          <a:xfrm>
            <a:off x="3417858" y="442887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a:t>
            </a:r>
            <a:r>
              <a:rPr lang="vi-VN" altLang="ko-KR" sz="950">
                <a:latin typeface="Times New Roman" pitchFamily="18" charset="0"/>
                <a:ea typeface="LG Smart_H Regular" panose="020B0600000101010101" pitchFamily="34" charset="-127"/>
                <a:cs typeface="Times New Roman" pitchFamily="18" charset="0"/>
              </a:rPr>
              <a:t>Phân loại theo phương thức chế tạo Ball Screw thì có tất cả mấy </a:t>
            </a:r>
            <a:r>
              <a:rPr lang="vi-VN" altLang="ko-KR" sz="950" smtClean="0">
                <a:latin typeface="Times New Roman" pitchFamily="18" charset="0"/>
                <a:ea typeface="LG Smart_H Regular" panose="020B0600000101010101" pitchFamily="34" charset="-127"/>
                <a:cs typeface="Times New Roman" pitchFamily="18" charset="0"/>
              </a:rPr>
              <a:t>loại?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 </a:t>
            </a:r>
            <a:r>
              <a:rPr lang="vi-VN" altLang="ko-KR" sz="950" smtClean="0">
                <a:latin typeface="Times New Roman" pitchFamily="18" charset="0"/>
                <a:ea typeface="LG Smart_H Regular" panose="020B0600000101010101" pitchFamily="34" charset="-127"/>
                <a:cs typeface="Times New Roman" pitchFamily="18" charset="0"/>
              </a:rPr>
              <a:t>loại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2 loại</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3</a:t>
            </a:r>
            <a:r>
              <a:rPr lang="vi-VN" altLang="ko-KR" sz="950" smtClean="0">
                <a:latin typeface="Times New Roman" pitchFamily="18" charset="0"/>
                <a:ea typeface="LG Smart_H Regular" panose="020B0600000101010101" pitchFamily="34" charset="-127"/>
                <a:cs typeface="Times New Roman" pitchFamily="18" charset="0"/>
              </a:rPr>
              <a:t> loại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4</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loại</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7" name="Rectangle 7"/>
          <p:cNvSpPr>
            <a:spLocks noChangeArrowheads="1"/>
          </p:cNvSpPr>
          <p:nvPr/>
        </p:nvSpPr>
        <p:spPr bwMode="auto">
          <a:xfrm>
            <a:off x="3409102" y="7946122"/>
            <a:ext cx="3180502"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Loại mỡ sử dụng nhiều nhất trong phòng </a:t>
            </a:r>
            <a:r>
              <a:rPr lang="vi-VN" altLang="ko-KR" sz="950" smtClean="0">
                <a:latin typeface="Times New Roman" pitchFamily="18" charset="0"/>
                <a:ea typeface="LG Smart_H Regular" panose="020B0600000101010101" pitchFamily="34" charset="-127"/>
                <a:cs typeface="Times New Roman" pitchFamily="18" charset="0"/>
              </a:rPr>
              <a:t>sạch?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AFE</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AFF</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DR-07</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DSF-3000</a:t>
            </a:r>
            <a:endParaRPr lang="en-US" altLang="ko-KR" sz="950" smtClean="0">
              <a:latin typeface="Times New Roman" pitchFamily="18" charset="0"/>
              <a:ea typeface="LG Smart_H Regular" panose="020B0600000101010101" pitchFamily="34" charset="-127"/>
              <a:cs typeface="Times New Roman" pitchFamily="18" charset="0"/>
            </a:endParaRPr>
          </a:p>
        </p:txBody>
      </p:sp>
      <p:grpSp>
        <p:nvGrpSpPr>
          <p:cNvPr id="6" name="Group 5"/>
          <p:cNvGrpSpPr/>
          <p:nvPr/>
        </p:nvGrpSpPr>
        <p:grpSpPr>
          <a:xfrm>
            <a:off x="204048" y="4376936"/>
            <a:ext cx="3180502" cy="969496"/>
            <a:chOff x="204048" y="4376936"/>
            <a:chExt cx="3180502" cy="969496"/>
          </a:xfrm>
        </p:grpSpPr>
        <p:sp>
          <p:nvSpPr>
            <p:cNvPr id="38" name="Rectangle 7"/>
            <p:cNvSpPr>
              <a:spLocks noChangeArrowheads="1"/>
            </p:cNvSpPr>
            <p:nvPr/>
          </p:nvSpPr>
          <p:spPr bwMode="auto">
            <a:xfrm>
              <a:off x="204048" y="43769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Hình ảnh của vòng bi sau đây có tên gọi là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Angular </a:t>
              </a:r>
              <a:r>
                <a:rPr lang="vi-VN" altLang="ko-KR" sz="950">
                  <a:latin typeface="Times New Roman" pitchFamily="18" charset="0"/>
                  <a:ea typeface="LG Smart_H Regular" panose="020B0600000101010101" pitchFamily="34" charset="-127"/>
                  <a:cs typeface="Times New Roman" pitchFamily="18" charset="0"/>
                </a:rPr>
                <a:t>ball bearing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fr-FR" altLang="ko-KR" sz="950" smtClean="0">
                  <a:latin typeface="Times New Roman" pitchFamily="18" charset="0"/>
                  <a:ea typeface="LG Smart_H Regular" panose="020B0600000101010101" pitchFamily="34" charset="-127"/>
                  <a:cs typeface="Times New Roman" pitchFamily="18" charset="0"/>
                </a:rPr>
                <a:t>Self-aligning</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Single row deep groove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Magneto ball bearing</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9" name="Picture 28"/>
            <p:cNvPicPr>
              <a:picLocks noChangeAspect="1"/>
            </p:cNvPicPr>
            <p:nvPr/>
          </p:nvPicPr>
          <p:blipFill>
            <a:blip r:embed="rId3"/>
            <a:stretch>
              <a:fillRect/>
            </a:stretch>
          </p:blipFill>
          <p:spPr>
            <a:xfrm>
              <a:off x="2060848" y="4625042"/>
              <a:ext cx="903054" cy="721390"/>
            </a:xfrm>
            <a:prstGeom prst="rect">
              <a:avLst/>
            </a:prstGeom>
          </p:spPr>
        </p:pic>
      </p:grpSp>
      <p:grpSp>
        <p:nvGrpSpPr>
          <p:cNvPr id="8" name="Group 7"/>
          <p:cNvGrpSpPr/>
          <p:nvPr/>
        </p:nvGrpSpPr>
        <p:grpSpPr>
          <a:xfrm>
            <a:off x="228600" y="6071736"/>
            <a:ext cx="3180502" cy="1047953"/>
            <a:chOff x="228600" y="6071736"/>
            <a:chExt cx="3180502" cy="1047953"/>
          </a:xfrm>
        </p:grpSpPr>
        <p:sp>
          <p:nvSpPr>
            <p:cNvPr id="40" name="Rectangle 7"/>
            <p:cNvSpPr>
              <a:spLocks noChangeArrowheads="1"/>
            </p:cNvSpPr>
            <p:nvPr/>
          </p:nvSpPr>
          <p:spPr bwMode="auto">
            <a:xfrm>
              <a:off x="228600" y="60717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Hình ảnh của khớp nối của hình dưới đây được gọi là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Flange Coupling</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Coupling cao </a:t>
              </a:r>
              <a:r>
                <a:rPr lang="en-US" altLang="ko-KR" sz="950" smtClean="0">
                  <a:latin typeface="Times New Roman" pitchFamily="18" charset="0"/>
                  <a:ea typeface="LG Smart_H Regular" panose="020B0600000101010101" pitchFamily="34" charset="-127"/>
                  <a:cs typeface="Times New Roman" pitchFamily="18" charset="0"/>
                </a:rPr>
                <a:t>su</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Gear </a:t>
              </a:r>
              <a:r>
                <a:rPr lang="vi-VN" altLang="ko-KR" sz="950" smtClean="0">
                  <a:latin typeface="Times New Roman" pitchFamily="18" charset="0"/>
                  <a:ea typeface="LG Smart_H Regular" panose="020B0600000101010101" pitchFamily="34" charset="-127"/>
                  <a:cs typeface="Times New Roman" pitchFamily="18" charset="0"/>
                </a:rPr>
                <a:t>Coupling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Serration Couplingl</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31" name="Picture 30"/>
            <p:cNvPicPr>
              <a:picLocks noChangeAspect="1"/>
            </p:cNvPicPr>
            <p:nvPr/>
          </p:nvPicPr>
          <p:blipFill>
            <a:blip r:embed="rId4"/>
            <a:stretch>
              <a:fillRect/>
            </a:stretch>
          </p:blipFill>
          <p:spPr>
            <a:xfrm>
              <a:off x="2060848" y="6328553"/>
              <a:ext cx="1094804" cy="791136"/>
            </a:xfrm>
            <a:prstGeom prst="rect">
              <a:avLst/>
            </a:prstGeom>
          </p:spPr>
        </p:pic>
      </p:grpSp>
      <p:grpSp>
        <p:nvGrpSpPr>
          <p:cNvPr id="10" name="Group 9"/>
          <p:cNvGrpSpPr/>
          <p:nvPr/>
        </p:nvGrpSpPr>
        <p:grpSpPr>
          <a:xfrm>
            <a:off x="163885" y="7871936"/>
            <a:ext cx="3180502" cy="969496"/>
            <a:chOff x="163885" y="7871936"/>
            <a:chExt cx="3180502" cy="969496"/>
          </a:xfrm>
        </p:grpSpPr>
        <p:sp>
          <p:nvSpPr>
            <p:cNvPr id="42" name="Rectangle 7"/>
            <p:cNvSpPr>
              <a:spLocks noChangeArrowheads="1"/>
            </p:cNvSpPr>
            <p:nvPr/>
          </p:nvSpPr>
          <p:spPr bwMode="auto">
            <a:xfrm>
              <a:off x="163885" y="78719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Hình ảnh của chốt ( Pin)  trong hình bên dưới gọi </a:t>
              </a:r>
              <a:r>
                <a:rPr lang="vi-VN" altLang="ko-KR" sz="950" smtClean="0">
                  <a:latin typeface="Times New Roman" pitchFamily="18" charset="0"/>
                  <a:ea typeface="LG Smart_H Regular" panose="020B0600000101010101" pitchFamily="34" charset="-127"/>
                  <a:cs typeface="Times New Roman" pitchFamily="18" charset="0"/>
                </a:rPr>
                <a:t>là?</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Knuckle 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Chốt côn(taper pin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Spring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Chốt hãm(split pin)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33" name="Picture 32"/>
            <p:cNvPicPr>
              <a:picLocks noChangeAspect="1"/>
            </p:cNvPicPr>
            <p:nvPr/>
          </p:nvPicPr>
          <p:blipFill>
            <a:blip r:embed="rId5"/>
            <a:stretch>
              <a:fillRect/>
            </a:stretch>
          </p:blipFill>
          <p:spPr>
            <a:xfrm>
              <a:off x="1987193" y="8121352"/>
              <a:ext cx="1081767" cy="649060"/>
            </a:xfrm>
            <a:prstGeom prst="rect">
              <a:avLst/>
            </a:prstGeom>
          </p:spPr>
        </p:pic>
      </p:grpSp>
      <p:grpSp>
        <p:nvGrpSpPr>
          <p:cNvPr id="11" name="Group 10"/>
          <p:cNvGrpSpPr/>
          <p:nvPr/>
        </p:nvGrpSpPr>
        <p:grpSpPr>
          <a:xfrm>
            <a:off x="4012953" y="6284283"/>
            <a:ext cx="2004858" cy="890333"/>
            <a:chOff x="4012953" y="6284283"/>
            <a:chExt cx="2004858" cy="890333"/>
          </a:xfrm>
        </p:grpSpPr>
        <p:pic>
          <p:nvPicPr>
            <p:cNvPr id="35" name="Picture 34"/>
            <p:cNvPicPr>
              <a:picLocks noChangeAspect="1"/>
            </p:cNvPicPr>
            <p:nvPr/>
          </p:nvPicPr>
          <p:blipFill>
            <a:blip r:embed="rId6"/>
            <a:stretch>
              <a:fillRect/>
            </a:stretch>
          </p:blipFill>
          <p:spPr>
            <a:xfrm>
              <a:off x="4012953" y="6284283"/>
              <a:ext cx="544693" cy="424748"/>
            </a:xfrm>
            <a:prstGeom prst="rect">
              <a:avLst/>
            </a:prstGeom>
          </p:spPr>
        </p:pic>
        <p:pic>
          <p:nvPicPr>
            <p:cNvPr id="36" name="Picture 35"/>
            <p:cNvPicPr>
              <a:picLocks noChangeAspect="1"/>
            </p:cNvPicPr>
            <p:nvPr/>
          </p:nvPicPr>
          <p:blipFill>
            <a:blip r:embed="rId7"/>
            <a:stretch>
              <a:fillRect/>
            </a:stretch>
          </p:blipFill>
          <p:spPr>
            <a:xfrm>
              <a:off x="5595610" y="6724121"/>
              <a:ext cx="422201" cy="418567"/>
            </a:xfrm>
            <a:prstGeom prst="rect">
              <a:avLst/>
            </a:prstGeom>
          </p:spPr>
        </p:pic>
        <p:pic>
          <p:nvPicPr>
            <p:cNvPr id="53" name="Picture 52"/>
            <p:cNvPicPr>
              <a:picLocks noChangeAspect="1"/>
            </p:cNvPicPr>
            <p:nvPr/>
          </p:nvPicPr>
          <p:blipFill>
            <a:blip r:embed="rId8"/>
            <a:stretch>
              <a:fillRect/>
            </a:stretch>
          </p:blipFill>
          <p:spPr>
            <a:xfrm>
              <a:off x="4073521" y="6756049"/>
              <a:ext cx="423556" cy="418567"/>
            </a:xfrm>
            <a:prstGeom prst="rect">
              <a:avLst/>
            </a:prstGeom>
          </p:spPr>
        </p:pic>
        <p:pic>
          <p:nvPicPr>
            <p:cNvPr id="54" name="Picture 53"/>
            <p:cNvPicPr>
              <a:picLocks noChangeAspect="1"/>
            </p:cNvPicPr>
            <p:nvPr/>
          </p:nvPicPr>
          <p:blipFill>
            <a:blip r:embed="rId9"/>
            <a:stretch>
              <a:fillRect/>
            </a:stretch>
          </p:blipFill>
          <p:spPr>
            <a:xfrm>
              <a:off x="5536809" y="6284283"/>
              <a:ext cx="420809" cy="406204"/>
            </a:xfrm>
            <a:prstGeom prst="rect">
              <a:avLst/>
            </a:prstGeom>
          </p:spPr>
        </p:pic>
      </p:grpSp>
    </p:spTree>
    <p:extLst>
      <p:ext uri="{BB962C8B-B14F-4D97-AF65-F5344CB8AC3E}">
        <p14:creationId xmlns:p14="http://schemas.microsoft.com/office/powerpoint/2010/main" val="1811891578"/>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228600" y="809164"/>
            <a:ext cx="3215481"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grpSp>
        <p:nvGrpSpPr>
          <p:cNvPr id="3" name="Group 2"/>
          <p:cNvGrpSpPr/>
          <p:nvPr/>
        </p:nvGrpSpPr>
        <p:grpSpPr>
          <a:xfrm>
            <a:off x="256445" y="4977432"/>
            <a:ext cx="3124200" cy="1055688"/>
            <a:chOff x="242433" y="3124274"/>
            <a:chExt cx="3124200" cy="1055688"/>
          </a:xfrm>
        </p:grpSpPr>
        <p:sp>
          <p:nvSpPr>
            <p:cNvPr id="33" name="Rectangle 36"/>
            <p:cNvSpPr>
              <a:spLocks noChangeArrowheads="1"/>
            </p:cNvSpPr>
            <p:nvPr/>
          </p:nvSpPr>
          <p:spPr bwMode="auto">
            <a:xfrm>
              <a:off x="242433" y="3124274"/>
              <a:ext cx="3124200" cy="954877"/>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ko-KR" sz="950">
                  <a:latin typeface="Times New Roman" panose="02020603050405020304" pitchFamily="18" charset="0"/>
                  <a:cs typeface="Times New Roman" panose="02020603050405020304" pitchFamily="18" charset="0"/>
                </a:rPr>
                <a:t>7</a:t>
              </a:r>
              <a:r>
                <a:rPr lang="en-US" altLang="ko-KR" sz="950" smtClean="0">
                  <a:latin typeface="Times New Roman" panose="02020603050405020304" pitchFamily="18" charset="0"/>
                  <a:cs typeface="Times New Roman" panose="02020603050405020304" pitchFamily="18" charset="0"/>
                </a:rPr>
                <a:t>3. </a:t>
              </a:r>
              <a:r>
                <a:rPr lang="en-US" altLang="ko-KR" sz="950">
                  <a:latin typeface="Times New Roman" panose="02020603050405020304" pitchFamily="18" charset="0"/>
                  <a:cs typeface="Times New Roman" panose="02020603050405020304" pitchFamily="18" charset="0"/>
                </a:rPr>
                <a:t>Tên gọi của phần A ở hình sau là gì</a:t>
              </a:r>
              <a:r>
                <a:rPr lang="ko-KR" altLang="en-US" sz="950">
                  <a:latin typeface="Times New Roman" panose="02020603050405020304" pitchFamily="18" charset="0"/>
                  <a:cs typeface="Times New Roman" panose="02020603050405020304" pitchFamily="18" charset="0"/>
                </a:rPr>
                <a:t> </a:t>
              </a:r>
              <a:r>
                <a:rPr lang="en-US" altLang="ko-KR" sz="950" smtClean="0">
                  <a:latin typeface="Times New Roman" panose="02020603050405020304" pitchFamily="18" charset="0"/>
                  <a:cs typeface="Times New Roman" panose="02020603050405020304" pitchFamily="18" charset="0"/>
                </a:rPr>
                <a:t>?</a:t>
              </a:r>
              <a:endParaRPr lang="en-US" altLang="ko-KR" sz="950">
                <a:latin typeface="Times New Roman" panose="02020603050405020304" pitchFamily="18" charset="0"/>
                <a:cs typeface="Times New Roman" panose="02020603050405020304" pitchFamily="18" charset="0"/>
              </a:endParaRPr>
            </a:p>
            <a:p>
              <a:pPr>
                <a:lnSpc>
                  <a:spcPct val="70000"/>
                </a:lnSpc>
                <a:spcBef>
                  <a:spcPct val="50000"/>
                </a:spcBef>
              </a:pPr>
              <a:r>
                <a:rPr lang="en-US" altLang="ko-KR" sz="950" smtClean="0">
                  <a:latin typeface="Times New Roman" panose="02020603050405020304" pitchFamily="18" charset="0"/>
                  <a:ea typeface="돋움" pitchFamily="50" charset="-127"/>
                  <a:cs typeface="Times New Roman" panose="02020603050405020304" pitchFamily="18" charset="0"/>
                </a:rPr>
                <a:t>A. </a:t>
              </a:r>
              <a:r>
                <a:rPr lang="en-US" altLang="ko-KR" sz="950">
                  <a:latin typeface="Times New Roman" panose="02020603050405020304" pitchFamily="18" charset="0"/>
                  <a:ea typeface="돋움" pitchFamily="50" charset="-127"/>
                  <a:cs typeface="Times New Roman" panose="02020603050405020304" pitchFamily="18" charset="0"/>
                </a:rPr>
                <a:t>C</a:t>
              </a:r>
              <a:r>
                <a:rPr lang="ko-KR" altLang="en-US" sz="950">
                  <a:latin typeface="Times New Roman" panose="02020603050405020304" pitchFamily="18" charset="0"/>
                  <a:ea typeface="돋움" pitchFamily="50" charset="-127"/>
                  <a:cs typeface="Times New Roman" panose="02020603050405020304" pitchFamily="18" charset="0"/>
                </a:rPr>
                <a:t> </a:t>
              </a:r>
              <a:r>
                <a:rPr lang="en-US" altLang="ko-KR" sz="950">
                  <a:latin typeface="Times New Roman" panose="02020603050405020304" pitchFamily="18" charset="0"/>
                  <a:ea typeface="돋움" pitchFamily="50" charset="-127"/>
                  <a:cs typeface="Times New Roman" panose="02020603050405020304" pitchFamily="18" charset="0"/>
                </a:rPr>
                <a:t>cap</a:t>
              </a:r>
              <a:endParaRPr lang="ko-KR" altLang="en-US" sz="950">
                <a:latin typeface="Times New Roman" panose="02020603050405020304" pitchFamily="18" charset="0"/>
                <a:ea typeface="돋움" pitchFamily="50" charset="-127"/>
                <a:cs typeface="Times New Roman" panose="02020603050405020304" pitchFamily="18" charset="0"/>
              </a:endParaRPr>
            </a:p>
            <a:p>
              <a:pPr>
                <a:lnSpc>
                  <a:spcPct val="70000"/>
                </a:lnSpc>
                <a:spcBef>
                  <a:spcPct val="50000"/>
                </a:spcBef>
              </a:pPr>
              <a:r>
                <a:rPr lang="en-US" altLang="ko-KR" sz="950" smtClean="0">
                  <a:latin typeface="Times New Roman" panose="02020603050405020304" pitchFamily="18" charset="0"/>
                  <a:ea typeface="돋움" pitchFamily="50" charset="-127"/>
                  <a:cs typeface="Times New Roman" panose="02020603050405020304" pitchFamily="18" charset="0"/>
                </a:rPr>
                <a:t>B.</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a:latin typeface="Times New Roman" panose="02020603050405020304" pitchFamily="18" charset="0"/>
                  <a:ea typeface="돋움" pitchFamily="50" charset="-127"/>
                  <a:cs typeface="Times New Roman" panose="02020603050405020304" pitchFamily="18" charset="0"/>
                </a:rPr>
                <a:t>Ống ngoài</a:t>
              </a:r>
              <a:endParaRPr lang="ko-KR" altLang="en-US" sz="950">
                <a:latin typeface="Times New Roman" panose="02020603050405020304" pitchFamily="18" charset="0"/>
                <a:ea typeface="돋움" pitchFamily="50" charset="-127"/>
                <a:cs typeface="Times New Roman" panose="02020603050405020304" pitchFamily="18" charset="0"/>
              </a:endParaRPr>
            </a:p>
            <a:p>
              <a:pPr>
                <a:lnSpc>
                  <a:spcPct val="70000"/>
                </a:lnSpc>
                <a:spcBef>
                  <a:spcPct val="50000"/>
                </a:spcBef>
              </a:pPr>
              <a:r>
                <a:rPr lang="en-US" altLang="ko-KR" sz="950" smtClean="0">
                  <a:latin typeface="Times New Roman" panose="02020603050405020304" pitchFamily="18" charset="0"/>
                  <a:ea typeface="돋움" pitchFamily="50" charset="-127"/>
                  <a:cs typeface="Times New Roman" panose="02020603050405020304" pitchFamily="18" charset="0"/>
                </a:rPr>
                <a:t>C.</a:t>
              </a:r>
              <a:r>
                <a:rPr lang="ko-KR" altLang="en-US" sz="950" smtClean="0">
                  <a:latin typeface="Times New Roman" panose="02020603050405020304" pitchFamily="18" charset="0"/>
                  <a:ea typeface="돋움" pitchFamily="50" charset="-127"/>
                  <a:cs typeface="Times New Roman" panose="02020603050405020304" pitchFamily="18" charset="0"/>
                </a:rPr>
                <a:t> </a:t>
              </a:r>
              <a:r>
                <a:rPr lang="en-US" altLang="ko-KR" sz="950" smtClean="0">
                  <a:latin typeface="Times New Roman" panose="02020603050405020304" pitchFamily="18" charset="0"/>
                  <a:ea typeface="돋움" pitchFamily="50" charset="-127"/>
                  <a:cs typeface="Times New Roman" panose="02020603050405020304" pitchFamily="18" charset="0"/>
                </a:rPr>
                <a:t>End </a:t>
              </a:r>
              <a:r>
                <a:rPr lang="en-US" altLang="ko-KR" sz="950">
                  <a:latin typeface="Times New Roman" panose="02020603050405020304" pitchFamily="18" charset="0"/>
                  <a:ea typeface="돋움" pitchFamily="50" charset="-127"/>
                  <a:cs typeface="Times New Roman" panose="02020603050405020304" pitchFamily="18" charset="0"/>
                </a:rPr>
                <a:t>Plate</a:t>
              </a:r>
              <a:endParaRPr lang="ko-KR" altLang="en-US" sz="950">
                <a:latin typeface="Times New Roman" panose="02020603050405020304" pitchFamily="18" charset="0"/>
                <a:ea typeface="돋움" pitchFamily="50" charset="-127"/>
                <a:cs typeface="Times New Roman" panose="02020603050405020304" pitchFamily="18" charset="0"/>
              </a:endParaRPr>
            </a:p>
            <a:p>
              <a:pPr>
                <a:lnSpc>
                  <a:spcPct val="70000"/>
                </a:lnSpc>
                <a:spcBef>
                  <a:spcPct val="50000"/>
                </a:spcBef>
              </a:pPr>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D.</a:t>
              </a:r>
              <a:r>
                <a:rPr lang="ko-KR" altLang="en-US" sz="95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50" smtClean="0">
                  <a:solidFill>
                    <a:srgbClr val="FF0000"/>
                  </a:solidFill>
                  <a:latin typeface="Times New Roman" panose="02020603050405020304" pitchFamily="18" charset="0"/>
                  <a:ea typeface="돋움" pitchFamily="50" charset="-127"/>
                  <a:cs typeface="Times New Roman" panose="02020603050405020304" pitchFamily="18" charset="0"/>
                </a:rPr>
                <a:t>Base Plate</a:t>
              </a:r>
              <a:endParaRPr lang="ko-KR" altLang="en-US" sz="950">
                <a:solidFill>
                  <a:srgbClr val="FF0000"/>
                </a:solidFill>
                <a:latin typeface="Times New Roman" panose="02020603050405020304" pitchFamily="18" charset="0"/>
                <a:ea typeface="돋움" pitchFamily="50" charset="-127"/>
                <a:cs typeface="Times New Roman" panose="02020603050405020304" pitchFamily="18" charset="0"/>
              </a:endParaRPr>
            </a:p>
          </p:txBody>
        </p:sp>
        <p:grpSp>
          <p:nvGrpSpPr>
            <p:cNvPr id="34" name="Group 37"/>
            <p:cNvGrpSpPr>
              <a:grpSpLocks/>
            </p:cNvGrpSpPr>
            <p:nvPr/>
          </p:nvGrpSpPr>
          <p:grpSpPr bwMode="auto">
            <a:xfrm>
              <a:off x="1922008" y="3324299"/>
              <a:ext cx="1295400" cy="855663"/>
              <a:chOff x="1056" y="848"/>
              <a:chExt cx="816" cy="539"/>
            </a:xfrm>
          </p:grpSpPr>
          <p:sp>
            <p:nvSpPr>
              <p:cNvPr id="35" name="Rectangle 38"/>
              <p:cNvSpPr>
                <a:spLocks noChangeArrowheads="1"/>
              </p:cNvSpPr>
              <p:nvPr/>
            </p:nvSpPr>
            <p:spPr bwMode="auto">
              <a:xfrm>
                <a:off x="1580" y="1279"/>
                <a:ext cx="208" cy="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sz="950">
                  <a:latin typeface="Times New Roman" pitchFamily="18" charset="0"/>
                  <a:cs typeface="Times New Roman" panose="02020603050405020304" pitchFamily="18" charset="0"/>
                </a:endParaRPr>
              </a:p>
            </p:txBody>
          </p:sp>
          <p:pic>
            <p:nvPicPr>
              <p:cNvPr id="36" name="Picture 3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6" y="848"/>
                <a:ext cx="816" cy="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 name="Rectangle 40"/>
              <p:cNvSpPr>
                <a:spLocks noChangeArrowheads="1"/>
              </p:cNvSpPr>
              <p:nvPr/>
            </p:nvSpPr>
            <p:spPr bwMode="auto">
              <a:xfrm>
                <a:off x="1436" y="1292"/>
                <a:ext cx="238" cy="60"/>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950">
                    <a:latin typeface="Times New Roman" pitchFamily="18" charset="0"/>
                    <a:cs typeface="Times New Roman" panose="02020603050405020304" pitchFamily="18" charset="0"/>
                  </a:rPr>
                  <a:t>A</a:t>
                </a:r>
              </a:p>
            </p:txBody>
          </p:sp>
        </p:grpSp>
      </p:grpSp>
      <p:sp>
        <p:nvSpPr>
          <p:cNvPr id="39" name="Rectangle 11"/>
          <p:cNvSpPr>
            <a:spLocks noChangeArrowheads="1"/>
          </p:cNvSpPr>
          <p:nvPr/>
        </p:nvSpPr>
        <p:spPr bwMode="auto">
          <a:xfrm>
            <a:off x="260648" y="1245022"/>
            <a:ext cx="3186322"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smtClean="0">
                <a:latin typeface="Times New Roman" pitchFamily="18" charset="0"/>
                <a:ea typeface="돋움" pitchFamily="50" charset="-127"/>
                <a:cs typeface="Times New Roman" pitchFamily="18" charset="0"/>
              </a:rPr>
              <a:t>71</a:t>
            </a:r>
            <a:r>
              <a:rPr lang="en-US" altLang="ko-KR" sz="950">
                <a:latin typeface="Times New Roman" pitchFamily="18" charset="0"/>
                <a:ea typeface="돋움" pitchFamily="50" charset="-127"/>
                <a:cs typeface="Times New Roman" pitchFamily="18" charset="0"/>
              </a:rPr>
              <a:t>. Chọn đáp án không đúng với giải thích về </a:t>
            </a:r>
            <a:r>
              <a:rPr lang="en-US" altLang="ko-KR" sz="950" smtClean="0">
                <a:latin typeface="Times New Roman" pitchFamily="18" charset="0"/>
                <a:ea typeface="돋움" pitchFamily="50" charset="-127"/>
                <a:cs typeface="Times New Roman" pitchFamily="18" charset="0"/>
              </a:rPr>
              <a:t>điều kiện trong kỹ thuật máy </a:t>
            </a:r>
            <a:r>
              <a:rPr lang="en-US" altLang="ko-KR" sz="950">
                <a:latin typeface="Times New Roman" pitchFamily="18" charset="0"/>
                <a:ea typeface="돋움" pitchFamily="50" charset="-127"/>
                <a:cs typeface="Times New Roman" pitchFamily="18" charset="0"/>
              </a:rPr>
              <a:t>?</a:t>
            </a: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Nhận cung cấp năng lượng để làm việc có hiệu quả.</a:t>
            </a:r>
          </a:p>
          <a:p>
            <a:r>
              <a:rPr lang="en-US" altLang="ko-KR" sz="950" smtClean="0">
                <a:latin typeface="Times New Roman" pitchFamily="18" charset="0"/>
                <a:ea typeface="돋움" pitchFamily="50" charset="-127"/>
                <a:cs typeface="Times New Roman" pitchFamily="18" charset="0"/>
              </a:rPr>
              <a:t>B. </a:t>
            </a:r>
            <a:r>
              <a:rPr lang="vi-VN" altLang="ko-KR" sz="950">
                <a:latin typeface="Times New Roman" pitchFamily="18" charset="0"/>
                <a:ea typeface="돋움" pitchFamily="50" charset="-127"/>
                <a:cs typeface="Times New Roman" pitchFamily="18" charset="0"/>
              </a:rPr>
              <a:t>Các vật sau khi đã tổ hợp lại với nhau sẽ được vận hành </a:t>
            </a:r>
            <a:endParaRPr lang="en-US" altLang="ko-KR" sz="950" smtClean="0">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C. </a:t>
            </a:r>
            <a:r>
              <a:rPr lang="en-US" altLang="ko-KR" sz="950">
                <a:solidFill>
                  <a:srgbClr val="FF0000"/>
                </a:solidFill>
                <a:latin typeface="Times New Roman" pitchFamily="18" charset="0"/>
                <a:ea typeface="돋움" pitchFamily="50" charset="-127"/>
                <a:cs typeface="Times New Roman" pitchFamily="18" charset="0"/>
              </a:rPr>
              <a:t>Được gọi là động học cơ học.</a:t>
            </a:r>
          </a:p>
          <a:p>
            <a:r>
              <a:rPr lang="en-US" altLang="ko-KR" sz="950" smtClean="0">
                <a:latin typeface="Times New Roman" pitchFamily="18" charset="0"/>
                <a:ea typeface="돋움" pitchFamily="50" charset="-127"/>
                <a:cs typeface="Times New Roman" pitchFamily="18" charset="0"/>
              </a:rPr>
              <a:t>D. </a:t>
            </a:r>
            <a:r>
              <a:rPr lang="vi-VN" altLang="ko-KR" sz="950">
                <a:latin typeface="Times New Roman" pitchFamily="18" charset="0"/>
                <a:ea typeface="돋움" pitchFamily="50" charset="-127"/>
                <a:cs typeface="Times New Roman" pitchFamily="18" charset="0"/>
              </a:rPr>
              <a:t>Dựa vào ngoại lực để tạo thành tổ hợp các vật thể có sự đối kháng </a:t>
            </a:r>
            <a:r>
              <a:rPr lang="vi-VN" altLang="ko-KR" sz="950" smtClean="0">
                <a:latin typeface="Times New Roman" pitchFamily="18" charset="0"/>
                <a:ea typeface="돋움" pitchFamily="50" charset="-127"/>
                <a:cs typeface="Times New Roman" pitchFamily="18" charset="0"/>
              </a:rPr>
              <a:t>nhau</a:t>
            </a:r>
            <a:r>
              <a:rPr lang="en-US" altLang="ko-KR" sz="950" smtClean="0">
                <a:latin typeface="Times New Roman" pitchFamily="18" charset="0"/>
                <a:ea typeface="돋움" pitchFamily="50" charset="-127"/>
                <a:cs typeface="Times New Roman" pitchFamily="18" charset="0"/>
              </a:rPr>
              <a:t>.</a:t>
            </a:r>
            <a:endParaRPr lang="en-US" altLang="ko-KR" sz="950">
              <a:latin typeface="Times New Roman" pitchFamily="18" charset="0"/>
              <a:ea typeface="돋움" pitchFamily="50" charset="-127"/>
              <a:cs typeface="Times New Roman" pitchFamily="18" charset="0"/>
            </a:endParaRPr>
          </a:p>
        </p:txBody>
      </p:sp>
      <p:sp>
        <p:nvSpPr>
          <p:cNvPr id="40" name="Rectangle 18"/>
          <p:cNvSpPr>
            <a:spLocks noChangeArrowheads="1"/>
          </p:cNvSpPr>
          <p:nvPr/>
        </p:nvSpPr>
        <p:spPr bwMode="auto">
          <a:xfrm>
            <a:off x="228600" y="3413973"/>
            <a:ext cx="3133725"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latin typeface="Times New Roman" pitchFamily="18" charset="0"/>
                <a:ea typeface="돋움" pitchFamily="50" charset="-127"/>
                <a:cs typeface="Times New Roman" pitchFamily="18" charset="0"/>
              </a:rPr>
              <a:t>72</a:t>
            </a:r>
            <a:r>
              <a:rPr lang="en-US" altLang="ko-KR" sz="950">
                <a:latin typeface="Times New Roman" pitchFamily="18" charset="0"/>
                <a:ea typeface="돋움" pitchFamily="50" charset="-127"/>
                <a:cs typeface="Times New Roman" pitchFamily="18" charset="0"/>
              </a:rPr>
              <a:t>. Trục có chiều dài ngắn hơn so với đường kính là trục?</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a:t>
            </a:r>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Arbor       B</a:t>
            </a:r>
            <a:r>
              <a:rPr lang="en-US" altLang="ko-KR" sz="950">
                <a:latin typeface="Times New Roman" pitchFamily="18" charset="0"/>
                <a:ea typeface="돋움" pitchFamily="50" charset="-127"/>
                <a:cs typeface="Times New Roman" pitchFamily="18" charset="0"/>
              </a:rPr>
              <a:t>.</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Transmission       </a:t>
            </a:r>
            <a:r>
              <a:rPr lang="en-US" altLang="ko-KR" sz="950" smtClean="0">
                <a:solidFill>
                  <a:srgbClr val="FF0000"/>
                </a:solidFill>
                <a:latin typeface="Times New Roman" pitchFamily="18" charset="0"/>
                <a:ea typeface="돋움" pitchFamily="50" charset="-127"/>
                <a:cs typeface="Times New Roman" pitchFamily="18" charset="0"/>
              </a:rPr>
              <a:t>C.</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Spindle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Journal </a:t>
            </a:r>
          </a:p>
        </p:txBody>
      </p:sp>
      <p:sp>
        <p:nvSpPr>
          <p:cNvPr id="41" name="Rectangle 29"/>
          <p:cNvSpPr>
            <a:spLocks noChangeArrowheads="1"/>
          </p:cNvSpPr>
          <p:nvPr/>
        </p:nvSpPr>
        <p:spPr bwMode="auto">
          <a:xfrm>
            <a:off x="261367" y="6796172"/>
            <a:ext cx="3201196" cy="67710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smtClean="0">
                <a:latin typeface="Times New Roman" pitchFamily="18" charset="0"/>
                <a:ea typeface="돋움" pitchFamily="50" charset="-127"/>
                <a:cs typeface="Times New Roman" pitchFamily="18" charset="0"/>
              </a:rPr>
              <a:t>74</a:t>
            </a:r>
            <a:r>
              <a:rPr lang="en-US" altLang="ko-KR" sz="950">
                <a:latin typeface="Times New Roman" pitchFamily="18" charset="0"/>
                <a:ea typeface="돋움" pitchFamily="50" charset="-127"/>
                <a:cs typeface="Times New Roman" pitchFamily="18" charset="0"/>
              </a:rPr>
              <a:t>. Dưới đây là nội dung nói về cái gì? </a:t>
            </a:r>
          </a:p>
          <a:p>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Chênh lệch kích thước khi lắp </a:t>
            </a:r>
            <a:r>
              <a:rPr lang="en-US" altLang="ko-KR" sz="950" smtClean="0">
                <a:latin typeface="Times New Roman" pitchFamily="18" charset="0"/>
                <a:ea typeface="돋움" pitchFamily="50" charset="-127"/>
                <a:cs typeface="Times New Roman" pitchFamily="18" charset="0"/>
              </a:rPr>
              <a:t>vào lỗ </a:t>
            </a:r>
            <a:r>
              <a:rPr lang="en-US" altLang="ko-KR" sz="950">
                <a:latin typeface="Times New Roman" pitchFamily="18" charset="0"/>
                <a:ea typeface="돋움" pitchFamily="50" charset="-127"/>
                <a:cs typeface="Times New Roman" pitchFamily="18" charset="0"/>
              </a:rPr>
              <a:t>nhỏ </a:t>
            </a:r>
            <a:r>
              <a:rPr lang="en-US" altLang="ko-KR" sz="950" smtClean="0">
                <a:latin typeface="Times New Roman" pitchFamily="18" charset="0"/>
                <a:ea typeface="돋움" pitchFamily="50" charset="-127"/>
                <a:cs typeface="Times New Roman" pitchFamily="18" charset="0"/>
              </a:rPr>
              <a:t>và trục lớn</a:t>
            </a:r>
            <a:endParaRPr lang="ko-KR" altLang="en-US" sz="950">
              <a:latin typeface="Times New Roman" pitchFamily="18" charset="0"/>
              <a:ea typeface="돋움" pitchFamily="50" charset="-127"/>
              <a:cs typeface="Times New Roman" pitchFamily="18" charset="0"/>
            </a:endParaRPr>
          </a:p>
          <a:p>
            <a:endParaRPr lang="ko-KR" altLang="en-US"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Lắp lỏng</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C</a:t>
            </a:r>
            <a:r>
              <a:rPr lang="en-US" altLang="ko-KR" sz="950" smtClean="0">
                <a:latin typeface="Times New Roman" pitchFamily="18" charset="0"/>
                <a:ea typeface="돋움" pitchFamily="50" charset="-127"/>
                <a:cs typeface="Times New Roman" pitchFamily="18" charset="0"/>
              </a:rPr>
              <a:t>learance</a:t>
            </a:r>
            <a:r>
              <a:rPr lang="ko-KR" altLang="en-US" sz="950" smtClean="0">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C.</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Lắp chặt</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Lắp khít</a:t>
            </a:r>
            <a:endParaRPr lang="ko-KR" altLang="en-US" sz="950">
              <a:latin typeface="Times New Roman" pitchFamily="18" charset="0"/>
              <a:ea typeface="돋움" pitchFamily="50" charset="-127"/>
              <a:cs typeface="Times New Roman" pitchFamily="18" charset="0"/>
            </a:endParaRPr>
          </a:p>
        </p:txBody>
      </p:sp>
      <p:sp>
        <p:nvSpPr>
          <p:cNvPr id="42" name="Rectangle 39"/>
          <p:cNvSpPr>
            <a:spLocks noChangeArrowheads="1"/>
          </p:cNvSpPr>
          <p:nvPr/>
        </p:nvSpPr>
        <p:spPr bwMode="auto">
          <a:xfrm>
            <a:off x="256445" y="8265368"/>
            <a:ext cx="3116262"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latin typeface="Times New Roman" pitchFamily="18" charset="0"/>
                <a:ea typeface="돋움" pitchFamily="50" charset="-127"/>
                <a:cs typeface="Times New Roman" pitchFamily="18" charset="0"/>
              </a:rPr>
              <a:t>75</a:t>
            </a:r>
            <a:r>
              <a:rPr lang="en-US" altLang="ko-KR" sz="950">
                <a:latin typeface="Times New Roman" pitchFamily="18" charset="0"/>
                <a:ea typeface="돋움" pitchFamily="50" charset="-127"/>
                <a:cs typeface="Times New Roman" pitchFamily="18" charset="0"/>
              </a:rPr>
              <a:t>. Hãy chọn đáp án đúng với giải thích về Coupling?</a:t>
            </a:r>
          </a:p>
          <a:p>
            <a:r>
              <a:rPr lang="en-US" altLang="ko-KR" sz="950">
                <a:latin typeface="Times New Roman" pitchFamily="18" charset="0"/>
                <a:ea typeface="돋움" pitchFamily="50" charset="-127"/>
                <a:cs typeface="Times New Roman" pitchFamily="18" charset="0"/>
              </a:rPr>
              <a:t> “ Chủ yếu sử dụng đường kính trục dưới</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200mm.”</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Seller Coupling  </a:t>
            </a:r>
            <a:r>
              <a:rPr lang="ko-KR" altLang="en-US" sz="950">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B.</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Clamp coupling</a:t>
            </a:r>
            <a:endParaRPr lang="ko-KR" altLang="en-US" sz="950">
              <a:solidFill>
                <a:srgbClr val="FF0000"/>
              </a:solidFill>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Gear Coupling</a:t>
            </a:r>
            <a:r>
              <a:rPr lang="ko-KR" altLang="en-US"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F</a:t>
            </a:r>
            <a:r>
              <a:rPr lang="en-US" altLang="ko-KR" sz="950" smtClean="0">
                <a:latin typeface="Times New Roman" pitchFamily="18" charset="0"/>
                <a:ea typeface="돋움" pitchFamily="50" charset="-127"/>
                <a:cs typeface="Times New Roman" pitchFamily="18" charset="0"/>
              </a:rPr>
              <a:t>lange coupling</a:t>
            </a:r>
            <a:endParaRPr lang="ko-KR" altLang="en-US" sz="950">
              <a:latin typeface="Times New Roman" pitchFamily="18" charset="0"/>
              <a:ea typeface="돋움" pitchFamily="50" charset="-127"/>
              <a:cs typeface="Times New Roman" pitchFamily="18" charset="0"/>
            </a:endParaRPr>
          </a:p>
        </p:txBody>
      </p:sp>
      <p:sp>
        <p:nvSpPr>
          <p:cNvPr id="43" name="Rectangle 36"/>
          <p:cNvSpPr>
            <a:spLocks noChangeArrowheads="1"/>
          </p:cNvSpPr>
          <p:nvPr/>
        </p:nvSpPr>
        <p:spPr bwMode="auto">
          <a:xfrm>
            <a:off x="3485255" y="1136576"/>
            <a:ext cx="3124200" cy="111569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latin typeface="Times New Roman" pitchFamily="18" charset="0"/>
                <a:ea typeface="돋움" pitchFamily="50" charset="-127"/>
                <a:cs typeface="Times New Roman" pitchFamily="18" charset="0"/>
              </a:rPr>
              <a:t>76</a:t>
            </a:r>
            <a:r>
              <a:rPr lang="en-US" altLang="ko-KR" sz="950">
                <a:latin typeface="Times New Roman" pitchFamily="18" charset="0"/>
                <a:ea typeface="돋움" pitchFamily="50" charset="-127"/>
                <a:cs typeface="Times New Roman" pitchFamily="18" charset="0"/>
              </a:rPr>
              <a:t>. Chọn loại bearing </a:t>
            </a:r>
            <a:r>
              <a:rPr lang="en-US" altLang="ko-KR" sz="950" smtClean="0">
                <a:latin typeface="Times New Roman" pitchFamily="18" charset="0"/>
                <a:ea typeface="돋움" pitchFamily="50" charset="-127"/>
                <a:cs typeface="Times New Roman" pitchFamily="18" charset="0"/>
              </a:rPr>
              <a:t>có </a:t>
            </a:r>
            <a:r>
              <a:rPr lang="en-US" altLang="ko-KR" sz="950">
                <a:latin typeface="Times New Roman" pitchFamily="18" charset="0"/>
                <a:ea typeface="돋움" pitchFamily="50" charset="-127"/>
                <a:cs typeface="Times New Roman" pitchFamily="18" charset="0"/>
              </a:rPr>
              <a:t>phạm vi sử dụng lớn, là hình thức tiêu biểu nhất trong số các Rolling Bearing, có bán kính đường cong  home của quỹ đạo của vòng trong và vòng ngoài lớn </a:t>
            </a:r>
            <a:r>
              <a:rPr lang="en-US" altLang="ko-KR" sz="950" smtClean="0">
                <a:latin typeface="Times New Roman" pitchFamily="18" charset="0"/>
                <a:ea typeface="돋움" pitchFamily="50" charset="-127"/>
                <a:cs typeface="Times New Roman" pitchFamily="18" charset="0"/>
              </a:rPr>
              <a:t>hơn so với </a:t>
            </a:r>
            <a:r>
              <a:rPr lang="en-US" altLang="ko-KR" sz="950">
                <a:latin typeface="Times New Roman" pitchFamily="18" charset="0"/>
                <a:ea typeface="돋움" pitchFamily="50" charset="-127"/>
                <a:cs typeface="Times New Roman" pitchFamily="18" charset="0"/>
              </a:rPr>
              <a:t>bán kính của Ball truyền động một chút? </a:t>
            </a:r>
          </a:p>
          <a:p>
            <a:endParaRPr lang="en-US" altLang="ko-KR" sz="950" smtClean="0">
              <a:solidFill>
                <a:srgbClr val="FF0000"/>
              </a:solidFill>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A</a:t>
            </a:r>
            <a:r>
              <a:rPr lang="en-US" altLang="ko-KR" sz="950">
                <a:solidFill>
                  <a:srgbClr val="FF0000"/>
                </a:solidFill>
                <a:latin typeface="Times New Roman" pitchFamily="18" charset="0"/>
                <a:ea typeface="돋움" pitchFamily="50" charset="-127"/>
                <a:cs typeface="Times New Roman" pitchFamily="18" charset="0"/>
              </a:rPr>
              <a:t>. Single row deep groove </a:t>
            </a:r>
            <a:r>
              <a:rPr lang="en-US" altLang="ko-KR" sz="950" smtClean="0">
                <a:solidFill>
                  <a:srgbClr val="FF0000"/>
                </a:solidFill>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 Angular ball brearing</a:t>
            </a:r>
            <a:endParaRPr lang="ko-KR" altLang="en-US"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T</a:t>
            </a:r>
            <a:r>
              <a:rPr lang="en-US" altLang="ko-KR" sz="950" smtClean="0">
                <a:latin typeface="Times New Roman" pitchFamily="18" charset="0"/>
                <a:ea typeface="돋움" pitchFamily="50" charset="-127"/>
                <a:cs typeface="Times New Roman" pitchFamily="18" charset="0"/>
              </a:rPr>
              <a:t>hrust bearing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Magneto ball bearing</a:t>
            </a:r>
            <a:endParaRPr lang="ko-KR" altLang="en-US" sz="950">
              <a:latin typeface="Times New Roman" pitchFamily="18" charset="0"/>
              <a:ea typeface="돋움" pitchFamily="50" charset="-127"/>
              <a:cs typeface="Times New Roman" pitchFamily="18" charset="0"/>
            </a:endParaRPr>
          </a:p>
        </p:txBody>
      </p:sp>
      <p:sp>
        <p:nvSpPr>
          <p:cNvPr id="44" name="Rectangle 65"/>
          <p:cNvSpPr>
            <a:spLocks noChangeArrowheads="1"/>
          </p:cNvSpPr>
          <p:nvPr/>
        </p:nvSpPr>
        <p:spPr bwMode="auto">
          <a:xfrm>
            <a:off x="3462563" y="3042176"/>
            <a:ext cx="3124200"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latin typeface="Times New Roman" pitchFamily="18" charset="0"/>
                <a:ea typeface="돋움" pitchFamily="50" charset="-127"/>
                <a:cs typeface="Times New Roman" pitchFamily="18" charset="0"/>
              </a:rPr>
              <a:t>77</a:t>
            </a:r>
            <a:r>
              <a:rPr lang="en-US" altLang="ko-KR" sz="950">
                <a:latin typeface="Times New Roman" pitchFamily="18" charset="0"/>
                <a:ea typeface="돋움" pitchFamily="50" charset="-127"/>
                <a:cs typeface="Times New Roman" pitchFamily="18" charset="0"/>
              </a:rPr>
              <a:t>.  Có một loại ốc gọi là </a:t>
            </a:r>
            <a:r>
              <a:rPr lang="ko-KR" altLang="en-US" sz="950">
                <a:latin typeface="Times New Roman" pitchFamily="18" charset="0"/>
                <a:ea typeface="돋움" pitchFamily="50" charset="-127"/>
                <a:cs typeface="Times New Roman" pitchFamily="18" charset="0"/>
              </a:rPr>
              <a:t>“</a:t>
            </a:r>
            <a:r>
              <a:rPr lang="en-US" altLang="ko-KR" sz="950">
                <a:latin typeface="Times New Roman" pitchFamily="18" charset="0"/>
                <a:ea typeface="돋움" pitchFamily="50" charset="-127"/>
                <a:cs typeface="Times New Roman" pitchFamily="18" charset="0"/>
              </a:rPr>
              <a:t>M6*1” .</a:t>
            </a:r>
          </a:p>
          <a:p>
            <a:r>
              <a:rPr lang="en-US" altLang="ko-KR" sz="950">
                <a:latin typeface="Times New Roman" pitchFamily="18" charset="0"/>
                <a:ea typeface="돋움" pitchFamily="50" charset="-127"/>
                <a:cs typeface="Times New Roman" pitchFamily="18" charset="0"/>
              </a:rPr>
              <a:t>      Sau khi gắn đai ốc vào trục và cho xoay vòng, thì đai ốc sẽ di chuyển được mấy mm?</a:t>
            </a:r>
          </a:p>
          <a:p>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0.5mm</a:t>
            </a:r>
          </a:p>
          <a:p>
            <a:r>
              <a:rPr lang="en-US" altLang="ko-KR" sz="95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B. </a:t>
            </a:r>
            <a:r>
              <a:rPr lang="en-US" altLang="ko-KR" sz="950">
                <a:solidFill>
                  <a:srgbClr val="FF0000"/>
                </a:solidFill>
                <a:latin typeface="Times New Roman" pitchFamily="18" charset="0"/>
                <a:ea typeface="돋움" pitchFamily="50" charset="-127"/>
                <a:cs typeface="Times New Roman" pitchFamily="18" charset="0"/>
              </a:rPr>
              <a:t>1mm</a:t>
            </a:r>
          </a:p>
          <a:p>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3mm</a:t>
            </a:r>
          </a:p>
          <a:p>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6mm</a:t>
            </a:r>
          </a:p>
        </p:txBody>
      </p:sp>
      <p:sp>
        <p:nvSpPr>
          <p:cNvPr id="45" name="Rectangle 48"/>
          <p:cNvSpPr>
            <a:spLocks noChangeArrowheads="1"/>
          </p:cNvSpPr>
          <p:nvPr/>
        </p:nvSpPr>
        <p:spPr bwMode="auto">
          <a:xfrm>
            <a:off x="3454626" y="4403241"/>
            <a:ext cx="3132137"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latin typeface="Times New Roman" pitchFamily="18" charset="0"/>
                <a:ea typeface="돋움" pitchFamily="50" charset="-127"/>
                <a:cs typeface="Times New Roman" pitchFamily="18" charset="0"/>
              </a:rPr>
              <a:t>78</a:t>
            </a:r>
            <a:r>
              <a:rPr lang="en-US" altLang="ko-KR" sz="950">
                <a:latin typeface="Times New Roman" pitchFamily="18" charset="0"/>
                <a:ea typeface="돋움" pitchFamily="50" charset="-127"/>
                <a:cs typeface="Times New Roman" pitchFamily="18" charset="0"/>
              </a:rPr>
              <a:t>. Chọn đáp án không phải là ưu điểm của gear?</a:t>
            </a: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Truyền lực </a:t>
            </a:r>
            <a:r>
              <a:rPr lang="en-US" altLang="ko-KR" sz="950" smtClean="0">
                <a:latin typeface="Times New Roman" pitchFamily="18" charset="0"/>
                <a:ea typeface="돋움" pitchFamily="50" charset="-127"/>
                <a:cs typeface="Times New Roman" pitchFamily="18" charset="0"/>
              </a:rPr>
              <a:t>hay động lực </a:t>
            </a:r>
            <a:r>
              <a:rPr lang="en-US" altLang="ko-KR" sz="950">
                <a:latin typeface="Times New Roman" pitchFamily="18" charset="0"/>
                <a:ea typeface="돋움" pitchFamily="50" charset="-127"/>
                <a:cs typeface="Times New Roman" pitchFamily="18" charset="0"/>
              </a:rPr>
              <a:t>xoay chắc chắn.</a:t>
            </a:r>
          </a:p>
          <a:p>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Cấu trúc khác đơn giản</a:t>
            </a:r>
            <a:endParaRPr lang="ko-KR" altLang="en-US"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Tuổi thọ cao</a:t>
            </a:r>
            <a:endParaRPr lang="ko-KR" altLang="en-US" sz="950">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D.</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Truyền tải bằng chi phí vận hành chính xác</a:t>
            </a:r>
            <a:r>
              <a:rPr lang="ko-KR" altLang="en-US" sz="950">
                <a:solidFill>
                  <a:srgbClr val="FF0000"/>
                </a:solidFill>
                <a:latin typeface="Times New Roman" pitchFamily="18" charset="0"/>
                <a:ea typeface="돋움" pitchFamily="50" charset="-127"/>
                <a:cs typeface="Times New Roman" pitchFamily="18" charset="0"/>
              </a:rPr>
              <a:t> </a:t>
            </a:r>
          </a:p>
        </p:txBody>
      </p:sp>
      <p:sp>
        <p:nvSpPr>
          <p:cNvPr id="46" name="Rectangle 59"/>
          <p:cNvSpPr>
            <a:spLocks noChangeArrowheads="1"/>
          </p:cNvSpPr>
          <p:nvPr/>
        </p:nvSpPr>
        <p:spPr bwMode="auto">
          <a:xfrm>
            <a:off x="3485999" y="6145922"/>
            <a:ext cx="3132138"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smtClean="0">
                <a:latin typeface="Times New Roman" pitchFamily="18" charset="0"/>
                <a:ea typeface="돋움" pitchFamily="50" charset="-127"/>
                <a:cs typeface="Times New Roman" pitchFamily="18" charset="0"/>
              </a:rPr>
              <a:t>79</a:t>
            </a:r>
            <a:r>
              <a:rPr lang="en-US" altLang="ko-KR" sz="950">
                <a:latin typeface="Times New Roman" pitchFamily="18" charset="0"/>
                <a:ea typeface="돋움" pitchFamily="50" charset="-127"/>
                <a:cs typeface="Times New Roman" pitchFamily="18" charset="0"/>
              </a:rPr>
              <a:t>. Dưới đây là nội dung giải thích về cái gì?</a:t>
            </a:r>
          </a:p>
          <a:p>
            <a:r>
              <a:rPr lang="en-US" altLang="ko-KR" sz="950">
                <a:latin typeface="Times New Roman" pitchFamily="18" charset="0"/>
                <a:ea typeface="돋움" pitchFamily="50" charset="-127"/>
                <a:cs typeface="Times New Roman" pitchFamily="18" charset="0"/>
              </a:rPr>
              <a:t>‘là thiết bị thay đổi tốc độ sử dụng Gear, có thể nhận được lực lớn đồng thời giảm được số lần quay của phần động cơ thành số lần quay mong muốn</a:t>
            </a:r>
            <a:r>
              <a:rPr lang="ko-KR" altLang="en-US" sz="950">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A.</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Gear</a:t>
            </a:r>
            <a:r>
              <a:rPr lang="ko-KR" altLang="en-US" sz="950">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B.</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Bộ giảm tốc</a:t>
            </a:r>
            <a:r>
              <a:rPr lang="ko-KR" altLang="en-US" sz="950">
                <a:solidFill>
                  <a:srgbClr val="FF0000"/>
                </a:solidFill>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Belt</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Chain</a:t>
            </a:r>
            <a:endParaRPr lang="ko-KR" altLang="en-US" sz="950">
              <a:latin typeface="Times New Roman" pitchFamily="18" charset="0"/>
              <a:ea typeface="돋움" pitchFamily="50" charset="-127"/>
              <a:cs typeface="Times New Roman" pitchFamily="18" charset="0"/>
            </a:endParaRPr>
          </a:p>
        </p:txBody>
      </p:sp>
      <p:grpSp>
        <p:nvGrpSpPr>
          <p:cNvPr id="47" name="Group 46"/>
          <p:cNvGrpSpPr/>
          <p:nvPr/>
        </p:nvGrpSpPr>
        <p:grpSpPr>
          <a:xfrm>
            <a:off x="3419475" y="7731315"/>
            <a:ext cx="3124200" cy="969496"/>
            <a:chOff x="3429000" y="971550"/>
            <a:chExt cx="3124200" cy="969496"/>
          </a:xfrm>
        </p:grpSpPr>
        <p:sp>
          <p:nvSpPr>
            <p:cNvPr id="48" name="Rectangle 69"/>
            <p:cNvSpPr>
              <a:spLocks noChangeArrowheads="1"/>
            </p:cNvSpPr>
            <p:nvPr/>
          </p:nvSpPr>
          <p:spPr bwMode="auto">
            <a:xfrm>
              <a:off x="3429000" y="971550"/>
              <a:ext cx="3124200" cy="96949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cs typeface="Times New Roman" pitchFamily="18" charset="0"/>
                </a:rPr>
                <a:t>8</a:t>
              </a:r>
              <a:r>
                <a:rPr lang="en-US" altLang="ko-KR" sz="950" smtClean="0">
                  <a:latin typeface="Times New Roman" pitchFamily="18" charset="0"/>
                  <a:cs typeface="Times New Roman" pitchFamily="18" charset="0"/>
                </a:rPr>
                <a:t>0.Tên </a:t>
              </a:r>
              <a:r>
                <a:rPr lang="en-US" altLang="ko-KR" sz="950">
                  <a:latin typeface="Times New Roman" pitchFamily="18" charset="0"/>
                  <a:cs typeface="Times New Roman" pitchFamily="18" charset="0"/>
                </a:rPr>
                <a:t>của A trong hình dưới đây</a:t>
              </a:r>
              <a:r>
                <a:rPr lang="en-US" altLang="ko-KR" sz="950">
                  <a:latin typeface="Times New Roman" pitchFamily="18" charset="0"/>
                  <a:ea typeface="돋움" pitchFamily="50" charset="-127"/>
                  <a:cs typeface="Times New Roman" pitchFamily="18" charset="0"/>
                </a:rPr>
                <a:t>?</a:t>
              </a:r>
            </a:p>
            <a:p>
              <a:pPr>
                <a:lnSpc>
                  <a:spcPct val="50000"/>
                </a:lnSpc>
                <a:spcBef>
                  <a:spcPct val="50000"/>
                </a:spcBef>
              </a:pPr>
              <a:endParaRPr lang="en-US" altLang="ko-KR" sz="950">
                <a:latin typeface="Times New Roman" pitchFamily="18" charset="0"/>
                <a:ea typeface="돋움" pitchFamily="50" charset="-127"/>
                <a:cs typeface="Times New Roman" pitchFamily="18" charset="0"/>
              </a:endParaRPr>
            </a:p>
            <a:p>
              <a:pPr>
                <a:lnSpc>
                  <a:spcPct val="40000"/>
                </a:lnSpc>
                <a:spcBef>
                  <a:spcPct val="50000"/>
                </a:spcBef>
              </a:pPr>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a:solidFill>
                    <a:srgbClr val="FF0000"/>
                  </a:solidFill>
                  <a:latin typeface="Times New Roman" pitchFamily="18" charset="0"/>
                  <a:cs typeface="Times New Roman" pitchFamily="18" charset="0"/>
                </a:rPr>
                <a:t>Flexspline (phần giảm tốc)</a:t>
              </a:r>
              <a:endParaRPr lang="en-US" altLang="ko-KR" sz="950">
                <a:solidFill>
                  <a:srgbClr val="FF0000"/>
                </a:solidFill>
                <a:latin typeface="Times New Roman" pitchFamily="18" charset="0"/>
                <a:ea typeface="돋움" pitchFamily="50" charset="-127"/>
                <a:cs typeface="Times New Roman" pitchFamily="18" charset="0"/>
              </a:endParaRPr>
            </a:p>
            <a:p>
              <a:pPr>
                <a:lnSpc>
                  <a:spcPct val="60000"/>
                </a:lnSpc>
                <a:spcBef>
                  <a:spcPct val="50000"/>
                </a:spcBef>
              </a:pP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cs typeface="Times New Roman" pitchFamily="18" charset="0"/>
                </a:rPr>
                <a:t>Wave Generator </a:t>
              </a:r>
              <a:r>
                <a:rPr lang="en-US" altLang="ko-KR" sz="950" smtClean="0">
                  <a:latin typeface="Times New Roman" pitchFamily="18" charset="0"/>
                  <a:cs typeface="Times New Roman" pitchFamily="18" charset="0"/>
                </a:rPr>
                <a:t>(phần </a:t>
              </a:r>
              <a:r>
                <a:rPr lang="en-US" altLang="ko-KR" sz="950">
                  <a:latin typeface="Times New Roman" pitchFamily="18" charset="0"/>
                  <a:cs typeface="Times New Roman" pitchFamily="18" charset="0"/>
                </a:rPr>
                <a:t>Input) </a:t>
              </a:r>
              <a:endParaRPr lang="en-US" altLang="ko-KR" sz="950">
                <a:latin typeface="Times New Roman" pitchFamily="18" charset="0"/>
                <a:ea typeface="돋움" pitchFamily="50" charset="-127"/>
                <a:cs typeface="Times New Roman" pitchFamily="18" charset="0"/>
              </a:endParaRPr>
            </a:p>
            <a:p>
              <a:pPr>
                <a:lnSpc>
                  <a:spcPct val="50000"/>
                </a:lnSpc>
                <a:spcBef>
                  <a:spcPct val="50000"/>
                </a:spcBef>
              </a:pPr>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cs typeface="Times New Roman" pitchFamily="18" charset="0"/>
                </a:rPr>
                <a:t>Circular Spline </a:t>
              </a:r>
              <a:r>
                <a:rPr lang="en-US" altLang="ko-KR" sz="950" smtClean="0">
                  <a:latin typeface="Times New Roman" pitchFamily="18" charset="0"/>
                  <a:cs typeface="Times New Roman" pitchFamily="18" charset="0"/>
                </a:rPr>
                <a:t>(phần </a:t>
              </a:r>
              <a:r>
                <a:rPr lang="en-US" altLang="ko-KR" sz="950">
                  <a:latin typeface="Times New Roman" pitchFamily="18" charset="0"/>
                  <a:cs typeface="Times New Roman" pitchFamily="18" charset="0"/>
                </a:rPr>
                <a:t>truyền động)</a:t>
              </a:r>
              <a:r>
                <a:rPr lang="en-US" altLang="ko-KR" sz="950">
                  <a:latin typeface="Times New Roman" pitchFamily="18" charset="0"/>
                  <a:ea typeface="돋움" pitchFamily="50" charset="-127"/>
                  <a:cs typeface="Times New Roman" pitchFamily="18" charset="0"/>
                </a:rPr>
                <a:t> </a:t>
              </a:r>
            </a:p>
            <a:p>
              <a:pPr>
                <a:lnSpc>
                  <a:spcPct val="50000"/>
                </a:lnSpc>
                <a:spcBef>
                  <a:spcPct val="50000"/>
                </a:spcBef>
              </a:pPr>
              <a:r>
                <a:rPr lang="en-US" altLang="ko-KR" sz="950" smtClean="0">
                  <a:latin typeface="Times New Roman" pitchFamily="18" charset="0"/>
                  <a:ea typeface="돋움" pitchFamily="50" charset="-127"/>
                  <a:cs typeface="Times New Roman" pitchFamily="18" charset="0"/>
                </a:rPr>
                <a:t>D. Accelerator </a:t>
              </a:r>
              <a:r>
                <a:rPr lang="en-US" altLang="ko-KR" sz="950">
                  <a:latin typeface="Times New Roman" pitchFamily="18" charset="0"/>
                  <a:ea typeface="돋움" pitchFamily="50" charset="-127"/>
                  <a:cs typeface="Times New Roman" pitchFamily="18" charset="0"/>
                </a:rPr>
                <a:t>(phần gia tốc)</a:t>
              </a:r>
              <a:endParaRPr lang="en-US" altLang="ko-KR" sz="950">
                <a:latin typeface="Times New Roman" pitchFamily="18" charset="0"/>
                <a:cs typeface="Times New Roman" pitchFamily="18" charset="0"/>
              </a:endParaRPr>
            </a:p>
          </p:txBody>
        </p:sp>
        <p:pic>
          <p:nvPicPr>
            <p:cNvPr id="49" name="Picture 70"/>
            <p:cNvPicPr>
              <a:picLocks noChangeAspect="1" noChangeArrowheads="1"/>
            </p:cNvPicPr>
            <p:nvPr/>
          </p:nvPicPr>
          <p:blipFill>
            <a:blip r:embed="rId4">
              <a:extLst>
                <a:ext uri="{28A0092B-C50C-407E-A947-70E740481C1C}">
                  <a14:useLocalDpi xmlns:a14="http://schemas.microsoft.com/office/drawing/2010/main" val="0"/>
                </a:ext>
              </a:extLst>
            </a:blip>
            <a:srcRect l="36874" t="60834" r="45625" b="22499"/>
            <a:stretch>
              <a:fillRect/>
            </a:stretch>
          </p:blipFill>
          <p:spPr bwMode="auto">
            <a:xfrm>
              <a:off x="5386388" y="1052513"/>
              <a:ext cx="10668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205670698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2573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60" name="Rectangle 7"/>
          <p:cNvSpPr>
            <a:spLocks noChangeArrowheads="1"/>
          </p:cNvSpPr>
          <p:nvPr/>
        </p:nvSpPr>
        <p:spPr bwMode="auto">
          <a:xfrm>
            <a:off x="188640" y="420170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 </a:t>
            </a:r>
            <a:r>
              <a:rPr lang="vi-VN" altLang="ko-KR" sz="950">
                <a:latin typeface="Times New Roman" pitchFamily="18" charset="0"/>
                <a:ea typeface="LG Smart_H Regular" panose="020B0600000101010101" pitchFamily="34" charset="-127"/>
                <a:cs typeface="Times New Roman" pitchFamily="18" charset="0"/>
              </a:rPr>
              <a:t>Giá trị trung bình (average value) được tính như thế </a:t>
            </a:r>
            <a:r>
              <a:rPr lang="vi-VN" altLang="ko-KR" sz="950" smtClean="0">
                <a:latin typeface="Times New Roman" pitchFamily="18" charset="0"/>
                <a:ea typeface="LG Smart_H Regular" panose="020B0600000101010101" pitchFamily="34" charset="-127"/>
                <a:cs typeface="Times New Roman" pitchFamily="18" charset="0"/>
              </a:rPr>
              <a:t>nào</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0.637 x VP_P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0.637 x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VP</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0.707 x </a:t>
            </a:r>
            <a:r>
              <a:rPr lang="en-US" altLang="ko-KR" sz="950" smtClean="0">
                <a:latin typeface="Times New Roman" pitchFamily="18" charset="0"/>
                <a:ea typeface="LG Smart_H Regular" panose="020B0600000101010101" pitchFamily="34" charset="-127"/>
                <a:cs typeface="Times New Roman" pitchFamily="18" charset="0"/>
              </a:rPr>
              <a:t>VP</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0.707 x VP_P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116632" y="5569858"/>
            <a:ext cx="3384376"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Số hiệu nguyên tử Na (Natri) là 11, Lớp ngoài cùng là lớp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Lớp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M</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Lớp  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Lớp  L</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Lớp  </a:t>
            </a:r>
            <a:r>
              <a:rPr lang="vi-VN" altLang="ko-KR" sz="950">
                <a:latin typeface="Times New Roman" pitchFamily="18" charset="0"/>
                <a:ea typeface="LG Smart_H Regular" panose="020B0600000101010101" pitchFamily="34" charset="-127"/>
                <a:cs typeface="Times New Roman" pitchFamily="18" charset="0"/>
              </a:rPr>
              <a:t>K</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9" name="Rectangle 7"/>
          <p:cNvSpPr>
            <a:spLocks noChangeArrowheads="1"/>
          </p:cNvSpPr>
          <p:nvPr/>
        </p:nvSpPr>
        <p:spPr bwMode="auto">
          <a:xfrm>
            <a:off x="3448472" y="2360712"/>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 </a:t>
            </a:r>
            <a:r>
              <a:rPr lang="vi-VN" altLang="ko-KR" sz="950">
                <a:latin typeface="Times New Roman" pitchFamily="18" charset="0"/>
                <a:ea typeface="LG Smart_H Regular" panose="020B0600000101010101" pitchFamily="34" charset="-127"/>
                <a:cs typeface="Times New Roman" pitchFamily="18" charset="0"/>
              </a:rPr>
              <a:t>Chọn đáp án đúng cho mạch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Smoothing circuit</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Timer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circuit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Low-pass </a:t>
            </a:r>
            <a:r>
              <a:rPr lang="en-US" altLang="ko-KR" sz="950" smtClean="0">
                <a:latin typeface="Times New Roman" pitchFamily="18" charset="0"/>
                <a:ea typeface="LG Smart_H Regular" panose="020B0600000101010101" pitchFamily="34" charset="-127"/>
                <a:cs typeface="Times New Roman" pitchFamily="18" charset="0"/>
              </a:rPr>
              <a:t>Filter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High-pass Filter</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3" name="Rectangle 7"/>
          <p:cNvSpPr>
            <a:spLocks noChangeArrowheads="1"/>
          </p:cNvSpPr>
          <p:nvPr/>
        </p:nvSpPr>
        <p:spPr bwMode="auto">
          <a:xfrm>
            <a:off x="3429000" y="628776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Chọn đáp án đúng dưới đây về phương thức nối dây cảm </a:t>
            </a:r>
            <a:r>
              <a:rPr lang="vi-VN" altLang="ko-KR" sz="950" smtClean="0">
                <a:latin typeface="Times New Roman" pitchFamily="18" charset="0"/>
                <a:ea typeface="LG Smart_H Regular" panose="020B0600000101010101" pitchFamily="34" charset="-127"/>
                <a:cs typeface="Times New Roman" pitchFamily="18" charset="0"/>
              </a:rPr>
              <a:t>biến?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Dây nâu(-), dây trắng(+), dây đen(out),dây hồng(option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Dây nâu(+),dây xanh(-),dây trắng(out),dây hồng(option</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Dây nâu(+),dây xanh(-),dây đen(out),dây trắng(option</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Dây nâu(+),dây đen(-),dây xanh(out),dây hồng(option)</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76" name="Rectangle 7"/>
          <p:cNvSpPr>
            <a:spLocks noChangeArrowheads="1"/>
          </p:cNvSpPr>
          <p:nvPr/>
        </p:nvSpPr>
        <p:spPr bwMode="auto">
          <a:xfrm>
            <a:off x="3439885" y="8013774"/>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 </a:t>
            </a:r>
            <a:r>
              <a:rPr lang="en-US" altLang="ko-KR" sz="950">
                <a:latin typeface="Times New Roman" pitchFamily="18" charset="0"/>
                <a:ea typeface="LG Smart_H Regular" panose="020B0600000101010101" pitchFamily="34" charset="-127"/>
                <a:cs typeface="Times New Roman" pitchFamily="18" charset="0"/>
              </a:rPr>
              <a:t>Thermistor "negative temperature coefficient thermistor" có đặc điểm </a:t>
            </a:r>
            <a:r>
              <a:rPr lang="en-US" altLang="ko-KR" sz="950" smtClean="0">
                <a:latin typeface="Times New Roman" pitchFamily="18" charset="0"/>
                <a:ea typeface="LG Smart_H Regular" panose="020B0600000101010101" pitchFamily="34" charset="-127"/>
                <a:cs typeface="Times New Roman" pitchFamily="18" charset="0"/>
              </a:rPr>
              <a:t>là</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Nhiệt độ tăng thì giá trị điện trở giảm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Nhiệt độ tăng thì giá trị điện trở tăng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Nhiệt độ tăng thì giá trị điện dung </a:t>
            </a:r>
            <a:r>
              <a:rPr lang="vi-VN" altLang="ko-KR" sz="950" smtClean="0">
                <a:latin typeface="Times New Roman" pitchFamily="18" charset="0"/>
                <a:ea typeface="LG Smart_H Regular" panose="020B0600000101010101" pitchFamily="34" charset="-127"/>
                <a:cs typeface="Times New Roman" pitchFamily="18" charset="0"/>
              </a:rPr>
              <a:t>giảm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Nhiệt độ tăng thì giá trị điện dung tăng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7" name="Rectangle 7"/>
          <p:cNvSpPr>
            <a:spLocks noChangeArrowheads="1"/>
          </p:cNvSpPr>
          <p:nvPr/>
        </p:nvSpPr>
        <p:spPr bwMode="auto">
          <a:xfrm>
            <a:off x="184076" y="671763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4</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Hiện tượng cách điện không hết khiến một phần dòng điện chạy ra ngoài và chạy vào vật dẫn xung quanh.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vi-VN" altLang="ko-KR" sz="950" smtClean="0">
                <a:latin typeface="Times New Roman" pitchFamily="18" charset="0"/>
                <a:ea typeface="LG Smart_H Regular" panose="020B0600000101010101" pitchFamily="34" charset="-127"/>
                <a:cs typeface="Times New Roman" pitchFamily="18" charset="0"/>
              </a:rPr>
              <a:t>Là </a:t>
            </a:r>
            <a:r>
              <a:rPr lang="vi-VN" altLang="ko-KR" sz="950">
                <a:latin typeface="Times New Roman" pitchFamily="18" charset="0"/>
                <a:ea typeface="LG Smart_H Regular" panose="020B0600000101010101" pitchFamily="34" charset="-127"/>
                <a:cs typeface="Times New Roman" pitchFamily="18" charset="0"/>
              </a:rPr>
              <a:t>hiện tượng 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Rò điện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Đoạn dây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Chập </a:t>
            </a:r>
            <a:r>
              <a:rPr lang="en-US" altLang="ko-KR" sz="950" smtClean="0">
                <a:latin typeface="Times New Roman" pitchFamily="18" charset="0"/>
                <a:ea typeface="LG Smart_H Regular" panose="020B0600000101010101" pitchFamily="34" charset="-127"/>
                <a:cs typeface="Times New Roman" pitchFamily="18" charset="0"/>
              </a:rPr>
              <a:t>dây</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Tiếp địa </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88640" y="1136576"/>
            <a:ext cx="3239810" cy="2723823"/>
            <a:chOff x="188640" y="1255253"/>
            <a:chExt cx="3239810" cy="2723823"/>
          </a:xfrm>
        </p:grpSpPr>
        <p:sp>
          <p:nvSpPr>
            <p:cNvPr id="59" name="Rectangle 7"/>
            <p:cNvSpPr>
              <a:spLocks noChangeArrowheads="1"/>
            </p:cNvSpPr>
            <p:nvPr/>
          </p:nvSpPr>
          <p:spPr bwMode="auto">
            <a:xfrm>
              <a:off x="188640" y="1255253"/>
              <a:ext cx="3239810" cy="27238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1</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Nhìn vào hình vẽ. Vậy A là hiện tượng </a:t>
              </a:r>
              <a:r>
                <a:rPr lang="vi-VN" altLang="ko-KR" sz="950" smtClean="0">
                  <a:latin typeface="Times New Roman" pitchFamily="18" charset="0"/>
                  <a:ea typeface="LG Smart_H Regular" panose="020B0600000101010101" pitchFamily="34" charset="-127"/>
                  <a:cs typeface="Times New Roman" pitchFamily="18" charset="0"/>
                </a:rPr>
                <a:t>gì? </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Kích </a:t>
              </a:r>
              <a:r>
                <a:rPr lang="en-US" altLang="ko-KR" sz="950">
                  <a:latin typeface="Times New Roman" pitchFamily="18" charset="0"/>
                  <a:ea typeface="LG Smart_H Regular" panose="020B0600000101010101" pitchFamily="34" charset="-127"/>
                  <a:cs typeface="Times New Roman" pitchFamily="18" charset="0"/>
                </a:rPr>
                <a:t>thích(excitation</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I-ôn hóa(ionization)(Điện ly)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Phóng xung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điện</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Lượng tử ánh sáng(Proton)</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56" name="Group 55"/>
            <p:cNvGrpSpPr/>
            <p:nvPr/>
          </p:nvGrpSpPr>
          <p:grpSpPr>
            <a:xfrm>
              <a:off x="718317" y="1610235"/>
              <a:ext cx="1990603" cy="1470557"/>
              <a:chOff x="0" y="0"/>
              <a:chExt cx="3846157" cy="2239736"/>
            </a:xfrm>
          </p:grpSpPr>
          <p:pic>
            <p:nvPicPr>
              <p:cNvPr id="64" name="Picture 63"/>
              <p:cNvPicPr>
                <a:picLocks noChangeAspect="1" noChangeArrowheads="1"/>
              </p:cNvPicPr>
              <p:nvPr/>
            </p:nvPicPr>
            <p:blipFill>
              <a:blip r:embed="rId3">
                <a:extLst>
                  <a:ext uri="{28A0092B-C50C-407E-A947-70E740481C1C}">
                    <a14:useLocalDpi xmlns:a14="http://schemas.microsoft.com/office/drawing/2010/main" val="0"/>
                  </a:ext>
                </a:extLst>
              </a:blip>
              <a:srcRect l="3677" t="6573"/>
              <a:stretch>
                <a:fillRect/>
              </a:stretch>
            </p:blipFill>
            <p:spPr bwMode="auto">
              <a:xfrm>
                <a:off x="0" y="0"/>
                <a:ext cx="3846157" cy="2239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 name="직사각형 7"/>
              <p:cNvSpPr>
                <a:spLocks noChangeArrowheads="1"/>
              </p:cNvSpPr>
              <p:nvPr/>
            </p:nvSpPr>
            <p:spPr bwMode="auto">
              <a:xfrm>
                <a:off x="481694" y="1095373"/>
                <a:ext cx="304800" cy="247650"/>
              </a:xfrm>
              <a:prstGeom prst="rect">
                <a:avLst/>
              </a:prstGeom>
              <a:solidFill>
                <a:schemeClr val="bg1"/>
              </a:solidFill>
              <a:ln w="9525" algn="ctr">
                <a:solidFill>
                  <a:schemeClr val="tx1"/>
                </a:solidFill>
                <a:round/>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r>
                  <a:rPr lang="vi-VN" altLang="ko-KR" sz="1100" b="1">
                    <a:latin typeface="Times New Roman" pitchFamily="18" charset="0"/>
                    <a:cs typeface="Times New Roman" pitchFamily="18" charset="0"/>
                  </a:rPr>
                  <a:t>C</a:t>
                </a:r>
                <a:endParaRPr lang="ko-KR" altLang="en-US" sz="1100" b="1">
                  <a:latin typeface="Times New Roman" pitchFamily="18" charset="0"/>
                  <a:cs typeface="Times New Roman" pitchFamily="18" charset="0"/>
                </a:endParaRPr>
              </a:p>
            </p:txBody>
          </p:sp>
          <p:sp>
            <p:nvSpPr>
              <p:cNvPr id="66" name="직사각형 8"/>
              <p:cNvSpPr>
                <a:spLocks noChangeArrowheads="1"/>
              </p:cNvSpPr>
              <p:nvPr/>
            </p:nvSpPr>
            <p:spPr bwMode="auto">
              <a:xfrm>
                <a:off x="1236891" y="361949"/>
                <a:ext cx="322488" cy="285750"/>
              </a:xfrm>
              <a:prstGeom prst="rect">
                <a:avLst/>
              </a:prstGeom>
              <a:solidFill>
                <a:schemeClr val="bg1"/>
              </a:solidFill>
              <a:ln w="9525" algn="ctr">
                <a:solidFill>
                  <a:schemeClr val="tx1"/>
                </a:solidFill>
                <a:round/>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r>
                  <a:rPr lang="vi-VN" altLang="ko-KR" sz="1100" b="1">
                    <a:latin typeface="Times New Roman" pitchFamily="18" charset="0"/>
                    <a:cs typeface="Times New Roman" pitchFamily="18" charset="0"/>
                  </a:rPr>
                  <a:t>A</a:t>
                </a:r>
                <a:endParaRPr lang="ko-KR" altLang="en-US" sz="1100" b="1">
                  <a:latin typeface="Times New Roman" pitchFamily="18" charset="0"/>
                  <a:cs typeface="Times New Roman" pitchFamily="18" charset="0"/>
                </a:endParaRPr>
              </a:p>
            </p:txBody>
          </p:sp>
          <p:sp>
            <p:nvSpPr>
              <p:cNvPr id="67" name="직사각형 9"/>
              <p:cNvSpPr>
                <a:spLocks noChangeArrowheads="1"/>
              </p:cNvSpPr>
              <p:nvPr/>
            </p:nvSpPr>
            <p:spPr bwMode="auto">
              <a:xfrm>
                <a:off x="511629" y="48985"/>
                <a:ext cx="346983" cy="344260"/>
              </a:xfrm>
              <a:prstGeom prst="rect">
                <a:avLst/>
              </a:prstGeom>
              <a:solidFill>
                <a:schemeClr val="bg1"/>
              </a:solidFill>
              <a:ln w="9525" algn="ctr">
                <a:solidFill>
                  <a:schemeClr val="tx1"/>
                </a:solidFill>
                <a:round/>
                <a:headEnd/>
                <a:tailEnd/>
              </a:ln>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r>
                  <a:rPr lang="vi-VN" altLang="ko-KR" sz="1100" b="1">
                    <a:latin typeface="Times New Roman" pitchFamily="18" charset="0"/>
                    <a:cs typeface="Times New Roman" pitchFamily="18" charset="0"/>
                  </a:rPr>
                  <a:t>B</a:t>
                </a:r>
                <a:endParaRPr lang="ko-KR" altLang="en-US" sz="1100" b="1">
                  <a:latin typeface="Times New Roman" pitchFamily="18" charset="0"/>
                  <a:cs typeface="Times New Roman" pitchFamily="18" charset="0"/>
                </a:endParaRPr>
              </a:p>
            </p:txBody>
          </p:sp>
        </p:grpSp>
      </p:grpSp>
      <p:sp>
        <p:nvSpPr>
          <p:cNvPr id="68" name="Rectangle 7"/>
          <p:cNvSpPr>
            <a:spLocks noChangeArrowheads="1"/>
          </p:cNvSpPr>
          <p:nvPr/>
        </p:nvSpPr>
        <p:spPr bwMode="auto">
          <a:xfrm>
            <a:off x="162099" y="8121352"/>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Chênh lệch điện thế được gọi là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Electric </a:t>
            </a:r>
            <a:r>
              <a:rPr lang="vi-VN" altLang="ko-KR" sz="950" smtClean="0">
                <a:latin typeface="Times New Roman" pitchFamily="18" charset="0"/>
                <a:ea typeface="LG Smart_H Regular" panose="020B0600000101010101" pitchFamily="34" charset="-127"/>
                <a:cs typeface="Times New Roman" pitchFamily="18" charset="0"/>
              </a:rPr>
              <a:t>potential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Potential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difference</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Electric </a:t>
            </a:r>
            <a:r>
              <a:rPr lang="en-US" altLang="ko-KR" sz="950" smtClean="0">
                <a:latin typeface="Times New Roman" pitchFamily="18" charset="0"/>
                <a:ea typeface="LG Smart_H Regular" panose="020B0600000101010101" pitchFamily="34" charset="-127"/>
                <a:cs typeface="Times New Roman" pitchFamily="18" charset="0"/>
              </a:rPr>
              <a:t>voltage</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Electromotive force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1" name="Rectangle 7"/>
          <p:cNvSpPr>
            <a:spLocks noChangeArrowheads="1"/>
          </p:cNvSpPr>
          <p:nvPr/>
        </p:nvSpPr>
        <p:spPr bwMode="auto">
          <a:xfrm>
            <a:off x="3429000" y="106456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Chọn đáp án đúng cho định luật sau: "Tại bất kỳ nút (ngã rẽ) nào trong một mạch điện, thì tổng cường độ dòng điện chạy đến nút phải bằng tổng cường độ dòng điện từ nút chạy đi"?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Định luật </a:t>
            </a:r>
            <a:r>
              <a:rPr lang="vi-VN" altLang="ko-KR" sz="950" smtClean="0">
                <a:latin typeface="Times New Roman" pitchFamily="18" charset="0"/>
                <a:ea typeface="LG Smart_H Regular" panose="020B0600000101010101" pitchFamily="34" charset="-127"/>
                <a:cs typeface="Times New Roman" pitchFamily="18" charset="0"/>
              </a:rPr>
              <a:t>Ohm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Định luật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Kirchhoff</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Định luật </a:t>
            </a:r>
            <a:r>
              <a:rPr lang="en-US" altLang="ko-KR" sz="950" smtClean="0">
                <a:latin typeface="Times New Roman" pitchFamily="18" charset="0"/>
                <a:ea typeface="LG Smart_H Regular" panose="020B0600000101010101" pitchFamily="34" charset="-127"/>
                <a:cs typeface="Times New Roman" pitchFamily="18" charset="0"/>
              </a:rPr>
              <a:t>Lenz</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Định luật Newton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74" name="Picture 7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81854" y="2576736"/>
            <a:ext cx="1706245" cy="899666"/>
          </a:xfrm>
          <a:prstGeom prst="rect">
            <a:avLst/>
          </a:prstGeom>
        </p:spPr>
      </p:pic>
      <p:grpSp>
        <p:nvGrpSpPr>
          <p:cNvPr id="3" name="Group 2"/>
          <p:cNvGrpSpPr/>
          <p:nvPr/>
        </p:nvGrpSpPr>
        <p:grpSpPr>
          <a:xfrm>
            <a:off x="3448472" y="4199528"/>
            <a:ext cx="3239810" cy="1473552"/>
            <a:chOff x="3448472" y="4199528"/>
            <a:chExt cx="3239810" cy="1473552"/>
          </a:xfrm>
        </p:grpSpPr>
        <p:sp>
          <p:nvSpPr>
            <p:cNvPr id="70" name="Rectangle 7"/>
            <p:cNvSpPr>
              <a:spLocks noChangeArrowheads="1"/>
            </p:cNvSpPr>
            <p:nvPr/>
          </p:nvSpPr>
          <p:spPr bwMode="auto">
            <a:xfrm>
              <a:off x="3448472" y="4199528"/>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8. </a:t>
              </a:r>
              <a:r>
                <a:rPr lang="vi-VN" altLang="ko-KR" sz="950">
                  <a:latin typeface="Times New Roman" pitchFamily="18" charset="0"/>
                  <a:ea typeface="LG Smart_H Regular" panose="020B0600000101010101" pitchFamily="34" charset="-127"/>
                  <a:cs typeface="Times New Roman" pitchFamily="18" charset="0"/>
                </a:rPr>
                <a:t>Trong hình, điện áp đặt vào 2 đầu của Diode là bao nhiêu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0.2 </a:t>
              </a:r>
              <a:r>
                <a:rPr lang="en-US" altLang="ko-KR" sz="950">
                  <a:latin typeface="Times New Roman" pitchFamily="18" charset="0"/>
                  <a:ea typeface="LG Smart_H Regular" panose="020B0600000101010101" pitchFamily="34" charset="-127"/>
                  <a:cs typeface="Times New Roman" pitchFamily="18" charset="0"/>
                </a:rPr>
                <a:t>(V</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0.5 (V</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0.7 </a:t>
              </a:r>
              <a:r>
                <a:rPr lang="en-US" altLang="ko-KR" sz="950">
                  <a:solidFill>
                    <a:srgbClr val="FF0000"/>
                  </a:solidFill>
                  <a:latin typeface="Times New Roman" pitchFamily="18" charset="0"/>
                  <a:ea typeface="LG Smart_H Regular" panose="020B0600000101010101" pitchFamily="34" charset="-127"/>
                  <a:cs typeface="Times New Roman" pitchFamily="18" charset="0"/>
                </a:rPr>
                <a:t>(V</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a:t>
              </a:r>
              <a:r>
                <a:rPr lang="en-US" altLang="ko-KR" sz="950">
                  <a:latin typeface="Times New Roman" pitchFamily="18" charset="0"/>
                  <a:ea typeface="LG Smart_H Regular" panose="020B0600000101010101" pitchFamily="34" charset="-127"/>
                  <a:cs typeface="Times New Roman" pitchFamily="18" charset="0"/>
                </a:rPr>
                <a:t>0.7 (V)</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75" name="Picture 74"/>
            <p:cNvPicPr>
              <a:picLocks noChangeAspect="1"/>
            </p:cNvPicPr>
            <p:nvPr/>
          </p:nvPicPr>
          <p:blipFill>
            <a:blip r:embed="rId5"/>
            <a:stretch>
              <a:fillRect/>
            </a:stretch>
          </p:blipFill>
          <p:spPr>
            <a:xfrm>
              <a:off x="4682565" y="4395370"/>
              <a:ext cx="1626755" cy="1277710"/>
            </a:xfrm>
            <a:prstGeom prst="rect">
              <a:avLst/>
            </a:prstGeom>
          </p:spPr>
        </p:pic>
      </p:grpSp>
    </p:spTree>
    <p:extLst>
      <p:ext uri="{BB962C8B-B14F-4D97-AF65-F5344CB8AC3E}">
        <p14:creationId xmlns:p14="http://schemas.microsoft.com/office/powerpoint/2010/main" val="410700720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3752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4100" name="Rectangle 4"/>
          <p:cNvSpPr>
            <a:spLocks noChangeArrowheads="1"/>
          </p:cNvSpPr>
          <p:nvPr/>
        </p:nvSpPr>
        <p:spPr bwMode="auto">
          <a:xfrm>
            <a:off x="3460960" y="776288"/>
            <a:ext cx="324383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111" name="Rectangle 173"/>
          <p:cNvSpPr>
            <a:spLocks noChangeArrowheads="1"/>
          </p:cNvSpPr>
          <p:nvPr/>
        </p:nvSpPr>
        <p:spPr bwMode="auto">
          <a:xfrm>
            <a:off x="188640" y="8454533"/>
            <a:ext cx="3308896" cy="530915"/>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15.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thức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đúng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suất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định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mức</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A.  </a:t>
            </a:r>
            <a:r>
              <a:rPr lang="en-US" altLang="ko-KR" sz="950" dirty="0">
                <a:latin typeface="Times New Roman" pitchFamily="18" charset="0"/>
                <a:cs typeface="Times New Roman" pitchFamily="18" charset="0"/>
              </a:rPr>
              <a:t>P = </a:t>
            </a:r>
            <a:r>
              <a:rPr lang="en-US" altLang="ko-KR" sz="950">
                <a:latin typeface="Times New Roman" pitchFamily="18" charset="0"/>
                <a:cs typeface="Times New Roman" pitchFamily="18" charset="0"/>
              </a:rPr>
              <a:t>VR     </a:t>
            </a:r>
            <a:r>
              <a:rPr lang="en-US" altLang="ko-KR" sz="950" smtClean="0">
                <a:solidFill>
                  <a:srgbClr val="FF0000"/>
                </a:solidFill>
                <a:latin typeface="Times New Roman" pitchFamily="18" charset="0"/>
                <a:cs typeface="Times New Roman" pitchFamily="18" charset="0"/>
              </a:rPr>
              <a:t>B.  P </a:t>
            </a:r>
            <a:r>
              <a:rPr lang="en-US" altLang="ko-KR" sz="950" dirty="0">
                <a:solidFill>
                  <a:srgbClr val="FF0000"/>
                </a:solidFill>
                <a:latin typeface="Times New Roman" pitchFamily="18" charset="0"/>
                <a:cs typeface="Times New Roman" pitchFamily="18" charset="0"/>
              </a:rPr>
              <a:t>= </a:t>
            </a:r>
            <a:r>
              <a:rPr lang="en-US" altLang="ko-KR" sz="950">
                <a:solidFill>
                  <a:srgbClr val="FF0000"/>
                </a:solidFill>
                <a:latin typeface="Times New Roman" pitchFamily="18" charset="0"/>
                <a:cs typeface="Times New Roman" pitchFamily="18" charset="0"/>
              </a:rPr>
              <a:t>VI    </a:t>
            </a:r>
            <a:r>
              <a:rPr lang="en-US" altLang="ko-KR" sz="950" smtClean="0">
                <a:latin typeface="Times New Roman" pitchFamily="18" charset="0"/>
                <a:cs typeface="Times New Roman" pitchFamily="18" charset="0"/>
              </a:rPr>
              <a:t>C.  P </a:t>
            </a:r>
            <a:r>
              <a:rPr lang="en-US" altLang="ko-KR" sz="950" dirty="0">
                <a:latin typeface="Times New Roman" pitchFamily="18" charset="0"/>
                <a:cs typeface="Times New Roman" pitchFamily="18" charset="0"/>
              </a:rPr>
              <a:t>= </a:t>
            </a:r>
            <a:r>
              <a:rPr lang="en-US" altLang="ko-KR" sz="950">
                <a:latin typeface="Times New Roman" pitchFamily="18" charset="0"/>
                <a:cs typeface="Times New Roman" pitchFamily="18" charset="0"/>
              </a:rPr>
              <a:t>V/R    </a:t>
            </a:r>
            <a:r>
              <a:rPr lang="en-US" altLang="ko-KR" sz="950" smtClean="0">
                <a:latin typeface="Times New Roman" pitchFamily="18" charset="0"/>
                <a:cs typeface="Times New Roman" pitchFamily="18" charset="0"/>
              </a:rPr>
              <a:t>D.  P </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IB*V</a:t>
            </a:r>
            <a:endParaRPr lang="en-US" altLang="ko-KR" sz="950" dirty="0">
              <a:latin typeface="Times New Roman" pitchFamily="18" charset="0"/>
              <a:cs typeface="Times New Roman" pitchFamily="18" charset="0"/>
            </a:endParaRPr>
          </a:p>
        </p:txBody>
      </p:sp>
      <p:sp>
        <p:nvSpPr>
          <p:cNvPr id="112" name="Rectangle 398"/>
          <p:cNvSpPr>
            <a:spLocks noChangeArrowheads="1"/>
          </p:cNvSpPr>
          <p:nvPr/>
        </p:nvSpPr>
        <p:spPr bwMode="auto">
          <a:xfrm>
            <a:off x="3466740" y="1073588"/>
            <a:ext cx="3308896"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228600" indent="-228600" eaLnBrk="1" hangingPunct="1"/>
            <a:r>
              <a:rPr lang="en-US" altLang="ko-KR" sz="950" dirty="0">
                <a:latin typeface="Times New Roman" pitchFamily="18" charset="0"/>
                <a:cs typeface="Times New Roman" pitchFamily="18" charset="0"/>
              </a:rPr>
              <a:t>16.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dưới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dẫn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0" indent="0" eaLnBrk="1" hangingPunct="1"/>
            <a:endParaRPr lang="en-US" altLang="ko-KR" sz="950" smtClean="0">
              <a:latin typeface="Times New Roman" pitchFamily="18" charset="0"/>
              <a:cs typeface="Times New Roman" pitchFamily="18" charset="0"/>
            </a:endParaRPr>
          </a:p>
          <a:p>
            <a:pPr marL="0" indent="0" eaLnBrk="1" hangingPunct="1"/>
            <a:r>
              <a:rPr lang="en-US" altLang="ko-KR" sz="950" smtClean="0">
                <a:latin typeface="Times New Roman" pitchFamily="18" charset="0"/>
                <a:cs typeface="Times New Roman" pitchFamily="18" charset="0"/>
              </a:rPr>
              <a:t>A. Selium </a:t>
            </a:r>
            <a:r>
              <a:rPr lang="en-US" altLang="ko-KR" sz="950" dirty="0" smtClean="0">
                <a:latin typeface="Times New Roman" pitchFamily="18" charset="0"/>
                <a:cs typeface="Times New Roman" pitchFamily="18" charset="0"/>
              </a:rPr>
              <a:t>(Se</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B. </a:t>
            </a:r>
            <a:r>
              <a:rPr lang="en-US" altLang="ko-KR" sz="950" dirty="0">
                <a:latin typeface="Times New Roman" pitchFamily="18" charset="0"/>
                <a:cs typeface="Times New Roman" pitchFamily="18" charset="0"/>
              </a:rPr>
              <a:t>G</a:t>
            </a:r>
            <a:r>
              <a:rPr lang="en-US" altLang="ko-KR" sz="950" smtClean="0">
                <a:latin typeface="Times New Roman" pitchFamily="18" charset="0"/>
                <a:cs typeface="Times New Roman" pitchFamily="18" charset="0"/>
              </a:rPr>
              <a:t>ermanium(Ge</a:t>
            </a:r>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0" indent="0" eaLnBrk="1" hangingPunct="1"/>
            <a:r>
              <a:rPr lang="en-US" altLang="ko-KR" sz="950" smtClean="0">
                <a:latin typeface="Times New Roman" pitchFamily="18" charset="0"/>
                <a:cs typeface="Times New Roman" pitchFamily="18" charset="0"/>
              </a:rPr>
              <a:t>C. Silicon  </a:t>
            </a:r>
            <a:r>
              <a:rPr lang="ko-KR" altLang="en-US" sz="950" smtClean="0">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D.</a:t>
            </a:r>
            <a:r>
              <a:rPr lang="ko-KR" altLang="en-US" sz="950" smtClean="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L</a:t>
            </a:r>
            <a:r>
              <a:rPr lang="en-US" altLang="ko-KR" sz="950" smtClean="0">
                <a:solidFill>
                  <a:srgbClr val="FF0000"/>
                </a:solidFill>
                <a:latin typeface="Times New Roman" pitchFamily="18" charset="0"/>
                <a:cs typeface="Times New Roman" pitchFamily="18" charset="0"/>
              </a:rPr>
              <a:t>ưu </a:t>
            </a:r>
            <a:r>
              <a:rPr lang="en-US" altLang="ko-KR" sz="950" dirty="0" err="1" smtClean="0">
                <a:solidFill>
                  <a:srgbClr val="FF0000"/>
                </a:solidFill>
                <a:latin typeface="Times New Roman" pitchFamily="18" charset="0"/>
                <a:cs typeface="Times New Roman" pitchFamily="18" charset="0"/>
              </a:rPr>
              <a:t>huỳnh</a:t>
            </a:r>
            <a:endParaRPr lang="ko-KR" altLang="en-US" sz="950" dirty="0">
              <a:solidFill>
                <a:srgbClr val="FF0000"/>
              </a:solidFill>
              <a:latin typeface="Times New Roman" pitchFamily="18" charset="0"/>
              <a:cs typeface="Times New Roman" pitchFamily="18" charset="0"/>
            </a:endParaRPr>
          </a:p>
        </p:txBody>
      </p:sp>
      <p:sp>
        <p:nvSpPr>
          <p:cNvPr id="113" name="Rectangle 283"/>
          <p:cNvSpPr>
            <a:spLocks noChangeArrowheads="1"/>
          </p:cNvSpPr>
          <p:nvPr/>
        </p:nvSpPr>
        <p:spPr bwMode="auto">
          <a:xfrm>
            <a:off x="160784" y="1064568"/>
            <a:ext cx="3279264"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11.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coil?</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Đặc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ổn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định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sự</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dòng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Áp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tượng</a:t>
            </a:r>
            <a:r>
              <a:rPr lang="en-US" altLang="ko-KR" sz="950" smtClean="0">
                <a:latin typeface="Times New Roman" pitchFamily="18" charset="0"/>
                <a:cs typeface="Times New Roman" pitchFamily="18" charset="0"/>
              </a:rPr>
              <a:t> hỗ </a:t>
            </a:r>
            <a:r>
              <a:rPr lang="en-US" altLang="ko-KR" sz="950" dirty="0" err="1" smtClean="0">
                <a:latin typeface="Times New Roman" pitchFamily="18" charset="0"/>
                <a:cs typeface="Times New Roman" pitchFamily="18" charset="0"/>
              </a:rPr>
              <a:t>cảm</a:t>
            </a:r>
            <a:r>
              <a:rPr lang="en-US" altLang="ko-KR"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nam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châm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D.</a:t>
            </a:r>
            <a:r>
              <a:rPr lang="ko-KR" altLang="en-US" sz="95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Áp</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dụng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hiện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tượng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khuếch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đại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dòng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điện</a:t>
            </a:r>
            <a:endParaRPr lang="ko-KR" altLang="en-US" sz="950" dirty="0">
              <a:solidFill>
                <a:srgbClr val="FF0000"/>
              </a:solidFill>
              <a:latin typeface="Times New Roman" pitchFamily="18" charset="0"/>
              <a:cs typeface="Times New Roman" pitchFamily="18" charset="0"/>
            </a:endParaRPr>
          </a:p>
        </p:txBody>
      </p:sp>
      <p:grpSp>
        <p:nvGrpSpPr>
          <p:cNvPr id="115" name="Group 114"/>
          <p:cNvGrpSpPr/>
          <p:nvPr/>
        </p:nvGrpSpPr>
        <p:grpSpPr>
          <a:xfrm>
            <a:off x="188640" y="2144688"/>
            <a:ext cx="3240360" cy="823302"/>
            <a:chOff x="3353817" y="3720680"/>
            <a:chExt cx="3240360" cy="823302"/>
          </a:xfrm>
        </p:grpSpPr>
        <p:sp>
          <p:nvSpPr>
            <p:cNvPr id="116" name="Rectangle 178"/>
            <p:cNvSpPr>
              <a:spLocks noChangeArrowheads="1"/>
            </p:cNvSpPr>
            <p:nvPr/>
          </p:nvSpPr>
          <p:spPr bwMode="auto">
            <a:xfrm>
              <a:off x="3353817" y="3720680"/>
              <a:ext cx="3124200"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12</a:t>
              </a:r>
              <a:r>
                <a:rPr lang="en-US" altLang="ko-KR" sz="950">
                  <a:latin typeface="Times New Roman" pitchFamily="18" charset="0"/>
                  <a:cs typeface="Times New Roman" pitchFamily="18" charset="0"/>
                </a:rPr>
                <a:t>. </a:t>
              </a:r>
              <a:r>
                <a:rPr lang="vi-VN" altLang="ko-KR" sz="950">
                  <a:latin typeface="Times New Roman" pitchFamily="18" charset="0"/>
                  <a:cs typeface="Times New Roman" pitchFamily="18" charset="0"/>
                </a:rPr>
                <a:t>Giá trị của điện trở sau là bao nhiêu</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5.6 </a:t>
              </a:r>
              <a:r>
                <a:rPr lang="en-US" altLang="ko-KR" sz="950" dirty="0">
                  <a:latin typeface="Times New Roman" pitchFamily="18" charset="0"/>
                  <a:cs typeface="Times New Roman" pitchFamily="18" charset="0"/>
                </a:rPr>
                <a:t>[</a:t>
              </a:r>
              <a:r>
                <a:rPr lang="en-US" altLang="ko-KR" sz="950" dirty="0" err="1">
                  <a:latin typeface="Times New Roman" pitchFamily="18" charset="0"/>
                  <a:cs typeface="Times New Roman" pitchFamily="18" charset="0"/>
                </a:rPr>
                <a:t>kΩ</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B. </a:t>
              </a:r>
              <a:r>
                <a:rPr lang="en-US" altLang="ko-KR" sz="950" dirty="0">
                  <a:solidFill>
                    <a:srgbClr val="FF0000"/>
                  </a:solidFill>
                  <a:latin typeface="Times New Roman" pitchFamily="18" charset="0"/>
                  <a:cs typeface="Times New Roman" pitchFamily="18" charset="0"/>
                </a:rPr>
                <a:t>560 </a:t>
              </a:r>
              <a:r>
                <a:rPr lang="en-US" altLang="ko-KR" sz="950">
                  <a:solidFill>
                    <a:srgbClr val="FF0000"/>
                  </a:solidFill>
                  <a:latin typeface="Times New Roman" pitchFamily="18" charset="0"/>
                  <a:cs typeface="Times New Roman" pitchFamily="18" charset="0"/>
                </a:rPr>
                <a:t>[</a:t>
              </a:r>
              <a:r>
                <a:rPr lang="en-US" altLang="ko-KR" sz="950" smtClean="0">
                  <a:solidFill>
                    <a:srgbClr val="FF0000"/>
                  </a:solidFill>
                  <a:latin typeface="Times New Roman" pitchFamily="18" charset="0"/>
                  <a:cs typeface="Times New Roman" pitchFamily="18" charset="0"/>
                </a:rPr>
                <a:t>Ω]   </a:t>
              </a: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a:latin typeface="Times New Roman" pitchFamily="18" charset="0"/>
                  <a:cs typeface="Times New Roman" pitchFamily="18" charset="0"/>
                </a:rPr>
                <a:t>650 [Ω</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D. </a:t>
              </a:r>
              <a:r>
                <a:rPr lang="en-US" altLang="ko-KR" sz="950" dirty="0">
                  <a:latin typeface="Times New Roman" pitchFamily="18" charset="0"/>
                  <a:cs typeface="Times New Roman" pitchFamily="18" charset="0"/>
                </a:rPr>
                <a:t>65 [</a:t>
              </a:r>
              <a:r>
                <a:rPr lang="en-US" altLang="ko-KR" sz="950" dirty="0" err="1">
                  <a:latin typeface="Times New Roman" pitchFamily="18" charset="0"/>
                  <a:cs typeface="Times New Roman" pitchFamily="18" charset="0"/>
                </a:rPr>
                <a:t>kΩ</a:t>
              </a:r>
              <a:r>
                <a:rPr lang="en-US" altLang="ko-KR" sz="950" dirty="0">
                  <a:latin typeface="Times New Roman" pitchFamily="18" charset="0"/>
                  <a:cs typeface="Times New Roman" pitchFamily="18" charset="0"/>
                </a:rPr>
                <a:t>]</a:t>
              </a:r>
            </a:p>
          </p:txBody>
        </p:sp>
        <p:grpSp>
          <p:nvGrpSpPr>
            <p:cNvPr id="117" name="Group 179"/>
            <p:cNvGrpSpPr>
              <a:grpSpLocks/>
            </p:cNvGrpSpPr>
            <p:nvPr/>
          </p:nvGrpSpPr>
          <p:grpSpPr bwMode="auto">
            <a:xfrm>
              <a:off x="5258636" y="3995932"/>
              <a:ext cx="1119188" cy="390526"/>
              <a:chOff x="1341" y="5808"/>
              <a:chExt cx="774" cy="246"/>
            </a:xfrm>
          </p:grpSpPr>
          <p:graphicFrame>
            <p:nvGraphicFramePr>
              <p:cNvPr id="119" name="Object 180"/>
              <p:cNvGraphicFramePr>
                <a:graphicFrameLocks noChangeAspect="1"/>
              </p:cNvGraphicFramePr>
              <p:nvPr>
                <p:extLst>
                  <p:ext uri="{D42A27DB-BD31-4B8C-83A1-F6EECF244321}">
                    <p14:modId xmlns:p14="http://schemas.microsoft.com/office/powerpoint/2010/main" val="1039353450"/>
                  </p:ext>
                </p:extLst>
              </p:nvPr>
            </p:nvGraphicFramePr>
            <p:xfrm>
              <a:off x="1341" y="5808"/>
              <a:ext cx="774" cy="108"/>
            </p:xfrm>
            <a:graphic>
              <a:graphicData uri="http://schemas.openxmlformats.org/presentationml/2006/ole">
                <mc:AlternateContent xmlns:mc="http://schemas.openxmlformats.org/markup-compatibility/2006">
                  <mc:Choice xmlns:v="urn:schemas-microsoft-com:vml" Requires="v">
                    <p:oleObj spid="_x0000_s2080" name="비트맵 이미지" r:id="rId4" imgW="1228571" imgH="171338" progId="Paint.Picture">
                      <p:embed/>
                    </p:oleObj>
                  </mc:Choice>
                  <mc:Fallback>
                    <p:oleObj name="비트맵 이미지" r:id="rId4" imgW="1228571" imgH="171338" progId="Paint.Picture">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41" y="5808"/>
                            <a:ext cx="774" cy="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0" name="Text Box 181"/>
              <p:cNvSpPr txBox="1">
                <a:spLocks noChangeArrowheads="1"/>
              </p:cNvSpPr>
              <p:nvPr/>
            </p:nvSpPr>
            <p:spPr bwMode="auto">
              <a:xfrm>
                <a:off x="1478" y="5904"/>
                <a:ext cx="465" cy="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ko-KR" altLang="en-US" sz="950" b="1">
                    <a:latin typeface="Times New Roman" pitchFamily="18" charset="0"/>
                    <a:cs typeface="Times New Roman" pitchFamily="18" charset="0"/>
                  </a:rPr>
                  <a:t>녹청갈금</a:t>
                </a:r>
              </a:p>
            </p:txBody>
          </p:sp>
        </p:grpSp>
        <p:sp>
          <p:nvSpPr>
            <p:cNvPr id="118" name="Rectangle 173"/>
            <p:cNvSpPr>
              <a:spLocks noChangeArrowheads="1"/>
            </p:cNvSpPr>
            <p:nvPr/>
          </p:nvSpPr>
          <p:spPr bwMode="auto">
            <a:xfrm>
              <a:off x="5239807" y="4152728"/>
              <a:ext cx="1354370" cy="384721"/>
            </a:xfrm>
            <a:prstGeom prst="rect">
              <a:avLst/>
            </a:prstGeom>
            <a:solidFill>
              <a:schemeClr val="bg1"/>
            </a:solidFill>
            <a:ln>
              <a:noFill/>
            </a:ln>
            <a:effectLs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b="1" smtClean="0">
                  <a:latin typeface="Times New Roman" pitchFamily="18" charset="0"/>
                  <a:cs typeface="Times New Roman" pitchFamily="18" charset="0"/>
                </a:rPr>
                <a:t>Xanh lục , Xanh lam, Nâu, Gold</a:t>
              </a:r>
              <a:endParaRPr lang="en-US" altLang="ko-KR" sz="950" b="1">
                <a:latin typeface="Times New Roman" pitchFamily="18" charset="0"/>
                <a:cs typeface="Times New Roman" pitchFamily="18" charset="0"/>
              </a:endParaRPr>
            </a:p>
          </p:txBody>
        </p:sp>
      </p:grpSp>
      <p:sp>
        <p:nvSpPr>
          <p:cNvPr id="121" name="Rectangle 591"/>
          <p:cNvSpPr>
            <a:spLocks noChangeArrowheads="1"/>
          </p:cNvSpPr>
          <p:nvPr/>
        </p:nvSpPr>
        <p:spPr bwMode="auto">
          <a:xfrm>
            <a:off x="3501008" y="6073914"/>
            <a:ext cx="312420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19.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sẽ</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đổi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4 </a:t>
            </a:r>
            <a:r>
              <a:rPr lang="en-US" altLang="ko-KR" sz="950" dirty="0" err="1" smtClean="0">
                <a:latin typeface="Times New Roman" pitchFamily="18" charset="0"/>
                <a:cs typeface="Times New Roman" pitchFamily="18" charset="0"/>
              </a:rPr>
              <a:t>yếu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4 </a:t>
            </a:r>
            <a:r>
              <a:rPr lang="en-US" altLang="ko-KR" sz="950" dirty="0" err="1" smtClean="0">
                <a:latin typeface="Times New Roman" pitchFamily="18" charset="0"/>
                <a:cs typeface="Times New Roman" pitchFamily="18" charset="0"/>
              </a:rPr>
              <a:t>yếu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đó</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 A. Trong lượng </a:t>
            </a:r>
            <a:r>
              <a:rPr lang="en-US" altLang="ko-KR" sz="950" dirty="0" err="1" smtClean="0">
                <a:solidFill>
                  <a:srgbClr val="FF0000"/>
                </a:solidFill>
                <a:latin typeface="Times New Roman" pitchFamily="18" charset="0"/>
                <a:cs typeface="Times New Roman" pitchFamily="18" charset="0"/>
              </a:rPr>
              <a:t>của</a:t>
            </a:r>
            <a:r>
              <a:rPr lang="en-US" altLang="ko-KR" sz="950" dirty="0" smtClean="0">
                <a:solidFill>
                  <a:srgbClr val="FF0000"/>
                </a:solidFill>
                <a:latin typeface="Times New Roman" pitchFamily="18" charset="0"/>
                <a:cs typeface="Times New Roman" pitchFamily="18" charset="0"/>
              </a:rPr>
              <a:t> </a:t>
            </a:r>
            <a:r>
              <a:rPr lang="en-US" altLang="ko-KR" sz="950" err="1" smtClean="0">
                <a:solidFill>
                  <a:srgbClr val="FF0000"/>
                </a:solidFill>
                <a:latin typeface="Times New Roman" pitchFamily="18" charset="0"/>
                <a:cs typeface="Times New Roman" pitchFamily="18" charset="0"/>
              </a:rPr>
              <a:t>dây</a:t>
            </a:r>
            <a:r>
              <a:rPr lang="en-US" altLang="ko-KR" sz="950" smtClean="0">
                <a:solidFill>
                  <a:srgbClr val="FF0000"/>
                </a:solidFill>
                <a:latin typeface="Times New Roman" pitchFamily="18" charset="0"/>
                <a:cs typeface="Times New Roman" pitchFamily="18" charset="0"/>
              </a:rPr>
              <a:t> điện</a:t>
            </a:r>
            <a:r>
              <a:rPr lang="ko-KR" altLang="en-US" sz="950">
                <a:solidFill>
                  <a:srgbClr val="FF0000"/>
                </a:solidFill>
                <a:latin typeface="Times New Roman" pitchFamily="18" charset="0"/>
                <a:cs typeface="Times New Roman" pitchFamily="18" charset="0"/>
              </a:rPr>
              <a:t> </a:t>
            </a:r>
            <a:r>
              <a:rPr lang="ko-KR" altLang="en-US" sz="950" smtClean="0">
                <a:solidFill>
                  <a:srgbClr val="FF0000"/>
                </a:solidFill>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endParaRPr lang="ko-KR" altLang="en-US" sz="950" dirty="0">
              <a:latin typeface="Times New Roman" pitchFamily="18" charset="0"/>
              <a:cs typeface="Times New Roman" pitchFamily="18" charset="0"/>
            </a:endParaRPr>
          </a:p>
          <a:p>
            <a:pPr eaLnBrk="1" hangingPunct="1"/>
            <a:r>
              <a:rPr lang="ko-KR" altLang="en-US"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Tiết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điện</a:t>
            </a:r>
            <a:r>
              <a:rPr lang="en-US" altLang="ko-KR" sz="950" smtClean="0">
                <a:latin typeface="Times New Roman" pitchFamily="18" charset="0"/>
                <a:cs typeface="Times New Roman" pitchFamily="18" charset="0"/>
              </a:rPr>
              <a:t> </a:t>
            </a:r>
            <a:r>
              <a:rPr lang="ko-KR" altLang="en-US" sz="95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dài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endParaRPr lang="ko-KR" altLang="en-US" sz="950" dirty="0">
              <a:latin typeface="Times New Roman" pitchFamily="18" charset="0"/>
              <a:cs typeface="Times New Roman" pitchFamily="18" charset="0"/>
            </a:endParaRPr>
          </a:p>
        </p:txBody>
      </p:sp>
      <p:sp>
        <p:nvSpPr>
          <p:cNvPr id="122" name="Rectangle 174"/>
          <p:cNvSpPr>
            <a:spLocks noChangeArrowheads="1"/>
          </p:cNvSpPr>
          <p:nvPr/>
        </p:nvSpPr>
        <p:spPr bwMode="auto">
          <a:xfrm>
            <a:off x="3501008" y="7802106"/>
            <a:ext cx="324036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20. </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nhiệt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lớn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gọi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carbon?</a:t>
            </a:r>
            <a:endParaRPr lang="en-US" altLang="ko-KR" sz="950" dirty="0">
              <a:latin typeface="Times New Roman" pitchFamily="18" charset="0"/>
              <a:cs typeface="Times New Roman" pitchFamily="18" charset="0"/>
            </a:endParaRPr>
          </a:p>
          <a:p>
            <a:pPr eaLnBrk="1" hangingPunct="1"/>
            <a:r>
              <a:rPr lang="en-US" altLang="ko-KR"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màng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kim</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loại</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t>
            </a:r>
            <a:r>
              <a:rPr lang="en-US" altLang="ko-KR" sz="950" smtClean="0">
                <a:latin typeface="Times New Roman" pitchFamily="18" charset="0"/>
                <a:cs typeface="Times New Roman" pitchFamily="18" charset="0"/>
              </a:rPr>
              <a:t>iện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cement </a:t>
            </a:r>
            <a:endParaRPr lang="ko-KR" altLang="en-US" sz="950" dirty="0">
              <a:latin typeface="Times New Roman" pitchFamily="18" charset="0"/>
              <a:cs typeface="Times New Roman" pitchFamily="18" charset="0"/>
            </a:endParaRPr>
          </a:p>
          <a:p>
            <a:pPr eaLnBrk="1" hangingPunct="1"/>
            <a:r>
              <a:rPr lang="ko-KR" altLang="en-US" sz="950">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C.</a:t>
            </a:r>
            <a:r>
              <a:rPr lang="ko-KR" altLang="en-US" sz="95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Điện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trở</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màng</a:t>
            </a:r>
            <a:r>
              <a:rPr lang="en-US" altLang="ko-KR" sz="950" dirty="0" smtClean="0">
                <a:solidFill>
                  <a:srgbClr val="FF0000"/>
                </a:solidFill>
                <a:latin typeface="Times New Roman" pitchFamily="18" charset="0"/>
                <a:cs typeface="Times New Roman" pitchFamily="18" charset="0"/>
              </a:rPr>
              <a:t> carbon </a:t>
            </a:r>
            <a:r>
              <a:rPr lang="en-US" altLang="ko-KR" sz="950" err="1" smtClean="0">
                <a:solidFill>
                  <a:srgbClr val="FF0000"/>
                </a:solidFill>
                <a:latin typeface="Times New Roman" pitchFamily="18" charset="0"/>
                <a:cs typeface="Times New Roman" pitchFamily="18" charset="0"/>
              </a:rPr>
              <a:t>nhỏ</a:t>
            </a:r>
            <a:r>
              <a:rPr lang="ko-KR" altLang="en-US" sz="950" smtClean="0">
                <a:solidFill>
                  <a:srgbClr val="FF000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quấn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dây</a:t>
            </a:r>
            <a:endParaRPr lang="ko-KR" altLang="en-US" sz="950" dirty="0">
              <a:latin typeface="Times New Roman" pitchFamily="18" charset="0"/>
              <a:cs typeface="Times New Roman" pitchFamily="18" charset="0"/>
            </a:endParaRPr>
          </a:p>
        </p:txBody>
      </p:sp>
      <p:sp>
        <p:nvSpPr>
          <p:cNvPr id="123" name="Rectangle 122"/>
          <p:cNvSpPr/>
          <p:nvPr/>
        </p:nvSpPr>
        <p:spPr>
          <a:xfrm>
            <a:off x="3429000" y="2635736"/>
            <a:ext cx="3275792" cy="1261884"/>
          </a:xfrm>
          <a:prstGeom prst="rect">
            <a:avLst/>
          </a:prstGeom>
        </p:spPr>
        <p:txBody>
          <a:bodyPr wrap="square">
            <a:spAutoFit/>
          </a:bodyPr>
          <a:lstStyle/>
          <a:p>
            <a:r>
              <a:rPr lang="vi-VN" altLang="ko-KR" sz="950" smtClean="0">
                <a:latin typeface="Times New Roman" pitchFamily="18" charset="0"/>
                <a:ea typeface="돋움" pitchFamily="50" charset="-127"/>
                <a:cs typeface="Times New Roman" pitchFamily="18" charset="0"/>
              </a:rPr>
              <a:t>1</a:t>
            </a:r>
            <a:r>
              <a:rPr lang="en-US" altLang="ko-KR" sz="950" smtClean="0">
                <a:latin typeface="Times New Roman" pitchFamily="18" charset="0"/>
                <a:ea typeface="돋움" pitchFamily="50" charset="-127"/>
                <a:cs typeface="Times New Roman" pitchFamily="18" charset="0"/>
              </a:rPr>
              <a:t>7</a:t>
            </a:r>
            <a:r>
              <a:rPr lang="vi-VN" altLang="ko-KR" sz="950" smtClean="0">
                <a:latin typeface="Times New Roman" pitchFamily="18" charset="0"/>
                <a:ea typeface="돋움" pitchFamily="50" charset="-127"/>
                <a:cs typeface="Times New Roman" pitchFamily="18" charset="0"/>
              </a:rPr>
              <a:t>. </a:t>
            </a:r>
            <a:r>
              <a:rPr lang="vi-VN" altLang="ko-KR" sz="950">
                <a:latin typeface="Times New Roman" pitchFamily="18" charset="0"/>
                <a:ea typeface="돋움" pitchFamily="50" charset="-127"/>
                <a:cs typeface="Times New Roman" pitchFamily="18" charset="0"/>
              </a:rPr>
              <a:t>Điều gì được mô tả tiếp theo?</a:t>
            </a:r>
          </a:p>
          <a:p>
            <a:r>
              <a:rPr lang="vi-VN" altLang="ko-KR"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Electron</a:t>
            </a:r>
            <a:r>
              <a:rPr lang="vi-VN" altLang="ko-KR" sz="950">
                <a:latin typeface="Times New Roman" pitchFamily="18" charset="0"/>
                <a:ea typeface="돋움" pitchFamily="50" charset="-127"/>
                <a:cs typeface="Times New Roman" pitchFamily="18" charset="0"/>
              </a:rPr>
              <a:t> nhận được năng lượng và năng lượng của nó tăng lên, nó sẽ rời khỏi </a:t>
            </a:r>
            <a:r>
              <a:rPr lang="en-US" altLang="ko-KR" sz="950">
                <a:latin typeface="Times New Roman" pitchFamily="18" charset="0"/>
                <a:ea typeface="돋움" pitchFamily="50" charset="-127"/>
                <a:cs typeface="Times New Roman" pitchFamily="18" charset="0"/>
              </a:rPr>
              <a:t>quỹ đạo </a:t>
            </a:r>
            <a:r>
              <a:rPr lang="vi-VN" altLang="ko-KR" sz="950">
                <a:latin typeface="Times New Roman" pitchFamily="18" charset="0"/>
                <a:ea typeface="돋움" pitchFamily="50" charset="-127"/>
                <a:cs typeface="Times New Roman" pitchFamily="18" charset="0"/>
              </a:rPr>
              <a:t>và trở thành một </a:t>
            </a:r>
            <a:r>
              <a:rPr lang="en-US" altLang="ko-KR" sz="950">
                <a:latin typeface="Times New Roman" pitchFamily="18" charset="0"/>
                <a:ea typeface="돋움" pitchFamily="50" charset="-127"/>
                <a:cs typeface="Times New Roman" pitchFamily="18" charset="0"/>
              </a:rPr>
              <a:t>Electron</a:t>
            </a:r>
            <a:r>
              <a:rPr lang="vi-VN" altLang="ko-KR" sz="950">
                <a:latin typeface="Times New Roman" pitchFamily="18" charset="0"/>
                <a:ea typeface="돋움" pitchFamily="50" charset="-127"/>
                <a:cs typeface="Times New Roman" pitchFamily="18" charset="0"/>
              </a:rPr>
              <a:t> tự do, và tự do di chuyển giữa các nguyên tử. Điện năng được tạo ra theo cách này được gọi là (</a:t>
            </a:r>
            <a:r>
              <a:rPr lang="en-US" altLang="ko-KR" sz="950">
                <a:latin typeface="Times New Roman" pitchFamily="18" charset="0"/>
                <a:ea typeface="돋움" pitchFamily="50" charset="-127"/>
                <a:cs typeface="Times New Roman" pitchFamily="18" charset="0"/>
              </a:rPr>
              <a:t>…</a:t>
            </a:r>
            <a:r>
              <a:rPr lang="vi-VN" altLang="ko-KR" sz="950">
                <a:latin typeface="Times New Roman" pitchFamily="18" charset="0"/>
                <a:ea typeface="돋움" pitchFamily="50" charset="-127"/>
                <a:cs typeface="Times New Roman" pitchFamily="18" charset="0"/>
              </a:rPr>
              <a:t>)]</a:t>
            </a:r>
          </a:p>
          <a:p>
            <a:r>
              <a:rPr lang="en-US" altLang="ko-KR" sz="950">
                <a:latin typeface="Times New Roman" pitchFamily="18" charset="0"/>
                <a:ea typeface="돋움" pitchFamily="50" charset="-127"/>
                <a:cs typeface="Times New Roman" pitchFamily="18" charset="0"/>
              </a:rPr>
              <a:t>   </a:t>
            </a:r>
          </a:p>
          <a:p>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Lượng tử ánh </a:t>
            </a:r>
            <a:r>
              <a:rPr lang="en-US" altLang="ko-KR" sz="950" smtClean="0">
                <a:latin typeface="Times New Roman" pitchFamily="18" charset="0"/>
                <a:ea typeface="돋움" pitchFamily="50" charset="-127"/>
                <a:cs typeface="Times New Roman" pitchFamily="18" charset="0"/>
              </a:rPr>
              <a:t>sáng    B. </a:t>
            </a:r>
            <a:r>
              <a:rPr lang="en-US" altLang="ko-KR" sz="950">
                <a:latin typeface="Times New Roman" pitchFamily="18" charset="0"/>
                <a:ea typeface="돋움" pitchFamily="50" charset="-127"/>
                <a:cs typeface="Times New Roman" pitchFamily="18" charset="0"/>
              </a:rPr>
              <a:t>Kích thích</a:t>
            </a:r>
            <a:endParaRPr lang="vi-VN" altLang="ko-KR" sz="950">
              <a:latin typeface="Times New Roman" pitchFamily="18" charset="0"/>
              <a:ea typeface="돋움" pitchFamily="50" charset="-127"/>
              <a:cs typeface="Times New Roman" pitchFamily="18" charset="0"/>
            </a:endParaRPr>
          </a:p>
          <a:p>
            <a:r>
              <a:rPr lang="vi-VN" altLang="ko-KR" sz="950">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C.</a:t>
            </a:r>
            <a:r>
              <a:rPr lang="vi-VN" altLang="ko-KR" sz="950" smtClean="0">
                <a:solidFill>
                  <a:srgbClr val="FF0000"/>
                </a:solidFill>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Điện </a:t>
            </a:r>
            <a:r>
              <a:rPr lang="en-US" altLang="ko-KR" sz="950" smtClean="0">
                <a:solidFill>
                  <a:srgbClr val="FF0000"/>
                </a:solidFill>
                <a:latin typeface="Times New Roman" pitchFamily="18" charset="0"/>
                <a:ea typeface="돋움" pitchFamily="50" charset="-127"/>
                <a:cs typeface="Times New Roman" pitchFamily="18" charset="0"/>
              </a:rPr>
              <a:t>tích                     </a:t>
            </a:r>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Electron tự do</a:t>
            </a:r>
          </a:p>
        </p:txBody>
      </p:sp>
      <p:sp>
        <p:nvSpPr>
          <p:cNvPr id="124" name="Rectangle 123"/>
          <p:cNvSpPr/>
          <p:nvPr/>
        </p:nvSpPr>
        <p:spPr>
          <a:xfrm>
            <a:off x="3501008" y="4147946"/>
            <a:ext cx="3127376" cy="1115690"/>
          </a:xfrm>
          <a:prstGeom prst="rect">
            <a:avLst/>
          </a:prstGeom>
        </p:spPr>
        <p:txBody>
          <a:bodyPr wrap="square">
            <a:spAutoFit/>
          </a:bodyPr>
          <a:lstStyle/>
          <a:p>
            <a:pPr eaLnBrk="1" hangingPunct="1"/>
            <a:r>
              <a:rPr lang="en-US" altLang="ko-KR" sz="950" smtClean="0">
                <a:latin typeface="Times New Roman" pitchFamily="18" charset="0"/>
                <a:ea typeface="돋움" pitchFamily="50" charset="-127"/>
                <a:cs typeface="Times New Roman" pitchFamily="18" charset="0"/>
              </a:rPr>
              <a:t>18</a:t>
            </a:r>
            <a:r>
              <a:rPr lang="en-US" altLang="ko-KR" sz="950">
                <a:latin typeface="Times New Roman" pitchFamily="18" charset="0"/>
                <a:ea typeface="돋움" pitchFamily="50" charset="-127"/>
                <a:cs typeface="Times New Roman" pitchFamily="18" charset="0"/>
              </a:rPr>
              <a:t>. Chọn từ điền vào chỗ trống?</a:t>
            </a:r>
          </a:p>
          <a:p>
            <a:pPr eaLnBrk="1" hangingPunct="1"/>
            <a:r>
              <a:rPr lang="en-US" altLang="ko-KR" sz="950">
                <a:latin typeface="Times New Roman" pitchFamily="18" charset="0"/>
                <a:ea typeface="돋움" pitchFamily="50" charset="-127"/>
                <a:cs typeface="Times New Roman" pitchFamily="18" charset="0"/>
              </a:rPr>
              <a:t> - Tất cả các vật chất đều được tạo thành bởi tập hợp các phân tử hoặc nguyên tủ, nguyên tử được cấu trúc bở hạt nhân nguyên tử và các (           </a:t>
            </a:r>
            <a:r>
              <a:rPr lang="en-US" altLang="ko-KR"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 quay xung quanh nó.</a:t>
            </a:r>
          </a:p>
          <a:p>
            <a:pPr eaLnBrk="1" hangingPunct="1"/>
            <a:endParaRPr lang="en-US" altLang="ko-KR" sz="95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Hạt </a:t>
            </a:r>
            <a:r>
              <a:rPr lang="en-US" altLang="ko-KR" sz="950">
                <a:latin typeface="Times New Roman" pitchFamily="18" charset="0"/>
                <a:ea typeface="돋움" pitchFamily="50" charset="-127"/>
                <a:cs typeface="Times New Roman" pitchFamily="18" charset="0"/>
              </a:rPr>
              <a:t>nhân nguyên tử</a:t>
            </a:r>
            <a:r>
              <a:rPr lang="ko-KR" altLang="en-US" sz="950">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B.</a:t>
            </a:r>
            <a:r>
              <a:rPr lang="ko-KR" altLang="en-US" sz="950">
                <a:solidFill>
                  <a:srgbClr val="FF0000"/>
                </a:solidFill>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Electron</a:t>
            </a:r>
            <a:r>
              <a:rPr lang="ko-KR" altLang="en-US" sz="950">
                <a:solidFill>
                  <a:srgbClr val="FF0000"/>
                </a:solidFill>
                <a:latin typeface="Times New Roman" pitchFamily="18" charset="0"/>
                <a:ea typeface="돋움" pitchFamily="50" charset="-127"/>
                <a:cs typeface="Times New Roman" pitchFamily="18" charset="0"/>
              </a:rPr>
              <a:t>    </a:t>
            </a:r>
            <a:endParaRPr lang="en-US" altLang="ko-KR" sz="950" smtClean="0">
              <a:solidFill>
                <a:srgbClr val="FF0000"/>
              </a:solidFill>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a:t>
            </a:r>
            <a:r>
              <a:rPr lang="en-US" altLang="ko-KR" sz="950">
                <a:latin typeface="Times New Roman" pitchFamily="18" charset="0"/>
                <a:ea typeface="돋움" pitchFamily="50" charset="-127"/>
                <a:cs typeface="Times New Roman" pitchFamily="18" charset="0"/>
              </a:rPr>
              <a:t>.</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Nguyên tố</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D.</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N</a:t>
            </a:r>
            <a:r>
              <a:rPr lang="en-US" altLang="ko-KR" sz="950" smtClean="0">
                <a:latin typeface="Times New Roman" pitchFamily="18" charset="0"/>
                <a:ea typeface="돋움" pitchFamily="50" charset="-127"/>
                <a:cs typeface="Times New Roman" pitchFamily="18" charset="0"/>
              </a:rPr>
              <a:t>eutron</a:t>
            </a:r>
            <a:endParaRPr lang="ko-KR" altLang="en-US" sz="950" dirty="0">
              <a:latin typeface="Times New Roman" pitchFamily="18" charset="0"/>
              <a:ea typeface="돋움" pitchFamily="50" charset="-127"/>
              <a:cs typeface="Times New Roman" pitchFamily="18" charset="0"/>
            </a:endParaRPr>
          </a:p>
        </p:txBody>
      </p:sp>
      <p:grpSp>
        <p:nvGrpSpPr>
          <p:cNvPr id="125" name="Group 124"/>
          <p:cNvGrpSpPr/>
          <p:nvPr/>
        </p:nvGrpSpPr>
        <p:grpSpPr>
          <a:xfrm>
            <a:off x="174625" y="3636238"/>
            <a:ext cx="3429000" cy="1992853"/>
            <a:chOff x="3442740" y="4805152"/>
            <a:chExt cx="3429000" cy="1992853"/>
          </a:xfrm>
        </p:grpSpPr>
        <p:sp>
          <p:nvSpPr>
            <p:cNvPr id="126" name="Rectangle 82"/>
            <p:cNvSpPr>
              <a:spLocks noChangeArrowheads="1"/>
            </p:cNvSpPr>
            <p:nvPr/>
          </p:nvSpPr>
          <p:spPr bwMode="auto">
            <a:xfrm>
              <a:off x="3442740" y="4805152"/>
              <a:ext cx="3429000" cy="199285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13. Giá trị Vp_p(Peak-peak) là bao nhiêu</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endParaRPr lang="en-US" altLang="ko-KR" sz="950" dirty="0" smtClean="0">
                <a:latin typeface="Times New Roman" pitchFamily="18" charset="0"/>
                <a:cs typeface="Times New Roman" pitchFamily="18" charset="0"/>
              </a:endParaRPr>
            </a:p>
            <a:p>
              <a:pPr eaLnBrk="1" hangingPunct="1"/>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 A. </a:t>
              </a:r>
              <a:r>
                <a:rPr lang="en-US" altLang="ko-KR" sz="950" dirty="0">
                  <a:latin typeface="Times New Roman" pitchFamily="18" charset="0"/>
                  <a:cs typeface="Times New Roman" pitchFamily="18" charset="0"/>
                </a:rPr>
                <a:t>3[V</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B. </a:t>
              </a:r>
              <a:r>
                <a:rPr lang="en-US" altLang="ko-KR" sz="950" dirty="0">
                  <a:latin typeface="Times New Roman" pitchFamily="18" charset="0"/>
                  <a:cs typeface="Times New Roman" pitchFamily="18" charset="0"/>
                </a:rPr>
                <a:t>6[V</a:t>
              </a:r>
              <a:r>
                <a:rPr lang="en-US" altLang="ko-KR" sz="950">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C. </a:t>
              </a:r>
              <a:r>
                <a:rPr lang="en-US" altLang="ko-KR" sz="950" dirty="0">
                  <a:solidFill>
                    <a:srgbClr val="FF0000"/>
                  </a:solidFill>
                  <a:latin typeface="Times New Roman" pitchFamily="18" charset="0"/>
                  <a:cs typeface="Times New Roman" pitchFamily="18" charset="0"/>
                </a:rPr>
                <a:t>12[V</a:t>
              </a:r>
              <a:r>
                <a:rPr lang="en-US" altLang="ko-KR" sz="950">
                  <a:solidFill>
                    <a:srgbClr val="FF000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D. </a:t>
              </a:r>
              <a:r>
                <a:rPr lang="en-US" altLang="ko-KR" sz="950">
                  <a:latin typeface="Times New Roman" pitchFamily="18" charset="0"/>
                  <a:cs typeface="Times New Roman" pitchFamily="18" charset="0"/>
                </a:rPr>
                <a:t>24[V</a:t>
              </a:r>
              <a:r>
                <a:rPr lang="en-US" altLang="ko-KR" sz="95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grpSp>
          <p:nvGrpSpPr>
            <p:cNvPr id="127" name="Group 83"/>
            <p:cNvGrpSpPr>
              <a:grpSpLocks/>
            </p:cNvGrpSpPr>
            <p:nvPr/>
          </p:nvGrpSpPr>
          <p:grpSpPr bwMode="auto">
            <a:xfrm>
              <a:off x="3822760" y="5111494"/>
              <a:ext cx="2312456" cy="1210309"/>
              <a:chOff x="3112" y="3353"/>
              <a:chExt cx="920" cy="777"/>
            </a:xfrm>
          </p:grpSpPr>
          <p:graphicFrame>
            <p:nvGraphicFramePr>
              <p:cNvPr id="128" name="Object 84"/>
              <p:cNvGraphicFramePr>
                <a:graphicFrameLocks noChangeAspect="1"/>
              </p:cNvGraphicFramePr>
              <p:nvPr>
                <p:extLst>
                  <p:ext uri="{D42A27DB-BD31-4B8C-83A1-F6EECF244321}">
                    <p14:modId xmlns:p14="http://schemas.microsoft.com/office/powerpoint/2010/main" val="2192084999"/>
                  </p:ext>
                </p:extLst>
              </p:nvPr>
            </p:nvGraphicFramePr>
            <p:xfrm>
              <a:off x="3156" y="3353"/>
              <a:ext cx="876" cy="624"/>
            </p:xfrm>
            <a:graphic>
              <a:graphicData uri="http://schemas.openxmlformats.org/presentationml/2006/ole">
                <mc:AlternateContent xmlns:mc="http://schemas.openxmlformats.org/markup-compatibility/2006">
                  <mc:Choice xmlns:v="urn:schemas-microsoft-com:vml" Requires="v">
                    <p:oleObj spid="_x0000_s2081" name="비트맵 이미지" r:id="rId6" imgW="2781688" imgH="1980952" progId="Paint.Picture">
                      <p:embed/>
                    </p:oleObj>
                  </mc:Choice>
                  <mc:Fallback>
                    <p:oleObj name="비트맵 이미지" r:id="rId6" imgW="2781688" imgH="1980952" progId="Paint.Pictur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6" y="3353"/>
                            <a:ext cx="876" cy="6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29" name="Text Box 85"/>
              <p:cNvSpPr txBox="1">
                <a:spLocks noChangeArrowheads="1"/>
              </p:cNvSpPr>
              <p:nvPr/>
            </p:nvSpPr>
            <p:spPr bwMode="auto">
              <a:xfrm>
                <a:off x="3112" y="3977"/>
                <a:ext cx="297"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CH1 2.00V</a:t>
                </a:r>
              </a:p>
            </p:txBody>
          </p:sp>
          <p:sp>
            <p:nvSpPr>
              <p:cNvPr id="130" name="Text Box 86"/>
              <p:cNvSpPr txBox="1">
                <a:spLocks noChangeArrowheads="1"/>
              </p:cNvSpPr>
              <p:nvPr/>
            </p:nvSpPr>
            <p:spPr bwMode="auto">
              <a:xfrm>
                <a:off x="3557" y="3968"/>
                <a:ext cx="247" cy="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M 250μs</a:t>
                </a:r>
              </a:p>
            </p:txBody>
          </p:sp>
        </p:grpSp>
      </p:grpSp>
      <p:grpSp>
        <p:nvGrpSpPr>
          <p:cNvPr id="131" name="Group 130"/>
          <p:cNvGrpSpPr/>
          <p:nvPr/>
        </p:nvGrpSpPr>
        <p:grpSpPr>
          <a:xfrm>
            <a:off x="198483" y="6105128"/>
            <a:ext cx="3124200" cy="1992853"/>
            <a:chOff x="3429000" y="7003812"/>
            <a:chExt cx="3124200" cy="1992853"/>
          </a:xfrm>
        </p:grpSpPr>
        <p:sp>
          <p:nvSpPr>
            <p:cNvPr id="132" name="Rectangle 173"/>
            <p:cNvSpPr>
              <a:spLocks noChangeArrowheads="1"/>
            </p:cNvSpPr>
            <p:nvPr/>
          </p:nvSpPr>
          <p:spPr bwMode="auto">
            <a:xfrm>
              <a:off x="3429000" y="7003812"/>
              <a:ext cx="3124200" cy="1992853"/>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cs typeface="Times New Roman" pitchFamily="18" charset="0"/>
                </a:rPr>
                <a:t>14. Giá </a:t>
              </a:r>
              <a:r>
                <a:rPr lang="en-US" altLang="ko-KR" sz="950" smtClean="0">
                  <a:latin typeface="Times New Roman" pitchFamily="18" charset="0"/>
                  <a:cs typeface="Times New Roman" pitchFamily="18" charset="0"/>
                </a:rPr>
                <a:t>trị </a:t>
              </a:r>
              <a:r>
                <a:rPr lang="en-US" altLang="ko-KR" sz="950">
                  <a:latin typeface="Times New Roman" pitchFamily="18" charset="0"/>
                  <a:cs typeface="Times New Roman" pitchFamily="18" charset="0"/>
                </a:rPr>
                <a:t>hiệu dụng là bao </a:t>
              </a:r>
              <a:r>
                <a:rPr lang="en-US" altLang="ko-KR" sz="950" smtClean="0">
                  <a:latin typeface="Times New Roman" pitchFamily="18" charset="0"/>
                  <a:cs typeface="Times New Roman" pitchFamily="18" charset="0"/>
                </a:rPr>
                <a:t>nhiêu?</a:t>
              </a:r>
              <a:endParaRPr lang="en-US" altLang="ko-KR" sz="95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   </a:t>
              </a:r>
            </a:p>
            <a:p>
              <a:pPr eaLnBrk="1" hangingPunct="1"/>
              <a:endParaRPr lang="en-US" altLang="ko-KR" sz="950">
                <a:solidFill>
                  <a:srgbClr val="FF0000"/>
                </a:solidFill>
                <a:latin typeface="Times New Roman" pitchFamily="18" charset="0"/>
                <a:cs typeface="Times New Roman" pitchFamily="18" charset="0"/>
              </a:endParaRPr>
            </a:p>
            <a:p>
              <a:pPr eaLnBrk="1" hangingPunct="1"/>
              <a:endParaRPr lang="en-US" altLang="ko-KR" sz="950" smtClean="0">
                <a:solidFill>
                  <a:srgbClr val="FF0000"/>
                </a:solidFill>
                <a:latin typeface="Times New Roman" pitchFamily="18" charset="0"/>
                <a:cs typeface="Times New Roman" pitchFamily="18" charset="0"/>
              </a:endParaRPr>
            </a:p>
            <a:p>
              <a:pPr eaLnBrk="1" hangingPunct="1"/>
              <a:endParaRPr lang="en-US" altLang="ko-KR" sz="950">
                <a:solidFill>
                  <a:srgbClr val="FF0000"/>
                </a:solidFill>
                <a:latin typeface="Times New Roman" pitchFamily="18" charset="0"/>
                <a:cs typeface="Times New Roman" pitchFamily="18" charset="0"/>
              </a:endParaRPr>
            </a:p>
            <a:p>
              <a:pPr eaLnBrk="1" hangingPunct="1"/>
              <a:endParaRPr lang="en-US" altLang="ko-KR" sz="950" smtClean="0">
                <a:solidFill>
                  <a:srgbClr val="FF0000"/>
                </a:solidFill>
                <a:latin typeface="Times New Roman" pitchFamily="18" charset="0"/>
                <a:cs typeface="Times New Roman" pitchFamily="18" charset="0"/>
              </a:endParaRPr>
            </a:p>
            <a:p>
              <a:pPr eaLnBrk="1" hangingPunct="1"/>
              <a:endParaRPr lang="en-US" altLang="ko-KR" sz="950">
                <a:solidFill>
                  <a:srgbClr val="FF0000"/>
                </a:solidFill>
                <a:latin typeface="Times New Roman" pitchFamily="18" charset="0"/>
                <a:cs typeface="Times New Roman" pitchFamily="18" charset="0"/>
              </a:endParaRPr>
            </a:p>
            <a:p>
              <a:pPr eaLnBrk="1" hangingPunct="1"/>
              <a:endParaRPr lang="en-US" altLang="ko-KR" sz="950" smtClean="0">
                <a:solidFill>
                  <a:srgbClr val="FF0000"/>
                </a:solidFill>
                <a:latin typeface="Times New Roman" pitchFamily="18" charset="0"/>
                <a:cs typeface="Times New Roman" pitchFamily="18" charset="0"/>
              </a:endParaRPr>
            </a:p>
            <a:p>
              <a:pPr eaLnBrk="1" hangingPunct="1"/>
              <a:endParaRPr lang="en-US" altLang="ko-KR" sz="950" smtClean="0">
                <a:solidFill>
                  <a:srgbClr val="FF0000"/>
                </a:solidFill>
                <a:latin typeface="Times New Roman" pitchFamily="18" charset="0"/>
                <a:cs typeface="Times New Roman" pitchFamily="18" charset="0"/>
              </a:endParaRPr>
            </a:p>
            <a:p>
              <a:pPr eaLnBrk="1" hangingPunct="1"/>
              <a:endParaRPr lang="en-US" altLang="ko-KR" sz="950">
                <a:solidFill>
                  <a:srgbClr val="FF0000"/>
                </a:solidFill>
                <a:latin typeface="Times New Roman" pitchFamily="18" charset="0"/>
                <a:cs typeface="Times New Roman" pitchFamily="18" charset="0"/>
              </a:endParaRPr>
            </a:p>
            <a:p>
              <a:pPr eaLnBrk="1" hangingPunct="1"/>
              <a:endParaRPr lang="en-US" altLang="ko-KR" sz="950" smtClean="0">
                <a:solidFill>
                  <a:srgbClr val="FF0000"/>
                </a:solidFill>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a:t>
              </a:r>
              <a:r>
                <a:rPr lang="en-US" altLang="ko-KR" sz="950">
                  <a:solidFill>
                    <a:srgbClr val="FF0000"/>
                  </a:solidFill>
                  <a:latin typeface="Times New Roman" pitchFamily="18" charset="0"/>
                  <a:cs typeface="Times New Roman" pitchFamily="18" charset="0"/>
                </a:rPr>
                <a:t>. 4.242[V</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B. 3.822[V]  </a:t>
              </a:r>
              <a:r>
                <a:rPr lang="en-US" altLang="ko-KR" sz="950" smtClean="0">
                  <a:latin typeface="Times New Roman" pitchFamily="18" charset="0"/>
                  <a:cs typeface="Times New Roman" pitchFamily="18" charset="0"/>
                </a:rPr>
                <a:t>  C</a:t>
              </a:r>
              <a:r>
                <a:rPr lang="en-US" altLang="ko-KR" sz="950">
                  <a:latin typeface="Times New Roman" pitchFamily="18" charset="0"/>
                  <a:cs typeface="Times New Roman" pitchFamily="18" charset="0"/>
                </a:rPr>
                <a:t>. 4.2[V]    D. 3.8[V]</a:t>
              </a:r>
              <a:endParaRPr lang="en-US" altLang="ko-KR" sz="950" dirty="0">
                <a:latin typeface="Times New Roman" pitchFamily="18" charset="0"/>
                <a:cs typeface="Times New Roman" pitchFamily="18" charset="0"/>
              </a:endParaRPr>
            </a:p>
          </p:txBody>
        </p:sp>
        <p:graphicFrame>
          <p:nvGraphicFramePr>
            <p:cNvPr id="133" name="Object 84"/>
            <p:cNvGraphicFramePr>
              <a:graphicFrameLocks noChangeAspect="1"/>
            </p:cNvGraphicFramePr>
            <p:nvPr>
              <p:extLst>
                <p:ext uri="{D42A27DB-BD31-4B8C-83A1-F6EECF244321}">
                  <p14:modId xmlns:p14="http://schemas.microsoft.com/office/powerpoint/2010/main" val="2000011907"/>
                </p:ext>
              </p:extLst>
            </p:nvPr>
          </p:nvGraphicFramePr>
          <p:xfrm>
            <a:off x="3747489" y="7272523"/>
            <a:ext cx="2201861" cy="971987"/>
          </p:xfrm>
          <a:graphic>
            <a:graphicData uri="http://schemas.openxmlformats.org/presentationml/2006/ole">
              <mc:AlternateContent xmlns:mc="http://schemas.openxmlformats.org/markup-compatibility/2006">
                <mc:Choice xmlns:v="urn:schemas-microsoft-com:vml" Requires="v">
                  <p:oleObj spid="_x0000_s2082" name="비트맵 이미지" r:id="rId8" imgW="2781688" imgH="1980952" progId="Paint.Picture">
                    <p:embed/>
                  </p:oleObj>
                </mc:Choice>
                <mc:Fallback>
                  <p:oleObj name="비트맵 이미지" r:id="rId8" imgW="2781688" imgH="1980952" progId="Paint.Picture">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747489" y="7272523"/>
                          <a:ext cx="2201861" cy="971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34" name="Text Box 85"/>
            <p:cNvSpPr txBox="1">
              <a:spLocks noChangeArrowheads="1"/>
            </p:cNvSpPr>
            <p:nvPr/>
          </p:nvSpPr>
          <p:spPr bwMode="auto">
            <a:xfrm>
              <a:off x="3645030" y="8230005"/>
              <a:ext cx="747320" cy="23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CH1 2.00V</a:t>
              </a:r>
            </a:p>
          </p:txBody>
        </p:sp>
        <p:sp>
          <p:nvSpPr>
            <p:cNvPr id="135" name="Text Box 86"/>
            <p:cNvSpPr txBox="1">
              <a:spLocks noChangeArrowheads="1"/>
            </p:cNvSpPr>
            <p:nvPr/>
          </p:nvSpPr>
          <p:spPr bwMode="auto">
            <a:xfrm>
              <a:off x="4947044" y="8230005"/>
              <a:ext cx="620683" cy="23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latin typeface="Times New Roman" pitchFamily="18" charset="0"/>
                  <a:ea typeface="돋움" pitchFamily="50" charset="-127"/>
                  <a:cs typeface="Times New Roman" pitchFamily="18" charset="0"/>
                </a:rPr>
                <a:t>M 250μs</a:t>
              </a:r>
            </a:p>
          </p:txBody>
        </p:sp>
      </p:grpSp>
    </p:spTree>
    <p:extLst>
      <p:ext uri="{BB962C8B-B14F-4D97-AF65-F5344CB8AC3E}">
        <p14:creationId xmlns:p14="http://schemas.microsoft.com/office/powerpoint/2010/main" val="184092207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latin typeface="Times New Roman" pitchFamily="18" charset="0"/>
              <a:cs typeface="Times New Roman" pitchFamily="18" charset="0"/>
            </a:endParaRPr>
          </a:p>
          <a:p>
            <a:pPr eaLnBrk="1" fontAlgn="base" hangingPunct="1">
              <a:spcBef>
                <a:spcPct val="0"/>
              </a:spcBef>
              <a:spcAft>
                <a:spcPct val="0"/>
              </a:spcAft>
            </a:pPr>
            <a:endParaRPr lang="en-US" altLang="ko-KR" smtClean="0">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PLC :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40</a:t>
            </a:r>
            <a:endParaRPr lang="ko-KR" altLang="en-US" sz="950" b="1" dirty="0" smtClean="0">
              <a:latin typeface="Times New Roman" pitchFamily="18" charset="0"/>
              <a:cs typeface="Times New Roman" pitchFamily="18" charset="0"/>
            </a:endParaRPr>
          </a:p>
        </p:txBody>
      </p:sp>
      <p:sp>
        <p:nvSpPr>
          <p:cNvPr id="105" name="Rectangle 7"/>
          <p:cNvSpPr>
            <a:spLocks noChangeArrowheads="1"/>
          </p:cNvSpPr>
          <p:nvPr/>
        </p:nvSpPr>
        <p:spPr bwMode="auto">
          <a:xfrm>
            <a:off x="189190" y="131920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 </a:t>
            </a:r>
            <a:r>
              <a:rPr lang="vi-VN" altLang="ko-KR" sz="950">
                <a:latin typeface="Times New Roman" pitchFamily="18" charset="0"/>
                <a:ea typeface="LG Smart_H Regular" panose="020B0600000101010101" pitchFamily="34" charset="-127"/>
                <a:cs typeface="Times New Roman" pitchFamily="18" charset="0"/>
              </a:rPr>
              <a:t>Transfer Contact là tên dùng để chỉ tiếp điểm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a:latin typeface="Times New Roman" pitchFamily="18" charset="0"/>
                <a:ea typeface="LG Smart_H Regular" panose="020B0600000101010101" pitchFamily="34" charset="-127"/>
                <a:cs typeface="Times New Roman" pitchFamily="18" charset="0"/>
              </a:rPr>
              <a:t>Tiếp điểm A</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B</a:t>
            </a:r>
            <a:r>
              <a:rPr lang="en-US" altLang="ko-KR" sz="95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Tiếp điểm </a:t>
            </a:r>
            <a:r>
              <a:rPr lang="vi-VN" altLang="ko-KR" sz="950" smtClean="0">
                <a:latin typeface="Times New Roman" pitchFamily="18" charset="0"/>
                <a:ea typeface="LG Smart_H Regular" panose="020B0600000101010101" pitchFamily="34" charset="-127"/>
                <a:cs typeface="Times New Roman" pitchFamily="18" charset="0"/>
              </a:rPr>
              <a:t>B</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 </a:t>
            </a:r>
            <a:r>
              <a:rPr lang="vi-VN" altLang="ko-KR" sz="950">
                <a:solidFill>
                  <a:srgbClr val="FF0000"/>
                </a:solidFill>
                <a:latin typeface="Times New Roman" pitchFamily="18" charset="0"/>
                <a:ea typeface="LG Smart_H Regular" panose="020B0600000101010101" pitchFamily="34" charset="-127"/>
                <a:cs typeface="Times New Roman" pitchFamily="18" charset="0"/>
              </a:rPr>
              <a:t>Tiếp điểm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a:latin typeface="Times New Roman" pitchFamily="18" charset="0"/>
                <a:ea typeface="LG Smart_H Regular" panose="020B0600000101010101" pitchFamily="34" charset="-127"/>
                <a:cs typeface="Times New Roman" pitchFamily="18" charset="0"/>
              </a:rPr>
              <a:t>Cả A B 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6" name="Rectangle 7"/>
          <p:cNvSpPr>
            <a:spLocks noChangeArrowheads="1"/>
          </p:cNvSpPr>
          <p:nvPr/>
        </p:nvSpPr>
        <p:spPr bwMode="auto">
          <a:xfrm>
            <a:off x="174625" y="2504728"/>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22. </a:t>
            </a:r>
            <a:r>
              <a:rPr lang="vi-VN" altLang="ko-KR" sz="950">
                <a:latin typeface="Times New Roman" pitchFamily="18" charset="0"/>
                <a:ea typeface="LG Smart_H Regular" panose="020B0600000101010101" pitchFamily="34" charset="-127"/>
                <a:cs typeface="Times New Roman" pitchFamily="18" charset="0"/>
              </a:rPr>
              <a:t>Thời gian sao chép condensor khi thay thế PIN của CPU là bao </a:t>
            </a:r>
            <a:r>
              <a:rPr lang="vi-VN" altLang="ko-KR" sz="950" smtClean="0">
                <a:latin typeface="Times New Roman" pitchFamily="18" charset="0"/>
                <a:ea typeface="LG Smart_H Regular" panose="020B0600000101010101" pitchFamily="34" charset="-127"/>
                <a:cs typeface="Times New Roman" pitchFamily="18" charset="0"/>
              </a:rPr>
              <a:t>lâu?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2 </a:t>
            </a:r>
            <a:r>
              <a:rPr lang="en-US" altLang="ko-KR" sz="950" smtClean="0">
                <a:latin typeface="Times New Roman" pitchFamily="18" charset="0"/>
                <a:ea typeface="LG Smart_H Regular" panose="020B0600000101010101" pitchFamily="34" charset="-127"/>
                <a:cs typeface="Times New Roman" pitchFamily="18" charset="0"/>
              </a:rPr>
              <a:t>phút</a:t>
            </a: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3 phút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5 phút</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10</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phút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7" name="Rectangle 7"/>
          <p:cNvSpPr>
            <a:spLocks noChangeArrowheads="1"/>
          </p:cNvSpPr>
          <p:nvPr/>
        </p:nvSpPr>
        <p:spPr bwMode="auto">
          <a:xfrm>
            <a:off x="201890" y="391367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 </a:t>
            </a:r>
            <a:r>
              <a:rPr lang="vi-VN" altLang="ko-KR" sz="950">
                <a:latin typeface="Times New Roman" pitchFamily="18" charset="0"/>
                <a:ea typeface="LG Smart_H Regular" panose="020B0600000101010101" pitchFamily="34" charset="-127"/>
                <a:cs typeface="Times New Roman" pitchFamily="18" charset="0"/>
              </a:rPr>
              <a:t>Relay đặc biệt nào sẽ chuyển trạng thái On khi phát hiện PIN của CPU sắp </a:t>
            </a:r>
            <a:r>
              <a:rPr lang="vi-VN" altLang="ko-KR" sz="950" smtClean="0">
                <a:latin typeface="Times New Roman" pitchFamily="18" charset="0"/>
                <a:ea typeface="LG Smart_H Regular" panose="020B0600000101010101" pitchFamily="34" charset="-127"/>
                <a:cs typeface="Times New Roman" pitchFamily="18" charset="0"/>
              </a:rPr>
              <a:t>hết?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SM51</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SM604</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SM605</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SM501</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9" name="Rectangle 7"/>
          <p:cNvSpPr>
            <a:spLocks noChangeArrowheads="1"/>
          </p:cNvSpPr>
          <p:nvPr/>
        </p:nvSpPr>
        <p:spPr bwMode="auto">
          <a:xfrm>
            <a:off x="215483" y="6645622"/>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Là Device xuất ra bên ngoài (SOLENOID, cầu giao điện tử, đèn báo, máy biểu thị DIGITAL) v.v kết quả điều khiển Program </a:t>
            </a:r>
            <a:r>
              <a:rPr lang="vi-VN" altLang="ko-KR" sz="950" smtClean="0">
                <a:latin typeface="Times New Roman" pitchFamily="18" charset="0"/>
                <a:ea typeface="LG Smart_H Regular" panose="020B0600000101010101" pitchFamily="34" charset="-127"/>
                <a:cs typeface="Times New Roman" pitchFamily="18" charset="0"/>
              </a:rPr>
              <a:t>nhập?</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X</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B. Y</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C. D</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D. W</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188640" y="8162146"/>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Để vào được chế độ chỉnh sửa chương trình chế độ Offline trên GX Work 2(GX Developer ). Cần thực hiện tổ hợp phím tắt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 F2</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B. </a:t>
            </a:r>
            <a:r>
              <a:rPr lang="vi-VN" altLang="ko-KR" sz="950">
                <a:latin typeface="Times New Roman" pitchFamily="18" charset="0"/>
                <a:ea typeface="LG Smart_H Regular" panose="020B0600000101010101" pitchFamily="34" charset="-127"/>
                <a:cs typeface="Times New Roman" pitchFamily="18" charset="0"/>
              </a:rPr>
              <a:t>Shift + </a:t>
            </a:r>
            <a:r>
              <a:rPr lang="vi-VN" altLang="ko-KR" sz="950" smtClean="0">
                <a:latin typeface="Times New Roman" pitchFamily="18" charset="0"/>
                <a:ea typeface="LG Smart_H Regular" panose="020B0600000101010101" pitchFamily="34" charset="-127"/>
                <a:cs typeface="Times New Roman" pitchFamily="18" charset="0"/>
              </a:rPr>
              <a:t>F3</a:t>
            </a:r>
            <a:r>
              <a:rPr lang="en-US" altLang="ko-KR" sz="950" smtClean="0">
                <a:latin typeface="Times New Roman" pitchFamily="18" charset="0"/>
                <a:ea typeface="LG Smart_H Regular" panose="020B0600000101010101" pitchFamily="34" charset="-127"/>
                <a:cs typeface="Times New Roman" pitchFamily="18" charset="0"/>
              </a:rPr>
              <a:t>          C. </a:t>
            </a:r>
            <a:r>
              <a:rPr lang="vi-VN" altLang="ko-KR" sz="950" smtClean="0">
                <a:latin typeface="Times New Roman" pitchFamily="18" charset="0"/>
                <a:ea typeface="LG Smart_H Regular" panose="020B0600000101010101" pitchFamily="34" charset="-127"/>
                <a:cs typeface="Times New Roman" pitchFamily="18" charset="0"/>
              </a:rPr>
              <a:t>F4</a:t>
            </a:r>
            <a:r>
              <a:rPr lang="en-US" altLang="ko-KR" sz="950" smtClean="0">
                <a:latin typeface="Times New Roman" pitchFamily="18" charset="0"/>
                <a:ea typeface="LG Smart_H Regular" panose="020B0600000101010101" pitchFamily="34" charset="-127"/>
                <a:cs typeface="Times New Roman" pitchFamily="18" charset="0"/>
              </a:rPr>
              <a:t>           D. </a:t>
            </a:r>
            <a:r>
              <a:rPr lang="vi-VN" altLang="ko-KR" sz="950">
                <a:latin typeface="Times New Roman" pitchFamily="18" charset="0"/>
                <a:ea typeface="LG Smart_H Regular" panose="020B0600000101010101" pitchFamily="34" charset="-127"/>
                <a:cs typeface="Times New Roman" pitchFamily="18" charset="0"/>
              </a:rPr>
              <a:t>Shift + F4</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1319208"/>
            <a:ext cx="323981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Trong GX Developer để cài đặt số ký tự Comment tối đa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 </a:t>
            </a:r>
            <a:r>
              <a:rPr lang="vi-VN" altLang="ko-KR" sz="950" smtClean="0">
                <a:latin typeface="Times New Roman" pitchFamily="18" charset="0"/>
                <a:ea typeface="LG Smart_H Regular" panose="020B0600000101010101" pitchFamily="34" charset="-127"/>
                <a:cs typeface="Times New Roman" pitchFamily="18" charset="0"/>
              </a:rPr>
              <a:t>8</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B</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16</a:t>
            </a:r>
            <a:r>
              <a:rPr lang="en-US" altLang="ko-KR" sz="950" smtClean="0">
                <a:latin typeface="Times New Roman" pitchFamily="18" charset="0"/>
                <a:ea typeface="LG Smart_H Regular" panose="020B0600000101010101" pitchFamily="34" charset="-127"/>
                <a:cs typeface="Times New Roman" pitchFamily="18" charset="0"/>
              </a:rPr>
              <a:t>                  C</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24</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32</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112" name="Rectangle 7"/>
          <p:cNvSpPr>
            <a:spLocks noChangeArrowheads="1"/>
          </p:cNvSpPr>
          <p:nvPr/>
        </p:nvSpPr>
        <p:spPr bwMode="auto">
          <a:xfrm>
            <a:off x="3419475" y="2432720"/>
            <a:ext cx="3233208"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Đâu không phải là mục đích sử dụng của Program dạng </a:t>
            </a:r>
            <a:r>
              <a:rPr lang="vi-VN" altLang="ko-KR" sz="950" smtClean="0">
                <a:latin typeface="Times New Roman" pitchFamily="18" charset="0"/>
                <a:ea typeface="LG Smart_H Regular" panose="020B0600000101010101" pitchFamily="34" charset="-127"/>
                <a:cs typeface="Times New Roman" pitchFamily="18" charset="0"/>
              </a:rPr>
              <a:t>chờ?</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Thư mục hóa Program thành các Subroutine Program, chuyển Interrupt Program sang Program dạng chờ và quản lý riêng so với Main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Dùng khi quản lý riêng Subroutine Program, Interrupt Program so với Main Routine </a:t>
            </a:r>
            <a:r>
              <a:rPr lang="en-US" altLang="ko-KR" sz="950" smtClean="0">
                <a:latin typeface="Times New Roman" pitchFamily="18" charset="0"/>
                <a:ea typeface="LG Smart_H Regular" panose="020B0600000101010101" pitchFamily="34" charset="-127"/>
                <a:cs typeface="Times New Roman" pitchFamily="18" charset="0"/>
              </a:rPr>
              <a:t>Program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Thay đổi trình tự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Nếu ngừng thực hiện Program dạng chờ thì sẽ tiến hành Program ngay sau đó.</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24" name="Rectangle 7"/>
          <p:cNvSpPr>
            <a:spLocks noChangeArrowheads="1"/>
          </p:cNvSpPr>
          <p:nvPr/>
        </p:nvSpPr>
        <p:spPr bwMode="auto">
          <a:xfrm>
            <a:off x="201890" y="506279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vi-VN" altLang="ko-KR" sz="950" smtClean="0">
                <a:latin typeface="Times New Roman" pitchFamily="18" charset="0"/>
                <a:ea typeface="LG Smart_H Regular" panose="020B0600000101010101" pitchFamily="34" charset="-127"/>
                <a:cs typeface="Times New Roman" pitchFamily="18" charset="0"/>
              </a:rPr>
              <a:t>Trong </a:t>
            </a:r>
            <a:r>
              <a:rPr lang="vi-VN" altLang="ko-KR" sz="950">
                <a:latin typeface="Times New Roman" pitchFamily="18" charset="0"/>
                <a:ea typeface="LG Smart_H Regular" panose="020B0600000101010101" pitchFamily="34" charset="-127"/>
                <a:cs typeface="Times New Roman" pitchFamily="18" charset="0"/>
              </a:rPr>
              <a:t>thuật ngữ liên quan đến dung lượng của thiết bị bộ nhớ, 1 Quarter bằng bao nhiêu BIT?. Chọn đáp áp đúng?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Quarter </a:t>
            </a:r>
            <a:r>
              <a:rPr lang="en-US" altLang="ko-KR" sz="950">
                <a:latin typeface="Times New Roman" pitchFamily="18" charset="0"/>
                <a:ea typeface="LG Smart_H Regular" panose="020B0600000101010101" pitchFamily="34" charset="-127"/>
                <a:cs typeface="Times New Roman" pitchFamily="18" charset="0"/>
              </a:rPr>
              <a:t>= 4 bit (tức 1/4byte</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Quarter = 2 bit (tức 1/4byte</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Quarter = 1 bit (tức 1/4byte</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Quarter = 8 bit (tức 1/4byte)</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3425951" y="4664968"/>
            <a:ext cx="3239810" cy="2139047"/>
            <a:chOff x="3425951" y="4664968"/>
            <a:chExt cx="3239810" cy="2139047"/>
          </a:xfrm>
        </p:grpSpPr>
        <p:sp>
          <p:nvSpPr>
            <p:cNvPr id="183" name="Rectangle 7"/>
            <p:cNvSpPr>
              <a:spLocks noChangeArrowheads="1"/>
            </p:cNvSpPr>
            <p:nvPr/>
          </p:nvSpPr>
          <p:spPr bwMode="auto">
            <a:xfrm>
              <a:off x="3425951" y="4664968"/>
              <a:ext cx="323981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Tìm đáp án thích hợp để điền vào (?) sao cho chương trình hoạt động theo time Chart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K1                 B</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K2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a:t>
              </a:r>
              <a:r>
                <a:rPr lang="en-US" altLang="ko-KR" sz="95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K3               </a:t>
              </a:r>
              <a:r>
                <a:rPr lang="en-US" altLang="ko-KR" sz="950" smtClean="0">
                  <a:latin typeface="Times New Roman" pitchFamily="18" charset="0"/>
                  <a:ea typeface="LG Smart_H Regular" panose="020B0600000101010101" pitchFamily="34" charset="-127"/>
                  <a:cs typeface="Times New Roman" pitchFamily="18" charset="0"/>
                </a:rPr>
                <a:t>D</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K4</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7" name="그림 6"/>
            <p:cNvPicPr>
              <a:picLocks noChangeAspect="1"/>
            </p:cNvPicPr>
            <p:nvPr/>
          </p:nvPicPr>
          <p:blipFill>
            <a:blip r:embed="rId3"/>
            <a:stretch>
              <a:fillRect/>
            </a:stretch>
          </p:blipFill>
          <p:spPr>
            <a:xfrm>
              <a:off x="3527302" y="5063108"/>
              <a:ext cx="3076698" cy="1402060"/>
            </a:xfrm>
            <a:prstGeom prst="rect">
              <a:avLst/>
            </a:prstGeom>
          </p:spPr>
        </p:pic>
      </p:grpSp>
      <p:grpSp>
        <p:nvGrpSpPr>
          <p:cNvPr id="3" name="Group 2"/>
          <p:cNvGrpSpPr/>
          <p:nvPr/>
        </p:nvGrpSpPr>
        <p:grpSpPr>
          <a:xfrm>
            <a:off x="3412872" y="7062425"/>
            <a:ext cx="3239810" cy="2139047"/>
            <a:chOff x="3412872" y="7062425"/>
            <a:chExt cx="3239810" cy="2139047"/>
          </a:xfrm>
        </p:grpSpPr>
        <p:sp>
          <p:nvSpPr>
            <p:cNvPr id="184" name="Rectangle 7"/>
            <p:cNvSpPr>
              <a:spLocks noChangeArrowheads="1"/>
            </p:cNvSpPr>
            <p:nvPr/>
          </p:nvSpPr>
          <p:spPr bwMode="auto">
            <a:xfrm>
              <a:off x="3412872" y="7062425"/>
              <a:ext cx="3239810"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fr-FR" altLang="ko-KR" sz="950">
                  <a:latin typeface="Times New Roman" pitchFamily="18" charset="0"/>
                  <a:ea typeface="LG Smart_H Regular" panose="020B0600000101010101" pitchFamily="34" charset="-127"/>
                  <a:cs typeface="Times New Roman" pitchFamily="18" charset="0"/>
                </a:rPr>
                <a:t>Nhấn X1 sau bao lâu thì Y50 </a:t>
              </a:r>
              <a:r>
                <a:rPr lang="fr-FR" altLang="ko-KR" sz="950" smtClean="0">
                  <a:latin typeface="Times New Roman" pitchFamily="18" charset="0"/>
                  <a:ea typeface="LG Smart_H Regular" panose="020B0600000101010101" pitchFamily="34" charset="-127"/>
                  <a:cs typeface="Times New Roman" pitchFamily="18" charset="0"/>
                </a:rPr>
                <a:t>ON?</a:t>
              </a:r>
              <a:r>
                <a:rPr lang="vi-VN" altLang="ko-KR" sz="950" smtClean="0">
                  <a:latin typeface="Times New Roman" pitchFamily="18" charset="0"/>
                  <a:ea typeface="LG Smart_H Regular" panose="020B0600000101010101" pitchFamily="34" charset="-127"/>
                  <a:cs typeface="Times New Roman" pitchFamily="18" charset="0"/>
                </a:rPr>
                <a:t>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A</a:t>
              </a:r>
              <a:r>
                <a:rPr lang="en-US" altLang="ko-KR" sz="950">
                  <a:latin typeface="Times New Roman" pitchFamily="18" charset="0"/>
                  <a:ea typeface="LG Smart_H Regular" panose="020B0600000101010101" pitchFamily="34" charset="-127"/>
                  <a:cs typeface="Times New Roman" pitchFamily="18" charset="0"/>
                </a:rPr>
                <a:t>. 4 giây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latin typeface="Times New Roman" pitchFamily="18" charset="0"/>
                  <a:ea typeface="LG Smart_H Regular" panose="020B0600000101010101" pitchFamily="34" charset="-127"/>
                  <a:cs typeface="Times New Roman" pitchFamily="18" charset="0"/>
                </a:rPr>
                <a:t>B. </a:t>
              </a:r>
              <a:r>
                <a:rPr lang="en-US" altLang="ko-KR" sz="950" smtClean="0">
                  <a:latin typeface="Times New Roman" pitchFamily="18" charset="0"/>
                  <a:ea typeface="LG Smart_H Regular" panose="020B0600000101010101" pitchFamily="34" charset="-127"/>
                  <a:cs typeface="Times New Roman" pitchFamily="18" charset="0"/>
                </a:rPr>
                <a:t>8 </a:t>
              </a:r>
              <a:r>
                <a:rPr lang="en-US" altLang="ko-KR" sz="950">
                  <a:latin typeface="Times New Roman" pitchFamily="18" charset="0"/>
                  <a:ea typeface="LG Smart_H Regular" panose="020B0600000101010101" pitchFamily="34" charset="-127"/>
                  <a:cs typeface="Times New Roman" pitchFamily="18" charset="0"/>
                </a:rPr>
                <a:t>giây       </a:t>
              </a:r>
              <a:r>
                <a:rPr lang="en-US" altLang="ko-KR" sz="950" smtClean="0">
                  <a:latin typeface="Times New Roman" pitchFamily="18" charset="0"/>
                  <a:ea typeface="LG Smart_H Regular" panose="020B0600000101010101" pitchFamily="34" charset="-127"/>
                  <a:cs typeface="Times New Roman" pitchFamily="18" charset="0"/>
                </a:rPr>
                <a:t>   C</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4.4 </a:t>
              </a:r>
              <a:r>
                <a:rPr lang="en-US" altLang="ko-KR" sz="950">
                  <a:latin typeface="Times New Roman" pitchFamily="18" charset="0"/>
                  <a:ea typeface="LG Smart_H Regular" panose="020B0600000101010101" pitchFamily="34" charset="-127"/>
                  <a:cs typeface="Times New Roman" pitchFamily="18" charset="0"/>
                </a:rPr>
                <a:t>giây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a:solidFill>
                    <a:srgbClr val="FF0000"/>
                  </a:solidFill>
                  <a:latin typeface="Times New Roman" pitchFamily="18" charset="0"/>
                  <a:ea typeface="LG Smart_H Regular" panose="020B0600000101010101" pitchFamily="34" charset="-127"/>
                  <a:cs typeface="Times New Roman" pitchFamily="18" charset="0"/>
                </a:rPr>
                <a:t>D.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0.4 </a:t>
              </a:r>
              <a:r>
                <a:rPr lang="en-US" altLang="ko-KR" sz="950">
                  <a:solidFill>
                    <a:srgbClr val="FF0000"/>
                  </a:solidFill>
                  <a:latin typeface="Times New Roman" pitchFamily="18" charset="0"/>
                  <a:ea typeface="LG Smart_H Regular" panose="020B0600000101010101" pitchFamily="34" charset="-127"/>
                  <a:cs typeface="Times New Roman" pitchFamily="18" charset="0"/>
                </a:rPr>
                <a:t>giây</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pic>
          <p:nvPicPr>
            <p:cNvPr id="28" name="그림 19"/>
            <p:cNvPicPr>
              <a:picLocks noChangeAspect="1"/>
            </p:cNvPicPr>
            <p:nvPr/>
          </p:nvPicPr>
          <p:blipFill>
            <a:blip r:embed="rId4"/>
            <a:stretch>
              <a:fillRect/>
            </a:stretch>
          </p:blipFill>
          <p:spPr>
            <a:xfrm>
              <a:off x="3493643" y="7460446"/>
              <a:ext cx="3110358" cy="1380986"/>
            </a:xfrm>
            <a:prstGeom prst="rect">
              <a:avLst/>
            </a:prstGeom>
          </p:spPr>
        </p:pic>
      </p:grpSp>
    </p:spTree>
    <p:extLst>
      <p:ext uri="{BB962C8B-B14F-4D97-AF65-F5344CB8AC3E}">
        <p14:creationId xmlns:p14="http://schemas.microsoft.com/office/powerpoint/2010/main" val="162301673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31" name="Rectangle 101"/>
          <p:cNvSpPr>
            <a:spLocks noChangeArrowheads="1"/>
          </p:cNvSpPr>
          <p:nvPr/>
        </p:nvSpPr>
        <p:spPr bwMode="auto">
          <a:xfrm>
            <a:off x="215627" y="4134053"/>
            <a:ext cx="3429000" cy="8233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solidFill>
                  <a:srgbClr val="000000"/>
                </a:solidFill>
                <a:latin typeface="Times New Roman" pitchFamily="18" charset="0"/>
                <a:ea typeface="돋움" pitchFamily="50" charset="-127"/>
                <a:cs typeface="Times New Roman" pitchFamily="18" charset="0"/>
              </a:rPr>
              <a:t>3</a:t>
            </a:r>
            <a:r>
              <a:rPr lang="en-US" altLang="ko-KR" sz="950" smtClean="0">
                <a:solidFill>
                  <a:srgbClr val="000000"/>
                </a:solidFill>
                <a:latin typeface="Times New Roman" pitchFamily="18" charset="0"/>
                <a:ea typeface="돋움" pitchFamily="50" charset="-127"/>
                <a:cs typeface="Times New Roman" pitchFamily="18" charset="0"/>
              </a:rPr>
              <a:t>3.</a:t>
            </a:r>
            <a:r>
              <a:rPr lang="ko-KR" altLang="en-US" sz="950" smtClean="0">
                <a:solidFill>
                  <a:srgbClr val="000000"/>
                </a:solidFill>
                <a:latin typeface="Times New Roman" pitchFamily="18" charset="0"/>
                <a:ea typeface="돋움" pitchFamily="50" charset="-127"/>
                <a:cs typeface="Times New Roman" pitchFamily="18" charset="0"/>
              </a:rPr>
              <a:t> </a:t>
            </a:r>
            <a:r>
              <a:rPr lang="vi-VN" altLang="ko-KR" sz="950">
                <a:solidFill>
                  <a:srgbClr val="000000"/>
                </a:solidFill>
                <a:latin typeface="Times New Roman" pitchFamily="18" charset="0"/>
                <a:ea typeface="돋움" pitchFamily="50" charset="-127"/>
                <a:cs typeface="Times New Roman" pitchFamily="18" charset="0"/>
              </a:rPr>
              <a:t>Hãy đổi F14 hệ 16 thành hệ nhị phân </a:t>
            </a:r>
            <a:r>
              <a:rPr lang="vi-VN" altLang="ko-KR" sz="950" smtClean="0">
                <a:solidFill>
                  <a:srgbClr val="000000"/>
                </a:solidFill>
                <a:latin typeface="Times New Roman" pitchFamily="18" charset="0"/>
                <a:ea typeface="돋움" pitchFamily="50" charset="-127"/>
                <a:cs typeface="Times New Roman" pitchFamily="18" charset="0"/>
              </a:rPr>
              <a:t>.</a:t>
            </a:r>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vi-VN" altLang="ko-KR" sz="950" smtClean="0">
                <a:solidFill>
                  <a:srgbClr val="000000"/>
                </a:solidFill>
                <a:latin typeface="Times New Roman" pitchFamily="18" charset="0"/>
                <a:ea typeface="돋움" pitchFamily="50" charset="-127"/>
                <a:cs typeface="Times New Roman" pitchFamily="18" charset="0"/>
              </a:rPr>
              <a:t>A</a:t>
            </a:r>
            <a:r>
              <a:rPr lang="en-US" altLang="ko-KR" sz="950" smtClean="0">
                <a:solidFill>
                  <a:srgbClr val="000000"/>
                </a:solidFill>
                <a:latin typeface="Times New Roman" pitchFamily="18" charset="0"/>
                <a:ea typeface="돋움" pitchFamily="50" charset="-127"/>
                <a:cs typeface="Times New Roman" pitchFamily="18" charset="0"/>
              </a:rPr>
              <a:t>. </a:t>
            </a:r>
            <a:r>
              <a:rPr lang="vi-VN" altLang="ko-KR" sz="950" smtClean="0">
                <a:solidFill>
                  <a:srgbClr val="000000"/>
                </a:solidFill>
                <a:latin typeface="Times New Roman" pitchFamily="18" charset="0"/>
                <a:ea typeface="돋움" pitchFamily="50" charset="-127"/>
                <a:cs typeface="Times New Roman" pitchFamily="18" charset="0"/>
              </a:rPr>
              <a:t>1110 </a:t>
            </a:r>
            <a:r>
              <a:rPr lang="vi-VN" altLang="ko-KR" sz="950">
                <a:solidFill>
                  <a:srgbClr val="000000"/>
                </a:solidFill>
                <a:latin typeface="Times New Roman" pitchFamily="18" charset="0"/>
                <a:ea typeface="돋움" pitchFamily="50" charset="-127"/>
                <a:cs typeface="Times New Roman" pitchFamily="18" charset="0"/>
              </a:rPr>
              <a:t>0001 0100      </a:t>
            </a:r>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vi-VN" altLang="ko-KR" sz="950" smtClean="0">
                <a:solidFill>
                  <a:srgbClr val="000000"/>
                </a:solidFill>
                <a:latin typeface="Times New Roman" pitchFamily="18" charset="0"/>
                <a:ea typeface="돋움" pitchFamily="50" charset="-127"/>
                <a:cs typeface="Times New Roman" pitchFamily="18" charset="0"/>
              </a:rPr>
              <a:t>B</a:t>
            </a:r>
            <a:r>
              <a:rPr lang="vi-VN" altLang="ko-KR" sz="950">
                <a:solidFill>
                  <a:srgbClr val="000000"/>
                </a:solidFill>
                <a:latin typeface="Times New Roman" pitchFamily="18" charset="0"/>
                <a:ea typeface="돋움" pitchFamily="50" charset="-127"/>
                <a:cs typeface="Times New Roman" pitchFamily="18" charset="0"/>
              </a:rPr>
              <a:t>. 1010 1001 0110  </a:t>
            </a:r>
          </a:p>
          <a:p>
            <a:pPr eaLnBrk="1" hangingPunct="1"/>
            <a:r>
              <a:rPr lang="vi-VN" altLang="ko-KR" sz="950" smtClean="0">
                <a:solidFill>
                  <a:srgbClr val="000000"/>
                </a:solidFill>
                <a:latin typeface="Times New Roman" pitchFamily="18" charset="0"/>
                <a:ea typeface="돋움" pitchFamily="50" charset="-127"/>
                <a:cs typeface="Times New Roman" pitchFamily="18" charset="0"/>
              </a:rPr>
              <a:t>C</a:t>
            </a:r>
            <a:r>
              <a:rPr lang="vi-VN" altLang="ko-KR" sz="950">
                <a:solidFill>
                  <a:srgbClr val="000000"/>
                </a:solidFill>
                <a:latin typeface="Times New Roman" pitchFamily="18" charset="0"/>
                <a:ea typeface="돋움" pitchFamily="50" charset="-127"/>
                <a:cs typeface="Times New Roman" pitchFamily="18" charset="0"/>
              </a:rPr>
              <a:t>. 1111 1110 1011      </a:t>
            </a:r>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vi-VN" altLang="ko-KR" sz="950" smtClean="0">
                <a:solidFill>
                  <a:srgbClr val="000000"/>
                </a:solidFill>
                <a:latin typeface="Times New Roman" pitchFamily="18" charset="0"/>
                <a:ea typeface="돋움" pitchFamily="50" charset="-127"/>
                <a:cs typeface="Times New Roman" pitchFamily="18" charset="0"/>
              </a:rPr>
              <a:t>D</a:t>
            </a:r>
            <a:r>
              <a:rPr lang="vi-VN" altLang="ko-KR" sz="950">
                <a:solidFill>
                  <a:srgbClr val="FF0000"/>
                </a:solidFill>
                <a:latin typeface="Times New Roman" pitchFamily="18" charset="0"/>
                <a:ea typeface="돋움" pitchFamily="50" charset="-127"/>
                <a:cs typeface="Times New Roman" pitchFamily="18" charset="0"/>
              </a:rPr>
              <a:t>. 1111 0001 0100</a:t>
            </a:r>
            <a:endParaRPr lang="vi-VN" altLang="ko-KR" sz="950" dirty="0" err="1">
              <a:solidFill>
                <a:srgbClr val="FF0000"/>
              </a:solidFill>
              <a:latin typeface="Times New Roman" pitchFamily="18" charset="0"/>
              <a:ea typeface="돋움" pitchFamily="50" charset="-127"/>
              <a:cs typeface="Times New Roman" pitchFamily="18" charset="0"/>
            </a:endParaRPr>
          </a:p>
        </p:txBody>
      </p:sp>
      <p:sp>
        <p:nvSpPr>
          <p:cNvPr id="32" name="Rectangle 101"/>
          <p:cNvSpPr>
            <a:spLocks noChangeArrowheads="1"/>
          </p:cNvSpPr>
          <p:nvPr/>
        </p:nvSpPr>
        <p:spPr bwMode="auto">
          <a:xfrm>
            <a:off x="188640" y="1035532"/>
            <a:ext cx="3267744"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solidFill>
                  <a:srgbClr val="000000"/>
                </a:solidFill>
                <a:latin typeface="Times New Roman" pitchFamily="18" charset="0"/>
                <a:ea typeface="돋움" pitchFamily="50" charset="-127"/>
                <a:cs typeface="Times New Roman" pitchFamily="18" charset="0"/>
              </a:rPr>
              <a:t>3</a:t>
            </a:r>
            <a:r>
              <a:rPr lang="en-US" altLang="ko-KR" sz="950" smtClean="0">
                <a:solidFill>
                  <a:srgbClr val="000000"/>
                </a:solidFill>
                <a:latin typeface="Times New Roman" pitchFamily="18" charset="0"/>
                <a:ea typeface="돋움" pitchFamily="50" charset="-127"/>
                <a:cs typeface="Times New Roman" pitchFamily="18" charset="0"/>
              </a:rPr>
              <a:t>1. </a:t>
            </a:r>
            <a:r>
              <a:rPr lang="en-US" altLang="ko-KR" sz="950" dirty="0" err="1" smtClean="0">
                <a:solidFill>
                  <a:srgbClr val="000000"/>
                </a:solidFill>
                <a:latin typeface="Times New Roman" pitchFamily="18" charset="0"/>
                <a:ea typeface="돋움" pitchFamily="50" charset="-127"/>
                <a:cs typeface="Times New Roman" pitchFamily="18" charset="0"/>
              </a:rPr>
              <a:t>Những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đại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lượng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vật</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lí</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thay</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đổi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tiên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tục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như</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điện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áp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dòng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điện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nhiệt</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độ</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áp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lực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lưu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lượng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tốc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độ</a:t>
            </a:r>
            <a:r>
              <a:rPr lang="en-US" altLang="ko-KR" sz="950" dirty="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được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gọi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gì</a:t>
            </a:r>
            <a:r>
              <a:rPr lang="en-US" altLang="ko-KR" sz="950" dirty="0" smtClean="0">
                <a:solidFill>
                  <a:srgbClr val="000000"/>
                </a:solidFill>
                <a:latin typeface="Times New Roman" pitchFamily="18" charset="0"/>
                <a:ea typeface="돋움" pitchFamily="50" charset="-127"/>
                <a:cs typeface="Times New Roman" pitchFamily="18" charset="0"/>
              </a:rPr>
              <a:t> ?</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A . </a:t>
            </a:r>
            <a:r>
              <a:rPr lang="en-US" altLang="ko-KR" sz="950" dirty="0" err="1" smtClean="0">
                <a:solidFill>
                  <a:srgbClr val="000000"/>
                </a:solidFill>
                <a:latin typeface="Times New Roman" pitchFamily="18" charset="0"/>
                <a:ea typeface="돋움" pitchFamily="50" charset="-127"/>
                <a:cs typeface="Times New Roman" pitchFamily="18" charset="0"/>
              </a:rPr>
              <a:t>Giá</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trị</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digital</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B. </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Giá</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trị</a:t>
            </a:r>
            <a:r>
              <a:rPr lang="en-US" altLang="ko-KR" sz="950" dirty="0" smtClean="0">
                <a:solidFill>
                  <a:srgbClr val="FF0000"/>
                </a:solidFill>
                <a:latin typeface="Times New Roman" pitchFamily="18" charset="0"/>
                <a:ea typeface="돋움" pitchFamily="50" charset="-127"/>
                <a:cs typeface="Times New Roman" pitchFamily="18" charset="0"/>
              </a:rPr>
              <a:t> Analog</a:t>
            </a:r>
            <a:r>
              <a:rPr lang="ko-KR" altLang="en-US" sz="950" dirty="0" smtClean="0">
                <a:solidFill>
                  <a:srgbClr val="FF0000"/>
                </a:solidFill>
                <a:latin typeface="Times New Roman" pitchFamily="18" charset="0"/>
                <a:ea typeface="돋움" pitchFamily="50" charset="-127"/>
                <a:cs typeface="Times New Roman" pitchFamily="18" charset="0"/>
              </a:rPr>
              <a:t>   </a:t>
            </a:r>
            <a:endParaRPr lang="en-US" altLang="ko-KR" sz="950" dirty="0">
              <a:solidFill>
                <a:srgbClr val="FF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  C. </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Giá</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trị</a:t>
            </a:r>
            <a:r>
              <a:rPr lang="en-US" altLang="ko-KR" sz="950" dirty="0" smtClean="0">
                <a:solidFill>
                  <a:srgbClr val="000000"/>
                </a:solidFill>
                <a:latin typeface="Times New Roman" pitchFamily="18" charset="0"/>
                <a:ea typeface="돋움" pitchFamily="50" charset="-127"/>
                <a:cs typeface="Times New Roman" pitchFamily="18" charset="0"/>
              </a:rPr>
              <a:t> digital/ </a:t>
            </a:r>
            <a:r>
              <a:rPr lang="en-US" altLang="ko-KR" sz="950" smtClean="0">
                <a:solidFill>
                  <a:srgbClr val="000000"/>
                </a:solidFill>
                <a:latin typeface="Times New Roman" pitchFamily="18" charset="0"/>
                <a:ea typeface="돋움" pitchFamily="50" charset="-127"/>
                <a:cs typeface="Times New Roman" pitchFamily="18" charset="0"/>
              </a:rPr>
              <a:t>analog</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D. </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Giá</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trị</a:t>
            </a:r>
            <a:r>
              <a:rPr lang="en-US" altLang="ko-KR" sz="950" dirty="0" smtClean="0">
                <a:solidFill>
                  <a:srgbClr val="000000"/>
                </a:solidFill>
                <a:latin typeface="Times New Roman" pitchFamily="18" charset="0"/>
                <a:ea typeface="돋움" pitchFamily="50" charset="-127"/>
                <a:cs typeface="Times New Roman" pitchFamily="18" charset="0"/>
              </a:rPr>
              <a:t> analog/</a:t>
            </a:r>
            <a:r>
              <a:rPr lang="ko-KR" altLang="en-US" sz="950" dirty="0" smtClean="0">
                <a:solidFill>
                  <a:srgbClr val="000000"/>
                </a:solidFill>
                <a:latin typeface="Times New Roman" pitchFamily="18" charset="0"/>
                <a:ea typeface="돋움" pitchFamily="50" charset="-127"/>
                <a:cs typeface="Times New Roman" pitchFamily="18" charset="0"/>
              </a:rPr>
              <a:t> </a:t>
            </a:r>
            <a:r>
              <a:rPr lang="en-US" altLang="ko-KR" sz="950" dirty="0" smtClean="0">
                <a:solidFill>
                  <a:srgbClr val="000000"/>
                </a:solidFill>
                <a:latin typeface="Times New Roman" pitchFamily="18" charset="0"/>
                <a:ea typeface="돋움" pitchFamily="50" charset="-127"/>
                <a:cs typeface="Times New Roman" pitchFamily="18" charset="0"/>
              </a:rPr>
              <a:t>digital</a:t>
            </a:r>
            <a:endParaRPr lang="ko-KR" altLang="en-US" sz="950" dirty="0">
              <a:solidFill>
                <a:srgbClr val="000000"/>
              </a:solidFill>
              <a:latin typeface="Times New Roman" pitchFamily="18" charset="0"/>
              <a:ea typeface="돋움" pitchFamily="50" charset="-127"/>
              <a:cs typeface="Times New Roman" pitchFamily="18" charset="0"/>
            </a:endParaRPr>
          </a:p>
        </p:txBody>
      </p:sp>
      <p:sp>
        <p:nvSpPr>
          <p:cNvPr id="34" name="Rectangle 101"/>
          <p:cNvSpPr>
            <a:spLocks noChangeArrowheads="1"/>
          </p:cNvSpPr>
          <p:nvPr/>
        </p:nvSpPr>
        <p:spPr bwMode="auto">
          <a:xfrm>
            <a:off x="215627" y="5286181"/>
            <a:ext cx="34290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solidFill>
                  <a:srgbClr val="000000"/>
                </a:solidFill>
                <a:latin typeface="Times New Roman" pitchFamily="18" charset="0"/>
                <a:ea typeface="돋움" pitchFamily="50" charset="-127"/>
                <a:cs typeface="Times New Roman" pitchFamily="18" charset="0"/>
              </a:rPr>
              <a:t>3</a:t>
            </a:r>
            <a:r>
              <a:rPr lang="en-US" altLang="ko-KR" sz="950" smtClean="0">
                <a:solidFill>
                  <a:srgbClr val="000000"/>
                </a:solidFill>
                <a:latin typeface="Times New Roman" pitchFamily="18" charset="0"/>
                <a:ea typeface="돋움" pitchFamily="50" charset="-127"/>
                <a:cs typeface="Times New Roman" pitchFamily="18" charset="0"/>
              </a:rPr>
              <a:t>4.</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Hãy</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đổi</a:t>
            </a:r>
            <a:r>
              <a:rPr lang="en-US" altLang="ko-KR" sz="950" dirty="0" smtClean="0">
                <a:solidFill>
                  <a:srgbClr val="000000"/>
                </a:solidFill>
                <a:latin typeface="Times New Roman" pitchFamily="18" charset="0"/>
                <a:ea typeface="돋움" pitchFamily="50" charset="-127"/>
                <a:cs typeface="Times New Roman" pitchFamily="18" charset="0"/>
              </a:rPr>
              <a:t> 458 </a:t>
            </a:r>
            <a:r>
              <a:rPr lang="en-US" altLang="ko-KR" sz="950" dirty="0" err="1" smtClean="0">
                <a:solidFill>
                  <a:srgbClr val="000000"/>
                </a:solidFill>
                <a:latin typeface="Times New Roman" pitchFamily="18" charset="0"/>
                <a:ea typeface="돋움" pitchFamily="50" charset="-127"/>
                <a:cs typeface="Times New Roman" pitchFamily="18" charset="0"/>
              </a:rPr>
              <a:t>hệ</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thập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phân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thành</a:t>
            </a:r>
            <a:r>
              <a:rPr lang="en-US" altLang="ko-KR" sz="950" dirty="0" smtClean="0">
                <a:solidFill>
                  <a:srgbClr val="000000"/>
                </a:solidFill>
                <a:latin typeface="Times New Roman" pitchFamily="18" charset="0"/>
                <a:ea typeface="돋움" pitchFamily="50" charset="-127"/>
                <a:cs typeface="Times New Roman" pitchFamily="18" charset="0"/>
              </a:rPr>
              <a:t> code </a:t>
            </a:r>
            <a:r>
              <a:rPr lang="ko-KR" altLang="en-US" sz="950" dirty="0" smtClean="0">
                <a:solidFill>
                  <a:srgbClr val="000000"/>
                </a:solidFill>
                <a:latin typeface="Times New Roman" pitchFamily="18" charset="0"/>
                <a:ea typeface="돋움" pitchFamily="50" charset="-127"/>
                <a:cs typeface="Times New Roman" pitchFamily="18" charset="0"/>
              </a:rPr>
              <a:t> </a:t>
            </a:r>
            <a:r>
              <a:rPr lang="en-US" altLang="ko-KR" sz="950" dirty="0">
                <a:solidFill>
                  <a:srgbClr val="000000"/>
                </a:solidFill>
                <a:latin typeface="Times New Roman" pitchFamily="18" charset="0"/>
                <a:ea typeface="돋움" pitchFamily="50" charset="-127"/>
                <a:cs typeface="Times New Roman" pitchFamily="18" charset="0"/>
              </a:rPr>
              <a:t>BCD </a:t>
            </a:r>
            <a:r>
              <a:rPr lang="en-US" altLang="ko-KR" sz="950" dirty="0" smtClean="0">
                <a:solidFill>
                  <a:srgbClr val="000000"/>
                </a:solidFill>
                <a:latin typeface="Times New Roman" pitchFamily="18" charset="0"/>
                <a:ea typeface="돋움" pitchFamily="50" charset="-127"/>
                <a:cs typeface="Times New Roman" pitchFamily="18" charset="0"/>
              </a:rPr>
              <a:t>.</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en-US" altLang="ko-KR" sz="950" smtClean="0">
                <a:solidFill>
                  <a:srgbClr val="000000"/>
                </a:solidFill>
                <a:latin typeface="Times New Roman" pitchFamily="18" charset="0"/>
                <a:ea typeface="돋움" pitchFamily="50" charset="-127"/>
                <a:cs typeface="Times New Roman" pitchFamily="18" charset="0"/>
              </a:rPr>
              <a:t>A.  </a:t>
            </a:r>
            <a:r>
              <a:rPr lang="en-US" altLang="ko-KR" sz="950" dirty="0">
                <a:solidFill>
                  <a:srgbClr val="000000"/>
                </a:solidFill>
                <a:latin typeface="Times New Roman" pitchFamily="18" charset="0"/>
                <a:ea typeface="돋움" pitchFamily="50" charset="-127"/>
                <a:cs typeface="Times New Roman" pitchFamily="18" charset="0"/>
              </a:rPr>
              <a:t>1100 0101 </a:t>
            </a:r>
            <a:r>
              <a:rPr lang="en-US" altLang="ko-KR" sz="950">
                <a:solidFill>
                  <a:srgbClr val="000000"/>
                </a:solidFill>
                <a:latin typeface="Times New Roman" pitchFamily="18" charset="0"/>
                <a:ea typeface="돋움" pitchFamily="50" charset="-127"/>
                <a:cs typeface="Times New Roman" pitchFamily="18" charset="0"/>
              </a:rPr>
              <a:t>1000    </a:t>
            </a:r>
            <a:r>
              <a:rPr lang="en-US" altLang="ko-KR"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B. </a:t>
            </a:r>
            <a:r>
              <a:rPr lang="en-US" altLang="ko-KR" sz="950" dirty="0">
                <a:solidFill>
                  <a:srgbClr val="FF0000"/>
                </a:solidFill>
                <a:latin typeface="Times New Roman" pitchFamily="18" charset="0"/>
                <a:ea typeface="돋움" pitchFamily="50" charset="-127"/>
                <a:cs typeface="Times New Roman" pitchFamily="18" charset="0"/>
              </a:rPr>
              <a:t>100 0101 1000   </a:t>
            </a: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 C. </a:t>
            </a:r>
            <a:r>
              <a:rPr lang="en-US" altLang="ko-KR" sz="950" dirty="0">
                <a:solidFill>
                  <a:srgbClr val="000000"/>
                </a:solidFill>
                <a:latin typeface="Times New Roman" pitchFamily="18" charset="0"/>
                <a:ea typeface="돋움" pitchFamily="50" charset="-127"/>
                <a:cs typeface="Times New Roman" pitchFamily="18" charset="0"/>
              </a:rPr>
              <a:t>101 1010 </a:t>
            </a:r>
            <a:r>
              <a:rPr lang="en-US" altLang="ko-KR" sz="950">
                <a:solidFill>
                  <a:srgbClr val="000000"/>
                </a:solidFill>
                <a:latin typeface="Times New Roman" pitchFamily="18" charset="0"/>
                <a:ea typeface="돋움" pitchFamily="50" charset="-127"/>
                <a:cs typeface="Times New Roman" pitchFamily="18" charset="0"/>
              </a:rPr>
              <a:t>0001       </a:t>
            </a:r>
            <a:r>
              <a:rPr lang="en-US" altLang="ko-KR" sz="950" smtClean="0">
                <a:solidFill>
                  <a:srgbClr val="000000"/>
                </a:solidFill>
                <a:latin typeface="Times New Roman" pitchFamily="18" charset="0"/>
                <a:ea typeface="돋움" pitchFamily="50" charset="-127"/>
                <a:cs typeface="Times New Roman" pitchFamily="18" charset="0"/>
              </a:rPr>
              <a:t> D. </a:t>
            </a:r>
            <a:r>
              <a:rPr lang="en-US" altLang="ko-KR" sz="950" dirty="0">
                <a:solidFill>
                  <a:srgbClr val="000000"/>
                </a:solidFill>
                <a:latin typeface="Times New Roman" pitchFamily="18" charset="0"/>
                <a:ea typeface="돋움" pitchFamily="50" charset="-127"/>
                <a:cs typeface="Times New Roman" pitchFamily="18" charset="0"/>
              </a:rPr>
              <a:t>100 0101 1001</a:t>
            </a:r>
            <a:endParaRPr lang="ko-KR" altLang="en-US" sz="950" dirty="0">
              <a:solidFill>
                <a:srgbClr val="000000"/>
              </a:solidFill>
              <a:latin typeface="Times New Roman" pitchFamily="18" charset="0"/>
              <a:ea typeface="돋움" pitchFamily="50" charset="-127"/>
              <a:cs typeface="Times New Roman" pitchFamily="18" charset="0"/>
            </a:endParaRPr>
          </a:p>
        </p:txBody>
      </p:sp>
      <p:sp>
        <p:nvSpPr>
          <p:cNvPr id="35" name="Rectangle 101"/>
          <p:cNvSpPr>
            <a:spLocks noChangeArrowheads="1"/>
          </p:cNvSpPr>
          <p:nvPr/>
        </p:nvSpPr>
        <p:spPr bwMode="auto">
          <a:xfrm>
            <a:off x="215627" y="6281226"/>
            <a:ext cx="3429000"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solidFill>
                  <a:srgbClr val="000000"/>
                </a:solidFill>
                <a:latin typeface="Times New Roman" pitchFamily="18" charset="0"/>
                <a:ea typeface="돋움" pitchFamily="50" charset="-127"/>
                <a:cs typeface="Times New Roman" pitchFamily="18" charset="0"/>
              </a:rPr>
              <a:t>3</a:t>
            </a:r>
            <a:r>
              <a:rPr lang="en-US" altLang="ko-KR" sz="950" smtClean="0">
                <a:solidFill>
                  <a:srgbClr val="000000"/>
                </a:solidFill>
                <a:latin typeface="Times New Roman" pitchFamily="18" charset="0"/>
                <a:ea typeface="돋움" pitchFamily="50" charset="-127"/>
                <a:cs typeface="Times New Roman" pitchFamily="18" charset="0"/>
              </a:rPr>
              <a:t>5</a:t>
            </a:r>
            <a:r>
              <a:rPr lang="en-US" altLang="ko-KR" sz="950" dirty="0">
                <a:solidFill>
                  <a:srgbClr val="000000"/>
                </a:solidFill>
                <a:latin typeface="Times New Roman" pitchFamily="18" charset="0"/>
                <a:ea typeface="돋움" pitchFamily="50" charset="-127"/>
                <a:cs typeface="Times New Roman" pitchFamily="18" charset="0"/>
              </a:rPr>
              <a:t>.</a:t>
            </a:r>
            <a:r>
              <a:rPr lang="ko-KR" altLang="en-US" sz="950" dirty="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Hãy</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chọn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đáp</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án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giải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thích</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sai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về</a:t>
            </a:r>
            <a:r>
              <a:rPr lang="en-US" altLang="ko-KR" sz="950" dirty="0" smtClean="0">
                <a:solidFill>
                  <a:srgbClr val="000000"/>
                </a:solidFill>
                <a:latin typeface="Times New Roman" pitchFamily="18" charset="0"/>
                <a:ea typeface="돋움" pitchFamily="50" charset="-127"/>
                <a:cs typeface="Times New Roman" pitchFamily="18" charset="0"/>
              </a:rPr>
              <a:t> Device .</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A . </a:t>
            </a:r>
            <a:r>
              <a:rPr lang="en-US" altLang="ko-KR" sz="950" dirty="0" smtClean="0">
                <a:solidFill>
                  <a:srgbClr val="000000"/>
                </a:solidFill>
                <a:latin typeface="Times New Roman" pitchFamily="18" charset="0"/>
                <a:ea typeface="돋움" pitchFamily="50" charset="-127"/>
                <a:cs typeface="Times New Roman" pitchFamily="18" charset="0"/>
              </a:rPr>
              <a:t>Device </a:t>
            </a:r>
            <a:r>
              <a:rPr lang="en-US" altLang="ko-KR" sz="950" dirty="0" err="1" smtClean="0">
                <a:solidFill>
                  <a:srgbClr val="000000"/>
                </a:solidFill>
                <a:latin typeface="Times New Roman" pitchFamily="18" charset="0"/>
                <a:ea typeface="돋움" pitchFamily="50" charset="-127"/>
                <a:cs typeface="Times New Roman" pitchFamily="18" charset="0"/>
              </a:rPr>
              <a:t>bên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ngoài</a:t>
            </a:r>
            <a:r>
              <a:rPr lang="en-US" altLang="ko-KR" sz="950" dirty="0" smtClean="0">
                <a:solidFill>
                  <a:srgbClr val="000000"/>
                </a:solidFill>
                <a:latin typeface="Times New Roman" pitchFamily="18" charset="0"/>
                <a:ea typeface="돋움" pitchFamily="50" charset="-127"/>
                <a:cs typeface="Times New Roman" pitchFamily="18" charset="0"/>
              </a:rPr>
              <a:t> :</a:t>
            </a:r>
            <a:r>
              <a:rPr lang="ko-KR" altLang="en-US" sz="950" dirty="0" smtClean="0">
                <a:solidFill>
                  <a:srgbClr val="000000"/>
                </a:solidFill>
                <a:latin typeface="Times New Roman" pitchFamily="18" charset="0"/>
                <a:ea typeface="돋움" pitchFamily="50" charset="-127"/>
                <a:cs typeface="Times New Roman" pitchFamily="18" charset="0"/>
              </a:rPr>
              <a:t> </a:t>
            </a:r>
            <a:r>
              <a:rPr lang="en-US" altLang="ko-KR" sz="950" dirty="0" smtClean="0">
                <a:solidFill>
                  <a:srgbClr val="000000"/>
                </a:solidFill>
                <a:latin typeface="Times New Roman" pitchFamily="18" charset="0"/>
                <a:ea typeface="돋움" pitchFamily="50" charset="-127"/>
                <a:cs typeface="Times New Roman" pitchFamily="18" charset="0"/>
              </a:rPr>
              <a:t>Device </a:t>
            </a:r>
            <a:r>
              <a:rPr lang="en-US" altLang="ko-KR" sz="950" dirty="0" err="1" smtClean="0">
                <a:solidFill>
                  <a:srgbClr val="000000"/>
                </a:solidFill>
                <a:latin typeface="Times New Roman" pitchFamily="18" charset="0"/>
                <a:ea typeface="돋움" pitchFamily="50" charset="-127"/>
                <a:cs typeface="Times New Roman" pitchFamily="18" charset="0"/>
              </a:rPr>
              <a:t>sử</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dụng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nhận</a:t>
            </a:r>
            <a:r>
              <a:rPr lang="en-US" altLang="ko-KR" sz="950" dirty="0" smtClean="0">
                <a:solidFill>
                  <a:srgbClr val="000000"/>
                </a:solidFill>
                <a:latin typeface="Times New Roman" pitchFamily="18" charset="0"/>
                <a:ea typeface="돋움" pitchFamily="50" charset="-127"/>
                <a:cs typeface="Times New Roman" pitchFamily="18" charset="0"/>
              </a:rPr>
              <a:t> input </a:t>
            </a:r>
            <a:r>
              <a:rPr lang="en-US" altLang="ko-KR" sz="950" dirty="0" err="1" smtClean="0">
                <a:solidFill>
                  <a:srgbClr val="000000"/>
                </a:solidFill>
                <a:latin typeface="Times New Roman" pitchFamily="18" charset="0"/>
                <a:ea typeface="돋움" pitchFamily="50" charset="-127"/>
                <a:cs typeface="Times New Roman" pitchFamily="18" charset="0"/>
              </a:rPr>
              <a:t>từ</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ngoài</a:t>
            </a:r>
            <a:r>
              <a:rPr lang="en-US" altLang="ko-KR" sz="950" dirty="0" smtClean="0">
                <a:solidFill>
                  <a:srgbClr val="000000"/>
                </a:solidFill>
                <a:latin typeface="Times New Roman" pitchFamily="18" charset="0"/>
                <a:ea typeface="돋움" pitchFamily="50" charset="-127"/>
                <a:cs typeface="Times New Roman" pitchFamily="18" charset="0"/>
              </a:rPr>
              <a:t> CPU </a:t>
            </a:r>
            <a:r>
              <a:rPr lang="en-US" altLang="ko-KR" sz="950" dirty="0" err="1" smtClean="0">
                <a:solidFill>
                  <a:srgbClr val="000000"/>
                </a:solidFill>
                <a:latin typeface="Times New Roman" pitchFamily="18" charset="0"/>
                <a:ea typeface="돋움" pitchFamily="50" charset="-127"/>
                <a:cs typeface="Times New Roman" pitchFamily="18" charset="0"/>
              </a:rPr>
              <a:t>hpawcj</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khi</a:t>
            </a:r>
            <a:r>
              <a:rPr lang="en-US" altLang="ko-KR" sz="950" dirty="0" smtClean="0">
                <a:solidFill>
                  <a:srgbClr val="000000"/>
                </a:solidFill>
                <a:latin typeface="Times New Roman" pitchFamily="18" charset="0"/>
                <a:ea typeface="돋움" pitchFamily="50" charset="-127"/>
                <a:cs typeface="Times New Roman" pitchFamily="18" charset="0"/>
              </a:rPr>
              <a:t> output</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B.  </a:t>
            </a:r>
            <a:r>
              <a:rPr lang="en-US" altLang="ko-KR" sz="950" dirty="0" smtClean="0">
                <a:solidFill>
                  <a:srgbClr val="000000"/>
                </a:solidFill>
                <a:latin typeface="Times New Roman" pitchFamily="18" charset="0"/>
                <a:ea typeface="돋움" pitchFamily="50" charset="-127"/>
                <a:cs typeface="Times New Roman" pitchFamily="18" charset="0"/>
              </a:rPr>
              <a:t>Device </a:t>
            </a:r>
            <a:r>
              <a:rPr lang="en-US" altLang="ko-KR" sz="950" dirty="0" err="1" smtClean="0">
                <a:solidFill>
                  <a:srgbClr val="000000"/>
                </a:solidFill>
                <a:latin typeface="Times New Roman" pitchFamily="18" charset="0"/>
                <a:ea typeface="돋움" pitchFamily="50" charset="-127"/>
                <a:cs typeface="Times New Roman" pitchFamily="18" charset="0"/>
              </a:rPr>
              <a:t>bên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trong</a:t>
            </a:r>
            <a:r>
              <a:rPr lang="en-US" altLang="ko-KR" sz="950" dirty="0" smtClean="0">
                <a:solidFill>
                  <a:srgbClr val="000000"/>
                </a:solidFill>
                <a:latin typeface="Times New Roman" pitchFamily="18" charset="0"/>
                <a:ea typeface="돋움" pitchFamily="50" charset="-127"/>
                <a:cs typeface="Times New Roman" pitchFamily="18" charset="0"/>
              </a:rPr>
              <a:t>: Device </a:t>
            </a:r>
            <a:r>
              <a:rPr lang="en-US" altLang="ko-KR" sz="950" dirty="0" err="1" smtClean="0">
                <a:solidFill>
                  <a:srgbClr val="000000"/>
                </a:solidFill>
                <a:latin typeface="Times New Roman" pitchFamily="18" charset="0"/>
                <a:ea typeface="돋움" pitchFamily="50" charset="-127"/>
                <a:cs typeface="Times New Roman" pitchFamily="18" charset="0"/>
              </a:rPr>
              <a:t>chỉ</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sử</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dụng</a:t>
            </a:r>
            <a:r>
              <a:rPr lang="en-US" altLang="ko-KR" sz="950" dirty="0">
                <a:solidFill>
                  <a:srgbClr val="000000"/>
                </a:solidFill>
                <a:latin typeface="Times New Roman" pitchFamily="18" charset="0"/>
                <a:ea typeface="돋움" pitchFamily="50" charset="-127"/>
                <a:cs typeface="Times New Roman" pitchFamily="18" charset="0"/>
              </a:rPr>
              <a:t> </a:t>
            </a:r>
            <a:r>
              <a:rPr lang="en-US" altLang="ko-KR" sz="950" dirty="0" smtClean="0">
                <a:solidFill>
                  <a:srgbClr val="000000"/>
                </a:solidFill>
                <a:latin typeface="Times New Roman" pitchFamily="18" charset="0"/>
                <a:ea typeface="돋움" pitchFamily="50" charset="-127"/>
                <a:cs typeface="Times New Roman" pitchFamily="18" charset="0"/>
              </a:rPr>
              <a:t>ở </a:t>
            </a:r>
            <a:r>
              <a:rPr lang="en-US" altLang="ko-KR" sz="950" dirty="0" err="1" smtClean="0">
                <a:solidFill>
                  <a:srgbClr val="000000"/>
                </a:solidFill>
                <a:latin typeface="Times New Roman" pitchFamily="18" charset="0"/>
                <a:ea typeface="돋움" pitchFamily="50" charset="-127"/>
                <a:cs typeface="Times New Roman" pitchFamily="18" charset="0"/>
              </a:rPr>
              <a:t>bên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trong</a:t>
            </a:r>
            <a:r>
              <a:rPr lang="en-US" altLang="ko-KR" sz="950" dirty="0" smtClean="0">
                <a:solidFill>
                  <a:srgbClr val="000000"/>
                </a:solidFill>
                <a:latin typeface="Times New Roman" pitchFamily="18" charset="0"/>
                <a:ea typeface="돋움" pitchFamily="50" charset="-127"/>
                <a:cs typeface="Times New Roman" pitchFamily="18" charset="0"/>
              </a:rPr>
              <a:t> CPU, </a:t>
            </a:r>
            <a:r>
              <a:rPr lang="en-US" altLang="ko-KR" sz="950" dirty="0" err="1" smtClean="0">
                <a:solidFill>
                  <a:srgbClr val="000000"/>
                </a:solidFill>
                <a:latin typeface="Times New Roman" pitchFamily="18" charset="0"/>
                <a:ea typeface="돋움" pitchFamily="50" charset="-127"/>
                <a:cs typeface="Times New Roman" pitchFamily="18" charset="0"/>
              </a:rPr>
              <a:t>không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thể</a:t>
            </a:r>
            <a:r>
              <a:rPr lang="en-US" altLang="ko-KR" sz="950" dirty="0" smtClean="0">
                <a:solidFill>
                  <a:srgbClr val="000000"/>
                </a:solidFill>
                <a:latin typeface="Times New Roman" pitchFamily="18" charset="0"/>
                <a:ea typeface="돋움" pitchFamily="50" charset="-127"/>
                <a:cs typeface="Times New Roman" pitchFamily="18" charset="0"/>
              </a:rPr>
              <a:t> output </a:t>
            </a:r>
            <a:r>
              <a:rPr lang="en-US" altLang="ko-KR" sz="950" dirty="0" err="1" smtClean="0">
                <a:solidFill>
                  <a:srgbClr val="000000"/>
                </a:solidFill>
                <a:latin typeface="Times New Roman" pitchFamily="18" charset="0"/>
                <a:ea typeface="돋움" pitchFamily="50" charset="-127"/>
                <a:cs typeface="Times New Roman" pitchFamily="18" charset="0"/>
              </a:rPr>
              <a:t>trước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tiếp</a:t>
            </a:r>
            <a:r>
              <a:rPr lang="en-US" altLang="ko-KR" sz="950" dirty="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đến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ngoài</a:t>
            </a:r>
            <a:r>
              <a:rPr lang="en-US" altLang="ko-KR" sz="950" dirty="0" smtClean="0">
                <a:solidFill>
                  <a:srgbClr val="000000"/>
                </a:solidFill>
                <a:latin typeface="Times New Roman" pitchFamily="18" charset="0"/>
                <a:ea typeface="돋움" pitchFamily="50" charset="-127"/>
                <a:cs typeface="Times New Roman" pitchFamily="18" charset="0"/>
              </a:rPr>
              <a:t> CPU.</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C</a:t>
            </a:r>
            <a:r>
              <a:rPr lang="en-US" altLang="ko-KR"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 </a:t>
            </a:r>
            <a:r>
              <a:rPr lang="en-US" altLang="ko-KR" sz="950" dirty="0">
                <a:solidFill>
                  <a:srgbClr val="FF0000"/>
                </a:solidFill>
                <a:latin typeface="Times New Roman" pitchFamily="18" charset="0"/>
                <a:ea typeface="돋움" pitchFamily="50" charset="-127"/>
                <a:cs typeface="Times New Roman" pitchFamily="18" charset="0"/>
              </a:rPr>
              <a:t>Bit Device </a:t>
            </a:r>
            <a:r>
              <a:rPr lang="en-US" altLang="ko-KR" sz="950" dirty="0" smtClean="0">
                <a:solidFill>
                  <a:srgbClr val="FF0000"/>
                </a:solidFill>
                <a:latin typeface="Times New Roman" pitchFamily="18" charset="0"/>
                <a:ea typeface="돋움" pitchFamily="50" charset="-127"/>
                <a:cs typeface="Times New Roman" pitchFamily="18" charset="0"/>
              </a:rPr>
              <a:t>: Device  </a:t>
            </a:r>
            <a:r>
              <a:rPr lang="en-US" altLang="ko-KR" sz="950" dirty="0" err="1" smtClean="0">
                <a:solidFill>
                  <a:srgbClr val="FF0000"/>
                </a:solidFill>
                <a:latin typeface="Times New Roman" pitchFamily="18" charset="0"/>
                <a:ea typeface="돋움" pitchFamily="50" charset="-127"/>
                <a:cs typeface="Times New Roman" pitchFamily="18" charset="0"/>
              </a:rPr>
              <a:t>chỉ</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có</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thể</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điều</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khiển</a:t>
            </a:r>
            <a:r>
              <a:rPr lang="en-US" altLang="ko-KR" sz="950" dirty="0" smtClean="0">
                <a:solidFill>
                  <a:srgbClr val="FF0000"/>
                </a:solidFill>
                <a:latin typeface="Times New Roman" pitchFamily="18" charset="0"/>
                <a:ea typeface="돋움" pitchFamily="50" charset="-127"/>
                <a:cs typeface="Times New Roman" pitchFamily="18" charset="0"/>
              </a:rPr>
              <a:t> On/Off </a:t>
            </a:r>
            <a:r>
              <a:rPr lang="en-US" altLang="ko-KR" sz="950" dirty="0" err="1" smtClean="0">
                <a:solidFill>
                  <a:srgbClr val="FF0000"/>
                </a:solidFill>
                <a:latin typeface="Times New Roman" pitchFamily="18" charset="0"/>
                <a:ea typeface="돋움" pitchFamily="50" charset="-127"/>
                <a:cs typeface="Times New Roman" pitchFamily="18" charset="0"/>
              </a:rPr>
              <a:t>bằng</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cách</a:t>
            </a:r>
            <a:r>
              <a:rPr lang="en-US" altLang="ko-KR" sz="950" dirty="0" smtClean="0">
                <a:solidFill>
                  <a:srgbClr val="FF0000"/>
                </a:solidFill>
                <a:latin typeface="Times New Roman" pitchFamily="18" charset="0"/>
                <a:ea typeface="돋움" pitchFamily="50" charset="-127"/>
                <a:cs typeface="Times New Roman" pitchFamily="18" charset="0"/>
              </a:rPr>
              <a:t> Output </a:t>
            </a:r>
            <a:r>
              <a:rPr lang="en-US" altLang="ko-KR" sz="950" dirty="0" err="1" smtClean="0">
                <a:solidFill>
                  <a:srgbClr val="FF0000"/>
                </a:solidFill>
                <a:latin typeface="Times New Roman" pitchFamily="18" charset="0"/>
                <a:ea typeface="돋움" pitchFamily="50" charset="-127"/>
                <a:cs typeface="Times New Roman" pitchFamily="18" charset="0"/>
              </a:rPr>
              <a:t>đơn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thuần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hệ</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bát</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phân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tức</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là</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từ</a:t>
            </a:r>
            <a:r>
              <a:rPr lang="ko-KR" altLang="en-US" sz="950" dirty="0" smtClean="0">
                <a:solidFill>
                  <a:srgbClr val="FF0000"/>
                </a:solidFill>
                <a:latin typeface="Times New Roman" pitchFamily="18" charset="0"/>
                <a:ea typeface="돋움" pitchFamily="50" charset="-127"/>
                <a:cs typeface="Times New Roman" pitchFamily="18" charset="0"/>
              </a:rPr>
              <a:t> </a:t>
            </a:r>
            <a:r>
              <a:rPr lang="en-US" altLang="ko-KR" sz="950" dirty="0" smtClean="0">
                <a:solidFill>
                  <a:srgbClr val="FF0000"/>
                </a:solidFill>
                <a:latin typeface="Times New Roman" pitchFamily="18" charset="0"/>
                <a:ea typeface="돋움" pitchFamily="50" charset="-127"/>
                <a:cs typeface="Times New Roman" pitchFamily="18" charset="0"/>
              </a:rPr>
              <a:t>0~7</a:t>
            </a:r>
            <a:endParaRPr lang="en-US" altLang="ko-KR" sz="950" dirty="0">
              <a:solidFill>
                <a:srgbClr val="FF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D.  </a:t>
            </a:r>
            <a:r>
              <a:rPr lang="en-US" altLang="ko-KR" sz="950" dirty="0">
                <a:solidFill>
                  <a:srgbClr val="000000"/>
                </a:solidFill>
                <a:latin typeface="Times New Roman" pitchFamily="18" charset="0"/>
                <a:ea typeface="돋움" pitchFamily="50" charset="-127"/>
                <a:cs typeface="Times New Roman" pitchFamily="18" charset="0"/>
              </a:rPr>
              <a:t>Word Device : </a:t>
            </a:r>
            <a:r>
              <a:rPr lang="en-US" altLang="ko-KR" sz="950" dirty="0" smtClean="0">
                <a:solidFill>
                  <a:srgbClr val="000000"/>
                </a:solidFill>
                <a:latin typeface="Times New Roman" pitchFamily="18" charset="0"/>
                <a:ea typeface="돋움" pitchFamily="50" charset="-127"/>
                <a:cs typeface="Times New Roman" pitchFamily="18" charset="0"/>
              </a:rPr>
              <a:t>Device </a:t>
            </a:r>
            <a:r>
              <a:rPr lang="en-US" altLang="ko-KR" sz="950" dirty="0" err="1" smtClean="0">
                <a:solidFill>
                  <a:srgbClr val="000000"/>
                </a:solidFill>
                <a:latin typeface="Times New Roman" pitchFamily="18" charset="0"/>
                <a:ea typeface="돋움" pitchFamily="50" charset="-127"/>
                <a:cs typeface="Times New Roman" pitchFamily="18" charset="0"/>
              </a:rPr>
              <a:t>có</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thể</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điều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khiển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được</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với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đơn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vị</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Bit.Word</a:t>
            </a:r>
            <a:endParaRPr lang="ko-KR" altLang="en-US" sz="950" dirty="0">
              <a:solidFill>
                <a:srgbClr val="000000"/>
              </a:solidFill>
              <a:latin typeface="Times New Roman" pitchFamily="18" charset="0"/>
              <a:ea typeface="돋움" pitchFamily="50" charset="-127"/>
              <a:cs typeface="Times New Roman" pitchFamily="18" charset="0"/>
            </a:endParaRPr>
          </a:p>
        </p:txBody>
      </p:sp>
      <p:sp>
        <p:nvSpPr>
          <p:cNvPr id="36" name="Rectangle 101"/>
          <p:cNvSpPr>
            <a:spLocks noChangeArrowheads="1"/>
          </p:cNvSpPr>
          <p:nvPr/>
        </p:nvSpPr>
        <p:spPr bwMode="auto">
          <a:xfrm>
            <a:off x="188640" y="8380348"/>
            <a:ext cx="323440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solidFill>
                  <a:srgbClr val="000000"/>
                </a:solidFill>
                <a:latin typeface="Times New Roman" pitchFamily="18" charset="0"/>
                <a:ea typeface="돋움" pitchFamily="50" charset="-127"/>
                <a:cs typeface="Times New Roman" pitchFamily="18" charset="0"/>
              </a:rPr>
              <a:t>3</a:t>
            </a:r>
            <a:r>
              <a:rPr lang="en-US" altLang="ko-KR" sz="950" smtClean="0">
                <a:solidFill>
                  <a:srgbClr val="000000"/>
                </a:solidFill>
                <a:latin typeface="Times New Roman" pitchFamily="18" charset="0"/>
                <a:ea typeface="돋움" pitchFamily="50" charset="-127"/>
                <a:cs typeface="Times New Roman" pitchFamily="18" charset="0"/>
              </a:rPr>
              <a:t>6</a:t>
            </a:r>
            <a:r>
              <a:rPr lang="en-US" altLang="ko-KR" sz="950" dirty="0">
                <a:solidFill>
                  <a:srgbClr val="000000"/>
                </a:solidFill>
                <a:latin typeface="Times New Roman" pitchFamily="18" charset="0"/>
                <a:ea typeface="돋움" pitchFamily="50" charset="-127"/>
                <a:cs typeface="Times New Roman" pitchFamily="18" charset="0"/>
              </a:rPr>
              <a:t>.</a:t>
            </a:r>
            <a:r>
              <a:rPr lang="ko-KR" altLang="en-US" sz="950" dirty="0">
                <a:solidFill>
                  <a:srgbClr val="000000"/>
                </a:solidFill>
                <a:latin typeface="Times New Roman" pitchFamily="18" charset="0"/>
                <a:ea typeface="돋움" pitchFamily="50" charset="-127"/>
                <a:cs typeface="Times New Roman" pitchFamily="18" charset="0"/>
              </a:rPr>
              <a:t> </a:t>
            </a:r>
            <a:r>
              <a:rPr lang="en-US" altLang="ko-KR" sz="950" dirty="0" smtClean="0">
                <a:solidFill>
                  <a:srgbClr val="000000"/>
                </a:solidFill>
                <a:latin typeface="Times New Roman" pitchFamily="18" charset="0"/>
                <a:ea typeface="돋움" pitchFamily="50" charset="-127"/>
                <a:cs typeface="Times New Roman" pitchFamily="18" charset="0"/>
              </a:rPr>
              <a:t>DEVICE </a:t>
            </a:r>
            <a:r>
              <a:rPr lang="en-US" altLang="ko-KR" sz="950" dirty="0" err="1" smtClean="0">
                <a:solidFill>
                  <a:srgbClr val="000000"/>
                </a:solidFill>
                <a:latin typeface="Times New Roman" pitchFamily="18" charset="0"/>
                <a:ea typeface="돋움" pitchFamily="50" charset="-127"/>
                <a:cs typeface="Times New Roman" pitchFamily="18" charset="0"/>
              </a:rPr>
              <a:t>sử</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dụng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vùng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a:solidFill>
                  <a:srgbClr val="000000"/>
                </a:solidFill>
                <a:latin typeface="Times New Roman" pitchFamily="18" charset="0"/>
                <a:ea typeface="돋움" pitchFamily="50" charset="-127"/>
                <a:cs typeface="Times New Roman" pitchFamily="18" charset="0"/>
              </a:rPr>
              <a:t>USER </a:t>
            </a:r>
            <a:r>
              <a:rPr lang="en-US" altLang="ko-KR" sz="950" dirty="0" smtClean="0">
                <a:solidFill>
                  <a:srgbClr val="000000"/>
                </a:solidFill>
                <a:latin typeface="Times New Roman" pitchFamily="18" charset="0"/>
                <a:ea typeface="돋움" pitchFamily="50" charset="-127"/>
                <a:cs typeface="Times New Roman" pitchFamily="18" charset="0"/>
              </a:rPr>
              <a:t>MEMORY </a:t>
            </a:r>
            <a:r>
              <a:rPr lang="en-US" altLang="ko-KR" sz="950" dirty="0" err="1" smtClean="0">
                <a:solidFill>
                  <a:srgbClr val="000000"/>
                </a:solidFill>
                <a:latin typeface="Times New Roman" pitchFamily="18" charset="0"/>
                <a:ea typeface="돋움" pitchFamily="50" charset="-127"/>
                <a:cs typeface="Times New Roman" pitchFamily="18" charset="0"/>
              </a:rPr>
              <a:t>để</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mở</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rộng</a:t>
            </a:r>
            <a:r>
              <a:rPr lang="en-US" altLang="ko-KR" sz="950" dirty="0" smtClean="0">
                <a:solidFill>
                  <a:srgbClr val="000000"/>
                </a:solidFill>
                <a:latin typeface="Times New Roman" pitchFamily="18" charset="0"/>
                <a:ea typeface="돋움" pitchFamily="50" charset="-127"/>
                <a:cs typeface="Times New Roman" pitchFamily="18" charset="0"/>
              </a:rPr>
              <a:t> data Resister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gì</a:t>
            </a:r>
            <a:r>
              <a:rPr lang="en-US" altLang="ko-KR" sz="950" dirty="0" smtClean="0">
                <a:solidFill>
                  <a:srgbClr val="000000"/>
                </a:solidFill>
                <a:latin typeface="Times New Roman" pitchFamily="18" charset="0"/>
                <a:ea typeface="돋움" pitchFamily="50" charset="-127"/>
                <a:cs typeface="Times New Roman" pitchFamily="18" charset="0"/>
              </a:rPr>
              <a:t> ?</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a:solidFill>
                  <a:srgbClr val="FF0000"/>
                </a:solidFill>
                <a:latin typeface="Times New Roman" pitchFamily="18" charset="0"/>
                <a:ea typeface="돋움" pitchFamily="50" charset="-127"/>
                <a:cs typeface="Times New Roman" pitchFamily="18" charset="0"/>
              </a:rPr>
              <a:t>R   </a:t>
            </a:r>
            <a:r>
              <a:rPr lang="en-US" altLang="ko-KR" sz="950" smtClean="0">
                <a:solidFill>
                  <a:srgbClr val="FF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B. </a:t>
            </a:r>
            <a:r>
              <a:rPr lang="en-US" altLang="ko-KR" sz="950">
                <a:solidFill>
                  <a:srgbClr val="000000"/>
                </a:solidFill>
                <a:latin typeface="Times New Roman" pitchFamily="18" charset="0"/>
                <a:ea typeface="돋움" pitchFamily="50" charset="-127"/>
                <a:cs typeface="Times New Roman" pitchFamily="18" charset="0"/>
              </a:rPr>
              <a:t>W    </a:t>
            </a:r>
            <a:r>
              <a:rPr lang="en-US" altLang="ko-KR" sz="950" smtClean="0">
                <a:solidFill>
                  <a:srgbClr val="000000"/>
                </a:solidFill>
                <a:latin typeface="Times New Roman" pitchFamily="18" charset="0"/>
                <a:ea typeface="돋움" pitchFamily="50" charset="-127"/>
                <a:cs typeface="Times New Roman" pitchFamily="18" charset="0"/>
              </a:rPr>
              <a:t>           C. </a:t>
            </a:r>
            <a:r>
              <a:rPr lang="en-US" altLang="ko-KR" sz="950">
                <a:solidFill>
                  <a:srgbClr val="000000"/>
                </a:solidFill>
                <a:latin typeface="Times New Roman" pitchFamily="18" charset="0"/>
                <a:ea typeface="돋움" pitchFamily="50" charset="-127"/>
                <a:cs typeface="Times New Roman" pitchFamily="18" charset="0"/>
              </a:rPr>
              <a:t>D   </a:t>
            </a:r>
            <a:r>
              <a:rPr lang="en-US" altLang="ko-KR" sz="950" smtClean="0">
                <a:solidFill>
                  <a:srgbClr val="000000"/>
                </a:solidFill>
                <a:latin typeface="Times New Roman" pitchFamily="18" charset="0"/>
                <a:ea typeface="돋움" pitchFamily="50" charset="-127"/>
                <a:cs typeface="Times New Roman" pitchFamily="18" charset="0"/>
              </a:rPr>
              <a:t>            </a:t>
            </a:r>
            <a:r>
              <a:rPr lang="en-US" altLang="ko-KR" sz="950" dirty="0">
                <a:solidFill>
                  <a:srgbClr val="000000"/>
                </a:solidFill>
                <a:latin typeface="Times New Roman" pitchFamily="18" charset="0"/>
                <a:ea typeface="돋움" pitchFamily="50" charset="-127"/>
                <a:cs typeface="Times New Roman" pitchFamily="18" charset="0"/>
              </a:rPr>
              <a:t>4 .M</a:t>
            </a:r>
            <a:endParaRPr lang="ko-KR" altLang="en-US" sz="950" dirty="0">
              <a:solidFill>
                <a:srgbClr val="000000"/>
              </a:solidFill>
              <a:latin typeface="Times New Roman" pitchFamily="18" charset="0"/>
              <a:ea typeface="돋움" pitchFamily="50" charset="-127"/>
              <a:cs typeface="Times New Roman" pitchFamily="18" charset="0"/>
            </a:endParaRPr>
          </a:p>
        </p:txBody>
      </p:sp>
      <p:sp>
        <p:nvSpPr>
          <p:cNvPr id="37" name="Rectangle 101"/>
          <p:cNvSpPr>
            <a:spLocks noChangeArrowheads="1"/>
          </p:cNvSpPr>
          <p:nvPr/>
        </p:nvSpPr>
        <p:spPr bwMode="auto">
          <a:xfrm>
            <a:off x="3439443" y="1034950"/>
            <a:ext cx="3240757" cy="530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solidFill>
                  <a:srgbClr val="000000"/>
                </a:solidFill>
                <a:latin typeface="Times New Roman" pitchFamily="18" charset="0"/>
                <a:ea typeface="돋움" pitchFamily="50" charset="-127"/>
                <a:cs typeface="Times New Roman" pitchFamily="18" charset="0"/>
              </a:rPr>
              <a:t>3</a:t>
            </a:r>
            <a:r>
              <a:rPr lang="en-US" altLang="ko-KR" sz="950" smtClean="0">
                <a:solidFill>
                  <a:srgbClr val="000000"/>
                </a:solidFill>
                <a:latin typeface="Times New Roman" pitchFamily="18" charset="0"/>
                <a:ea typeface="돋움" pitchFamily="50" charset="-127"/>
                <a:cs typeface="Times New Roman" pitchFamily="18" charset="0"/>
              </a:rPr>
              <a:t>7</a:t>
            </a:r>
            <a:r>
              <a:rPr lang="en-US" altLang="ko-KR" sz="950" dirty="0">
                <a:solidFill>
                  <a:srgbClr val="000000"/>
                </a:solidFill>
                <a:latin typeface="Times New Roman" pitchFamily="18" charset="0"/>
                <a:ea typeface="돋움" pitchFamily="50" charset="-127"/>
                <a:cs typeface="Times New Roman" pitchFamily="18" charset="0"/>
              </a:rPr>
              <a:t>.</a:t>
            </a:r>
            <a:r>
              <a:rPr lang="ko-KR" altLang="en-US" sz="950" dirty="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Đâu</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không</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phải</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 Word Device?</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r>
              <a:rPr lang="en-US" altLang="ko-KR" sz="950" smtClean="0">
                <a:solidFill>
                  <a:srgbClr val="000000"/>
                </a:solidFill>
                <a:latin typeface="Times New Roman" pitchFamily="18" charset="0"/>
                <a:ea typeface="돋움" pitchFamily="50" charset="-127"/>
                <a:cs typeface="Times New Roman" pitchFamily="18" charset="0"/>
              </a:rPr>
              <a:t>           A . </a:t>
            </a:r>
            <a:r>
              <a:rPr lang="en-US" altLang="ko-KR" sz="950">
                <a:solidFill>
                  <a:srgbClr val="000000"/>
                </a:solidFill>
                <a:latin typeface="Times New Roman" pitchFamily="18" charset="0"/>
                <a:ea typeface="돋움" pitchFamily="50" charset="-127"/>
                <a:cs typeface="Times New Roman" pitchFamily="18" charset="0"/>
              </a:rPr>
              <a:t>T  </a:t>
            </a:r>
            <a:r>
              <a:rPr lang="en-US" altLang="ko-KR" sz="950" smtClean="0">
                <a:solidFill>
                  <a:srgbClr val="00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B. F</a:t>
            </a:r>
            <a:r>
              <a:rPr lang="en-US" altLang="ko-KR" sz="950" smtClean="0">
                <a:solidFill>
                  <a:srgbClr val="000000"/>
                </a:solidFill>
                <a:latin typeface="Times New Roman" pitchFamily="18" charset="0"/>
                <a:ea typeface="돋움" pitchFamily="50" charset="-127"/>
                <a:cs typeface="Times New Roman" pitchFamily="18" charset="0"/>
              </a:rPr>
              <a:t>               C. D          D. R</a:t>
            </a:r>
            <a:endParaRPr lang="ko-KR" altLang="en-US" sz="950" dirty="0">
              <a:solidFill>
                <a:srgbClr val="000000"/>
              </a:solidFill>
              <a:latin typeface="Times New Roman" pitchFamily="18" charset="0"/>
              <a:ea typeface="돋움" pitchFamily="50" charset="-127"/>
              <a:cs typeface="Times New Roman" pitchFamily="18" charset="0"/>
            </a:endParaRPr>
          </a:p>
        </p:txBody>
      </p:sp>
      <p:sp>
        <p:nvSpPr>
          <p:cNvPr id="39" name="Rectangle 99"/>
          <p:cNvSpPr>
            <a:spLocks noChangeArrowheads="1"/>
          </p:cNvSpPr>
          <p:nvPr/>
        </p:nvSpPr>
        <p:spPr bwMode="auto">
          <a:xfrm>
            <a:off x="3429000" y="2144688"/>
            <a:ext cx="3279340" cy="969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solidFill>
                  <a:srgbClr val="000000"/>
                </a:solidFill>
                <a:latin typeface="Times New Roman" pitchFamily="18" charset="0"/>
                <a:cs typeface="Times New Roman" pitchFamily="18" charset="0"/>
              </a:rPr>
              <a:t>3</a:t>
            </a:r>
            <a:r>
              <a:rPr lang="en-US" altLang="ko-KR" sz="950" smtClean="0">
                <a:solidFill>
                  <a:srgbClr val="000000"/>
                </a:solidFill>
                <a:latin typeface="Times New Roman" pitchFamily="18" charset="0"/>
                <a:cs typeface="Times New Roman" pitchFamily="18" charset="0"/>
              </a:rPr>
              <a:t>8</a:t>
            </a:r>
            <a:r>
              <a:rPr lang="en-US" altLang="ko-KR" sz="95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Hãy </a:t>
            </a:r>
            <a:r>
              <a:rPr lang="en-US" altLang="ko-KR" sz="950" dirty="0" err="1" smtClean="0">
                <a:solidFill>
                  <a:srgbClr val="000000"/>
                </a:solidFill>
                <a:latin typeface="Times New Roman" pitchFamily="18" charset="0"/>
                <a:cs typeface="Times New Roman" pitchFamily="18" charset="0"/>
              </a:rPr>
              <a:t>chọn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đáp</a:t>
            </a:r>
            <a:r>
              <a:rPr lang="en-US" altLang="ko-KR" sz="950" dirty="0" smtClean="0">
                <a:solidFill>
                  <a:srgbClr val="000000"/>
                </a:solidFill>
                <a:latin typeface="Times New Roman" pitchFamily="18" charset="0"/>
                <a:cs typeface="Times New Roman" pitchFamily="18" charset="0"/>
              </a:rPr>
              <a:t> </a:t>
            </a:r>
            <a:r>
              <a:rPr lang="en-US" altLang="ko-KR" sz="950" err="1" smtClean="0">
                <a:solidFill>
                  <a:srgbClr val="000000"/>
                </a:solidFill>
                <a:latin typeface="Times New Roman" pitchFamily="18" charset="0"/>
                <a:cs typeface="Times New Roman" pitchFamily="18" charset="0"/>
              </a:rPr>
              <a:t>án</a:t>
            </a:r>
            <a:r>
              <a:rPr lang="en-US" altLang="ko-KR" sz="950" smtClean="0">
                <a:solidFill>
                  <a:srgbClr val="000000"/>
                </a:solidFill>
                <a:latin typeface="Times New Roman" pitchFamily="18" charset="0"/>
                <a:cs typeface="Times New Roman" pitchFamily="18" charset="0"/>
              </a:rPr>
              <a:t> không đúng giải </a:t>
            </a:r>
            <a:r>
              <a:rPr lang="en-US" altLang="ko-KR" sz="950" err="1" smtClean="0">
                <a:solidFill>
                  <a:srgbClr val="000000"/>
                </a:solidFill>
                <a:latin typeface="Times New Roman" pitchFamily="18" charset="0"/>
                <a:cs typeface="Times New Roman" pitchFamily="18" charset="0"/>
              </a:rPr>
              <a:t>thích</a:t>
            </a:r>
            <a:r>
              <a:rPr lang="en-US" altLang="ko-KR" sz="950" smtClean="0">
                <a:solidFill>
                  <a:srgbClr val="000000"/>
                </a:solidFill>
                <a:latin typeface="Times New Roman" pitchFamily="18" charset="0"/>
                <a:cs typeface="Times New Roman" pitchFamily="18" charset="0"/>
              </a:rPr>
              <a:t> về Byte?</a:t>
            </a:r>
            <a:endParaRPr lang="en-US" altLang="ko-KR" sz="950" dirty="0">
              <a:solidFill>
                <a:srgbClr val="000000"/>
              </a:solidFill>
              <a:latin typeface="Times New Roman" pitchFamily="18" charset="0"/>
              <a:cs typeface="Times New Roman" pitchFamily="18" charset="0"/>
            </a:endParaRPr>
          </a:p>
          <a:p>
            <a:pPr eaLnBrk="1" hangingPunct="1"/>
            <a:endParaRPr lang="en-US" altLang="ko-KR" sz="950" smtClean="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A. </a:t>
            </a:r>
            <a:r>
              <a:rPr lang="en-US" altLang="ko-KR" sz="950" dirty="0" err="1" smtClean="0">
                <a:solidFill>
                  <a:srgbClr val="000000"/>
                </a:solidFill>
                <a:latin typeface="Times New Roman" pitchFamily="18" charset="0"/>
                <a:cs typeface="Times New Roman" pitchFamily="18" charset="0"/>
              </a:rPr>
              <a:t>Gộp</a:t>
            </a:r>
            <a:r>
              <a:rPr lang="en-US" altLang="ko-KR" sz="950" dirty="0" smtClean="0">
                <a:solidFill>
                  <a:srgbClr val="000000"/>
                </a:solidFill>
                <a:latin typeface="Times New Roman" pitchFamily="18" charset="0"/>
                <a:cs typeface="Times New Roman" pitchFamily="18" charset="0"/>
              </a:rPr>
              <a:t> 8ea Bit </a:t>
            </a:r>
            <a:r>
              <a:rPr lang="en-US" altLang="ko-KR" sz="950" dirty="0" err="1" smtClean="0">
                <a:solidFill>
                  <a:srgbClr val="000000"/>
                </a:solidFill>
                <a:latin typeface="Times New Roman" pitchFamily="18" charset="0"/>
                <a:cs typeface="Times New Roman" pitchFamily="18" charset="0"/>
              </a:rPr>
              <a:t>vào</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là</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một</a:t>
            </a:r>
            <a:r>
              <a:rPr lang="en-US" altLang="ko-KR" sz="950" dirty="0" smtClean="0">
                <a:solidFill>
                  <a:srgbClr val="000000"/>
                </a:solidFill>
                <a:latin typeface="Times New Roman" pitchFamily="18" charset="0"/>
                <a:cs typeface="Times New Roman" pitchFamily="18" charset="0"/>
              </a:rPr>
              <a:t> Byte.</a:t>
            </a:r>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B. </a:t>
            </a:r>
            <a:r>
              <a:rPr lang="en-US" altLang="ko-KR" sz="950" dirty="0" err="1" smtClean="0">
                <a:solidFill>
                  <a:srgbClr val="000000"/>
                </a:solidFill>
                <a:latin typeface="Times New Roman" pitchFamily="18" charset="0"/>
                <a:cs typeface="Times New Roman" pitchFamily="18" charset="0"/>
              </a:rPr>
              <a:t>Có</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thể</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biểu</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hiện</a:t>
            </a:r>
            <a:r>
              <a:rPr lang="en-US" altLang="ko-KR" sz="950" dirty="0" smtClean="0">
                <a:solidFill>
                  <a:srgbClr val="000000"/>
                </a:solidFill>
                <a:latin typeface="Times New Roman" pitchFamily="18" charset="0"/>
                <a:cs typeface="Times New Roman" pitchFamily="18" charset="0"/>
              </a:rPr>
              <a:t> 256 </a:t>
            </a:r>
            <a:r>
              <a:rPr lang="en-US" altLang="ko-KR" sz="950" dirty="0" err="1" smtClean="0">
                <a:solidFill>
                  <a:srgbClr val="000000"/>
                </a:solidFill>
                <a:latin typeface="Times New Roman" pitchFamily="18" charset="0"/>
                <a:cs typeface="Times New Roman" pitchFamily="18" charset="0"/>
              </a:rPr>
              <a:t>loại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thông</a:t>
            </a:r>
            <a:r>
              <a:rPr lang="en-US" altLang="ko-KR" sz="950" dirty="0" smtClean="0">
                <a:solidFill>
                  <a:srgbClr val="000000"/>
                </a:solidFill>
                <a:latin typeface="Times New Roman" pitchFamily="18" charset="0"/>
                <a:cs typeface="Times New Roman" pitchFamily="18" charset="0"/>
              </a:rPr>
              <a:t> tin </a:t>
            </a:r>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C. </a:t>
            </a:r>
            <a:r>
              <a:rPr lang="en-US" altLang="ko-KR" sz="950" dirty="0" err="1" smtClean="0">
                <a:solidFill>
                  <a:srgbClr val="000000"/>
                </a:solidFill>
                <a:latin typeface="Times New Roman" pitchFamily="18" charset="0"/>
                <a:cs typeface="Times New Roman" pitchFamily="18" charset="0"/>
              </a:rPr>
              <a:t>Có</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thể</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biểu</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hiện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tất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cả</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chữ</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số</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chữ</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tiếng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anh</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kí</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tự</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đặc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biệt</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D. </a:t>
            </a:r>
            <a:r>
              <a:rPr lang="en-US" altLang="ko-KR" sz="950" dirty="0" smtClean="0">
                <a:solidFill>
                  <a:srgbClr val="FF0000"/>
                </a:solidFill>
                <a:latin typeface="Times New Roman" pitchFamily="18" charset="0"/>
                <a:cs typeface="Times New Roman" pitchFamily="18" charset="0"/>
              </a:rPr>
              <a:t>1 Byte </a:t>
            </a:r>
            <a:r>
              <a:rPr lang="en-US" altLang="ko-KR" sz="950" dirty="0" err="1" smtClean="0">
                <a:solidFill>
                  <a:srgbClr val="FF0000"/>
                </a:solidFill>
                <a:latin typeface="Times New Roman" pitchFamily="18" charset="0"/>
                <a:cs typeface="Times New Roman" pitchFamily="18" charset="0"/>
              </a:rPr>
              <a:t>cũng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được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gọi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là</a:t>
            </a:r>
            <a:r>
              <a:rPr lang="en-US" altLang="ko-KR" sz="950" dirty="0" smtClean="0">
                <a:solidFill>
                  <a:srgbClr val="FF0000"/>
                </a:solidFill>
                <a:latin typeface="Times New Roman" pitchFamily="18" charset="0"/>
                <a:cs typeface="Times New Roman" pitchFamily="18" charset="0"/>
              </a:rPr>
              <a:t> 1 </a:t>
            </a:r>
            <a:r>
              <a:rPr lang="en-US" altLang="ko-KR" sz="950" smtClean="0">
                <a:solidFill>
                  <a:srgbClr val="FF0000"/>
                </a:solidFill>
                <a:latin typeface="Times New Roman" pitchFamily="18" charset="0"/>
                <a:cs typeface="Times New Roman" pitchFamily="18" charset="0"/>
              </a:rPr>
              <a:t>bit.</a:t>
            </a:r>
            <a:endParaRPr lang="en-US" altLang="ko-KR" sz="950" dirty="0">
              <a:solidFill>
                <a:srgbClr val="FF0000"/>
              </a:solidFill>
              <a:latin typeface="Times New Roman" pitchFamily="18" charset="0"/>
              <a:cs typeface="Times New Roman" pitchFamily="18" charset="0"/>
            </a:endParaRPr>
          </a:p>
        </p:txBody>
      </p:sp>
      <p:sp>
        <p:nvSpPr>
          <p:cNvPr id="41" name="Rectangle 99"/>
          <p:cNvSpPr>
            <a:spLocks noChangeArrowheads="1"/>
          </p:cNvSpPr>
          <p:nvPr/>
        </p:nvSpPr>
        <p:spPr bwMode="auto">
          <a:xfrm>
            <a:off x="3456384" y="7579548"/>
            <a:ext cx="3429000" cy="1261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solidFill>
                  <a:srgbClr val="000000"/>
                </a:solidFill>
                <a:latin typeface="Times New Roman" pitchFamily="18" charset="0"/>
                <a:cs typeface="Times New Roman" pitchFamily="18" charset="0"/>
              </a:rPr>
              <a:t>40. </a:t>
            </a:r>
            <a:r>
              <a:rPr lang="en-US" altLang="ko-KR" sz="950" dirty="0" err="1">
                <a:solidFill>
                  <a:srgbClr val="000000"/>
                </a:solidFill>
                <a:latin typeface="Times New Roman" pitchFamily="18" charset="0"/>
                <a:cs typeface="Times New Roman" pitchFamily="18" charset="0"/>
              </a:rPr>
              <a:t>H</a:t>
            </a:r>
            <a:r>
              <a:rPr lang="en-US" altLang="ko-KR" sz="950" smtClean="0">
                <a:solidFill>
                  <a:srgbClr val="000000"/>
                </a:solidFill>
                <a:latin typeface="Times New Roman" pitchFamily="18" charset="0"/>
                <a:cs typeface="Times New Roman" pitchFamily="18" charset="0"/>
              </a:rPr>
              <a:t>ãy </a:t>
            </a:r>
            <a:r>
              <a:rPr lang="en-US" altLang="ko-KR" sz="950" dirty="0" err="1" smtClean="0">
                <a:solidFill>
                  <a:srgbClr val="000000"/>
                </a:solidFill>
                <a:latin typeface="Times New Roman" pitchFamily="18" charset="0"/>
                <a:cs typeface="Times New Roman" pitchFamily="18" charset="0"/>
              </a:rPr>
              <a:t>chọn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tất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cả</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các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đáp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án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sai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trong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số</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những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giải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thích</a:t>
            </a:r>
            <a:r>
              <a:rPr lang="en-US" altLang="ko-KR" sz="950" dirty="0" smtClean="0">
                <a:solidFill>
                  <a:srgbClr val="000000"/>
                </a:solidFill>
                <a:latin typeface="Times New Roman" pitchFamily="18" charset="0"/>
                <a:cs typeface="Times New Roman" pitchFamily="18" charset="0"/>
              </a:rPr>
              <a:t> </a:t>
            </a:r>
            <a:r>
              <a:rPr lang="en-US" altLang="ko-KR" sz="950" err="1" smtClean="0">
                <a:solidFill>
                  <a:srgbClr val="000000"/>
                </a:solidFill>
                <a:latin typeface="Times New Roman" pitchFamily="18" charset="0"/>
                <a:cs typeface="Times New Roman" pitchFamily="18" charset="0"/>
              </a:rPr>
              <a:t>về</a:t>
            </a:r>
            <a:r>
              <a:rPr lang="en-US" altLang="ko-KR" sz="950" smtClean="0">
                <a:solidFill>
                  <a:srgbClr val="000000"/>
                </a:solidFill>
                <a:latin typeface="Times New Roman" pitchFamily="18" charset="0"/>
                <a:cs typeface="Times New Roman" pitchFamily="18" charset="0"/>
              </a:rPr>
              <a:t> </a:t>
            </a:r>
          </a:p>
          <a:p>
            <a:pPr eaLnBrk="1" hangingPunct="1"/>
            <a:r>
              <a:rPr lang="en-US" altLang="ko-KR" sz="950" smtClean="0">
                <a:solidFill>
                  <a:srgbClr val="000000"/>
                </a:solidFill>
                <a:latin typeface="Times New Roman" pitchFamily="18" charset="0"/>
                <a:cs typeface="Times New Roman" pitchFamily="18" charset="0"/>
              </a:rPr>
              <a:t>câu </a:t>
            </a:r>
            <a:r>
              <a:rPr lang="en-US" altLang="ko-KR" sz="950" dirty="0" err="1" smtClean="0">
                <a:solidFill>
                  <a:srgbClr val="000000"/>
                </a:solidFill>
                <a:latin typeface="Times New Roman" pitchFamily="18" charset="0"/>
                <a:cs typeface="Times New Roman" pitchFamily="18" charset="0"/>
              </a:rPr>
              <a:t>lệnh</a:t>
            </a:r>
            <a:r>
              <a:rPr lang="en-US" altLang="ko-KR" sz="950" dirty="0" smtClean="0">
                <a:solidFill>
                  <a:srgbClr val="000000"/>
                </a:solidFill>
                <a:latin typeface="Times New Roman" pitchFamily="18" charset="0"/>
                <a:cs typeface="Times New Roman" pitchFamily="18" charset="0"/>
              </a:rPr>
              <a:t> Count </a:t>
            </a:r>
            <a:r>
              <a:rPr lang="en-US" altLang="ko-KR" sz="950" dirty="0" err="1" smtClean="0">
                <a:solidFill>
                  <a:srgbClr val="000000"/>
                </a:solidFill>
                <a:latin typeface="Times New Roman" pitchFamily="18" charset="0"/>
                <a:cs typeface="Times New Roman" pitchFamily="18" charset="0"/>
              </a:rPr>
              <a:t>dưới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đây</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hangingPunct="1"/>
            <a:endParaRPr lang="en-US" altLang="ko-KR" sz="950" dirty="0">
              <a:solidFill>
                <a:srgbClr val="000000"/>
              </a:solidFill>
              <a:latin typeface="Times New Roman" pitchFamily="18" charset="0"/>
              <a:cs typeface="Times New Roman" pitchFamily="18" charset="0"/>
            </a:endParaRPr>
          </a:p>
          <a:p>
            <a:pPr eaLnBrk="1" hangingPunct="1"/>
            <a:r>
              <a:rPr lang="en-US" altLang="ko-KR" sz="95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A.  </a:t>
            </a:r>
            <a:r>
              <a:rPr lang="en-US" altLang="ko-KR" sz="950" dirty="0" smtClean="0">
                <a:solidFill>
                  <a:srgbClr val="000000"/>
                </a:solidFill>
                <a:latin typeface="Times New Roman" pitchFamily="18" charset="0"/>
                <a:cs typeface="Times New Roman" pitchFamily="18" charset="0"/>
              </a:rPr>
              <a:t>Count </a:t>
            </a:r>
            <a:r>
              <a:rPr lang="en-US" altLang="ko-KR" sz="950" dirty="0" err="1" smtClean="0">
                <a:solidFill>
                  <a:srgbClr val="000000"/>
                </a:solidFill>
                <a:latin typeface="Times New Roman" pitchFamily="18" charset="0"/>
                <a:cs typeface="Times New Roman" pitchFamily="18" charset="0"/>
              </a:rPr>
              <a:t>sẽ</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thực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hiện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đếm</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khi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tín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hiệu</a:t>
            </a:r>
            <a:r>
              <a:rPr lang="en-US" altLang="ko-KR" sz="950" dirty="0" smtClean="0">
                <a:solidFill>
                  <a:srgbClr val="000000"/>
                </a:solidFill>
                <a:latin typeface="Times New Roman" pitchFamily="18" charset="0"/>
                <a:cs typeface="Times New Roman" pitchFamily="18" charset="0"/>
              </a:rPr>
              <a:t> input </a:t>
            </a:r>
            <a:r>
              <a:rPr lang="en-US" altLang="ko-KR" sz="950" dirty="0" err="1" smtClean="0">
                <a:solidFill>
                  <a:srgbClr val="000000"/>
                </a:solidFill>
                <a:latin typeface="Times New Roman" pitchFamily="18" charset="0"/>
                <a:cs typeface="Times New Roman" pitchFamily="18" charset="0"/>
              </a:rPr>
              <a:t>tăng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lên</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a:p>
            <a:pPr eaLnBrk="1" hangingPunct="1"/>
            <a:r>
              <a:rPr lang="en-US" altLang="ko-KR" sz="950">
                <a:solidFill>
                  <a:srgbClr val="000000"/>
                </a:solidFill>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B.  </a:t>
            </a:r>
            <a:r>
              <a:rPr lang="en-US" altLang="ko-KR" sz="950" dirty="0" smtClean="0">
                <a:solidFill>
                  <a:srgbClr val="FF0000"/>
                </a:solidFill>
                <a:latin typeface="Times New Roman" pitchFamily="18" charset="0"/>
                <a:cs typeface="Times New Roman" pitchFamily="18" charset="0"/>
              </a:rPr>
              <a:t>Sau </a:t>
            </a:r>
            <a:r>
              <a:rPr lang="en-US" altLang="ko-KR" sz="950" dirty="0" err="1" smtClean="0">
                <a:solidFill>
                  <a:srgbClr val="FF0000"/>
                </a:solidFill>
                <a:latin typeface="Times New Roman" pitchFamily="18" charset="0"/>
                <a:cs typeface="Times New Roman" pitchFamily="18" charset="0"/>
              </a:rPr>
              <a:t>khi</a:t>
            </a:r>
            <a:r>
              <a:rPr lang="en-US" altLang="ko-KR" sz="950" dirty="0" smtClean="0">
                <a:solidFill>
                  <a:srgbClr val="FF0000"/>
                </a:solidFill>
                <a:latin typeface="Times New Roman" pitchFamily="18" charset="0"/>
                <a:cs typeface="Times New Roman" pitchFamily="18" charset="0"/>
              </a:rPr>
              <a:t> Count up, </a:t>
            </a:r>
            <a:r>
              <a:rPr lang="en-US" altLang="ko-KR" sz="950" dirty="0" err="1" smtClean="0">
                <a:solidFill>
                  <a:srgbClr val="FF0000"/>
                </a:solidFill>
                <a:latin typeface="Times New Roman" pitchFamily="18" charset="0"/>
                <a:cs typeface="Times New Roman" pitchFamily="18" charset="0"/>
              </a:rPr>
              <a:t>nếu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có</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tín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hiệu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được</a:t>
            </a:r>
            <a:r>
              <a:rPr lang="en-US" altLang="ko-KR" sz="950" dirty="0" smtClean="0">
                <a:solidFill>
                  <a:srgbClr val="FF0000"/>
                </a:solidFill>
                <a:latin typeface="Times New Roman" pitchFamily="18" charset="0"/>
                <a:cs typeface="Times New Roman" pitchFamily="18" charset="0"/>
              </a:rPr>
              <a:t> input </a:t>
            </a:r>
            <a:r>
              <a:rPr lang="en-US" altLang="ko-KR" sz="950" dirty="0" err="1" smtClean="0">
                <a:solidFill>
                  <a:srgbClr val="FF0000"/>
                </a:solidFill>
                <a:latin typeface="Times New Roman" pitchFamily="18" charset="0"/>
                <a:cs typeface="Times New Roman" pitchFamily="18" charset="0"/>
              </a:rPr>
              <a:t>vẫn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sẽ</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đếm</a:t>
            </a:r>
            <a:r>
              <a:rPr lang="en-US" altLang="ko-KR" sz="950" dirty="0" smtClean="0">
                <a:solidFill>
                  <a:srgbClr val="FF0000"/>
                </a:solidFill>
                <a:latin typeface="Times New Roman" pitchFamily="18" charset="0"/>
                <a:cs typeface="Times New Roman" pitchFamily="18" charset="0"/>
              </a:rPr>
              <a:t>.</a:t>
            </a:r>
            <a:endParaRPr lang="en-US" altLang="ko-KR" sz="950" dirty="0">
              <a:solidFill>
                <a:srgbClr val="FF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 C.  </a:t>
            </a:r>
            <a:r>
              <a:rPr lang="en-US" altLang="ko-KR" sz="950" dirty="0" err="1" smtClean="0">
                <a:solidFill>
                  <a:srgbClr val="000000"/>
                </a:solidFill>
                <a:latin typeface="Times New Roman" pitchFamily="18" charset="0"/>
                <a:cs typeface="Times New Roman" pitchFamily="18" charset="0"/>
              </a:rPr>
              <a:t>Giá</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trị</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cài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đặt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của</a:t>
            </a:r>
            <a:r>
              <a:rPr lang="en-US" altLang="ko-KR" sz="950" dirty="0" smtClean="0">
                <a:solidFill>
                  <a:srgbClr val="000000"/>
                </a:solidFill>
                <a:latin typeface="Times New Roman" pitchFamily="18" charset="0"/>
                <a:cs typeface="Times New Roman" pitchFamily="18" charset="0"/>
              </a:rPr>
              <a:t> Count </a:t>
            </a:r>
            <a:r>
              <a:rPr lang="en-US" altLang="ko-KR" sz="950" dirty="0" err="1" smtClean="0">
                <a:solidFill>
                  <a:srgbClr val="000000"/>
                </a:solidFill>
                <a:latin typeface="Times New Roman" pitchFamily="18" charset="0"/>
                <a:cs typeface="Times New Roman" pitchFamily="18" charset="0"/>
              </a:rPr>
              <a:t>là</a:t>
            </a:r>
            <a:r>
              <a:rPr lang="en-US" altLang="ko-KR" sz="950" dirty="0" smtClean="0">
                <a:solidFill>
                  <a:srgbClr val="000000"/>
                </a:solidFill>
                <a:latin typeface="Times New Roman" pitchFamily="18" charset="0"/>
                <a:cs typeface="Times New Roman" pitchFamily="18" charset="0"/>
              </a:rPr>
              <a:t> </a:t>
            </a:r>
            <a:r>
              <a:rPr lang="ko-KR" altLang="en-US" sz="950" dirty="0" smtClean="0">
                <a:solidFill>
                  <a:srgbClr val="000000"/>
                </a:solidFill>
                <a:latin typeface="Times New Roman" pitchFamily="18" charset="0"/>
                <a:cs typeface="Times New Roman" pitchFamily="18" charset="0"/>
              </a:rPr>
              <a:t> </a:t>
            </a:r>
            <a:r>
              <a:rPr lang="en-US" altLang="ko-KR" sz="950" dirty="0" smtClean="0">
                <a:solidFill>
                  <a:srgbClr val="000000"/>
                </a:solidFill>
                <a:latin typeface="Times New Roman" pitchFamily="18" charset="0"/>
                <a:cs typeface="Times New Roman" pitchFamily="18" charset="0"/>
              </a:rPr>
              <a:t>K1~K32767.</a:t>
            </a:r>
            <a:endParaRPr lang="en-US" altLang="ko-KR" sz="950" dirty="0">
              <a:solidFill>
                <a:srgbClr val="000000"/>
              </a:solidFill>
              <a:latin typeface="Times New Roman" pitchFamily="18" charset="0"/>
              <a:cs typeface="Times New Roman" pitchFamily="18" charset="0"/>
            </a:endParaRPr>
          </a:p>
          <a:p>
            <a:pPr eaLnBrk="1" hangingPunct="1"/>
            <a:r>
              <a:rPr lang="en-US" altLang="ko-KR" sz="950">
                <a:solidFill>
                  <a:srgbClr val="000000"/>
                </a:solidFill>
                <a:latin typeface="Times New Roman" pitchFamily="18" charset="0"/>
                <a:cs typeface="Times New Roman" pitchFamily="18" charset="0"/>
              </a:rPr>
              <a:t> </a:t>
            </a:r>
            <a:r>
              <a:rPr lang="en-US" altLang="ko-KR" sz="950" smtClean="0">
                <a:solidFill>
                  <a:srgbClr val="000000"/>
                </a:solidFill>
                <a:latin typeface="Times New Roman" pitchFamily="18" charset="0"/>
                <a:cs typeface="Times New Roman" pitchFamily="18" charset="0"/>
              </a:rPr>
              <a:t>D.  </a:t>
            </a:r>
            <a:r>
              <a:rPr lang="en-US" altLang="ko-KR" sz="950" dirty="0" err="1" smtClean="0">
                <a:solidFill>
                  <a:srgbClr val="000000"/>
                </a:solidFill>
                <a:latin typeface="Times New Roman" pitchFamily="18" charset="0"/>
                <a:cs typeface="Times New Roman" pitchFamily="18" charset="0"/>
              </a:rPr>
              <a:t>Khi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cài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đặt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giá</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trị</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cài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đặt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ngoài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việc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cài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đặt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trược</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tiếp</a:t>
            </a:r>
            <a:r>
              <a:rPr lang="en-US" altLang="ko-KR" sz="950" dirty="0" smtClean="0">
                <a:solidFill>
                  <a:srgbClr val="000000"/>
                </a:solidFill>
                <a:latin typeface="Times New Roman" pitchFamily="18" charset="0"/>
                <a:cs typeface="Times New Roman" pitchFamily="18" charset="0"/>
              </a:rPr>
              <a:t> </a:t>
            </a:r>
            <a:r>
              <a:rPr lang="en-US" altLang="ko-KR" sz="950" err="1" smtClean="0">
                <a:solidFill>
                  <a:srgbClr val="000000"/>
                </a:solidFill>
                <a:latin typeface="Times New Roman" pitchFamily="18" charset="0"/>
                <a:cs typeface="Times New Roman" pitchFamily="18" charset="0"/>
              </a:rPr>
              <a:t>thông</a:t>
            </a:r>
            <a:r>
              <a:rPr lang="en-US" altLang="ko-KR" sz="950" smtClean="0">
                <a:solidFill>
                  <a:srgbClr val="000000"/>
                </a:solidFill>
                <a:latin typeface="Times New Roman" pitchFamily="18" charset="0"/>
                <a:cs typeface="Times New Roman" pitchFamily="18" charset="0"/>
              </a:rPr>
              <a:t> </a:t>
            </a:r>
          </a:p>
          <a:p>
            <a:pPr eaLnBrk="1" hangingPunct="1"/>
            <a:r>
              <a:rPr lang="en-US" altLang="ko-KR" sz="950" smtClean="0">
                <a:solidFill>
                  <a:srgbClr val="000000"/>
                </a:solidFill>
                <a:latin typeface="Times New Roman" pitchFamily="18" charset="0"/>
                <a:cs typeface="Times New Roman" pitchFamily="18" charset="0"/>
              </a:rPr>
              <a:t>qua </a:t>
            </a:r>
            <a:r>
              <a:rPr lang="en-US" altLang="ko-KR" sz="950" dirty="0" smtClean="0">
                <a:solidFill>
                  <a:srgbClr val="000000"/>
                </a:solidFill>
                <a:latin typeface="Times New Roman" pitchFamily="18" charset="0"/>
                <a:cs typeface="Times New Roman" pitchFamily="18" charset="0"/>
              </a:rPr>
              <a:t>K </a:t>
            </a:r>
            <a:r>
              <a:rPr lang="en-US" altLang="ko-KR" sz="950" dirty="0" err="1" smtClean="0">
                <a:solidFill>
                  <a:srgbClr val="000000"/>
                </a:solidFill>
                <a:latin typeface="Times New Roman" pitchFamily="18" charset="0"/>
                <a:cs typeface="Times New Roman" pitchFamily="18" charset="0"/>
              </a:rPr>
              <a:t>có</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thể</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cài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đặt</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gián</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tiếp</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thông</a:t>
            </a:r>
            <a:r>
              <a:rPr lang="en-US" altLang="ko-KR" sz="950" dirty="0" smtClean="0">
                <a:solidFill>
                  <a:srgbClr val="000000"/>
                </a:solidFill>
                <a:latin typeface="Times New Roman" pitchFamily="18" charset="0"/>
                <a:cs typeface="Times New Roman" pitchFamily="18" charset="0"/>
              </a:rPr>
              <a:t> qua D</a:t>
            </a:r>
            <a:endParaRPr lang="en-US" altLang="ko-KR" sz="950" dirty="0">
              <a:solidFill>
                <a:srgbClr val="000000"/>
              </a:solidFill>
              <a:latin typeface="Times New Roman" pitchFamily="18" charset="0"/>
              <a:cs typeface="Times New Roman" pitchFamily="18" charset="0"/>
            </a:endParaRPr>
          </a:p>
        </p:txBody>
      </p:sp>
      <p:grpSp>
        <p:nvGrpSpPr>
          <p:cNvPr id="6" name="Group 5"/>
          <p:cNvGrpSpPr/>
          <p:nvPr/>
        </p:nvGrpSpPr>
        <p:grpSpPr>
          <a:xfrm>
            <a:off x="189087" y="1928664"/>
            <a:ext cx="3252613" cy="1700466"/>
            <a:chOff x="189087" y="1928664"/>
            <a:chExt cx="3252613" cy="1700466"/>
          </a:xfrm>
        </p:grpSpPr>
        <p:sp>
          <p:nvSpPr>
            <p:cNvPr id="30" name="Rectangle 101"/>
            <p:cNvSpPr>
              <a:spLocks noChangeArrowheads="1"/>
            </p:cNvSpPr>
            <p:nvPr/>
          </p:nvSpPr>
          <p:spPr bwMode="auto">
            <a:xfrm>
              <a:off x="189087" y="1928664"/>
              <a:ext cx="3252613" cy="170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a:solidFill>
                    <a:srgbClr val="000000"/>
                  </a:solidFill>
                  <a:latin typeface="Times New Roman" pitchFamily="18" charset="0"/>
                  <a:ea typeface="돋움" pitchFamily="50" charset="-127"/>
                  <a:cs typeface="Times New Roman" pitchFamily="18" charset="0"/>
                </a:rPr>
                <a:t>※ Đây là cấu trúc hệ thống PLC cơ bản. Hãy trả lời vào chỗ trống bên dưới</a:t>
              </a:r>
              <a:endParaRPr lang="ko-KR" altLang="en-US" sz="950">
                <a:solidFill>
                  <a:srgbClr val="000000"/>
                </a:solidFill>
                <a:latin typeface="Times New Roman" pitchFamily="18" charset="0"/>
                <a:ea typeface="돋움" pitchFamily="50" charset="-127"/>
                <a:cs typeface="Times New Roman" pitchFamily="18" charset="0"/>
              </a:endParaRPr>
            </a:p>
            <a:p>
              <a:pPr eaLnBrk="1" hangingPunct="1"/>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endParaRPr lang="en-US" altLang="ko-KR" sz="950">
                <a:solidFill>
                  <a:srgbClr val="000000"/>
                </a:solidFill>
                <a:latin typeface="Times New Roman" pitchFamily="18" charset="0"/>
                <a:ea typeface="돋움" pitchFamily="50" charset="-127"/>
                <a:cs typeface="Times New Roman" pitchFamily="18" charset="0"/>
              </a:endParaRPr>
            </a:p>
            <a:p>
              <a:pPr eaLnBrk="1" hangingPunct="1"/>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endParaRPr lang="en-US" altLang="ko-KR" sz="950">
                <a:solidFill>
                  <a:srgbClr val="000000"/>
                </a:solidFill>
                <a:latin typeface="Times New Roman" pitchFamily="18" charset="0"/>
                <a:ea typeface="돋움" pitchFamily="50" charset="-127"/>
                <a:cs typeface="Times New Roman" pitchFamily="18" charset="0"/>
              </a:endParaRPr>
            </a:p>
            <a:p>
              <a:pPr eaLnBrk="1" hangingPunct="1"/>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en-US" altLang="ko-KR" sz="950" smtClean="0">
                  <a:solidFill>
                    <a:srgbClr val="000000"/>
                  </a:solidFill>
                  <a:latin typeface="Times New Roman" pitchFamily="18" charset="0"/>
                  <a:ea typeface="돋움" pitchFamily="50" charset="-127"/>
                  <a:cs typeface="Times New Roman" pitchFamily="18" charset="0"/>
                </a:rPr>
                <a:t>32.</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Phạm</a:t>
              </a:r>
              <a:r>
                <a:rPr lang="en-US" altLang="ko-KR" sz="950" dirty="0" smtClean="0">
                  <a:solidFill>
                    <a:srgbClr val="000000"/>
                  </a:solidFill>
                  <a:latin typeface="Times New Roman" pitchFamily="18" charset="0"/>
                  <a:ea typeface="돋움" pitchFamily="50" charset="-127"/>
                  <a:cs typeface="Times New Roman" pitchFamily="18" charset="0"/>
                </a:rPr>
                <a:t> vi I/O </a:t>
              </a:r>
              <a:r>
                <a:rPr lang="en-US" altLang="ko-KR" sz="950" dirty="0" err="1" smtClean="0">
                  <a:solidFill>
                    <a:srgbClr val="000000"/>
                  </a:solidFill>
                  <a:latin typeface="Times New Roman" pitchFamily="18" charset="0"/>
                  <a:ea typeface="돋움" pitchFamily="50" charset="-127"/>
                  <a:cs typeface="Times New Roman" pitchFamily="18" charset="0"/>
                </a:rPr>
                <a:t>vào</a:t>
              </a:r>
              <a:r>
                <a:rPr lang="en-US" altLang="ko-KR" sz="950" dirty="0" smtClean="0">
                  <a:solidFill>
                    <a:srgbClr val="000000"/>
                  </a:solidFill>
                  <a:latin typeface="Times New Roman" pitchFamily="18" charset="0"/>
                  <a:ea typeface="돋움" pitchFamily="50" charset="-127"/>
                  <a:cs typeface="Times New Roman" pitchFamily="18" charset="0"/>
                </a:rPr>
                <a:t> Card ở </a:t>
              </a:r>
              <a:r>
                <a:rPr lang="en-US" altLang="ko-KR" sz="950" dirty="0" err="1" smtClean="0">
                  <a:solidFill>
                    <a:srgbClr val="000000"/>
                  </a:solidFill>
                  <a:latin typeface="Times New Roman" pitchFamily="18" charset="0"/>
                  <a:ea typeface="돋움" pitchFamily="50" charset="-127"/>
                  <a:cs typeface="Times New Roman" pitchFamily="18" charset="0"/>
                </a:rPr>
                <a:t>vị</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err="1" smtClean="0">
                  <a:solidFill>
                    <a:srgbClr val="000000"/>
                  </a:solidFill>
                  <a:latin typeface="Times New Roman" pitchFamily="18" charset="0"/>
                  <a:ea typeface="돋움" pitchFamily="50" charset="-127"/>
                  <a:cs typeface="Times New Roman" pitchFamily="18" charset="0"/>
                </a:rPr>
                <a:t>trí</a:t>
              </a:r>
              <a:r>
                <a:rPr lang="en-US" altLang="ko-KR" sz="950" smtClean="0">
                  <a:solidFill>
                    <a:srgbClr val="000000"/>
                  </a:solidFill>
                  <a:latin typeface="Times New Roman" pitchFamily="18" charset="0"/>
                  <a:ea typeface="돋움" pitchFamily="50" charset="-127"/>
                  <a:cs typeface="Times New Roman" pitchFamily="18" charset="0"/>
                </a:rPr>
                <a:t> (1) </a:t>
              </a:r>
              <a:r>
                <a:rPr lang="ko-KR" altLang="en-US" sz="950" smtClean="0">
                  <a:solidFill>
                    <a:srgbClr val="000000"/>
                  </a:solidFill>
                  <a:latin typeface="Times New Roman" pitchFamily="18" charset="0"/>
                  <a:ea typeface="돋움" pitchFamily="50" charset="-127"/>
                  <a:cs typeface="Times New Roman" pitchFamily="18" charset="0"/>
                </a:rPr>
                <a:t> </a:t>
              </a:r>
              <a:r>
                <a:rPr lang="en-US" altLang="ko-KR" sz="950" dirty="0" smtClean="0">
                  <a:solidFill>
                    <a:srgbClr val="000000"/>
                  </a:solidFill>
                  <a:latin typeface="Times New Roman" pitchFamily="18" charset="0"/>
                  <a:ea typeface="돋움" pitchFamily="50" charset="-127"/>
                  <a:cs typeface="Times New Roman" pitchFamily="18" charset="0"/>
                </a:rPr>
                <a:t>ở </a:t>
              </a:r>
              <a:r>
                <a:rPr lang="en-US" altLang="ko-KR" sz="950" dirty="0" err="1" smtClean="0">
                  <a:solidFill>
                    <a:srgbClr val="000000"/>
                  </a:solidFill>
                  <a:latin typeface="Times New Roman" pitchFamily="18" charset="0"/>
                  <a:ea typeface="돋움" pitchFamily="50" charset="-127"/>
                  <a:cs typeface="Times New Roman" pitchFamily="18" charset="0"/>
                </a:rPr>
                <a:t>bên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trên</a:t>
              </a:r>
              <a:r>
                <a:rPr lang="en-US" altLang="ko-KR" sz="950" dirty="0" smtClean="0">
                  <a:solidFill>
                    <a:srgbClr val="000000"/>
                  </a:solidFill>
                  <a:latin typeface="Times New Roman" pitchFamily="18" charset="0"/>
                  <a:ea typeface="돋움" pitchFamily="50" charset="-127"/>
                  <a:cs typeface="Times New Roman" pitchFamily="18" charset="0"/>
                </a:rPr>
                <a:t> </a:t>
              </a:r>
              <a:r>
                <a:rPr lang="en-US" altLang="ko-KR" sz="950" dirty="0" err="1" smtClean="0">
                  <a:solidFill>
                    <a:srgbClr val="000000"/>
                  </a:solidFill>
                  <a:latin typeface="Times New Roman" pitchFamily="18" charset="0"/>
                  <a:ea typeface="돋움" pitchFamily="50" charset="-127"/>
                  <a:cs typeface="Times New Roman" pitchFamily="18" charset="0"/>
                </a:rPr>
                <a:t>là</a:t>
              </a:r>
              <a:r>
                <a:rPr lang="en-US" altLang="ko-KR" sz="950" dirty="0" smtClean="0">
                  <a:solidFill>
                    <a:srgbClr val="000000"/>
                  </a:solidFill>
                  <a:latin typeface="Times New Roman" pitchFamily="18" charset="0"/>
                  <a:ea typeface="돋움" pitchFamily="50" charset="-127"/>
                  <a:cs typeface="Times New Roman" pitchFamily="18" charset="0"/>
                </a:rPr>
                <a:t>?</a:t>
              </a:r>
              <a:endParaRPr lang="en-US" altLang="ko-KR" sz="950" dirty="0">
                <a:solidFill>
                  <a:srgbClr val="000000"/>
                </a:solidFill>
                <a:latin typeface="Times New Roman" pitchFamily="18" charset="0"/>
                <a:ea typeface="돋움" pitchFamily="50" charset="-127"/>
                <a:cs typeface="Times New Roman" pitchFamily="18" charset="0"/>
              </a:endParaRPr>
            </a:p>
            <a:p>
              <a:pPr eaLnBrk="1" hangingPunct="1"/>
              <a:r>
                <a:rPr lang="en-US" altLang="ko-KR" sz="950">
                  <a:solidFill>
                    <a:srgbClr val="000000"/>
                  </a:solidFill>
                  <a:latin typeface="Times New Roman" pitchFamily="18" charset="0"/>
                  <a:ea typeface="돋움" pitchFamily="50" charset="-127"/>
                  <a:cs typeface="Times New Roman" pitchFamily="18" charset="0"/>
                </a:rPr>
                <a:t>  </a:t>
              </a:r>
              <a:endParaRPr lang="en-US" altLang="ko-KR" sz="950" smtClean="0">
                <a:solidFill>
                  <a:srgbClr val="000000"/>
                </a:solidFill>
                <a:latin typeface="Times New Roman" pitchFamily="18" charset="0"/>
                <a:ea typeface="돋움" pitchFamily="50" charset="-127"/>
                <a:cs typeface="Times New Roman" pitchFamily="18" charset="0"/>
              </a:endParaRPr>
            </a:p>
            <a:p>
              <a:pPr eaLnBrk="1" hangingPunct="1"/>
              <a:r>
                <a:rPr lang="en-US" altLang="ko-KR" sz="950" smtClean="0">
                  <a:solidFill>
                    <a:srgbClr val="000000"/>
                  </a:solidFill>
                  <a:latin typeface="Times New Roman" pitchFamily="18" charset="0"/>
                  <a:ea typeface="돋움" pitchFamily="50" charset="-127"/>
                  <a:cs typeface="Times New Roman" pitchFamily="18" charset="0"/>
                </a:rPr>
                <a:t>  A  </a:t>
              </a:r>
              <a:r>
                <a:rPr lang="en-US" altLang="ko-KR" sz="950">
                  <a:solidFill>
                    <a:srgbClr val="000000"/>
                  </a:solidFill>
                  <a:latin typeface="Times New Roman" pitchFamily="18" charset="0"/>
                  <a:ea typeface="돋움" pitchFamily="50" charset="-127"/>
                  <a:cs typeface="Times New Roman" pitchFamily="18" charset="0"/>
                </a:rPr>
                <a:t>Y100~Y10F        </a:t>
              </a:r>
              <a:r>
                <a:rPr lang="en-US" altLang="ko-KR" sz="950" smtClean="0">
                  <a:solidFill>
                    <a:srgbClr val="000000"/>
                  </a:solidFill>
                  <a:latin typeface="Times New Roman" pitchFamily="18" charset="0"/>
                  <a:ea typeface="돋움" pitchFamily="50" charset="-127"/>
                  <a:cs typeface="Times New Roman" pitchFamily="18" charset="0"/>
                </a:rPr>
                <a:t>B  </a:t>
              </a:r>
              <a:r>
                <a:rPr lang="en-US" altLang="ko-KR" sz="950" dirty="0">
                  <a:solidFill>
                    <a:srgbClr val="000000"/>
                  </a:solidFill>
                  <a:latin typeface="Times New Roman" pitchFamily="18" charset="0"/>
                  <a:ea typeface="돋움" pitchFamily="50" charset="-127"/>
                  <a:cs typeface="Times New Roman" pitchFamily="18" charset="0"/>
                </a:rPr>
                <a:t>X100~X10F   </a:t>
              </a:r>
            </a:p>
            <a:p>
              <a:pPr eaLnBrk="1" hangingPunct="1"/>
              <a:r>
                <a:rPr lang="en-US" altLang="ko-KR" sz="95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  C  </a:t>
              </a:r>
              <a:r>
                <a:rPr lang="en-US" altLang="ko-KR" sz="950">
                  <a:solidFill>
                    <a:srgbClr val="FF0000"/>
                  </a:solidFill>
                  <a:latin typeface="Times New Roman" pitchFamily="18" charset="0"/>
                  <a:ea typeface="돋움" pitchFamily="50" charset="-127"/>
                  <a:cs typeface="Times New Roman" pitchFamily="18" charset="0"/>
                </a:rPr>
                <a:t>Y110~Y11F        </a:t>
              </a:r>
              <a:r>
                <a:rPr lang="en-US" altLang="ko-KR" sz="950" smtClean="0">
                  <a:solidFill>
                    <a:srgbClr val="000000"/>
                  </a:solidFill>
                  <a:latin typeface="Times New Roman" pitchFamily="18" charset="0"/>
                  <a:ea typeface="돋움" pitchFamily="50" charset="-127"/>
                  <a:cs typeface="Times New Roman" pitchFamily="18" charset="0"/>
                </a:rPr>
                <a:t>D  </a:t>
              </a:r>
              <a:r>
                <a:rPr lang="en-US" altLang="ko-KR" sz="950" dirty="0">
                  <a:solidFill>
                    <a:srgbClr val="000000"/>
                  </a:solidFill>
                  <a:latin typeface="Times New Roman" pitchFamily="18" charset="0"/>
                  <a:ea typeface="돋움" pitchFamily="50" charset="-127"/>
                  <a:cs typeface="Times New Roman" pitchFamily="18" charset="0"/>
                </a:rPr>
                <a:t>X120~X12F</a:t>
              </a:r>
              <a:endParaRPr lang="ko-KR" altLang="en-US" sz="950" dirty="0">
                <a:solidFill>
                  <a:srgbClr val="000000"/>
                </a:solidFill>
                <a:latin typeface="Times New Roman" pitchFamily="18" charset="0"/>
                <a:ea typeface="돋움" pitchFamily="50" charset="-127"/>
                <a:cs typeface="Times New Roman" pitchFamily="18" charset="0"/>
              </a:endParaRPr>
            </a:p>
          </p:txBody>
        </p:sp>
        <p:pic>
          <p:nvPicPr>
            <p:cNvPr id="2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677" y="2288704"/>
              <a:ext cx="3173413" cy="658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38" name="Rectangle 37"/>
          <p:cNvSpPr/>
          <p:nvPr/>
        </p:nvSpPr>
        <p:spPr>
          <a:xfrm>
            <a:off x="302054" y="2322612"/>
            <a:ext cx="246063" cy="5868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lIns="0" tIns="0" rIns="0" bIns="0" rtlCol="0" anchor="ctr"/>
          <a:lstStyle/>
          <a:p>
            <a:pPr algn="ctr"/>
            <a:r>
              <a:rPr lang="en-US" sz="800" dirty="0" err="1" smtClean="0">
                <a:solidFill>
                  <a:schemeClr val="tx1"/>
                </a:solidFill>
                <a:latin typeface="Times New Roman" pitchFamily="18" charset="0"/>
                <a:cs typeface="Times New Roman" pitchFamily="18" charset="0"/>
              </a:rPr>
              <a:t>Nguồn</a:t>
            </a:r>
            <a:endParaRPr lang="en-US" sz="800" dirty="0">
              <a:solidFill>
                <a:schemeClr val="tx1"/>
              </a:solidFill>
              <a:latin typeface="Times New Roman" pitchFamily="18" charset="0"/>
              <a:cs typeface="Times New Roman" pitchFamily="18" charset="0"/>
            </a:endParaRPr>
          </a:p>
        </p:txBody>
      </p:sp>
      <p:grpSp>
        <p:nvGrpSpPr>
          <p:cNvPr id="5" name="Group 4"/>
          <p:cNvGrpSpPr/>
          <p:nvPr/>
        </p:nvGrpSpPr>
        <p:grpSpPr>
          <a:xfrm>
            <a:off x="3390019" y="3900200"/>
            <a:ext cx="3318321" cy="2925008"/>
            <a:chOff x="3495055" y="2216696"/>
            <a:chExt cx="3318321" cy="2925008"/>
          </a:xfrm>
        </p:grpSpPr>
        <p:pic>
          <p:nvPicPr>
            <p:cNvPr id="4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0847" y="2489200"/>
              <a:ext cx="2986087" cy="2011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42" name="Group 41"/>
            <p:cNvGrpSpPr/>
            <p:nvPr/>
          </p:nvGrpSpPr>
          <p:grpSpPr>
            <a:xfrm>
              <a:off x="3495055" y="2216696"/>
              <a:ext cx="3318321" cy="2925008"/>
              <a:chOff x="227013" y="2252663"/>
              <a:chExt cx="3429000" cy="2925008"/>
            </a:xfrm>
          </p:grpSpPr>
          <p:sp>
            <p:nvSpPr>
              <p:cNvPr id="43" name="Rectangle 99"/>
              <p:cNvSpPr>
                <a:spLocks noChangeArrowheads="1"/>
              </p:cNvSpPr>
              <p:nvPr/>
            </p:nvSpPr>
            <p:spPr bwMode="auto">
              <a:xfrm>
                <a:off x="227013" y="2252663"/>
                <a:ext cx="3429000" cy="2385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solidFill>
                      <a:srgbClr val="000000"/>
                    </a:solidFill>
                    <a:latin typeface="Times New Roman" pitchFamily="18" charset="0"/>
                    <a:cs typeface="Times New Roman" pitchFamily="18" charset="0"/>
                  </a:rPr>
                  <a:t>3</a:t>
                </a:r>
                <a:r>
                  <a:rPr lang="en-US" altLang="ko-KR" sz="950" smtClean="0">
                    <a:solidFill>
                      <a:srgbClr val="000000"/>
                    </a:solidFill>
                    <a:latin typeface="Times New Roman" pitchFamily="18" charset="0"/>
                    <a:cs typeface="Times New Roman" pitchFamily="18" charset="0"/>
                  </a:rPr>
                  <a:t>9</a:t>
                </a:r>
                <a:r>
                  <a:rPr lang="en-US" altLang="ko-KR" sz="950" dirty="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Nhìn</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hình</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dưới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đây</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và</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trả</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lời</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số</a:t>
                </a:r>
                <a:r>
                  <a:rPr lang="en-US" altLang="ko-KR" sz="950" dirty="0" smtClean="0">
                    <a:solidFill>
                      <a:srgbClr val="000000"/>
                    </a:solidFill>
                    <a:latin typeface="Times New Roman" pitchFamily="18" charset="0"/>
                    <a:cs typeface="Times New Roman" pitchFamily="18" charset="0"/>
                  </a:rPr>
                  <a:t> 1</a:t>
                </a:r>
                <a:r>
                  <a:rPr lang="en-US" altLang="ko-KR" sz="950" dirty="0">
                    <a:solidFill>
                      <a:srgbClr val="000000"/>
                    </a:solidFill>
                    <a:latin typeface="Times New Roman" pitchFamily="18" charset="0"/>
                    <a:cs typeface="Times New Roman" pitchFamily="18" charset="0"/>
                  </a:rPr>
                  <a:t>, 2 </a:t>
                </a:r>
                <a:r>
                  <a:rPr lang="en-US" altLang="ko-KR" sz="950" dirty="0" err="1" smtClean="0">
                    <a:solidFill>
                      <a:srgbClr val="000000"/>
                    </a:solidFill>
                    <a:latin typeface="Times New Roman" pitchFamily="18" charset="0"/>
                    <a:cs typeface="Times New Roman" pitchFamily="18" charset="0"/>
                  </a:rPr>
                  <a:t>là</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gì</a:t>
                </a:r>
                <a:r>
                  <a:rPr lang="en-US" altLang="ko-KR" sz="950" dirty="0" smtClean="0">
                    <a:solidFill>
                      <a:srgbClr val="000000"/>
                    </a:solidFill>
                    <a:latin typeface="Times New Roman" pitchFamily="18" charset="0"/>
                    <a:cs typeface="Times New Roman" pitchFamily="18" charset="0"/>
                  </a:rPr>
                  <a:t>?.</a:t>
                </a:r>
                <a:endParaRPr lang="en-US" altLang="ko-KR" sz="950" dirty="0">
                  <a:solidFill>
                    <a:srgbClr val="000000"/>
                  </a:solidFill>
                  <a:latin typeface="Times New Roman" pitchFamily="18" charset="0"/>
                  <a:cs typeface="Times New Roman" pitchFamily="18" charset="0"/>
                </a:endParaRPr>
              </a:p>
            </p:txBody>
          </p:sp>
          <p:sp>
            <p:nvSpPr>
              <p:cNvPr id="44" name="Rectangle 99"/>
              <p:cNvSpPr>
                <a:spLocks noChangeArrowheads="1"/>
              </p:cNvSpPr>
              <p:nvPr/>
            </p:nvSpPr>
            <p:spPr bwMode="auto">
              <a:xfrm>
                <a:off x="304800" y="4500563"/>
                <a:ext cx="30861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42900" indent="-342900"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1 </a:t>
                </a:r>
                <a:r>
                  <a:rPr lang="en-US" altLang="ko-KR" sz="950" smtClean="0">
                    <a:latin typeface="Times New Roman" pitchFamily="18" charset="0"/>
                    <a:cs typeface="Times New Roman" pitchFamily="18" charset="0"/>
                  </a:rPr>
                  <a:t>Scan, </a:t>
                </a:r>
                <a:r>
                  <a:rPr lang="en-US" altLang="ko-KR" sz="950" dirty="0" err="1" smtClean="0">
                    <a:latin typeface="Times New Roman" pitchFamily="18" charset="0"/>
                    <a:cs typeface="Times New Roman" pitchFamily="18" charset="0"/>
                  </a:rPr>
                  <a:t>thực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toán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chương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trình</a:t>
                </a:r>
                <a:r>
                  <a:rPr lang="en-US" altLang="ko-KR"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B. </a:t>
                </a:r>
                <a:r>
                  <a:rPr lang="en-US" altLang="ko-KR" sz="950">
                    <a:solidFill>
                      <a:srgbClr val="000000"/>
                    </a:solidFill>
                    <a:latin typeface="Times New Roman" pitchFamily="18" charset="0"/>
                    <a:cs typeface="Times New Roman" pitchFamily="18" charset="0"/>
                  </a:rPr>
                  <a:t>1 </a:t>
                </a:r>
                <a:r>
                  <a:rPr lang="en-US" altLang="ko-KR" sz="950" smtClean="0">
                    <a:solidFill>
                      <a:srgbClr val="000000"/>
                    </a:solidFill>
                    <a:latin typeface="Times New Roman" pitchFamily="18" charset="0"/>
                    <a:cs typeface="Times New Roman" pitchFamily="18" charset="0"/>
                  </a:rPr>
                  <a:t>Scan, Scan </a:t>
                </a:r>
                <a:r>
                  <a:rPr lang="en-US" altLang="ko-KR" sz="950" dirty="0" smtClean="0">
                    <a:solidFill>
                      <a:srgbClr val="000000"/>
                    </a:solidFill>
                    <a:latin typeface="Times New Roman" pitchFamily="18" charset="0"/>
                    <a:cs typeface="Times New Roman" pitchFamily="18" charset="0"/>
                  </a:rPr>
                  <a:t>program</a:t>
                </a:r>
                <a:r>
                  <a:rPr lang="ko-KR" altLang="en-US" sz="950" dirty="0" smtClean="0">
                    <a:solidFill>
                      <a:srgbClr val="000000"/>
                    </a:solidFill>
                    <a:latin typeface="Times New Roman" pitchFamily="18" charset="0"/>
                    <a:cs typeface="Times New Roman" pitchFamily="18" charset="0"/>
                  </a:rPr>
                  <a:t> </a:t>
                </a:r>
                <a:r>
                  <a:rPr lang="en-US" altLang="ko-KR" sz="950" dirty="0">
                    <a:solidFill>
                      <a:srgbClr val="000000"/>
                    </a:solidFill>
                    <a:latin typeface="Times New Roman" pitchFamily="18" charset="0"/>
                    <a:cs typeface="Times New Roman" pitchFamily="18" charset="0"/>
                  </a:rPr>
                  <a:t>Strat</a:t>
                </a:r>
              </a:p>
              <a:p>
                <a:pPr eaLnBrk="1" hangingPunct="1"/>
                <a:r>
                  <a:rPr lang="en-US" altLang="ko-KR" sz="950" smtClean="0">
                    <a:solidFill>
                      <a:srgbClr val="FF0000"/>
                    </a:solidFill>
                    <a:latin typeface="Times New Roman" pitchFamily="18" charset="0"/>
                    <a:cs typeface="Times New Roman" pitchFamily="18" charset="0"/>
                  </a:rPr>
                  <a:t>C. </a:t>
                </a:r>
                <a:r>
                  <a:rPr lang="en-US" altLang="ko-KR" sz="950">
                    <a:solidFill>
                      <a:srgbClr val="FF0000"/>
                    </a:solidFill>
                    <a:latin typeface="Times New Roman" pitchFamily="18" charset="0"/>
                    <a:cs typeface="Times New Roman" pitchFamily="18" charset="0"/>
                  </a:rPr>
                  <a:t>1 </a:t>
                </a:r>
                <a:r>
                  <a:rPr lang="en-US" altLang="ko-KR" sz="950" smtClean="0">
                    <a:solidFill>
                      <a:srgbClr val="FF0000"/>
                    </a:solidFill>
                    <a:latin typeface="Times New Roman" pitchFamily="18" charset="0"/>
                    <a:cs typeface="Times New Roman" pitchFamily="18" charset="0"/>
                  </a:rPr>
                  <a:t>Scan, </a:t>
                </a:r>
                <a:r>
                  <a:rPr lang="en-US" altLang="ko-KR" sz="950">
                    <a:solidFill>
                      <a:srgbClr val="FF0000"/>
                    </a:solidFill>
                    <a:latin typeface="Times New Roman" pitchFamily="18" charset="0"/>
                    <a:cs typeface="Times New Roman" pitchFamily="18" charset="0"/>
                  </a:rPr>
                  <a:t>tiến hành Sub Program </a:t>
                </a:r>
                <a:endParaRPr lang="ko-KR" altLang="en-US" sz="950" dirty="0">
                  <a:solidFill>
                    <a:srgbClr val="FF0000"/>
                  </a:solidFill>
                  <a:latin typeface="Times New Roman" pitchFamily="18" charset="0"/>
                  <a:cs typeface="Times New Roman" pitchFamily="18" charset="0"/>
                </a:endParaRPr>
              </a:p>
              <a:p>
                <a:pPr eaLnBrk="1" hangingPunct="1"/>
                <a:r>
                  <a:rPr lang="en-US" altLang="ko-KR" sz="950" smtClean="0">
                    <a:solidFill>
                      <a:srgbClr val="000000"/>
                    </a:solidFill>
                    <a:latin typeface="Times New Roman" pitchFamily="18" charset="0"/>
                    <a:cs typeface="Times New Roman" pitchFamily="18" charset="0"/>
                  </a:rPr>
                  <a:t>D. </a:t>
                </a:r>
                <a:r>
                  <a:rPr lang="en-US" altLang="ko-KR" sz="950">
                    <a:solidFill>
                      <a:srgbClr val="000000"/>
                    </a:solidFill>
                    <a:latin typeface="Times New Roman" pitchFamily="18" charset="0"/>
                    <a:cs typeface="Times New Roman" pitchFamily="18" charset="0"/>
                  </a:rPr>
                  <a:t>1 </a:t>
                </a:r>
                <a:r>
                  <a:rPr lang="en-US" altLang="ko-KR" sz="950" smtClean="0">
                    <a:solidFill>
                      <a:srgbClr val="000000"/>
                    </a:solidFill>
                    <a:latin typeface="Times New Roman" pitchFamily="18" charset="0"/>
                    <a:cs typeface="Times New Roman" pitchFamily="18" charset="0"/>
                  </a:rPr>
                  <a:t>Scan, </a:t>
                </a:r>
                <a:r>
                  <a:rPr lang="en-US" altLang="ko-KR" sz="950" dirty="0" err="1" smtClean="0">
                    <a:solidFill>
                      <a:srgbClr val="000000"/>
                    </a:solidFill>
                    <a:latin typeface="Times New Roman" pitchFamily="18" charset="0"/>
                    <a:cs typeface="Times New Roman" pitchFamily="18" charset="0"/>
                  </a:rPr>
                  <a:t>lưu</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chương</a:t>
                </a:r>
                <a:r>
                  <a:rPr lang="en-US" altLang="ko-KR" sz="950" dirty="0" smtClean="0">
                    <a:solidFill>
                      <a:srgbClr val="000000"/>
                    </a:solidFill>
                    <a:latin typeface="Times New Roman" pitchFamily="18" charset="0"/>
                    <a:cs typeface="Times New Roman" pitchFamily="18" charset="0"/>
                  </a:rPr>
                  <a:t> </a:t>
                </a:r>
                <a:r>
                  <a:rPr lang="en-US" altLang="ko-KR" sz="950" dirty="0" err="1" smtClean="0">
                    <a:solidFill>
                      <a:srgbClr val="000000"/>
                    </a:solidFill>
                    <a:latin typeface="Times New Roman" pitchFamily="18" charset="0"/>
                    <a:cs typeface="Times New Roman" pitchFamily="18" charset="0"/>
                  </a:rPr>
                  <a:t>trình</a:t>
                </a:r>
                <a:r>
                  <a:rPr lang="en-US" altLang="ko-KR" sz="950" dirty="0" smtClean="0">
                    <a:solidFill>
                      <a:srgbClr val="000000"/>
                    </a:solidFill>
                    <a:latin typeface="Times New Roman" pitchFamily="18" charset="0"/>
                    <a:cs typeface="Times New Roman" pitchFamily="18" charset="0"/>
                  </a:rPr>
                  <a:t> Scan </a:t>
                </a:r>
                <a:endParaRPr lang="en-US" altLang="ko-KR" sz="950" dirty="0">
                  <a:solidFill>
                    <a:srgbClr val="000000"/>
                  </a:solidFill>
                  <a:latin typeface="Times New Roman" pitchFamily="18" charset="0"/>
                  <a:cs typeface="Times New Roman" pitchFamily="18" charset="0"/>
                </a:endParaRPr>
              </a:p>
            </p:txBody>
          </p:sp>
          <p:sp>
            <p:nvSpPr>
              <p:cNvPr id="45" name="Rectangle 44"/>
              <p:cNvSpPr/>
              <p:nvPr/>
            </p:nvSpPr>
            <p:spPr>
              <a:xfrm>
                <a:off x="1101058" y="2525168"/>
                <a:ext cx="1008140" cy="1385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50" dirty="0" err="1" smtClean="0">
                    <a:solidFill>
                      <a:schemeClr val="tx1"/>
                    </a:solidFill>
                    <a:latin typeface="Times New Roman" pitchFamily="18" charset="0"/>
                    <a:cs typeface="Times New Roman" pitchFamily="18" charset="0"/>
                  </a:rPr>
                  <a:t>Bắt</a:t>
                </a:r>
                <a:r>
                  <a:rPr lang="en-US" sz="950" dirty="0" smtClean="0">
                    <a:solidFill>
                      <a:schemeClr val="tx1"/>
                    </a:solidFill>
                    <a:latin typeface="Times New Roman" pitchFamily="18" charset="0"/>
                    <a:cs typeface="Times New Roman" pitchFamily="18" charset="0"/>
                  </a:rPr>
                  <a:t> </a:t>
                </a:r>
                <a:r>
                  <a:rPr lang="en-US" sz="950" dirty="0" err="1" smtClean="0">
                    <a:solidFill>
                      <a:schemeClr val="tx1"/>
                    </a:solidFill>
                    <a:latin typeface="Times New Roman" pitchFamily="18" charset="0"/>
                    <a:cs typeface="Times New Roman" pitchFamily="18" charset="0"/>
                  </a:rPr>
                  <a:t>đầu</a:t>
                </a:r>
                <a:r>
                  <a:rPr lang="en-US" sz="950" dirty="0" smtClean="0">
                    <a:solidFill>
                      <a:schemeClr val="tx1"/>
                    </a:solidFill>
                    <a:latin typeface="Times New Roman" pitchFamily="18" charset="0"/>
                    <a:cs typeface="Times New Roman" pitchFamily="18" charset="0"/>
                  </a:rPr>
                  <a:t> </a:t>
                </a:r>
                <a:r>
                  <a:rPr lang="en-US" sz="950" dirty="0" err="1" smtClean="0">
                    <a:solidFill>
                      <a:schemeClr val="tx1"/>
                    </a:solidFill>
                    <a:latin typeface="Times New Roman" pitchFamily="18" charset="0"/>
                    <a:cs typeface="Times New Roman" pitchFamily="18" charset="0"/>
                  </a:rPr>
                  <a:t>vận</a:t>
                </a:r>
                <a:r>
                  <a:rPr lang="en-US" sz="950" dirty="0" smtClean="0">
                    <a:solidFill>
                      <a:schemeClr val="tx1"/>
                    </a:solidFill>
                    <a:latin typeface="Times New Roman" pitchFamily="18" charset="0"/>
                    <a:cs typeface="Times New Roman" pitchFamily="18" charset="0"/>
                  </a:rPr>
                  <a:t> </a:t>
                </a:r>
                <a:r>
                  <a:rPr lang="en-US" sz="950" dirty="0" err="1" smtClean="0">
                    <a:solidFill>
                      <a:schemeClr val="tx1"/>
                    </a:solidFill>
                    <a:latin typeface="Times New Roman" pitchFamily="18" charset="0"/>
                    <a:cs typeface="Times New Roman" pitchFamily="18" charset="0"/>
                  </a:rPr>
                  <a:t>hành</a:t>
                </a:r>
                <a:endParaRPr lang="en-US" sz="950" dirty="0">
                  <a:solidFill>
                    <a:schemeClr val="tx1"/>
                  </a:solidFill>
                  <a:latin typeface="Times New Roman" pitchFamily="18" charset="0"/>
                  <a:cs typeface="Times New Roman" pitchFamily="18" charset="0"/>
                </a:endParaRPr>
              </a:p>
            </p:txBody>
          </p:sp>
          <p:sp>
            <p:nvSpPr>
              <p:cNvPr id="46" name="Rectangle 45"/>
              <p:cNvSpPr/>
              <p:nvPr/>
            </p:nvSpPr>
            <p:spPr>
              <a:xfrm>
                <a:off x="1063898" y="2840626"/>
                <a:ext cx="588474" cy="1965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smtClean="0">
                    <a:solidFill>
                      <a:schemeClr val="tx1"/>
                    </a:solidFill>
                    <a:latin typeface="Times New Roman" pitchFamily="18" charset="0"/>
                    <a:cs typeface="Times New Roman" pitchFamily="18" charset="0"/>
                  </a:rPr>
                  <a:t>Refresh </a:t>
                </a:r>
                <a:r>
                  <a:rPr lang="en-US" sz="800" dirty="0" err="1" smtClean="0">
                    <a:solidFill>
                      <a:schemeClr val="tx1"/>
                    </a:solidFill>
                    <a:latin typeface="Times New Roman" pitchFamily="18" charset="0"/>
                    <a:cs typeface="Times New Roman" pitchFamily="18" charset="0"/>
                  </a:rPr>
                  <a:t>vùng</a:t>
                </a:r>
                <a:r>
                  <a:rPr lang="en-US" sz="800" dirty="0" smtClean="0">
                    <a:solidFill>
                      <a:schemeClr val="tx1"/>
                    </a:solidFill>
                    <a:latin typeface="Times New Roman" pitchFamily="18" charset="0"/>
                    <a:cs typeface="Times New Roman" pitchFamily="18" charset="0"/>
                  </a:rPr>
                  <a:t>    Input </a:t>
                </a:r>
                <a:endParaRPr lang="en-US" sz="800" dirty="0">
                  <a:solidFill>
                    <a:schemeClr val="tx1"/>
                  </a:solidFill>
                  <a:latin typeface="Times New Roman" pitchFamily="18" charset="0"/>
                  <a:cs typeface="Times New Roman" pitchFamily="18" charset="0"/>
                </a:endParaRPr>
              </a:p>
            </p:txBody>
          </p:sp>
          <p:sp>
            <p:nvSpPr>
              <p:cNvPr id="47" name="Rectangle 46"/>
              <p:cNvSpPr/>
              <p:nvPr/>
            </p:nvSpPr>
            <p:spPr>
              <a:xfrm>
                <a:off x="2465919" y="2828727"/>
                <a:ext cx="892455" cy="2594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Trạng</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thái</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tiếp</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điểm</a:t>
                </a:r>
                <a:r>
                  <a:rPr lang="en-US" sz="800" dirty="0" smtClean="0">
                    <a:solidFill>
                      <a:schemeClr val="tx1"/>
                    </a:solidFill>
                    <a:latin typeface="Times New Roman" pitchFamily="18" charset="0"/>
                    <a:cs typeface="Times New Roman" pitchFamily="18" charset="0"/>
                  </a:rPr>
                  <a:t> Module Input </a:t>
                </a:r>
                <a:endParaRPr lang="en-US" sz="800" dirty="0">
                  <a:solidFill>
                    <a:schemeClr val="tx1"/>
                  </a:solidFill>
                  <a:latin typeface="Times New Roman" pitchFamily="18" charset="0"/>
                  <a:cs typeface="Times New Roman" pitchFamily="18" charset="0"/>
                </a:endParaRPr>
              </a:p>
            </p:txBody>
          </p:sp>
          <p:sp>
            <p:nvSpPr>
              <p:cNvPr id="48" name="Rectangle 47"/>
              <p:cNvSpPr/>
              <p:nvPr/>
            </p:nvSpPr>
            <p:spPr>
              <a:xfrm>
                <a:off x="1080468" y="3166883"/>
                <a:ext cx="979344" cy="173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Bắt</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đầu</a:t>
                </a:r>
                <a:r>
                  <a:rPr lang="en-US" sz="800" dirty="0" smtClean="0">
                    <a:solidFill>
                      <a:schemeClr val="tx1"/>
                    </a:solidFill>
                    <a:latin typeface="Times New Roman" pitchFamily="18" charset="0"/>
                    <a:cs typeface="Times New Roman" pitchFamily="18" charset="0"/>
                  </a:rPr>
                  <a:t> Scan program</a:t>
                </a:r>
                <a:endParaRPr lang="en-US" sz="800" dirty="0">
                  <a:solidFill>
                    <a:schemeClr val="tx1"/>
                  </a:solidFill>
                  <a:latin typeface="Times New Roman" pitchFamily="18" charset="0"/>
                  <a:cs typeface="Times New Roman" pitchFamily="18" charset="0"/>
                </a:endParaRPr>
              </a:p>
            </p:txBody>
          </p:sp>
          <p:sp>
            <p:nvSpPr>
              <p:cNvPr id="49" name="Rectangle 48"/>
              <p:cNvSpPr/>
              <p:nvPr/>
            </p:nvSpPr>
            <p:spPr>
              <a:xfrm>
                <a:off x="1075294" y="3325157"/>
                <a:ext cx="1008140" cy="2160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Kết</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thúc</a:t>
                </a:r>
                <a:r>
                  <a:rPr lang="en-US" sz="800" dirty="0" smtClean="0">
                    <a:solidFill>
                      <a:schemeClr val="tx1"/>
                    </a:solidFill>
                    <a:latin typeface="Times New Roman" pitchFamily="18" charset="0"/>
                    <a:cs typeface="Times New Roman" pitchFamily="18" charset="0"/>
                  </a:rPr>
                  <a:t> Scan program</a:t>
                </a:r>
                <a:endParaRPr lang="en-US" sz="800" dirty="0">
                  <a:solidFill>
                    <a:schemeClr val="tx1"/>
                  </a:solidFill>
                  <a:latin typeface="Times New Roman" pitchFamily="18" charset="0"/>
                  <a:cs typeface="Times New Roman" pitchFamily="18" charset="0"/>
                </a:endParaRPr>
              </a:p>
            </p:txBody>
          </p:sp>
          <p:sp>
            <p:nvSpPr>
              <p:cNvPr id="50" name="Rectangle 49"/>
              <p:cNvSpPr/>
              <p:nvPr/>
            </p:nvSpPr>
            <p:spPr>
              <a:xfrm>
                <a:off x="1051672" y="3903145"/>
                <a:ext cx="855740" cy="1442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smtClean="0">
                    <a:solidFill>
                      <a:schemeClr val="tx1"/>
                    </a:solidFill>
                    <a:latin typeface="Times New Roman" pitchFamily="18" charset="0"/>
                    <a:cs typeface="Times New Roman" pitchFamily="18" charset="0"/>
                  </a:rPr>
                  <a:t>Refresh </a:t>
                </a:r>
                <a:r>
                  <a:rPr lang="en-US" sz="800" dirty="0" err="1" smtClean="0">
                    <a:solidFill>
                      <a:schemeClr val="tx1"/>
                    </a:solidFill>
                    <a:latin typeface="Times New Roman" pitchFamily="18" charset="0"/>
                    <a:cs typeface="Times New Roman" pitchFamily="18" charset="0"/>
                  </a:rPr>
                  <a:t>vùng</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Ouput</a:t>
                </a:r>
                <a:endParaRPr lang="en-US" sz="800" dirty="0">
                  <a:solidFill>
                    <a:schemeClr val="tx1"/>
                  </a:solidFill>
                  <a:latin typeface="Times New Roman" pitchFamily="18" charset="0"/>
                  <a:cs typeface="Times New Roman" pitchFamily="18" charset="0"/>
                </a:endParaRPr>
              </a:p>
            </p:txBody>
          </p:sp>
          <p:sp>
            <p:nvSpPr>
              <p:cNvPr id="51" name="Rectangle 50"/>
              <p:cNvSpPr/>
              <p:nvPr/>
            </p:nvSpPr>
            <p:spPr>
              <a:xfrm>
                <a:off x="1097062" y="4214878"/>
                <a:ext cx="462510" cy="1260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Xử</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lí</a:t>
                </a:r>
                <a:r>
                  <a:rPr lang="en-US" sz="800" dirty="0" smtClean="0">
                    <a:solidFill>
                      <a:schemeClr val="tx1"/>
                    </a:solidFill>
                    <a:latin typeface="Times New Roman" pitchFamily="18" charset="0"/>
                    <a:cs typeface="Times New Roman" pitchFamily="18" charset="0"/>
                  </a:rPr>
                  <a:t> End</a:t>
                </a:r>
                <a:endParaRPr lang="en-US" sz="800" dirty="0">
                  <a:solidFill>
                    <a:schemeClr val="tx1"/>
                  </a:solidFill>
                  <a:latin typeface="Times New Roman" pitchFamily="18" charset="0"/>
                  <a:cs typeface="Times New Roman" pitchFamily="18" charset="0"/>
                </a:endParaRPr>
              </a:p>
            </p:txBody>
          </p:sp>
          <p:sp>
            <p:nvSpPr>
              <p:cNvPr id="52" name="Rectangle 51"/>
              <p:cNvSpPr/>
              <p:nvPr/>
            </p:nvSpPr>
            <p:spPr>
              <a:xfrm>
                <a:off x="2414670" y="3903225"/>
                <a:ext cx="956099" cy="1746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err="1" smtClean="0">
                    <a:solidFill>
                      <a:schemeClr val="tx1"/>
                    </a:solidFill>
                    <a:latin typeface="Times New Roman" pitchFamily="18" charset="0"/>
                    <a:cs typeface="Times New Roman" pitchFamily="18" charset="0"/>
                  </a:rPr>
                  <a:t>Trạng</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thái</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tiếp</a:t>
                </a:r>
                <a:r>
                  <a:rPr lang="en-US" sz="800" dirty="0" smtClean="0">
                    <a:solidFill>
                      <a:schemeClr val="tx1"/>
                    </a:solidFill>
                    <a:latin typeface="Times New Roman" pitchFamily="18" charset="0"/>
                    <a:cs typeface="Times New Roman" pitchFamily="18" charset="0"/>
                  </a:rPr>
                  <a:t> </a:t>
                </a:r>
                <a:r>
                  <a:rPr lang="en-US" sz="800" dirty="0" err="1" smtClean="0">
                    <a:solidFill>
                      <a:schemeClr val="tx1"/>
                    </a:solidFill>
                    <a:latin typeface="Times New Roman" pitchFamily="18" charset="0"/>
                    <a:cs typeface="Times New Roman" pitchFamily="18" charset="0"/>
                  </a:rPr>
                  <a:t>điểm</a:t>
                </a:r>
                <a:r>
                  <a:rPr lang="en-US" sz="800" dirty="0" smtClean="0">
                    <a:solidFill>
                      <a:schemeClr val="tx1"/>
                    </a:solidFill>
                    <a:latin typeface="Times New Roman" pitchFamily="18" charset="0"/>
                    <a:cs typeface="Times New Roman" pitchFamily="18" charset="0"/>
                  </a:rPr>
                  <a:t> Module Output</a:t>
                </a:r>
                <a:endParaRPr lang="en-US" sz="800" dirty="0">
                  <a:solidFill>
                    <a:schemeClr val="tx1"/>
                  </a:solidFill>
                  <a:latin typeface="Times New Roman" pitchFamily="18" charset="0"/>
                  <a:cs typeface="Times New Roman" pitchFamily="18" charset="0"/>
                </a:endParaRPr>
              </a:p>
            </p:txBody>
          </p:sp>
        </p:grpSp>
      </p:grpSp>
    </p:spTree>
    <p:extLst>
      <p:ext uri="{BB962C8B-B14F-4D97-AF65-F5344CB8AC3E}">
        <p14:creationId xmlns:p14="http://schemas.microsoft.com/office/powerpoint/2010/main" val="114001773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dirty="0">
                <a:latin typeface="Times New Roman" pitchFamily="18" charset="0"/>
                <a:cs typeface="Times New Roman" pitchFamily="18" charset="0"/>
              </a:rPr>
              <a:t>Khí nén</a:t>
            </a:r>
            <a:r>
              <a:rPr lang="en-US" altLang="ko-KR" dirty="0">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solidFill>
                <a:srgbClr val="000000"/>
              </a:solidFill>
              <a:latin typeface="Times New Roman" pitchFamily="18" charset="0"/>
              <a:cs typeface="Times New Roman" pitchFamily="18" charset="0"/>
            </a:endParaRPr>
          </a:p>
          <a:p>
            <a:pPr eaLnBrk="1" fontAlgn="base" hangingPunct="1">
              <a:spcBef>
                <a:spcPct val="0"/>
              </a:spcBef>
              <a:spcAft>
                <a:spcPct val="0"/>
              </a:spcAft>
            </a:pPr>
            <a:endParaRPr lang="en-US" altLang="ko-KR" sz="950" smtClean="0">
              <a:solidFill>
                <a:srgbClr val="000000"/>
              </a:solidFill>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sp>
        <p:nvSpPr>
          <p:cNvPr id="25" name="Rectangle 7"/>
          <p:cNvSpPr>
            <a:spLocks noChangeArrowheads="1"/>
          </p:cNvSpPr>
          <p:nvPr/>
        </p:nvSpPr>
        <p:spPr bwMode="auto">
          <a:xfrm>
            <a:off x="206479" y="1064568"/>
            <a:ext cx="3239810"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a:t>
            </a:r>
            <a:r>
              <a:rPr lang="vi-VN" altLang="ko-KR" sz="950">
                <a:latin typeface="Times New Roman" pitchFamily="18" charset="0"/>
                <a:ea typeface="LG Smart_H Regular" panose="020B0600000101010101" pitchFamily="34" charset="-127"/>
                <a:cs typeface="Times New Roman" pitchFamily="18" charset="0"/>
              </a:rPr>
              <a:t>Khi lắp đặt máy nén khí ngoài việc chọn loại hình MNK, công suất sử dụng.Thì cần phải lựa chọn địa điểm lắp đặt phù hợp.</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Giải thích nào </a:t>
            </a:r>
            <a:r>
              <a:rPr lang="vi-VN" altLang="ko-KR" sz="950" smtClean="0">
                <a:latin typeface="Times New Roman" pitchFamily="18" charset="0"/>
                <a:ea typeface="LG Smart_H Regular" panose="020B0600000101010101" pitchFamily="34" charset="-127"/>
                <a:cs typeface="Times New Roman" pitchFamily="18" charset="0"/>
              </a:rPr>
              <a:t>sai?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Phải lắp đặt tại  địa điểm ít chất và khí độc hại.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Phải lưu tâm lựa chọn gạch cách âm để chặn tiếng ồn và tránh nước mưa và ánh sáng mặt trời</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nén dùng phương thức làm lạnh không khí: lắp quạt ở buồng máy nén để thông gió; máy nén dùng phương thức làm mát: trao đổi nhiệt, làm lạnh (after cooler) phần sau và thân máy nén sao cho chênh lệch nhiệt độ giữa  cửa ra và cửa vào nước làm lạnh dưới 10℃</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Lắp đặt tại nơi có nhiệt độ cao và độ ẩm thấp, lượng  phát sinh đường ống dẫn nhỏ. Nếu nhiệt độ của khí hút vào tăng 10℃ thì hiệu suất của máy nén giảm 3~4%.</a:t>
            </a:r>
          </a:p>
        </p:txBody>
      </p:sp>
      <p:sp>
        <p:nvSpPr>
          <p:cNvPr id="29" name="Rectangle 7"/>
          <p:cNvSpPr>
            <a:spLocks noChangeArrowheads="1"/>
          </p:cNvSpPr>
          <p:nvPr/>
        </p:nvSpPr>
        <p:spPr bwMode="auto">
          <a:xfrm>
            <a:off x="218009" y="3584848"/>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42. Chất nào gây ra rỉ và lỗi cách điện của coil, giảm tuổi thọ và dính chặt cuộn dây quấn (spool) ở thân  </a:t>
            </a:r>
            <a:r>
              <a:rPr lang="vi-VN" altLang="ko-KR" sz="950" smtClean="0">
                <a:latin typeface="Times New Roman" pitchFamily="18" charset="0"/>
                <a:ea typeface="LG Smart_H Regular" panose="020B0600000101010101" pitchFamily="34" charset="-127"/>
                <a:cs typeface="Times New Roman" pitchFamily="18" charset="0"/>
              </a:rPr>
              <a:t>van?</a:t>
            </a:r>
            <a:endParaRPr lang="vi-VN"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Dầu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Cacbon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Rỉ </a:t>
            </a:r>
            <a:r>
              <a:rPr lang="vi-VN" altLang="ko-KR" sz="950" smtClean="0">
                <a:latin typeface="Times New Roman" pitchFamily="18" charset="0"/>
                <a:ea typeface="LG Smart_H Regular" panose="020B0600000101010101" pitchFamily="34" charset="-127"/>
                <a:cs typeface="Times New Roman" pitchFamily="18" charset="0"/>
              </a:rPr>
              <a:t>sắt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Nước</a:t>
            </a:r>
          </a:p>
        </p:txBody>
      </p:sp>
      <p:sp>
        <p:nvSpPr>
          <p:cNvPr id="30" name="Rectangle 7"/>
          <p:cNvSpPr>
            <a:spLocks noChangeArrowheads="1"/>
          </p:cNvSpPr>
          <p:nvPr/>
        </p:nvSpPr>
        <p:spPr bwMode="auto">
          <a:xfrm>
            <a:off x="259544" y="5889104"/>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Máy sấy  nào dùng nhiều trong việc vận chuyển vật liệu dụng cụ, công cụ khí nén, đường khí nén thông thường. Phạm vi nhiệt độ hóa sương(0.5℃</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ngưng tụ.</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Máy sấy kiểu hấp </a:t>
            </a:r>
            <a:r>
              <a:rPr lang="en-US" altLang="ko-KR" sz="950" smtClean="0">
                <a:latin typeface="Times New Roman" pitchFamily="18" charset="0"/>
                <a:ea typeface="LG Smart_H Regular" panose="020B0600000101010101" pitchFamily="34" charset="-127"/>
                <a:cs typeface="Times New Roman" pitchFamily="18" charset="0"/>
              </a:rPr>
              <a:t>thụ</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Máy sấy kiểu đông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lạnh</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sấy kiểu không làm nóng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0" name="Rectangle 7"/>
          <p:cNvSpPr>
            <a:spLocks noChangeArrowheads="1"/>
          </p:cNvSpPr>
          <p:nvPr/>
        </p:nvSpPr>
        <p:spPr bwMode="auto">
          <a:xfrm>
            <a:off x="3468850" y="2864768"/>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a:latin typeface="Times New Roman" pitchFamily="18" charset="0"/>
                <a:ea typeface="LG Smart_H Regular" panose="020B0600000101010101" pitchFamily="34" charset="-127"/>
                <a:cs typeface="Times New Roman" pitchFamily="18" charset="0"/>
              </a:rPr>
              <a:t>Vì  xi lanh được cung cấp khí nén từ 2 piston nên cần piston có thể sinh ra lực gấp hai lần xi lanh tác động 2 chiều mà đường kính như nhau. Sử dụng áp suất thấp, công  suất nhỏ nên xi lanh được dùng ở nơi cần lực lớn và có giới hạn đường kính xi </a:t>
            </a:r>
            <a:r>
              <a:rPr lang="vi-VN" altLang="ko-KR" sz="950" smtClean="0">
                <a:latin typeface="Times New Roman" pitchFamily="18" charset="0"/>
                <a:ea typeface="LG Smart_H Regular" panose="020B0600000101010101" pitchFamily="34" charset="-127"/>
                <a:cs typeface="Times New Roman" pitchFamily="18" charset="0"/>
              </a:rPr>
              <a:t>lanh?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Xilanh đa vị </a:t>
            </a:r>
            <a:r>
              <a:rPr lang="vi-VN" altLang="ko-KR" sz="950" smtClean="0">
                <a:latin typeface="Times New Roman" pitchFamily="18" charset="0"/>
                <a:ea typeface="LG Smart_H Regular" panose="020B0600000101010101" pitchFamily="34" charset="-127"/>
                <a:cs typeface="Times New Roman" pitchFamily="18" charset="0"/>
              </a:rPr>
              <a:t>trí</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Xilanh không </a:t>
            </a:r>
            <a:r>
              <a:rPr lang="en-US" altLang="ko-KR" sz="950" smtClean="0">
                <a:latin typeface="Times New Roman" pitchFamily="18" charset="0"/>
                <a:ea typeface="LG Smart_H Regular" panose="020B0600000101010101" pitchFamily="34" charset="-127"/>
                <a:cs typeface="Times New Roman" pitchFamily="18" charset="0"/>
              </a:rPr>
              <a:t>cần</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Xilanh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tandem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Xilanh hai cần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1" name="Rectangle 7"/>
          <p:cNvSpPr>
            <a:spLocks noChangeArrowheads="1"/>
          </p:cNvSpPr>
          <p:nvPr/>
        </p:nvSpPr>
        <p:spPr bwMode="auto">
          <a:xfrm>
            <a:off x="3449538" y="4304928"/>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Van nào dưới đây không thuộc van điều khiển lưu </a:t>
            </a:r>
            <a:r>
              <a:rPr lang="vi-VN" altLang="ko-KR" sz="950" smtClean="0">
                <a:latin typeface="Times New Roman" pitchFamily="18" charset="0"/>
                <a:ea typeface="LG Smart_H Regular" panose="020B0600000101010101" pitchFamily="34" charset="-127"/>
                <a:cs typeface="Times New Roman" pitchFamily="18" charset="0"/>
              </a:rPr>
              <a:t>lượng?</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tiết </a:t>
            </a:r>
            <a:r>
              <a:rPr lang="vi-VN" altLang="ko-KR" sz="950" smtClean="0">
                <a:latin typeface="Times New Roman" pitchFamily="18" charset="0"/>
                <a:ea typeface="LG Smart_H Regular" panose="020B0600000101010101" pitchFamily="34" charset="-127"/>
                <a:cs typeface="Times New Roman" pitchFamily="18" charset="0"/>
              </a:rPr>
              <a:t>lưu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Công tắc áp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suất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điều khiển tốc </a:t>
            </a:r>
            <a:r>
              <a:rPr lang="vi-VN" altLang="ko-KR" sz="950" smtClean="0">
                <a:latin typeface="Times New Roman" pitchFamily="18" charset="0"/>
                <a:ea typeface="LG Smart_H Regular" panose="020B0600000101010101" pitchFamily="34" charset="-127"/>
                <a:cs typeface="Times New Roman" pitchFamily="18" charset="0"/>
              </a:rPr>
              <a:t>độ</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Van xả cấp tốc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8" name="Rectangle 7"/>
          <p:cNvSpPr>
            <a:spLocks noChangeArrowheads="1"/>
          </p:cNvSpPr>
          <p:nvPr/>
        </p:nvSpPr>
        <p:spPr bwMode="auto">
          <a:xfrm>
            <a:off x="218009" y="470220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43. </a:t>
            </a:r>
            <a:r>
              <a:rPr lang="vi-VN" altLang="ko-KR" sz="950">
                <a:latin typeface="Times New Roman" pitchFamily="18" charset="0"/>
                <a:ea typeface="LG Smart_H Regular" panose="020B0600000101010101" pitchFamily="34" charset="-127"/>
                <a:cs typeface="Times New Roman" pitchFamily="18" charset="0"/>
              </a:rPr>
              <a:t>Đâu không phải là ưu điểm của ống </a:t>
            </a:r>
            <a:r>
              <a:rPr lang="vi-VN" altLang="ko-KR" sz="950" smtClean="0">
                <a:latin typeface="Times New Roman" pitchFamily="18" charset="0"/>
                <a:ea typeface="LG Smart_H Regular" panose="020B0600000101010101" pitchFamily="34" charset="-127"/>
                <a:cs typeface="Times New Roman" pitchFamily="18" charset="0"/>
              </a:rPr>
              <a:t>Plastic?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MNK tuabin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MNK cánh </a:t>
            </a:r>
            <a:r>
              <a:rPr lang="en-US" altLang="ko-KR" sz="950" smtClean="0">
                <a:latin typeface="Times New Roman" pitchFamily="18" charset="0"/>
                <a:ea typeface="LG Smart_H Regular" panose="020B0600000101010101" pitchFamily="34" charset="-127"/>
                <a:cs typeface="Times New Roman" pitchFamily="18" charset="0"/>
              </a:rPr>
              <a:t>gạt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MNK Root </a:t>
            </a:r>
            <a:r>
              <a:rPr lang="vi-VN" altLang="ko-KR" sz="950" smtClean="0">
                <a:latin typeface="Times New Roman" pitchFamily="18" charset="0"/>
                <a:ea typeface="LG Smart_H Regular" panose="020B0600000101010101" pitchFamily="34" charset="-127"/>
                <a:cs typeface="Times New Roman" pitchFamily="18" charset="0"/>
              </a:rPr>
              <a:t>blower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MNK Trục vít</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48498" y="7473280"/>
            <a:ext cx="3180502" cy="1881612"/>
            <a:chOff x="248498" y="7617296"/>
            <a:chExt cx="3180502" cy="1881612"/>
          </a:xfrm>
        </p:grpSpPr>
        <p:sp>
          <p:nvSpPr>
            <p:cNvPr id="32" name="Rectangle 7"/>
            <p:cNvSpPr>
              <a:spLocks noChangeArrowheads="1"/>
            </p:cNvSpPr>
            <p:nvPr/>
          </p:nvSpPr>
          <p:spPr bwMode="auto">
            <a:xfrm>
              <a:off x="248498" y="7617296"/>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Đâu là giải thích đúng về định luật </a:t>
              </a:r>
              <a:r>
                <a:rPr lang="vi-VN" altLang="ko-KR" sz="950" smtClean="0">
                  <a:latin typeface="Times New Roman" pitchFamily="18" charset="0"/>
                  <a:ea typeface="LG Smart_H Regular" panose="020B0600000101010101" pitchFamily="34" charset="-127"/>
                  <a:cs typeface="Times New Roman" pitchFamily="18" charset="0"/>
                </a:rPr>
                <a:t>Boyle?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B. </a:t>
              </a: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D. </a:t>
              </a:r>
            </a:p>
          </p:txBody>
        </p:sp>
        <p:pic>
          <p:nvPicPr>
            <p:cNvPr id="31" name="Picture 30"/>
            <p:cNvPicPr>
              <a:picLocks noChangeAspect="1"/>
            </p:cNvPicPr>
            <p:nvPr/>
          </p:nvPicPr>
          <p:blipFill>
            <a:blip r:embed="rId3"/>
            <a:stretch>
              <a:fillRect/>
            </a:stretch>
          </p:blipFill>
          <p:spPr>
            <a:xfrm>
              <a:off x="562629" y="7812334"/>
              <a:ext cx="1138180" cy="761510"/>
            </a:xfrm>
            <a:prstGeom prst="rect">
              <a:avLst/>
            </a:prstGeom>
          </p:spPr>
        </p:pic>
        <p:pic>
          <p:nvPicPr>
            <p:cNvPr id="34" name="Picture 3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1477" y="7812334"/>
              <a:ext cx="1091499" cy="741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 name="Picture 3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9160" y="8769424"/>
              <a:ext cx="1071648" cy="729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 name="Picture 40"/>
            <p:cNvPicPr>
              <a:picLocks noChangeAspect="1"/>
            </p:cNvPicPr>
            <p:nvPr/>
          </p:nvPicPr>
          <p:blipFill>
            <a:blip r:embed="rId6"/>
            <a:stretch>
              <a:fillRect/>
            </a:stretch>
          </p:blipFill>
          <p:spPr>
            <a:xfrm>
              <a:off x="2204864" y="8805953"/>
              <a:ext cx="1116504" cy="657666"/>
            </a:xfrm>
            <a:prstGeom prst="rect">
              <a:avLst/>
            </a:prstGeom>
          </p:spPr>
        </p:pic>
      </p:grpSp>
      <p:grpSp>
        <p:nvGrpSpPr>
          <p:cNvPr id="5" name="Group 4"/>
          <p:cNvGrpSpPr/>
          <p:nvPr/>
        </p:nvGrpSpPr>
        <p:grpSpPr>
          <a:xfrm>
            <a:off x="3473132" y="920552"/>
            <a:ext cx="3180502" cy="1846659"/>
            <a:chOff x="3473132" y="1136576"/>
            <a:chExt cx="3180502" cy="1846659"/>
          </a:xfrm>
        </p:grpSpPr>
        <p:sp>
          <p:nvSpPr>
            <p:cNvPr id="46" name="Rectangle 7"/>
            <p:cNvSpPr>
              <a:spLocks noChangeArrowheads="1"/>
            </p:cNvSpPr>
            <p:nvPr/>
          </p:nvSpPr>
          <p:spPr bwMode="auto">
            <a:xfrm>
              <a:off x="3473132" y="1136576"/>
              <a:ext cx="3180502" cy="1846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Kí hiệu hình dưới đây của bộ lọc tương ứng với phương thức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Phương </a:t>
              </a:r>
              <a:r>
                <a:rPr lang="vi-VN" altLang="ko-KR" sz="950">
                  <a:solidFill>
                    <a:srgbClr val="FF0000"/>
                  </a:solidFill>
                  <a:latin typeface="Times New Roman" pitchFamily="18" charset="0"/>
                  <a:ea typeface="LG Smart_H Regular" panose="020B0600000101010101" pitchFamily="34" charset="-127"/>
                  <a:cs typeface="Times New Roman" pitchFamily="18" charset="0"/>
                </a:rPr>
                <a:t>thức lọc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trong+ngoài</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cơ </a:t>
              </a:r>
              <a:r>
                <a:rPr lang="vi-VN" altLang="ko-KR" sz="950" smtClean="0">
                  <a:latin typeface="Times New Roman" pitchFamily="18" charset="0"/>
                  <a:ea typeface="LG Smart_H Regular" panose="020B0600000101010101" pitchFamily="34" charset="-127"/>
                  <a:cs typeface="Times New Roman" pitchFamily="18" charset="0"/>
                </a:rPr>
                <a:t>bản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ngoài</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2" name="Picture 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83038" y="1496616"/>
              <a:ext cx="1417866" cy="707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 name="Group 5"/>
          <p:cNvGrpSpPr/>
          <p:nvPr/>
        </p:nvGrpSpPr>
        <p:grpSpPr>
          <a:xfrm>
            <a:off x="3473132" y="5313040"/>
            <a:ext cx="3180502" cy="2285241"/>
            <a:chOff x="3473132" y="5817096"/>
            <a:chExt cx="3180502" cy="2285241"/>
          </a:xfrm>
        </p:grpSpPr>
        <p:sp>
          <p:nvSpPr>
            <p:cNvPr id="52" name="Rectangle 7"/>
            <p:cNvSpPr>
              <a:spLocks noChangeArrowheads="1"/>
            </p:cNvSpPr>
            <p:nvPr/>
          </p:nvSpPr>
          <p:spPr bwMode="auto">
            <a:xfrm>
              <a:off x="3473132" y="5817096"/>
              <a:ext cx="3180502" cy="2285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Đâu không phải giải thích về meter </a:t>
              </a:r>
              <a:r>
                <a:rPr lang="vi-VN" altLang="ko-KR" sz="950" smtClean="0">
                  <a:latin typeface="Times New Roman" pitchFamily="18" charset="0"/>
                  <a:ea typeface="LG Smart_H Regular" panose="020B0600000101010101" pitchFamily="34" charset="-127"/>
                  <a:cs typeface="Times New Roman" pitchFamily="18" charset="0"/>
                </a:rPr>
                <a:t>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Phải mất thời gian cho đến khi áp suất của phía ①  tăng vì tiết lưu khí được cung cấp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Khí của ② được tiết lưu ở cửa ra rồi xả ra ngoài nên bị giới hạn tốc độ xả</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Áp suất giữa ① và  ② không cân bằng -&gt; di chuyển không ổn </a:t>
              </a:r>
              <a:r>
                <a:rPr lang="vi-VN" altLang="ko-KR" sz="950" smtClean="0">
                  <a:latin typeface="Times New Roman" pitchFamily="18" charset="0"/>
                  <a:ea typeface="LG Smart_H Regular" panose="020B0600000101010101" pitchFamily="34" charset="-127"/>
                  <a:cs typeface="Times New Roman" pitchFamily="18" charset="0"/>
                </a:rPr>
                <a:t>đinh</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Do trạng thái dòng chảy tự do nên áp suất của phía ② giảm xuống trạng thái áp suất khí quyển.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3" name="Picture 42"/>
            <p:cNvPicPr>
              <a:picLocks noChangeAspect="1"/>
            </p:cNvPicPr>
            <p:nvPr/>
          </p:nvPicPr>
          <p:blipFill>
            <a:blip r:embed="rId8"/>
            <a:stretch>
              <a:fillRect/>
            </a:stretch>
          </p:blipFill>
          <p:spPr>
            <a:xfrm>
              <a:off x="4227684" y="6105128"/>
              <a:ext cx="1073524" cy="625605"/>
            </a:xfrm>
            <a:prstGeom prst="rect">
              <a:avLst/>
            </a:prstGeom>
          </p:spPr>
        </p:pic>
      </p:grpSp>
      <p:grpSp>
        <p:nvGrpSpPr>
          <p:cNvPr id="7" name="Group 6"/>
          <p:cNvGrpSpPr/>
          <p:nvPr/>
        </p:nvGrpSpPr>
        <p:grpSpPr>
          <a:xfrm>
            <a:off x="3457922" y="7545288"/>
            <a:ext cx="3180502" cy="2139047"/>
            <a:chOff x="3457922" y="7545288"/>
            <a:chExt cx="3180502" cy="2139047"/>
          </a:xfrm>
        </p:grpSpPr>
        <p:sp>
          <p:nvSpPr>
            <p:cNvPr id="53" name="Rectangle 7"/>
            <p:cNvSpPr>
              <a:spLocks noChangeArrowheads="1"/>
            </p:cNvSpPr>
            <p:nvPr/>
          </p:nvSpPr>
          <p:spPr bwMode="auto">
            <a:xfrm>
              <a:off x="3457922" y="7545288"/>
              <a:ext cx="3180502"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Nhìn về cấu tạo của Relay hãy điền vào ô </a:t>
              </a:r>
              <a:r>
                <a:rPr lang="vi-VN" altLang="ko-KR" sz="950" smtClean="0">
                  <a:latin typeface="Times New Roman" pitchFamily="18" charset="0"/>
                  <a:ea typeface="LG Smart_H Regular" panose="020B0600000101010101" pitchFamily="34" charset="-127"/>
                  <a:cs typeface="Times New Roman" pitchFamily="18" charset="0"/>
                </a:rPr>
                <a:t>trống?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Tiếp </a:t>
              </a:r>
              <a:r>
                <a:rPr lang="vi-VN" altLang="ko-KR" sz="950">
                  <a:latin typeface="Times New Roman" pitchFamily="18" charset="0"/>
                  <a:ea typeface="LG Smart_H Regular" panose="020B0600000101010101" pitchFamily="34" charset="-127"/>
                  <a:cs typeface="Times New Roman" pitchFamily="18" charset="0"/>
                </a:rPr>
                <a:t>điểm di chuyển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Nam châm</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Tấm cách điện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Tấm sắt di chuyển.</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pic>
          <p:nvPicPr>
            <p:cNvPr id="47" name="그림 2"/>
            <p:cNvPicPr>
              <a:picLocks noChangeAspect="1"/>
            </p:cNvPicPr>
            <p:nvPr/>
          </p:nvPicPr>
          <p:blipFill>
            <a:blip r:embed="rId9"/>
            <a:stretch>
              <a:fillRect/>
            </a:stretch>
          </p:blipFill>
          <p:spPr>
            <a:xfrm>
              <a:off x="4343151" y="7833320"/>
              <a:ext cx="1916114" cy="1139111"/>
            </a:xfrm>
            <a:prstGeom prst="rect">
              <a:avLst/>
            </a:prstGeom>
          </p:spPr>
        </p:pic>
      </p:grpSp>
    </p:spTree>
    <p:extLst>
      <p:ext uri="{BB962C8B-B14F-4D97-AF65-F5344CB8AC3E}">
        <p14:creationId xmlns:p14="http://schemas.microsoft.com/office/powerpoint/2010/main" val="139592918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a:latin typeface="Times New Roman" pitchFamily="18" charset="0"/>
                <a:cs typeface="Times New Roman" pitchFamily="18" charset="0"/>
              </a:rPr>
              <a:t>Khí nén</a:t>
            </a:r>
            <a:r>
              <a:rPr lang="en-US" altLang="ko-KR">
                <a:latin typeface="Times New Roman" pitchFamily="18" charset="0"/>
                <a:cs typeface="Times New Roman" pitchFamily="18" charset="0"/>
              </a:rPr>
              <a:t>] </a:t>
            </a:r>
            <a:endParaRPr lang="en-US" altLang="ko-KR" dirty="0">
              <a:latin typeface="Times New Roman" pitchFamily="18" charset="0"/>
              <a:cs typeface="Times New Roman" pitchFamily="18" charset="0"/>
            </a:endParaRPr>
          </a:p>
        </p:txBody>
      </p:sp>
      <p:sp>
        <p:nvSpPr>
          <p:cNvPr id="8196" name="Rectangle 17"/>
          <p:cNvSpPr>
            <a:spLocks noChangeArrowheads="1"/>
          </p:cNvSpPr>
          <p:nvPr/>
        </p:nvSpPr>
        <p:spPr bwMode="auto">
          <a:xfrm>
            <a:off x="214040"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8197" name="Rectangle 18"/>
          <p:cNvSpPr>
            <a:spLocks noChangeArrowheads="1"/>
          </p:cNvSpPr>
          <p:nvPr/>
        </p:nvSpPr>
        <p:spPr bwMode="auto">
          <a:xfrm>
            <a:off x="3404108" y="776288"/>
            <a:ext cx="329311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grpSp>
        <p:nvGrpSpPr>
          <p:cNvPr id="22" name="Group 21"/>
          <p:cNvGrpSpPr/>
          <p:nvPr/>
        </p:nvGrpSpPr>
        <p:grpSpPr>
          <a:xfrm>
            <a:off x="188640" y="1064568"/>
            <a:ext cx="3312368" cy="1261884"/>
            <a:chOff x="3284984" y="6588126"/>
            <a:chExt cx="3312368" cy="1261884"/>
          </a:xfrm>
        </p:grpSpPr>
        <p:sp>
          <p:nvSpPr>
            <p:cNvPr id="23" name="Rectangle 7"/>
            <p:cNvSpPr>
              <a:spLocks noChangeArrowheads="1"/>
            </p:cNvSpPr>
            <p:nvPr/>
          </p:nvSpPr>
          <p:spPr bwMode="auto">
            <a:xfrm>
              <a:off x="3284984" y="6588126"/>
              <a:ext cx="3312368"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1</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sai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hiệu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solidFill>
                    <a:srgbClr val="FF0000"/>
                  </a:solidFill>
                  <a:latin typeface="Times New Roman" pitchFamily="18" charset="0"/>
                  <a:ea typeface="돋움" pitchFamily="50" charset="-127"/>
                  <a:cs typeface="Times New Roman" pitchFamily="18" charset="0"/>
                </a:rPr>
                <a:t>B. </a:t>
              </a:r>
              <a:r>
                <a:rPr lang="en-US" altLang="ko-KR" sz="950" dirty="0" err="1" smtClean="0">
                  <a:solidFill>
                    <a:srgbClr val="FF0000"/>
                  </a:solidFill>
                  <a:latin typeface="Times New Roman" pitchFamily="18" charset="0"/>
                  <a:ea typeface="돋움" pitchFamily="50" charset="-127"/>
                  <a:cs typeface="Times New Roman" pitchFamily="18" charset="0"/>
                </a:rPr>
                <a:t>Mức</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độ</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tiêu</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thụ</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không</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khí</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lớn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 </a:t>
              </a:r>
              <a:r>
                <a:rPr lang="en-US" altLang="ko-KR" sz="950" dirty="0" err="1" smtClean="0">
                  <a:latin typeface="Times New Roman" pitchFamily="18" charset="0"/>
                  <a:ea typeface="돋움" pitchFamily="50" charset="-127"/>
                  <a:cs typeface="Times New Roman" pitchFamily="18" charset="0"/>
                </a:rPr>
                <a:t>Quãng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khoảng</a:t>
              </a:r>
              <a:r>
                <a:rPr lang="en-US" altLang="ko-KR" sz="950" dirty="0" smtClean="0">
                  <a:latin typeface="Times New Roman" pitchFamily="18" charset="0"/>
                  <a:ea typeface="돋움" pitchFamily="50" charset="-127"/>
                  <a:cs typeface="Times New Roman" pitchFamily="18" charset="0"/>
                </a:rPr>
                <a:t> 100㎜.</a:t>
              </a:r>
              <a:endParaRPr lang="en-US" altLang="ko-KR" sz="950" dirty="0">
                <a:latin typeface="Times New Roman" pitchFamily="18" charset="0"/>
                <a:ea typeface="돋움" pitchFamily="50" charset="-127"/>
                <a:cs typeface="Times New Roman" pitchFamily="18" charset="0"/>
              </a:endParaRPr>
            </a:p>
            <a:p>
              <a:pPr marL="114300" indent="-114300" eaLnBrk="1" hangingPunct="1"/>
              <a:r>
                <a:rPr lang="en-US" altLang="ko-KR" sz="950" smtClean="0">
                  <a:latin typeface="Times New Roman" pitchFamily="18" charset="0"/>
                  <a:ea typeface="돋움" pitchFamily="50" charset="-127"/>
                  <a:cs typeface="Times New Roman" pitchFamily="18" charset="0"/>
                </a:rPr>
                <a:t>D. </a:t>
              </a:r>
              <a:r>
                <a:rPr lang="en-US" altLang="ko-KR" sz="950" dirty="0" err="1" smtClean="0">
                  <a:latin typeface="Times New Roman" pitchFamily="18" charset="0"/>
                  <a:ea typeface="돋움" pitchFamily="50" charset="-127"/>
                  <a:cs typeface="Times New Roman" pitchFamily="18" charset="0"/>
                </a:rPr>
                <a:t>Chủ</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yếu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kẹp</a:t>
              </a:r>
              <a:r>
                <a:rPr lang="en-US" altLang="ko-KR" sz="950" dirty="0" smtClean="0">
                  <a:latin typeface="Times New Roman" pitchFamily="18" charset="0"/>
                  <a:ea typeface="돋움" pitchFamily="50" charset="-127"/>
                  <a:cs typeface="Times New Roman" pitchFamily="18" charset="0"/>
                </a:rPr>
                <a:t> (clamping), </a:t>
              </a:r>
              <a:r>
                <a:rPr lang="en-US" altLang="ko-KR" sz="950" dirty="0" err="1" smtClean="0">
                  <a:latin typeface="Times New Roman" pitchFamily="18" charset="0"/>
                  <a:ea typeface="돋움" pitchFamily="50" charset="-127"/>
                  <a:cs typeface="Times New Roman" pitchFamily="18" charset="0"/>
                </a:rPr>
                <a:t>nhấn</a:t>
              </a:r>
              <a:r>
                <a:rPr lang="en-US" altLang="ko-KR" sz="950" dirty="0" smtClean="0">
                  <a:latin typeface="Times New Roman" pitchFamily="18" charset="0"/>
                  <a:ea typeface="돋움" pitchFamily="50" charset="-127"/>
                  <a:cs typeface="Times New Roman" pitchFamily="18" charset="0"/>
                </a:rPr>
                <a:t> (pressing), di </a:t>
              </a:r>
              <a:r>
                <a:rPr lang="en-US" altLang="ko-KR" sz="950" dirty="0" err="1" smtClean="0">
                  <a:latin typeface="Times New Roman" pitchFamily="18" charset="0"/>
                  <a:ea typeface="돋움" pitchFamily="50" charset="-127"/>
                  <a:cs typeface="Times New Roman" pitchFamily="18" charset="0"/>
                </a:rPr>
                <a:t>chuyển</a:t>
              </a:r>
              <a:r>
                <a:rPr lang="en-US" altLang="ko-KR" sz="950" dirty="0" smtClean="0">
                  <a:latin typeface="Times New Roman" pitchFamily="18" charset="0"/>
                  <a:ea typeface="돋움" pitchFamily="50" charset="-127"/>
                  <a:cs typeface="Times New Roman" pitchFamily="18" charset="0"/>
                </a:rPr>
                <a:t>.</a:t>
              </a:r>
              <a:endParaRPr lang="ko-KR" altLang="en-US" sz="950" dirty="0">
                <a:latin typeface="Times New Roman" pitchFamily="18" charset="0"/>
                <a:ea typeface="돋움" pitchFamily="50" charset="-127"/>
                <a:cs typeface="Times New Roman" pitchFamily="18" charset="0"/>
              </a:endParaRPr>
            </a:p>
          </p:txBody>
        </p:sp>
        <p:pic>
          <p:nvPicPr>
            <p:cNvPr id="24"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5139" y="6855767"/>
              <a:ext cx="842962" cy="452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grpSp>
      <p:sp>
        <p:nvSpPr>
          <p:cNvPr id="25" name="Rectangle 13"/>
          <p:cNvSpPr>
            <a:spLocks noChangeArrowheads="1"/>
          </p:cNvSpPr>
          <p:nvPr/>
        </p:nvSpPr>
        <p:spPr bwMode="auto">
          <a:xfrm>
            <a:off x="235248" y="2685182"/>
            <a:ext cx="31242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2</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linh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kiện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nào</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dirty="0">
                <a:solidFill>
                  <a:srgbClr val="FF0000"/>
                </a:solidFill>
                <a:latin typeface="Times New Roman" pitchFamily="18" charset="0"/>
                <a:ea typeface="돋움" pitchFamily="50" charset="-127"/>
                <a:cs typeface="Times New Roman" pitchFamily="18" charset="0"/>
              </a:rPr>
              <a:t>Piston </a:t>
            </a:r>
            <a:r>
              <a:rPr lang="en-US" altLang="ko-KR" sz="950">
                <a:solidFill>
                  <a:srgbClr val="FF0000"/>
                </a:solidFill>
                <a:latin typeface="Times New Roman" pitchFamily="18" charset="0"/>
                <a:ea typeface="돋움" pitchFamily="50" charset="-127"/>
                <a:cs typeface="Times New Roman" pitchFamily="18" charset="0"/>
              </a:rPr>
              <a:t>Rod    </a:t>
            </a: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Piston     </a:t>
            </a:r>
            <a:r>
              <a:rPr lang="en-US" altLang="ko-KR" sz="950" smtClean="0">
                <a:latin typeface="Times New Roman" pitchFamily="18" charset="0"/>
                <a:ea typeface="돋움" pitchFamily="50" charset="-127"/>
                <a:cs typeface="Times New Roman" pitchFamily="18" charset="0"/>
              </a:rPr>
              <a:t>C. </a:t>
            </a:r>
            <a:r>
              <a:rPr lang="en-US" altLang="ko-KR" sz="950" dirty="0">
                <a:latin typeface="Times New Roman" pitchFamily="18" charset="0"/>
                <a:ea typeface="돋움" pitchFamily="50" charset="-127"/>
                <a:cs typeface="Times New Roman" pitchFamily="18" charset="0"/>
              </a:rPr>
              <a:t>Tie </a:t>
            </a:r>
            <a:r>
              <a:rPr lang="en-US" altLang="ko-KR" sz="950">
                <a:latin typeface="Times New Roman" pitchFamily="18" charset="0"/>
                <a:ea typeface="돋움" pitchFamily="50" charset="-127"/>
                <a:cs typeface="Times New Roman" pitchFamily="18" charset="0"/>
              </a:rPr>
              <a:t>Rod     </a:t>
            </a:r>
            <a:r>
              <a:rPr lang="en-US" altLang="ko-KR" sz="950" smtClean="0">
                <a:latin typeface="Times New Roman" pitchFamily="18" charset="0"/>
                <a:ea typeface="돋움" pitchFamily="50" charset="-127"/>
                <a:cs typeface="Times New Roman" pitchFamily="18" charset="0"/>
              </a:rPr>
              <a:t>D. </a:t>
            </a:r>
            <a:r>
              <a:rPr lang="en-US" altLang="ko-KR" sz="950" dirty="0" err="1">
                <a:latin typeface="Times New Roman" pitchFamily="18" charset="0"/>
                <a:ea typeface="돋움" pitchFamily="50" charset="-127"/>
                <a:cs typeface="Times New Roman" pitchFamily="18" charset="0"/>
              </a:rPr>
              <a:t>Clavis</a:t>
            </a:r>
            <a:endParaRPr lang="en-US" altLang="ko-KR" sz="950" dirty="0">
              <a:latin typeface="Times New Roman" pitchFamily="18" charset="0"/>
              <a:ea typeface="돋움" pitchFamily="50" charset="-127"/>
              <a:cs typeface="Times New Roman" pitchFamily="18" charset="0"/>
            </a:endParaRPr>
          </a:p>
        </p:txBody>
      </p:sp>
      <p:sp>
        <p:nvSpPr>
          <p:cNvPr id="26" name="Rectangle 14"/>
          <p:cNvSpPr>
            <a:spLocks noChangeArrowheads="1"/>
          </p:cNvSpPr>
          <p:nvPr/>
        </p:nvSpPr>
        <p:spPr bwMode="auto">
          <a:xfrm>
            <a:off x="404665" y="2925648"/>
            <a:ext cx="2934718" cy="479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sắt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chịu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sức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căng</a:t>
            </a:r>
            <a:r>
              <a:rPr lang="en-US" altLang="ko-KR" sz="950" dirty="0">
                <a:latin typeface="Times New Roman" pitchFamily="18" charset="0"/>
                <a:cs typeface="Times New Roman" pitchFamily="18" charset="0"/>
              </a:rPr>
              <a:t>.</a:t>
            </a:r>
            <a:endParaRPr lang="ko-KR" altLang="en-US" sz="950" dirty="0">
              <a:latin typeface="Times New Roman" pitchFamily="18" charset="0"/>
              <a:cs typeface="Times New Roman" pitchFamily="18" charset="0"/>
            </a:endParaRPr>
          </a:p>
          <a:p>
            <a:pPr eaLnBrk="1" hangingPunct="1"/>
            <a:r>
              <a:rPr lang="en-US" altLang="ko-KR" sz="950" dirty="0" err="1">
                <a:latin typeface="Times New Roman" pitchFamily="18" charset="0"/>
                <a:cs typeface="Times New Roman" pitchFamily="18" charset="0"/>
              </a:rPr>
              <a:t>t</a:t>
            </a:r>
            <a:r>
              <a:rPr lang="en-US" altLang="ko-KR" sz="950" dirty="0" err="1" smtClean="0">
                <a:latin typeface="Times New Roman" pitchFamily="18" charset="0"/>
                <a:cs typeface="Times New Roman" pitchFamily="18" charset="0"/>
              </a:rPr>
              <a:t>rên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phủ</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Crom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cứng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chịu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chạm</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ngoài</a:t>
            </a:r>
            <a:r>
              <a:rPr lang="en-US" altLang="ko-KR" sz="950" dirty="0" smtClean="0">
                <a:latin typeface="Times New Roman" pitchFamily="18" charset="0"/>
                <a:cs typeface="Times New Roman" pitchFamily="18" charset="0"/>
              </a:rPr>
              <a:t>.</a:t>
            </a:r>
            <a:endParaRPr lang="ko-KR" altLang="en-US" sz="950" dirty="0">
              <a:latin typeface="Times New Roman" pitchFamily="18" charset="0"/>
              <a:cs typeface="Times New Roman" pitchFamily="18" charset="0"/>
            </a:endParaRPr>
          </a:p>
        </p:txBody>
      </p:sp>
      <p:sp>
        <p:nvSpPr>
          <p:cNvPr id="27" name="Rectangle 16"/>
          <p:cNvSpPr>
            <a:spLocks noChangeArrowheads="1"/>
          </p:cNvSpPr>
          <p:nvPr/>
        </p:nvSpPr>
        <p:spPr bwMode="auto">
          <a:xfrm>
            <a:off x="188640" y="4262824"/>
            <a:ext cx="3267918"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3</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đúng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ưu</a:t>
            </a:r>
            <a:r>
              <a:rPr lang="en-US" altLang="ko-KR" sz="950" dirty="0" smtClean="0">
                <a:latin typeface="Times New Roman" pitchFamily="18" charset="0"/>
                <a:ea typeface="돋움" pitchFamily="50" charset="-127"/>
                <a:cs typeface="Times New Roman" pitchFamily="18" charset="0"/>
              </a:rPr>
              <a:t>/</a:t>
            </a:r>
            <a:r>
              <a:rPr lang="en-US" altLang="ko-KR" sz="950" dirty="0" err="1" smtClean="0">
                <a:latin typeface="Times New Roman" pitchFamily="18" charset="0"/>
                <a:ea typeface="돋움" pitchFamily="50" charset="-127"/>
                <a:cs typeface="Times New Roman" pitchFamily="18" charset="0"/>
              </a:rPr>
              <a:t>nhược</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điểm</a:t>
            </a:r>
            <a:r>
              <a:rPr lang="en-US" altLang="ko-KR" sz="950" smtClean="0">
                <a:latin typeface="Times New Roman" pitchFamily="18" charset="0"/>
                <a:ea typeface="돋움" pitchFamily="50" charset="-127"/>
                <a:cs typeface="Times New Roman" pitchFamily="18" charset="0"/>
              </a:rPr>
              <a:t> của</a:t>
            </a:r>
            <a:r>
              <a:rPr lang="en-US" altLang="ko-KR" sz="950" dirty="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Cylinder</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marL="177800" indent="-177800" eaLnBrk="1" hangingPunct="1"/>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Lượng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tiêu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thụ</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đơn</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bằng</a:t>
            </a:r>
            <a:r>
              <a:rPr lang="en-US" altLang="ko-KR" sz="950" dirty="0" smtClean="0">
                <a:latin typeface="Times New Roman" pitchFamily="18" charset="0"/>
                <a:ea typeface="돋움" pitchFamily="50" charset="-127"/>
                <a:cs typeface="Times New Roman" pitchFamily="18" charset="0"/>
              </a:rPr>
              <a:t> ½  so </a:t>
            </a:r>
            <a:r>
              <a:rPr lang="en-US" altLang="ko-KR" sz="950" dirty="0" err="1" smtClean="0">
                <a:latin typeface="Times New Roman" pitchFamily="18" charset="0"/>
                <a:ea typeface="돋움" pitchFamily="50" charset="-127"/>
                <a:cs typeface="Times New Roman" pitchFamily="18" charset="0"/>
              </a:rPr>
              <a:t>với</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đôi</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B. </a:t>
            </a:r>
            <a:r>
              <a:rPr lang="en-US" altLang="ko-KR" sz="950" dirty="0" smtClean="0">
                <a:latin typeface="Times New Roman" pitchFamily="18" charset="0"/>
                <a:ea typeface="돋움" pitchFamily="50" charset="-127"/>
                <a:cs typeface="Times New Roman" pitchFamily="18" charset="0"/>
              </a:rPr>
              <a:t>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đôi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ít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bị</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giảm</a:t>
            </a:r>
            <a:r>
              <a:rPr lang="en-US" altLang="ko-KR" sz="950" dirty="0" smtClean="0">
                <a:latin typeface="Times New Roman" pitchFamily="18" charset="0"/>
                <a:ea typeface="돋움" pitchFamily="50" charset="-127"/>
                <a:cs typeface="Times New Roman" pitchFamily="18" charset="0"/>
              </a:rPr>
              <a:t> output.</a:t>
            </a:r>
            <a:endParaRPr lang="en-US" altLang="ko-KR" sz="950" dirty="0">
              <a:latin typeface="Times New Roman" pitchFamily="18" charset="0"/>
              <a:ea typeface="돋움" pitchFamily="50" charset="-127"/>
              <a:cs typeface="Times New Roman" pitchFamily="18" charset="0"/>
            </a:endParaRPr>
          </a:p>
          <a:p>
            <a:pPr marL="114300" indent="-114300" eaLnBrk="1" hangingPunct="1"/>
            <a:r>
              <a:rPr lang="en-US" altLang="ko-KR" sz="950" smtClean="0">
                <a:solidFill>
                  <a:srgbClr val="FF0000"/>
                </a:solidFill>
                <a:latin typeface="Times New Roman" pitchFamily="18" charset="0"/>
                <a:ea typeface="돋움" pitchFamily="50" charset="-127"/>
                <a:cs typeface="Times New Roman" pitchFamily="18" charset="0"/>
              </a:rPr>
              <a:t>C. </a:t>
            </a:r>
            <a:r>
              <a:rPr lang="en-US" altLang="ko-KR" sz="950" dirty="0" smtClean="0">
                <a:solidFill>
                  <a:srgbClr val="FF0000"/>
                </a:solidFill>
                <a:latin typeface="Times New Roman" pitchFamily="18" charset="0"/>
                <a:ea typeface="돋움" pitchFamily="50" charset="-127"/>
                <a:cs typeface="Times New Roman" pitchFamily="18" charset="0"/>
              </a:rPr>
              <a:t>Cylinder </a:t>
            </a:r>
            <a:r>
              <a:rPr lang="en-US" altLang="ko-KR" sz="950" dirty="0" err="1" smtClean="0">
                <a:solidFill>
                  <a:srgbClr val="FF0000"/>
                </a:solidFill>
                <a:latin typeface="Times New Roman" pitchFamily="18" charset="0"/>
                <a:ea typeface="돋움" pitchFamily="50" charset="-127"/>
                <a:cs typeface="Times New Roman" pitchFamily="18" charset="0"/>
              </a:rPr>
              <a:t>cần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đơn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có</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tổng</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chiều</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dài</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ngắn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hơn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so </a:t>
            </a:r>
            <a:r>
              <a:rPr lang="en-US" altLang="ko-KR" sz="95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Cylinder </a:t>
            </a:r>
            <a:r>
              <a:rPr lang="en-US" altLang="ko-KR" sz="950" dirty="0" err="1" smtClean="0">
                <a:solidFill>
                  <a:srgbClr val="FF0000"/>
                </a:solidFill>
                <a:latin typeface="Times New Roman" pitchFamily="18" charset="0"/>
                <a:ea typeface="돋움" pitchFamily="50" charset="-127"/>
                <a:cs typeface="Times New Roman" pitchFamily="18" charset="0"/>
              </a:rPr>
              <a:t>cần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đơn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có</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cùng</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quãng</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đường</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hành</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trình</a:t>
            </a:r>
            <a:r>
              <a:rPr lang="en-US" altLang="ko-KR" sz="950" dirty="0" smtClean="0">
                <a:solidFill>
                  <a:srgbClr val="FF0000"/>
                </a:solidFill>
                <a:latin typeface="Times New Roman" pitchFamily="18" charset="0"/>
                <a:ea typeface="돋움" pitchFamily="50" charset="-127"/>
                <a:cs typeface="Times New Roman" pitchFamily="18" charset="0"/>
              </a:rPr>
              <a:t>.</a:t>
            </a:r>
            <a:endParaRPr lang="en-US" altLang="ko-KR" sz="950" dirty="0">
              <a:solidFill>
                <a:srgbClr val="FF0000"/>
              </a:solidFill>
              <a:latin typeface="Times New Roman" pitchFamily="18" charset="0"/>
              <a:ea typeface="돋움" pitchFamily="50" charset="-127"/>
              <a:cs typeface="Times New Roman" pitchFamily="18" charset="0"/>
            </a:endParaRPr>
          </a:p>
          <a:p>
            <a:pPr marL="177800" indent="-177800" eaLnBrk="1" hangingPunct="1"/>
            <a:r>
              <a:rPr lang="en-US" altLang="ko-KR" sz="950" smtClean="0">
                <a:latin typeface="Times New Roman" pitchFamily="18" charset="0"/>
                <a:ea typeface="돋움" pitchFamily="50" charset="-127"/>
                <a:cs typeface="Times New Roman" pitchFamily="18" charset="0"/>
              </a:rPr>
              <a:t>D. </a:t>
            </a:r>
            <a:r>
              <a:rPr lang="en-US" altLang="ko-KR" sz="950" dirty="0" smtClean="0">
                <a:latin typeface="Times New Roman" pitchFamily="18" charset="0"/>
                <a:ea typeface="돋움" pitchFamily="50" charset="-127"/>
                <a:cs typeface="Times New Roman" pitchFamily="18" charset="0"/>
              </a:rPr>
              <a:t>Cylinder </a:t>
            </a:r>
            <a:r>
              <a:rPr lang="en-US" altLang="ko-KR" sz="950" dirty="0" err="1" smtClean="0">
                <a:latin typeface="Times New Roman" pitchFamily="18" charset="0"/>
                <a:ea typeface="돋움" pitchFamily="50" charset="-127"/>
                <a:cs typeface="Times New Roman" pitchFamily="18" charset="0"/>
              </a:rPr>
              <a:t>cần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đôi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kính</a:t>
            </a:r>
            <a:r>
              <a:rPr lang="en-US" altLang="ko-KR" sz="950" dirty="0" smtClean="0">
                <a:latin typeface="Times New Roman" pitchFamily="18" charset="0"/>
                <a:ea typeface="돋움" pitchFamily="50" charset="-127"/>
                <a:cs typeface="Times New Roman" pitchFamily="18" charset="0"/>
              </a:rPr>
              <a:t> tube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ø6~ø300 </a:t>
            </a:r>
            <a:r>
              <a:rPr lang="en-US" altLang="ko-KR" sz="950" dirty="0" err="1" smtClean="0">
                <a:latin typeface="Times New Roman" pitchFamily="18" charset="0"/>
                <a:ea typeface="돋움" pitchFamily="50" charset="-127"/>
                <a:cs typeface="Times New Roman" pitchFamily="18" charset="0"/>
              </a:rPr>
              <a:t>và</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đã</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tiêu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chuẩn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hóa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cả</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dài</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p:txBody>
      </p:sp>
      <p:sp>
        <p:nvSpPr>
          <p:cNvPr id="28" name="Rectangle 18"/>
          <p:cNvSpPr>
            <a:spLocks noChangeArrowheads="1"/>
          </p:cNvSpPr>
          <p:nvPr/>
        </p:nvSpPr>
        <p:spPr bwMode="auto">
          <a:xfrm>
            <a:off x="233090" y="6287760"/>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4</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giải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thích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sai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về</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a:t>
            </a:r>
            <a:r>
              <a:rPr lang="en-US" altLang="ko-KR" sz="950" dirty="0">
                <a:latin typeface="Times New Roman" pitchFamily="18" charset="0"/>
                <a:ea typeface="돋움" pitchFamily="50" charset="-127"/>
                <a:cs typeface="Times New Roman" pitchFamily="18" charset="0"/>
              </a:rPr>
              <a:t>?</a:t>
            </a:r>
          </a:p>
          <a:p>
            <a:pPr eaLnBrk="1" hangingPunct="1"/>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tăng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thì</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cũng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tăng</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solidFill>
                  <a:srgbClr val="FF0000"/>
                </a:solidFill>
                <a:latin typeface="Times New Roman" pitchFamily="18" charset="0"/>
                <a:ea typeface="돋움" pitchFamily="50" charset="-127"/>
                <a:cs typeface="Times New Roman" pitchFamily="18" charset="0"/>
              </a:rPr>
              <a:t>B. </a:t>
            </a:r>
            <a:r>
              <a:rPr lang="en-US" altLang="ko-KR" sz="950" dirty="0" err="1" smtClean="0">
                <a:solidFill>
                  <a:srgbClr val="FF0000"/>
                </a:solidFill>
                <a:latin typeface="Times New Roman" pitchFamily="18" charset="0"/>
                <a:ea typeface="돋움" pitchFamily="50" charset="-127"/>
                <a:cs typeface="Times New Roman" pitchFamily="18" charset="0"/>
              </a:rPr>
              <a:t>Lực</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lùi</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lớn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hơn</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lực</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tiến</a:t>
            </a:r>
            <a:r>
              <a:rPr lang="en-US" altLang="ko-KR" sz="950" dirty="0" smtClean="0">
                <a:solidFill>
                  <a:srgbClr val="FF0000"/>
                </a:solidFill>
                <a:latin typeface="Times New Roman" pitchFamily="18" charset="0"/>
                <a:ea typeface="돋움" pitchFamily="50" charset="-127"/>
                <a:cs typeface="Times New Roman" pitchFamily="18" charset="0"/>
              </a:rPr>
              <a:t>.</a:t>
            </a:r>
            <a:endParaRPr lang="en-US" altLang="ko-KR" sz="950" dirty="0">
              <a:solidFill>
                <a:srgbClr val="FF0000"/>
              </a:solidFill>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 </a:t>
            </a:r>
            <a:r>
              <a:rPr lang="en-US" altLang="ko-KR" sz="950" dirty="0" err="1" smtClean="0">
                <a:latin typeface="Times New Roman" pitchFamily="18" charset="0"/>
                <a:ea typeface="돋움" pitchFamily="50" charset="-127"/>
                <a:cs typeface="Times New Roman" pitchFamily="18" charset="0"/>
              </a:rPr>
              <a:t>Nếu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lực</a:t>
            </a:r>
            <a:r>
              <a:rPr lang="en-US" altLang="ko-KR" sz="950" dirty="0" smtClean="0">
                <a:latin typeface="Times New Roman" pitchFamily="18" charset="0"/>
                <a:ea typeface="돋움" pitchFamily="50" charset="-127"/>
                <a:cs typeface="Times New Roman" pitchFamily="18" charset="0"/>
              </a:rPr>
              <a:t> Air </a:t>
            </a:r>
            <a:r>
              <a:rPr lang="en-US" altLang="ko-KR" sz="950" dirty="0" err="1" smtClean="0">
                <a:latin typeface="Times New Roman" pitchFamily="18" charset="0"/>
                <a:ea typeface="돋움" pitchFamily="50" charset="-127"/>
                <a:cs typeface="Times New Roman" pitchFamily="18" charset="0"/>
              </a:rPr>
              <a:t>lớn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thì</a:t>
            </a:r>
            <a:r>
              <a:rPr lang="en-US" altLang="ko-KR" sz="950" dirty="0" smtClean="0">
                <a:latin typeface="Times New Roman" pitchFamily="18" charset="0"/>
                <a:ea typeface="돋움" pitchFamily="50" charset="-127"/>
                <a:cs typeface="Times New Roman" pitchFamily="18" charset="0"/>
              </a:rPr>
              <a:t> Output </a:t>
            </a:r>
            <a:r>
              <a:rPr lang="en-US" altLang="ko-KR" sz="950" dirty="0" err="1" smtClean="0">
                <a:latin typeface="Times New Roman" pitchFamily="18" charset="0"/>
                <a:ea typeface="돋움" pitchFamily="50" charset="-127"/>
                <a:cs typeface="Times New Roman" pitchFamily="18" charset="0"/>
              </a:rPr>
              <a:t>lớn</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marL="177800" indent="-177800" eaLnBrk="1" hangingPunct="1"/>
            <a:r>
              <a:rPr lang="en-US" altLang="ko-KR" sz="950" smtClean="0">
                <a:latin typeface="Times New Roman" pitchFamily="18" charset="0"/>
                <a:ea typeface="돋움" pitchFamily="50" charset="-127"/>
                <a:cs typeface="Times New Roman" pitchFamily="18" charset="0"/>
              </a:rPr>
              <a:t>D. </a:t>
            </a:r>
            <a:r>
              <a:rPr lang="en-US" altLang="ko-KR" sz="950" dirty="0" err="1" smtClean="0">
                <a:latin typeface="Times New Roman" pitchFamily="18" charset="0"/>
                <a:ea typeface="돋움" pitchFamily="50" charset="-127"/>
                <a:cs typeface="Times New Roman" pitchFamily="18" charset="0"/>
              </a:rPr>
              <a:t>Quãng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đường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hành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trình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của</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liên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quan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đến</a:t>
            </a:r>
            <a:r>
              <a:rPr lang="en-US" altLang="ko-KR" sz="950" dirty="0" smtClean="0">
                <a:latin typeface="Times New Roman" pitchFamily="18" charset="0"/>
                <a:ea typeface="돋움" pitchFamily="50" charset="-127"/>
                <a:cs typeface="Times New Roman" pitchFamily="18" charset="0"/>
              </a:rPr>
              <a:t> Output.</a:t>
            </a:r>
            <a:endParaRPr lang="en-US" altLang="ko-KR" sz="950" dirty="0">
              <a:latin typeface="Times New Roman" pitchFamily="18" charset="0"/>
              <a:ea typeface="돋움" pitchFamily="50" charset="-127"/>
              <a:cs typeface="Times New Roman" pitchFamily="18" charset="0"/>
            </a:endParaRPr>
          </a:p>
        </p:txBody>
      </p:sp>
      <p:sp>
        <p:nvSpPr>
          <p:cNvPr id="39" name="Rectangle 33"/>
          <p:cNvSpPr>
            <a:spLocks noChangeArrowheads="1"/>
          </p:cNvSpPr>
          <p:nvPr/>
        </p:nvSpPr>
        <p:spPr bwMode="auto">
          <a:xfrm>
            <a:off x="233090" y="7575192"/>
            <a:ext cx="312420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marL="177800" indent="-177800"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5</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chú</a:t>
            </a:r>
            <a:r>
              <a:rPr lang="en-US" altLang="ko-KR" sz="950" dirty="0" smtClean="0">
                <a:latin typeface="Times New Roman" pitchFamily="18" charset="0"/>
                <a:cs typeface="Times New Roman" pitchFamily="18" charset="0"/>
              </a:rPr>
              <a:t> ý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Cylinder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stroke </a:t>
            </a:r>
            <a:r>
              <a:rPr lang="en-US" altLang="ko-KR" sz="950" dirty="0" err="1" smtClean="0">
                <a:latin typeface="Times New Roman" pitchFamily="18" charset="0"/>
                <a:cs typeface="Times New Roman" pitchFamily="18" charset="0"/>
              </a:rPr>
              <a:t>tối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thể</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77800" indent="-177800" eaLnBrk="1" hangingPunct="1"/>
            <a:r>
              <a:rPr lang="en-US" altLang="ko-KR" sz="950" smtClean="0">
                <a:solidFill>
                  <a:srgbClr val="FF0000"/>
                </a:solidFill>
                <a:latin typeface="Times New Roman" pitchFamily="18" charset="0"/>
                <a:cs typeface="Times New Roman" pitchFamily="18" charset="0"/>
              </a:rPr>
              <a:t>B. </a:t>
            </a:r>
            <a:r>
              <a:rPr lang="en-US" altLang="ko-KR" sz="950" dirty="0" err="1" smtClean="0">
                <a:solidFill>
                  <a:srgbClr val="FF0000"/>
                </a:solidFill>
                <a:latin typeface="Times New Roman" pitchFamily="18" charset="0"/>
                <a:cs typeface="Times New Roman" pitchFamily="18" charset="0"/>
              </a:rPr>
              <a:t>Lắp</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đặt</a:t>
            </a:r>
            <a:r>
              <a:rPr lang="en-US" altLang="ko-KR" sz="950" dirty="0" smtClean="0">
                <a:solidFill>
                  <a:srgbClr val="FF0000"/>
                </a:solidFill>
                <a:latin typeface="Times New Roman" pitchFamily="18" charset="0"/>
                <a:cs typeface="Times New Roman" pitchFamily="18" charset="0"/>
              </a:rPr>
              <a:t> Speed controller </a:t>
            </a:r>
            <a:r>
              <a:rPr lang="en-US" altLang="ko-KR" sz="950" dirty="0" err="1" smtClean="0">
                <a:solidFill>
                  <a:srgbClr val="FF0000"/>
                </a:solidFill>
                <a:latin typeface="Times New Roman" pitchFamily="18" charset="0"/>
                <a:cs typeface="Times New Roman" pitchFamily="18" charset="0"/>
              </a:rPr>
              <a:t>để</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điều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chỉnh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tốc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độ</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hoạt</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động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của</a:t>
            </a:r>
            <a:r>
              <a:rPr lang="en-US" altLang="ko-KR" sz="950" dirty="0" smtClean="0">
                <a:solidFill>
                  <a:srgbClr val="FF0000"/>
                </a:solidFill>
                <a:latin typeface="Times New Roman" pitchFamily="18" charset="0"/>
                <a:cs typeface="Times New Roman" pitchFamily="18" charset="0"/>
              </a:rPr>
              <a:t> cylinder </a:t>
            </a:r>
            <a:r>
              <a:rPr lang="en-US" altLang="ko-KR" sz="950" dirty="0" err="1" smtClean="0">
                <a:solidFill>
                  <a:srgbClr val="FF0000"/>
                </a:solidFill>
                <a:latin typeface="Times New Roman" pitchFamily="18" charset="0"/>
                <a:cs typeface="Times New Roman" pitchFamily="18" charset="0"/>
              </a:rPr>
              <a:t>từ</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tốc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độ</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cao</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về</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tốc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độ</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được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quy</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định</a:t>
            </a:r>
            <a:endParaRPr lang="ko-KR" altLang="en-US" sz="950" dirty="0">
              <a:solidFill>
                <a:srgbClr val="FF0000"/>
              </a:solidFill>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pitting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phạm</a:t>
            </a:r>
            <a:r>
              <a:rPr lang="en-US" altLang="ko-KR" sz="950" dirty="0" smtClean="0">
                <a:latin typeface="Times New Roman" pitchFamily="18" charset="0"/>
                <a:cs typeface="Times New Roman" pitchFamily="18" charset="0"/>
              </a:rPr>
              <a:t> vi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sinh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hại</a:t>
            </a:r>
            <a:r>
              <a:rPr lang="en-US" altLang="ko-KR" sz="950" dirty="0" smtClean="0">
                <a:latin typeface="Times New Roman" pitchFamily="18" charset="0"/>
                <a:cs typeface="Times New Roman" pitchFamily="18" charset="0"/>
              </a:rPr>
              <a:t> do </a:t>
            </a:r>
            <a:r>
              <a:rPr lang="en-US" altLang="ko-KR" sz="950" dirty="0" err="1" smtClean="0">
                <a:latin typeface="Times New Roman" pitchFamily="18" charset="0"/>
                <a:cs typeface="Times New Roman" pitchFamily="18" charset="0"/>
              </a:rPr>
              <a:t>va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chạm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mép</a:t>
            </a:r>
            <a:r>
              <a:rPr lang="en-US" altLang="ko-KR" sz="950" dirty="0" smtClean="0">
                <a:latin typeface="Times New Roman" pitchFamily="18" charset="0"/>
                <a:cs typeface="Times New Roman" pitchFamily="18" charset="0"/>
              </a:rPr>
              <a:t> stroke</a:t>
            </a:r>
            <a:endParaRPr lang="ko-KR" altLang="en-US"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Cylinder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stroke </a:t>
            </a:r>
            <a:r>
              <a:rPr lang="en-US" altLang="ko-KR" sz="950" dirty="0" err="1" smtClean="0">
                <a:latin typeface="Times New Roman" pitchFamily="18" charset="0"/>
                <a:cs typeface="Times New Roman" pitchFamily="18" charset="0"/>
              </a:rPr>
              <a:t>dài</a:t>
            </a:r>
            <a:r>
              <a:rPr lang="en-US" altLang="ko-KR" sz="950" dirty="0" smtClean="0">
                <a:latin typeface="Times New Roman" pitchFamily="18" charset="0"/>
                <a:cs typeface="Times New Roman" pitchFamily="18" charset="0"/>
              </a:rPr>
              <a:t>, do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trượt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lớn</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bởi</a:t>
            </a:r>
            <a:r>
              <a:rPr lang="en-US" altLang="ko-KR" sz="950" smtClean="0">
                <a:latin typeface="Times New Roman" pitchFamily="18" charset="0"/>
                <a:cs typeface="Times New Roman" pitchFamily="18" charset="0"/>
              </a:rPr>
              <a:t> piston </a:t>
            </a:r>
            <a:r>
              <a:rPr lang="en-US" altLang="ko-KR" sz="950" dirty="0" smtClean="0">
                <a:latin typeface="Times New Roman" pitchFamily="18" charset="0"/>
                <a:cs typeface="Times New Roman" pitchFamily="18" charset="0"/>
              </a:rPr>
              <a:t>rod </a:t>
            </a:r>
            <a:r>
              <a:rPr lang="en-US" altLang="ko-KR" sz="950" dirty="0" err="1" smtClean="0">
                <a:latin typeface="Times New Roman" pitchFamily="18" charset="0"/>
                <a:cs typeface="Times New Roman" pitchFamily="18" charset="0"/>
              </a:rPr>
              <a:t>nghiêng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dụng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cân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nhắc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lắp</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đặt</a:t>
            </a:r>
            <a:r>
              <a:rPr lang="en-US" altLang="ko-KR" sz="950" smtClean="0">
                <a:latin typeface="Times New Roman" pitchFamily="18" charset="0"/>
                <a:cs typeface="Times New Roman" pitchFamily="18" charset="0"/>
              </a:rPr>
              <a:t> dẫn hướng </a:t>
            </a:r>
            <a:r>
              <a:rPr lang="en-US" altLang="ko-KR" sz="950" dirty="0" err="1" smtClean="0">
                <a:latin typeface="Times New Roman" pitchFamily="18" charset="0"/>
                <a:cs typeface="Times New Roman" pitchFamily="18" charset="0"/>
              </a:rPr>
              <a:t>rồi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endParaRPr lang="ko-KR" altLang="en-US" sz="950" dirty="0">
              <a:latin typeface="Times New Roman" pitchFamily="18" charset="0"/>
              <a:cs typeface="Times New Roman" pitchFamily="18" charset="0"/>
            </a:endParaRPr>
          </a:p>
        </p:txBody>
      </p:sp>
      <p:sp>
        <p:nvSpPr>
          <p:cNvPr id="40" name="Rectangle 21"/>
          <p:cNvSpPr>
            <a:spLocks noChangeArrowheads="1"/>
          </p:cNvSpPr>
          <p:nvPr/>
        </p:nvSpPr>
        <p:spPr bwMode="auto">
          <a:xfrm>
            <a:off x="3441700" y="1064568"/>
            <a:ext cx="326822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6</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sai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Xy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lanh</a:t>
            </a:r>
            <a:r>
              <a:rPr lang="en-US" altLang="ko-KR" sz="950" dirty="0" smtClean="0">
                <a:latin typeface="Times New Roman" pitchFamily="18" charset="0"/>
                <a:cs typeface="Times New Roman" pitchFamily="18" charset="0"/>
              </a:rPr>
              <a:t> quay (rotary actuator)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14300" indent="-114300"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góc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270~300℃.</a:t>
            </a:r>
            <a:endParaRPr lang="en-US" altLang="ko-KR"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kép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góc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a:t>
            </a:r>
            <a:r>
              <a:rPr lang="ko-KR" altLang="en-US" sz="950" dirty="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90~120</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err="1" smtClean="0">
                <a:latin typeface="Times New Roman" pitchFamily="18" charset="0"/>
                <a:cs typeface="Times New Roman" pitchFamily="18" charset="0"/>
              </a:rPr>
              <a:t>Dạng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quạt</a:t>
            </a:r>
            <a:r>
              <a:rPr lang="en-US" altLang="ko-KR" sz="950" dirty="0" smtClean="0">
                <a:latin typeface="Times New Roman" pitchFamily="18" charset="0"/>
                <a:cs typeface="Times New Roman" pitchFamily="18" charset="0"/>
              </a:rPr>
              <a:t> 3 </a:t>
            </a:r>
            <a:r>
              <a:rPr lang="en-US" altLang="ko-KR" sz="950" dirty="0" err="1" smtClean="0">
                <a:latin typeface="Times New Roman" pitchFamily="18" charset="0"/>
                <a:cs typeface="Times New Roman" pitchFamily="18" charset="0"/>
              </a:rPr>
              <a:t>lớp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góc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60℃</a:t>
            </a:r>
            <a:endParaRPr lang="ko-KR" altLang="en-US"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D.</a:t>
            </a:r>
            <a:r>
              <a:rPr lang="ko-KR" altLang="en-US" sz="95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Xy</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lanh</a:t>
            </a:r>
            <a:r>
              <a:rPr lang="en-US" altLang="ko-KR" sz="950" dirty="0" smtClean="0">
                <a:solidFill>
                  <a:srgbClr val="FF0000"/>
                </a:solidFill>
                <a:latin typeface="Times New Roman" pitchFamily="18" charset="0"/>
                <a:cs typeface="Times New Roman" pitchFamily="18" charset="0"/>
              </a:rPr>
              <a:t> quay </a:t>
            </a:r>
            <a:r>
              <a:rPr lang="en-US" altLang="ko-KR" sz="950" dirty="0" err="1" smtClean="0">
                <a:solidFill>
                  <a:srgbClr val="FF0000"/>
                </a:solidFill>
                <a:latin typeface="Times New Roman" pitchFamily="18" charset="0"/>
                <a:cs typeface="Times New Roman" pitchFamily="18" charset="0"/>
              </a:rPr>
              <a:t>dạng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cánh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quạt</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không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có</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dò</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khí</a:t>
            </a:r>
            <a:r>
              <a:rPr lang="en-US" altLang="ko-KR" sz="950" dirty="0" smtClean="0">
                <a:solidFill>
                  <a:srgbClr val="FF0000"/>
                </a:solidFill>
                <a:latin typeface="Times New Roman" pitchFamily="18" charset="0"/>
                <a:cs typeface="Times New Roman" pitchFamily="18" charset="0"/>
              </a:rPr>
              <a:t>.</a:t>
            </a:r>
            <a:endParaRPr lang="en-US" altLang="ko-KR" sz="950" dirty="0">
              <a:solidFill>
                <a:srgbClr val="FF0000"/>
              </a:solidFill>
              <a:latin typeface="Times New Roman" pitchFamily="18" charset="0"/>
              <a:cs typeface="Times New Roman" pitchFamily="18" charset="0"/>
            </a:endParaRPr>
          </a:p>
        </p:txBody>
      </p:sp>
      <p:sp>
        <p:nvSpPr>
          <p:cNvPr id="47" name="Rectangle 25"/>
          <p:cNvSpPr>
            <a:spLocks noChangeArrowheads="1"/>
          </p:cNvSpPr>
          <p:nvPr/>
        </p:nvSpPr>
        <p:spPr bwMode="auto">
          <a:xfrm>
            <a:off x="3403426" y="2864768"/>
            <a:ext cx="3293794"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7.Trong </a:t>
            </a:r>
            <a:r>
              <a:rPr lang="en-US" altLang="ko-KR" sz="950" dirty="0" err="1" smtClean="0">
                <a:latin typeface="Times New Roman" pitchFamily="18" charset="0"/>
                <a:cs typeface="Times New Roman" pitchFamily="18" charset="0"/>
              </a:rPr>
              <a:t>số</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nào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thứ</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tự</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hoạt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theo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mạch</a:t>
            </a:r>
            <a:r>
              <a:rPr lang="en-US" altLang="ko-KR" sz="950" dirty="0" smtClean="0">
                <a:latin typeface="Times New Roman" pitchFamily="18" charset="0"/>
                <a:cs typeface="Times New Roman" pitchFamily="18" charset="0"/>
              </a:rPr>
              <a:t>?</a:t>
            </a: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A. </a:t>
            </a:r>
            <a:r>
              <a:rPr lang="en-US" altLang="ko-KR" sz="950" dirty="0" smtClean="0">
                <a:latin typeface="Times New Roman" pitchFamily="18" charset="0"/>
                <a:cs typeface="Times New Roman" pitchFamily="18" charset="0"/>
              </a:rPr>
              <a:t>Valve </a:t>
            </a:r>
            <a:r>
              <a:rPr lang="en-US" altLang="ko-KR" sz="950" dirty="0" err="1" smtClean="0">
                <a:latin typeface="Times New Roman" pitchFamily="18" charset="0"/>
                <a:cs typeface="Times New Roman" pitchFamily="18" charset="0"/>
              </a:rPr>
              <a:t>giảm</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áp</a:t>
            </a:r>
            <a:r>
              <a:rPr lang="en-US" altLang="ko-KR" sz="950" smtClean="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Torque valve </a:t>
            </a:r>
            <a:r>
              <a:rPr lang="ko-KR" altLang="en-US" sz="950" dirty="0" smtClean="0">
                <a:latin typeface="Times New Roman" pitchFamily="18" charset="0"/>
                <a:cs typeface="Times New Roman" pitchFamily="18" charset="0"/>
              </a:rPr>
              <a:t>   </a:t>
            </a:r>
          </a:p>
          <a:p>
            <a:pPr eaLnBrk="1" hangingPunct="1"/>
            <a:r>
              <a:rPr lang="en-US" altLang="ko-KR" sz="950" smtClean="0">
                <a:latin typeface="Times New Roman" pitchFamily="18" charset="0"/>
                <a:cs typeface="Times New Roman" pitchFamily="18" charset="0"/>
              </a:rPr>
              <a:t> C.</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Valve </a:t>
            </a:r>
            <a:r>
              <a:rPr lang="en-US" altLang="ko-KR" sz="950" dirty="0" err="1" smtClean="0">
                <a:latin typeface="Times New Roman" pitchFamily="18" charset="0"/>
                <a:cs typeface="Times New Roman" pitchFamily="18" charset="0"/>
              </a:rPr>
              <a:t>giảm</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áp</a:t>
            </a:r>
            <a:r>
              <a:rPr lang="ko-KR" altLang="en-US" sz="950" smtClean="0">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D.</a:t>
            </a:r>
            <a:r>
              <a:rPr lang="ko-KR" altLang="en-US" sz="950" smtClean="0">
                <a:solidFill>
                  <a:srgbClr val="FF0000"/>
                </a:solidFill>
                <a:latin typeface="Times New Roman" pitchFamily="18" charset="0"/>
                <a:cs typeface="Times New Roman" pitchFamily="18" charset="0"/>
              </a:rPr>
              <a:t> </a:t>
            </a:r>
            <a:r>
              <a:rPr lang="en-US" altLang="ko-KR" sz="950" dirty="0" smtClean="0">
                <a:solidFill>
                  <a:srgbClr val="FF0000"/>
                </a:solidFill>
                <a:latin typeface="Times New Roman" pitchFamily="18" charset="0"/>
                <a:cs typeface="Times New Roman" pitchFamily="18" charset="0"/>
              </a:rPr>
              <a:t>Valve </a:t>
            </a:r>
            <a:r>
              <a:rPr lang="en-US" altLang="ko-KR" sz="950" dirty="0" err="1" smtClean="0">
                <a:solidFill>
                  <a:srgbClr val="FF0000"/>
                </a:solidFill>
                <a:latin typeface="Times New Roman" pitchFamily="18" charset="0"/>
                <a:cs typeface="Times New Roman" pitchFamily="18" charset="0"/>
              </a:rPr>
              <a:t>tuần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tự</a:t>
            </a:r>
            <a:r>
              <a:rPr lang="en-US" altLang="ko-KR" sz="950" dirty="0" smtClean="0">
                <a:solidFill>
                  <a:srgbClr val="FF0000"/>
                </a:solidFill>
                <a:latin typeface="Times New Roman" pitchFamily="18" charset="0"/>
                <a:cs typeface="Times New Roman" pitchFamily="18" charset="0"/>
              </a:rPr>
              <a:t> </a:t>
            </a:r>
            <a:endParaRPr lang="ko-KR" altLang="en-US" sz="950" dirty="0">
              <a:solidFill>
                <a:srgbClr val="FF0000"/>
              </a:solidFill>
              <a:latin typeface="Times New Roman" pitchFamily="18" charset="0"/>
              <a:cs typeface="Times New Roman" pitchFamily="18" charset="0"/>
            </a:endParaRPr>
          </a:p>
        </p:txBody>
      </p:sp>
      <p:grpSp>
        <p:nvGrpSpPr>
          <p:cNvPr id="48" name="Group 47"/>
          <p:cNvGrpSpPr/>
          <p:nvPr/>
        </p:nvGrpSpPr>
        <p:grpSpPr>
          <a:xfrm>
            <a:off x="3419520" y="4415552"/>
            <a:ext cx="3124200" cy="969496"/>
            <a:chOff x="260350" y="7164388"/>
            <a:chExt cx="3124200" cy="969496"/>
          </a:xfrm>
        </p:grpSpPr>
        <p:grpSp>
          <p:nvGrpSpPr>
            <p:cNvPr id="49" name="Group 62"/>
            <p:cNvGrpSpPr>
              <a:grpSpLocks/>
            </p:cNvGrpSpPr>
            <p:nvPr/>
          </p:nvGrpSpPr>
          <p:grpSpPr bwMode="auto">
            <a:xfrm>
              <a:off x="1924050" y="7164389"/>
              <a:ext cx="1452689" cy="936625"/>
              <a:chOff x="621" y="2069"/>
              <a:chExt cx="1270" cy="696"/>
            </a:xfrm>
          </p:grpSpPr>
          <p:pic>
            <p:nvPicPr>
              <p:cNvPr id="51" name="Picture 6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1" y="2069"/>
                <a:ext cx="909" cy="6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Text Box 64"/>
              <p:cNvSpPr txBox="1">
                <a:spLocks noChangeArrowheads="1"/>
              </p:cNvSpPr>
              <p:nvPr/>
            </p:nvSpPr>
            <p:spPr bwMode="auto">
              <a:xfrm>
                <a:off x="1148" y="2182"/>
                <a:ext cx="743"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err="1" smtClean="0">
                    <a:latin typeface="Times New Roman" pitchFamily="18" charset="0"/>
                    <a:cs typeface="Times New Roman" pitchFamily="18" charset="0"/>
                  </a:rPr>
                  <a:t>Chất</a:t>
                </a:r>
                <a:r>
                  <a:rPr lang="en-US" altLang="ko-KR" sz="950" smtClean="0">
                    <a:latin typeface="Times New Roman" pitchFamily="18" charset="0"/>
                    <a:cs typeface="Times New Roman" pitchFamily="18" charset="0"/>
                  </a:rPr>
                  <a:t> cách </a:t>
                </a:r>
                <a:r>
                  <a:rPr lang="en-US" altLang="ko-KR" sz="950" dirty="0" err="1" smtClean="0">
                    <a:latin typeface="Times New Roman" pitchFamily="18" charset="0"/>
                    <a:cs typeface="Times New Roman" pitchFamily="18" charset="0"/>
                  </a:rPr>
                  <a:t>âm</a:t>
                </a:r>
                <a:endParaRPr lang="ko-KR" altLang="en-US" sz="950" dirty="0">
                  <a:latin typeface="Times New Roman" pitchFamily="18" charset="0"/>
                  <a:cs typeface="Times New Roman" pitchFamily="18" charset="0"/>
                </a:endParaRPr>
              </a:p>
            </p:txBody>
          </p:sp>
          <p:sp>
            <p:nvSpPr>
              <p:cNvPr id="53" name="Text Box 65"/>
              <p:cNvSpPr txBox="1">
                <a:spLocks noChangeArrowheads="1"/>
              </p:cNvSpPr>
              <p:nvPr/>
            </p:nvSpPr>
            <p:spPr bwMode="auto">
              <a:xfrm>
                <a:off x="1268" y="2294"/>
                <a:ext cx="449"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smtClean="0">
                    <a:latin typeface="Times New Roman" pitchFamily="18" charset="0"/>
                    <a:cs typeface="Times New Roman" pitchFamily="18" charset="0"/>
                  </a:rPr>
                  <a:t>Cover </a:t>
                </a:r>
                <a:endParaRPr lang="ko-KR" altLang="en-US" sz="950" dirty="0">
                  <a:latin typeface="Times New Roman" pitchFamily="18" charset="0"/>
                  <a:cs typeface="Times New Roman" pitchFamily="18" charset="0"/>
                </a:endParaRPr>
              </a:p>
            </p:txBody>
          </p:sp>
          <p:sp>
            <p:nvSpPr>
              <p:cNvPr id="54" name="Text Box 66"/>
              <p:cNvSpPr txBox="1">
                <a:spLocks noChangeArrowheads="1"/>
              </p:cNvSpPr>
              <p:nvPr/>
            </p:nvSpPr>
            <p:spPr bwMode="auto">
              <a:xfrm>
                <a:off x="1314" y="2418"/>
                <a:ext cx="508" cy="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latinLnBrk="0" hangingPunct="1">
                  <a:lnSpc>
                    <a:spcPct val="120000"/>
                  </a:lnSpc>
                </a:pPr>
                <a:r>
                  <a:rPr lang="en-US" altLang="ko-KR" sz="950" dirty="0" smtClean="0">
                    <a:latin typeface="Times New Roman" pitchFamily="18" charset="0"/>
                    <a:cs typeface="Times New Roman" pitchFamily="18" charset="0"/>
                  </a:rPr>
                  <a:t>End cap</a:t>
                </a:r>
                <a:endParaRPr lang="ko-KR" altLang="en-US" sz="950" dirty="0">
                  <a:latin typeface="Times New Roman" pitchFamily="18" charset="0"/>
                  <a:cs typeface="Times New Roman" pitchFamily="18" charset="0"/>
                </a:endParaRPr>
              </a:p>
            </p:txBody>
          </p:sp>
        </p:grpSp>
        <p:sp>
          <p:nvSpPr>
            <p:cNvPr id="50" name="Rectangle 67"/>
            <p:cNvSpPr>
              <a:spLocks noChangeArrowheads="1"/>
            </p:cNvSpPr>
            <p:nvPr/>
          </p:nvSpPr>
          <p:spPr bwMode="auto">
            <a:xfrm>
              <a:off x="260350" y="7164388"/>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8</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Hình ống giảm thanh </a:t>
              </a:r>
              <a:r>
                <a:rPr lang="en-US" altLang="ko-KR" sz="950" dirty="0" err="1" smtClean="0">
                  <a:latin typeface="Times New Roman" pitchFamily="18" charset="0"/>
                  <a:cs typeface="Times New Roman" pitchFamily="18" charset="0"/>
                </a:rPr>
                <a:t>sau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gì</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endParaRPr lang="en-US" altLang="ko-KR" sz="950" smtClean="0">
                <a:solidFill>
                  <a:srgbClr val="FF0000"/>
                </a:solidFill>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  </a:t>
              </a:r>
              <a:r>
                <a:rPr lang="en-US" altLang="ko-KR" sz="950" dirty="0" err="1" smtClean="0">
                  <a:solidFill>
                    <a:srgbClr val="FF0000"/>
                  </a:solidFill>
                  <a:latin typeface="Times New Roman" pitchFamily="18" charset="0"/>
                  <a:cs typeface="Times New Roman" pitchFamily="18" charset="0"/>
                </a:rPr>
                <a:t>G</a:t>
              </a:r>
              <a:r>
                <a:rPr lang="en-US" altLang="ko-KR" sz="950" smtClean="0">
                  <a:solidFill>
                    <a:srgbClr val="FF0000"/>
                  </a:solidFill>
                  <a:latin typeface="Times New Roman" pitchFamily="18" charset="0"/>
                  <a:cs typeface="Times New Roman" pitchFamily="18" charset="0"/>
                </a:rPr>
                <a:t>iảm </a:t>
              </a:r>
              <a:r>
                <a:rPr lang="en-US" altLang="ko-KR" sz="950" dirty="0" err="1" smtClean="0">
                  <a:solidFill>
                    <a:srgbClr val="FF0000"/>
                  </a:solidFill>
                  <a:latin typeface="Times New Roman" pitchFamily="18" charset="0"/>
                  <a:cs typeface="Times New Roman" pitchFamily="18" charset="0"/>
                </a:rPr>
                <a:t>thanh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kháng</a:t>
              </a:r>
              <a:r>
                <a:rPr lang="ko-KR" altLang="en-US" sz="950" dirty="0" smtClean="0">
                  <a:solidFill>
                    <a:srgbClr val="FF0000"/>
                  </a:solidFill>
                  <a:latin typeface="Times New Roman" pitchFamily="18" charset="0"/>
                  <a:cs typeface="Times New Roman" pitchFamily="18" charset="0"/>
                </a:rPr>
                <a:t>   </a:t>
              </a:r>
              <a:endParaRPr lang="ko-KR" altLang="en-US" sz="950" dirty="0">
                <a:solidFill>
                  <a:srgbClr val="FF0000"/>
                </a:solidFill>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 Giảm </a:t>
              </a:r>
              <a:r>
                <a:rPr lang="en-US" altLang="ko-KR" sz="950" dirty="0" err="1" smtClean="0">
                  <a:latin typeface="Times New Roman" pitchFamily="18" charset="0"/>
                  <a:cs typeface="Times New Roman" pitchFamily="18" charset="0"/>
                </a:rPr>
                <a:t>thanh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ứng</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G</a:t>
              </a:r>
              <a:r>
                <a:rPr lang="en-US" altLang="ko-KR" sz="950" smtClean="0">
                  <a:latin typeface="Times New Roman" pitchFamily="18" charset="0"/>
                  <a:cs typeface="Times New Roman" pitchFamily="18" charset="0"/>
                </a:rPr>
                <a:t>iảm </a:t>
              </a:r>
              <a:r>
                <a:rPr lang="en-US" altLang="ko-KR" sz="950" dirty="0" err="1" smtClean="0">
                  <a:latin typeface="Times New Roman" pitchFamily="18" charset="0"/>
                  <a:cs typeface="Times New Roman" pitchFamily="18" charset="0"/>
                </a:rPr>
                <a:t>âm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đích</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a:latin typeface="Times New Roman" pitchFamily="18" charset="0"/>
                  <a:cs typeface="Times New Roman" pitchFamily="18" charset="0"/>
                </a:rPr>
                <a:t>G</a:t>
              </a:r>
              <a:r>
                <a:rPr lang="en-US" altLang="ko-KR" sz="950" smtClean="0">
                  <a:latin typeface="Times New Roman" pitchFamily="18" charset="0"/>
                  <a:cs typeface="Times New Roman" pitchFamily="18" charset="0"/>
                </a:rPr>
                <a:t>iảm </a:t>
              </a:r>
              <a:r>
                <a:rPr lang="en-US" altLang="ko-KR" sz="950" dirty="0" err="1" smtClean="0">
                  <a:latin typeface="Times New Roman" pitchFamily="18" charset="0"/>
                  <a:cs typeface="Times New Roman" pitchFamily="18" charset="0"/>
                </a:rPr>
                <a:t>thanh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endParaRPr lang="ko-KR" altLang="en-US" sz="950" dirty="0">
                <a:latin typeface="Times New Roman" pitchFamily="18" charset="0"/>
                <a:cs typeface="Times New Roman" pitchFamily="18" charset="0"/>
              </a:endParaRPr>
            </a:p>
          </p:txBody>
        </p:sp>
      </p:grpSp>
      <p:sp>
        <p:nvSpPr>
          <p:cNvPr id="55" name="Rectangle 14"/>
          <p:cNvSpPr>
            <a:spLocks noChangeArrowheads="1"/>
          </p:cNvSpPr>
          <p:nvPr/>
        </p:nvSpPr>
        <p:spPr bwMode="auto">
          <a:xfrm>
            <a:off x="3433490" y="6220108"/>
            <a:ext cx="327643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9</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counter?</a:t>
            </a:r>
            <a:endParaRPr lang="en-US" altLang="ko-KR"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 </a:t>
            </a:r>
          </a:p>
          <a:p>
            <a:pPr eaLnBrk="1" hangingPunct="1"/>
            <a:r>
              <a:rPr lang="en-US" altLang="ko-KR" sz="950" smtClean="0">
                <a:solidFill>
                  <a:srgbClr val="FF0000"/>
                </a:solidFill>
                <a:latin typeface="Times New Roman" pitchFamily="18" charset="0"/>
                <a:cs typeface="Times New Roman" pitchFamily="18" charset="0"/>
              </a:rPr>
              <a:t>A. </a:t>
            </a:r>
            <a:r>
              <a:rPr lang="en-US" altLang="ko-KR" sz="950" dirty="0" err="1" smtClean="0">
                <a:solidFill>
                  <a:srgbClr val="FF0000"/>
                </a:solidFill>
                <a:latin typeface="Times New Roman" pitchFamily="18" charset="0"/>
                <a:cs typeface="Times New Roman" pitchFamily="18" charset="0"/>
              </a:rPr>
              <a:t>Có</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tịnh</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năng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bộ</a:t>
            </a:r>
            <a:r>
              <a:rPr lang="en-US" altLang="ko-KR" sz="950" dirty="0" smtClean="0">
                <a:solidFill>
                  <a:srgbClr val="FF0000"/>
                </a:solidFill>
                <a:latin typeface="Times New Roman" pitchFamily="18" charset="0"/>
                <a:cs typeface="Times New Roman" pitchFamily="18" charset="0"/>
              </a:rPr>
              <a:t> </a:t>
            </a:r>
            <a:r>
              <a:rPr lang="en-US" altLang="ko-KR" sz="950" err="1" smtClean="0">
                <a:solidFill>
                  <a:srgbClr val="FF0000"/>
                </a:solidFill>
                <a:latin typeface="Times New Roman" pitchFamily="18" charset="0"/>
                <a:cs typeface="Times New Roman" pitchFamily="18" charset="0"/>
              </a:rPr>
              <a:t>nhớ</a:t>
            </a:r>
            <a:r>
              <a:rPr lang="ko-KR" altLang="en-US" sz="950" smtClean="0">
                <a:solidFill>
                  <a:srgbClr val="FF000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Preset</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 C.</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batch </a:t>
            </a:r>
            <a:r>
              <a:rPr lang="en-US" altLang="ko-KR" sz="950" smtClean="0">
                <a:latin typeface="Times New Roman" pitchFamily="18" charset="0"/>
                <a:cs typeface="Times New Roman" pitchFamily="18" charset="0"/>
              </a:rPr>
              <a:t>counter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Pre Scale </a:t>
            </a:r>
            <a:endParaRPr lang="ko-KR" altLang="en-US" sz="950" dirty="0">
              <a:latin typeface="Times New Roman" pitchFamily="18" charset="0"/>
              <a:cs typeface="Times New Roman" pitchFamily="18" charset="0"/>
            </a:endParaRPr>
          </a:p>
        </p:txBody>
      </p:sp>
      <p:sp>
        <p:nvSpPr>
          <p:cNvPr id="56" name="Rectangle 49"/>
          <p:cNvSpPr>
            <a:spLocks noChangeArrowheads="1"/>
          </p:cNvSpPr>
          <p:nvPr/>
        </p:nvSpPr>
        <p:spPr bwMode="auto">
          <a:xfrm>
            <a:off x="3429000" y="7503184"/>
            <a:ext cx="328092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6</a:t>
            </a:r>
            <a:r>
              <a:rPr lang="en-US" altLang="ko-KR" sz="950" smtClean="0">
                <a:latin typeface="Times New Roman" pitchFamily="18" charset="0"/>
                <a:cs typeface="Times New Roman" pitchFamily="18" charset="0"/>
              </a:rPr>
              <a:t>0</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valve </a:t>
            </a:r>
            <a:r>
              <a:rPr lang="en-US" altLang="ko-KR" sz="950" err="1" smtClean="0">
                <a:latin typeface="Times New Roman" pitchFamily="18" charset="0"/>
                <a:cs typeface="Times New Roman" pitchFamily="18" charset="0"/>
              </a:rPr>
              <a:t>dạng</a:t>
            </a:r>
            <a:r>
              <a:rPr lang="en-US" altLang="ko-KR" sz="950" smtClean="0">
                <a:latin typeface="Times New Roman" pitchFamily="18" charset="0"/>
                <a:cs typeface="Times New Roman" pitchFamily="18" charset="0"/>
              </a:rPr>
              <a:t> Pofit? </a:t>
            </a:r>
            <a:endParaRPr lang="en-US" altLang="ko-KR" sz="950" dirty="0">
              <a:latin typeface="Times New Roman" pitchFamily="18" charset="0"/>
              <a:cs typeface="Times New Roman" pitchFamily="18" charset="0"/>
            </a:endParaRPr>
          </a:p>
          <a:p>
            <a:pPr marL="177800" indent="-177800" eaLnBrk="1" hangingPunct="1"/>
            <a:endParaRPr lang="en-US" altLang="ko-KR" sz="950" smtClean="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Hiệu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quả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dù</a:t>
            </a:r>
            <a:r>
              <a:rPr lang="en-US" altLang="ko-KR" sz="950" dirty="0" smtClean="0">
                <a:latin typeface="Times New Roman" pitchFamily="18" charset="0"/>
                <a:cs typeface="Times New Roman" pitchFamily="18" charset="0"/>
              </a:rPr>
              <a:t> Spring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hư</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hại</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cũng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đóng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nhờ</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lực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chất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lỏng</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B.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chỉnh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lưu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lượng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phù</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hole </a:t>
            </a:r>
            <a:r>
              <a:rPr lang="en-US" altLang="ko-KR" sz="950" dirty="0" err="1" smtClean="0">
                <a:latin typeface="Times New Roman" pitchFamily="18" charset="0"/>
                <a:cs typeface="Times New Roman" pitchFamily="18" charset="0"/>
              </a:rPr>
              <a:t>lớn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marL="177800" indent="-177800" eaLnBrk="1" hangingPunct="1"/>
            <a:r>
              <a:rPr lang="en-US" altLang="ko-KR" sz="950" smtClean="0">
                <a:solidFill>
                  <a:srgbClr val="FF0000"/>
                </a:solidFill>
                <a:latin typeface="Times New Roman" pitchFamily="18" charset="0"/>
                <a:cs typeface="Times New Roman" pitchFamily="18" charset="0"/>
              </a:rPr>
              <a:t>C. </a:t>
            </a:r>
            <a:r>
              <a:rPr lang="en-US" altLang="ko-KR" sz="950" dirty="0" err="1" smtClean="0">
                <a:solidFill>
                  <a:srgbClr val="FF0000"/>
                </a:solidFill>
                <a:latin typeface="Times New Roman" pitchFamily="18" charset="0"/>
                <a:cs typeface="Times New Roman" pitchFamily="18" charset="0"/>
              </a:rPr>
              <a:t>Khả</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năng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điều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chỉnh</a:t>
            </a:r>
            <a:r>
              <a:rPr lang="en-US" altLang="ko-KR" sz="950" dirty="0" smtClean="0">
                <a:solidFill>
                  <a:srgbClr val="FF0000"/>
                </a:solidFill>
                <a:latin typeface="Times New Roman" pitchFamily="18" charset="0"/>
                <a:cs typeface="Times New Roman" pitchFamily="18" charset="0"/>
              </a:rPr>
              <a:t> Valve </a:t>
            </a:r>
            <a:r>
              <a:rPr lang="en-US" altLang="ko-KR" sz="950" dirty="0" err="1" smtClean="0">
                <a:solidFill>
                  <a:srgbClr val="FF0000"/>
                </a:solidFill>
                <a:latin typeface="Times New Roman" pitchFamily="18" charset="0"/>
                <a:cs typeface="Times New Roman" pitchFamily="18" charset="0"/>
              </a:rPr>
              <a:t>phải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nhỏ</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hơn</a:t>
            </a:r>
            <a:r>
              <a:rPr lang="en-US" altLang="ko-KR" sz="950" dirty="0" smtClean="0">
                <a:solidFill>
                  <a:srgbClr val="FF0000"/>
                </a:solidFill>
                <a:latin typeface="Times New Roman" pitchFamily="18" charset="0"/>
                <a:cs typeface="Times New Roman" pitchFamily="18" charset="0"/>
              </a:rPr>
              <a:t> so </a:t>
            </a:r>
            <a:r>
              <a:rPr lang="en-US" altLang="ko-KR" sz="950" dirty="0" err="1" smtClean="0">
                <a:solidFill>
                  <a:srgbClr val="FF0000"/>
                </a:solidFill>
                <a:latin typeface="Times New Roman" pitchFamily="18" charset="0"/>
                <a:cs typeface="Times New Roman" pitchFamily="18" charset="0"/>
              </a:rPr>
              <a:t>với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áp</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lực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chất</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lỏng</a:t>
            </a:r>
            <a:r>
              <a:rPr lang="en-US" altLang="ko-KR" sz="950" dirty="0" smtClean="0">
                <a:solidFill>
                  <a:srgbClr val="FF0000"/>
                </a:solidFill>
                <a:latin typeface="Times New Roman" pitchFamily="18" charset="0"/>
                <a:cs typeface="Times New Roman" pitchFamily="18" charset="0"/>
              </a:rPr>
              <a:t>.</a:t>
            </a:r>
            <a:endParaRPr lang="en-US" altLang="ko-KR" sz="950" dirty="0">
              <a:solidFill>
                <a:srgbClr val="FF0000"/>
              </a:solidFill>
              <a:latin typeface="Times New Roman" pitchFamily="18" charset="0"/>
              <a:cs typeface="Times New Roman" pitchFamily="18" charset="0"/>
            </a:endParaRPr>
          </a:p>
          <a:p>
            <a:pPr marL="177800" indent="-177800" eaLnBrk="1" hangingPunct="1"/>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Quãng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dichuyển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hành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ngắn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độ</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đóng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mở</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nhanh</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Tree>
    <p:extLst>
      <p:ext uri="{BB962C8B-B14F-4D97-AF65-F5344CB8AC3E}">
        <p14:creationId xmlns:p14="http://schemas.microsoft.com/office/powerpoint/2010/main" val="344433267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solidFill>
                  <a:srgbClr val="000000"/>
                </a:solidFill>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solidFill>
                  <a:srgbClr val="000000"/>
                </a:solidFill>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solidFill>
                  <a:srgbClr val="000000"/>
                </a:solidFill>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p:txBody>
      </p:sp>
      <p:sp>
        <p:nvSpPr>
          <p:cNvPr id="32" name="Rectangle 7"/>
          <p:cNvSpPr>
            <a:spLocks noChangeArrowheads="1"/>
          </p:cNvSpPr>
          <p:nvPr/>
        </p:nvSpPr>
        <p:spPr bwMode="auto">
          <a:xfrm>
            <a:off x="188640" y="1208584"/>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Mặt tiếp xúc nào có khả năng xoay tròn của 2 linh kiện </a:t>
            </a:r>
            <a:r>
              <a:rPr lang="vi-VN" altLang="ko-KR" sz="950" smtClean="0">
                <a:latin typeface="Times New Roman" pitchFamily="18" charset="0"/>
                <a:ea typeface="LG Smart_H Regular" panose="020B0600000101010101" pitchFamily="34" charset="-127"/>
                <a:cs typeface="Times New Roman" pitchFamily="18" charset="0"/>
              </a:rPr>
              <a:t>máy?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Mặt tiếp xúc xoắn </a:t>
            </a:r>
            <a:r>
              <a:rPr lang="en-US" altLang="ko-KR" sz="950" smtClean="0">
                <a:latin typeface="Times New Roman" pitchFamily="18" charset="0"/>
                <a:ea typeface="LG Smart_H Regular" panose="020B0600000101010101" pitchFamily="34" charset="-127"/>
                <a:cs typeface="Times New Roman" pitchFamily="18" charset="0"/>
              </a:rPr>
              <a:t>ốc</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Mặt tiếp xúc </a:t>
            </a:r>
            <a:r>
              <a:rPr lang="en-US" altLang="ko-KR" sz="950" smtClean="0">
                <a:latin typeface="Times New Roman" pitchFamily="18" charset="0"/>
                <a:ea typeface="LG Smart_H Regular" panose="020B0600000101010101" pitchFamily="34" charset="-127"/>
                <a:cs typeface="Times New Roman" pitchFamily="18" charset="0"/>
              </a:rPr>
              <a:t>xoay</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Mặt tiếp xúc tròn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Mặt tiếp xúc trượt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37" name="Rectangle 7"/>
          <p:cNvSpPr>
            <a:spLocks noChangeArrowheads="1"/>
          </p:cNvSpPr>
          <p:nvPr/>
        </p:nvSpPr>
        <p:spPr bwMode="auto">
          <a:xfrm>
            <a:off x="184150" y="2608613"/>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Thép nào mà việc tăng hàm lượng tác động đến việc tăng độ cứng, độ bền hay là giảm tỷ lệ giãn dài, tỷ lệ co lại của </a:t>
            </a:r>
            <a:r>
              <a:rPr lang="vi-VN" altLang="ko-KR" sz="950" smtClean="0">
                <a:latin typeface="Times New Roman" pitchFamily="18" charset="0"/>
                <a:ea typeface="LG Smart_H Regular" panose="020B0600000101010101" pitchFamily="34" charset="-127"/>
                <a:cs typeface="Times New Roman" pitchFamily="18" charset="0"/>
              </a:rPr>
              <a:t>thép?</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Thép </a:t>
            </a:r>
            <a:r>
              <a:rPr lang="vi-VN" altLang="ko-KR" sz="950" smtClean="0">
                <a:latin typeface="Times New Roman" pitchFamily="18" charset="0"/>
                <a:ea typeface="LG Smart_H Regular" panose="020B0600000101010101" pitchFamily="34" charset="-127"/>
                <a:cs typeface="Times New Roman" pitchFamily="18" charset="0"/>
              </a:rPr>
              <a:t>Molybdeum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Thép </a:t>
            </a:r>
            <a:r>
              <a:rPr lang="en-US" altLang="ko-KR" sz="950" smtClean="0">
                <a:latin typeface="Times New Roman" pitchFamily="18" charset="0"/>
                <a:ea typeface="LG Smart_H Regular" panose="020B0600000101010101" pitchFamily="34" charset="-127"/>
                <a:cs typeface="Times New Roman" pitchFamily="18" charset="0"/>
              </a:rPr>
              <a:t>Crom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Thép </a:t>
            </a:r>
            <a:r>
              <a:rPr lang="vi-VN" altLang="ko-KR" sz="950" smtClean="0">
                <a:latin typeface="Times New Roman" pitchFamily="18" charset="0"/>
                <a:ea typeface="LG Smart_H Regular" panose="020B0600000101010101" pitchFamily="34" charset="-127"/>
                <a:cs typeface="Times New Roman" pitchFamily="18" charset="0"/>
              </a:rPr>
              <a:t>Niken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Thép Cacbon</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Đâu không phải ưu điểm của </a:t>
            </a:r>
            <a:r>
              <a:rPr lang="vi-VN" altLang="ko-KR" sz="950" smtClean="0">
                <a:latin typeface="Times New Roman" pitchFamily="18" charset="0"/>
                <a:ea typeface="LG Smart_H Regular" panose="020B0600000101010101" pitchFamily="34" charset="-127"/>
                <a:cs typeface="Times New Roman" pitchFamily="18" charset="0"/>
              </a:rPr>
              <a:t>Gear?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Truyền lực chắc </a:t>
            </a:r>
            <a:r>
              <a:rPr lang="vi-VN" altLang="ko-KR" sz="950" smtClean="0">
                <a:latin typeface="Times New Roman" pitchFamily="18" charset="0"/>
                <a:ea typeface="LG Smart_H Regular" panose="020B0600000101010101" pitchFamily="34" charset="-127"/>
                <a:cs typeface="Times New Roman" pitchFamily="18" charset="0"/>
              </a:rPr>
              <a:t>chắn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Backlash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nhỏ</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Truyền động bằng tỷ lệ tốc độ vòng quay chính </a:t>
            </a:r>
            <a:r>
              <a:rPr lang="vi-VN" altLang="ko-KR" sz="950" smtClean="0">
                <a:latin typeface="Times New Roman" pitchFamily="18" charset="0"/>
                <a:ea typeface="LG Smart_H Regular" panose="020B0600000101010101" pitchFamily="34" charset="-127"/>
                <a:cs typeface="Times New Roman" pitchFamily="18" charset="0"/>
              </a:rPr>
              <a:t>xác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Kết cấu đơn giản</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Bánh răng nào biến chuyển động quay thành chuyển động thẳng và ngược lại biến chuyển động thẳng thành chuyển động </a:t>
            </a:r>
            <a:r>
              <a:rPr lang="vi-VN" altLang="ko-KR" sz="950" smtClean="0">
                <a:latin typeface="Times New Roman" pitchFamily="18" charset="0"/>
                <a:ea typeface="LG Smart_H Regular" panose="020B0600000101010101" pitchFamily="34" charset="-127"/>
                <a:cs typeface="Times New Roman" pitchFamily="18" charset="0"/>
              </a:rPr>
              <a:t>quay?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Bánh răng </a:t>
            </a:r>
            <a:r>
              <a:rPr lang="vi-VN" altLang="ko-KR" sz="950" smtClean="0">
                <a:latin typeface="Times New Roman" pitchFamily="18" charset="0"/>
                <a:ea typeface="LG Smart_H Regular" panose="020B0600000101010101" pitchFamily="34" charset="-127"/>
                <a:cs typeface="Times New Roman" pitchFamily="18" charset="0"/>
              </a:rPr>
              <a:t>trụ</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Bánh răng thẳng khớp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Bánh răng </a:t>
            </a:r>
            <a:r>
              <a:rPr lang="vi-VN" altLang="ko-KR" sz="950" smtClean="0">
                <a:latin typeface="Times New Roman" pitchFamily="18" charset="0"/>
                <a:ea typeface="LG Smart_H Regular" panose="020B0600000101010101" pitchFamily="34" charset="-127"/>
                <a:cs typeface="Times New Roman" pitchFamily="18" charset="0"/>
              </a:rPr>
              <a:t>nghiêng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Bánh răng Rack</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17858" y="442887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a:t>
            </a:r>
            <a:r>
              <a:rPr lang="vi-VN" altLang="ko-KR" sz="950">
                <a:latin typeface="Times New Roman" pitchFamily="18" charset="0"/>
                <a:ea typeface="LG Smart_H Regular" panose="020B0600000101010101" pitchFamily="34" charset="-127"/>
                <a:cs typeface="Times New Roman" pitchFamily="18" charset="0"/>
              </a:rPr>
              <a:t>Chọn đáp án sai khi nói về phương thức End Cap Type của Ball </a:t>
            </a:r>
            <a:r>
              <a:rPr lang="vi-VN" altLang="ko-KR" sz="950" smtClean="0">
                <a:latin typeface="Times New Roman" pitchFamily="18" charset="0"/>
                <a:ea typeface="LG Smart_H Regular" panose="020B0600000101010101" pitchFamily="34" charset="-127"/>
                <a:cs typeface="Times New Roman" pitchFamily="18" charset="0"/>
              </a:rPr>
              <a:t>Screw?</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Phù hợp nhất với việc di chuyển với tốc độ </a:t>
            </a:r>
            <a:r>
              <a:rPr lang="vi-VN" altLang="ko-KR" sz="950" smtClean="0">
                <a:latin typeface="Times New Roman" pitchFamily="18" charset="0"/>
                <a:ea typeface="LG Smart_H Regular" panose="020B0600000101010101" pitchFamily="34" charset="-127"/>
                <a:cs typeface="Times New Roman" pitchFamily="18" charset="0"/>
              </a:rPr>
              <a:t>cao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Là loại High-lead </a:t>
            </a:r>
            <a:r>
              <a:rPr lang="en-US" altLang="ko-KR" sz="950" smtClean="0">
                <a:latin typeface="Times New Roman" pitchFamily="18" charset="0"/>
                <a:ea typeface="LG Smart_H Regular" panose="020B0600000101010101" pitchFamily="34" charset="-127"/>
                <a:cs typeface="Times New Roman" pitchFamily="18" charset="0"/>
              </a:rPr>
              <a:t>Nut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Ball có thể chuyển động liên tục không giới </a:t>
            </a:r>
            <a:r>
              <a:rPr lang="vi-VN" altLang="ko-KR" sz="950" smtClean="0">
                <a:latin typeface="Times New Roman" pitchFamily="18" charset="0"/>
                <a:ea typeface="LG Smart_H Regular" panose="020B0600000101010101" pitchFamily="34" charset="-127"/>
                <a:cs typeface="Times New Roman" pitchFamily="18" charset="0"/>
              </a:rPr>
              <a:t>hạn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Nut phổ biến đơn giản</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47" name="Rectangle 7"/>
          <p:cNvSpPr>
            <a:spLocks noChangeArrowheads="1"/>
          </p:cNvSpPr>
          <p:nvPr/>
        </p:nvSpPr>
        <p:spPr bwMode="auto">
          <a:xfrm>
            <a:off x="3409102" y="823197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Đâu không phải thành phần của </a:t>
            </a:r>
            <a:r>
              <a:rPr lang="vi-VN" altLang="ko-KR" sz="950" smtClean="0">
                <a:latin typeface="Times New Roman" pitchFamily="18" charset="0"/>
                <a:ea typeface="LG Smart_H Regular" panose="020B0600000101010101" pitchFamily="34" charset="-127"/>
                <a:cs typeface="Times New Roman" pitchFamily="18" charset="0"/>
              </a:rPr>
              <a:t>mỡ?</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Chất </a:t>
            </a:r>
            <a:r>
              <a:rPr lang="vi-VN" altLang="ko-KR" sz="950">
                <a:latin typeface="Times New Roman" pitchFamily="18" charset="0"/>
                <a:ea typeface="LG Smart_H Regular" panose="020B0600000101010101" pitchFamily="34" charset="-127"/>
                <a:cs typeface="Times New Roman" pitchFamily="18" charset="0"/>
              </a:rPr>
              <a:t>làm cô </a:t>
            </a:r>
            <a:r>
              <a:rPr lang="vi-VN" altLang="ko-KR" sz="950" smtClean="0">
                <a:latin typeface="Times New Roman" pitchFamily="18" charset="0"/>
                <a:ea typeface="LG Smart_H Regular" panose="020B0600000101010101" pitchFamily="34" charset="-127"/>
                <a:cs typeface="Times New Roman" pitchFamily="18" charset="0"/>
              </a:rPr>
              <a:t>đặc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nb-NO" altLang="ko-KR" sz="950">
                <a:latin typeface="Times New Roman" pitchFamily="18" charset="0"/>
                <a:ea typeface="LG Smart_H Regular" panose="020B0600000101010101" pitchFamily="34" charset="-127"/>
                <a:cs typeface="Times New Roman" pitchFamily="18" charset="0"/>
              </a:rPr>
              <a:t>Dầu khoáng hoặc dầu </a:t>
            </a:r>
            <a:r>
              <a:rPr lang="nb-NO" altLang="ko-KR" sz="950" smtClean="0">
                <a:latin typeface="Times New Roman" pitchFamily="18" charset="0"/>
                <a:ea typeface="LG Smart_H Regular" panose="020B0600000101010101" pitchFamily="34" charset="-127"/>
                <a:cs typeface="Times New Roman" pitchFamily="18" charset="0"/>
              </a:rPr>
              <a:t>D-ester</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Chất xúc </a:t>
            </a:r>
            <a:r>
              <a:rPr lang="en-US" altLang="ko-KR" sz="950" smtClean="0">
                <a:latin typeface="Times New Roman" pitchFamily="18" charset="0"/>
                <a:ea typeface="LG Smart_H Regular" panose="020B0600000101010101" pitchFamily="34" charset="-127"/>
                <a:cs typeface="Times New Roman" pitchFamily="18" charset="0"/>
              </a:rPr>
              <a:t>tác</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Chất chống đông mỡ</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p:txBody>
      </p:sp>
      <p:sp>
        <p:nvSpPr>
          <p:cNvPr id="38" name="Rectangle 7"/>
          <p:cNvSpPr>
            <a:spLocks noChangeArrowheads="1"/>
          </p:cNvSpPr>
          <p:nvPr/>
        </p:nvSpPr>
        <p:spPr bwMode="auto">
          <a:xfrm>
            <a:off x="204048" y="4376936"/>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Là loại muff coupling cải tiến, mặt ngoài hình tròn và bên trong có một lỗ tròn. Mặt ngoài được gắn 3 bolt dài và sau đó được cố định bằng feather </a:t>
            </a:r>
            <a:r>
              <a:rPr lang="vi-VN" altLang="ko-KR" sz="950" smtClean="0">
                <a:latin typeface="Times New Roman" pitchFamily="18" charset="0"/>
                <a:ea typeface="LG Smart_H Regular" panose="020B0600000101010101" pitchFamily="34" charset="-127"/>
                <a:cs typeface="Times New Roman" pitchFamily="18" charset="0"/>
              </a:rPr>
              <a:t>key?</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Coupling Rigid.</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fr-FR" altLang="ko-KR" sz="950">
                <a:latin typeface="Times New Roman" pitchFamily="18" charset="0"/>
                <a:ea typeface="LG Smart_H Regular" panose="020B0600000101010101" pitchFamily="34" charset="-127"/>
                <a:cs typeface="Times New Roman" pitchFamily="18" charset="0"/>
              </a:rPr>
              <a:t>Flexible </a:t>
            </a:r>
            <a:r>
              <a:rPr lang="fr-FR" altLang="ko-KR" sz="950" smtClean="0">
                <a:latin typeface="Times New Roman" pitchFamily="18" charset="0"/>
                <a:ea typeface="LG Smart_H Regular" panose="020B0600000101010101" pitchFamily="34" charset="-127"/>
                <a:cs typeface="Times New Roman" pitchFamily="18" charset="0"/>
              </a:rPr>
              <a:t>Coupling</a:t>
            </a: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Seller’s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Coupling</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Flange Coupling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0" name="Rectangle 7"/>
          <p:cNvSpPr>
            <a:spLocks noChangeArrowheads="1"/>
          </p:cNvSpPr>
          <p:nvPr/>
        </p:nvSpPr>
        <p:spPr bwMode="auto">
          <a:xfrm>
            <a:off x="228600" y="6161628"/>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Đâu </a:t>
            </a:r>
            <a:r>
              <a:rPr lang="vi-VN" altLang="ko-KR" sz="950" b="1" smtClean="0">
                <a:latin typeface="Times New Roman" pitchFamily="18" charset="0"/>
                <a:ea typeface="LG Smart_H Regular" panose="020B0600000101010101" pitchFamily="34" charset="-127"/>
                <a:cs typeface="Times New Roman" pitchFamily="18" charset="0"/>
              </a:rPr>
              <a:t>không phải </a:t>
            </a:r>
            <a:r>
              <a:rPr lang="vi-VN" altLang="ko-KR" sz="950" smtClean="0">
                <a:latin typeface="Times New Roman" pitchFamily="18" charset="0"/>
                <a:ea typeface="LG Smart_H Regular" panose="020B0600000101010101" pitchFamily="34" charset="-127"/>
                <a:cs typeface="Times New Roman" pitchFamily="18" charset="0"/>
              </a:rPr>
              <a:t>"</a:t>
            </a:r>
            <a:r>
              <a:rPr lang="vi-VN" altLang="ko-KR" sz="950">
                <a:latin typeface="Times New Roman" pitchFamily="18" charset="0"/>
                <a:ea typeface="LG Smart_H Regular" panose="020B0600000101010101" pitchFamily="34" charset="-127"/>
                <a:cs typeface="Times New Roman" pitchFamily="18" charset="0"/>
              </a:rPr>
              <a:t>Khoản mục cần chú ý khi thiết kế nối trục</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Độ lớn của lực truyền </a:t>
            </a:r>
            <a:r>
              <a:rPr lang="vi-VN" altLang="ko-KR" sz="950" smtClean="0">
                <a:latin typeface="Times New Roman" pitchFamily="18" charset="0"/>
                <a:ea typeface="LG Smart_H Regular" panose="020B0600000101010101" pitchFamily="34" charset="-127"/>
                <a:cs typeface="Times New Roman" pitchFamily="18" charset="0"/>
              </a:rPr>
              <a:t>động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sai của trọng tâm </a:t>
            </a:r>
            <a:r>
              <a:rPr lang="vi-VN" altLang="ko-KR" sz="950" smtClean="0">
                <a:latin typeface="Times New Roman" pitchFamily="18" charset="0"/>
                <a:ea typeface="LG Smart_H Regular" panose="020B0600000101010101" pitchFamily="34" charset="-127"/>
                <a:cs typeface="Times New Roman" pitchFamily="18" charset="0"/>
              </a:rPr>
              <a:t>trục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Tốc độ quay của </a:t>
            </a:r>
            <a:r>
              <a:rPr lang="vi-VN" altLang="ko-KR" sz="950" smtClean="0">
                <a:latin typeface="Times New Roman" pitchFamily="18" charset="0"/>
                <a:ea typeface="LG Smart_H Regular" panose="020B0600000101010101" pitchFamily="34" charset="-127"/>
                <a:cs typeface="Times New Roman" pitchFamily="18" charset="0"/>
              </a:rPr>
              <a:t>trục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Góc tiếp xúc của trục</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63885" y="8231776"/>
            <a:ext cx="3180502" cy="1113712"/>
            <a:chOff x="163885" y="7871936"/>
            <a:chExt cx="3180502" cy="1113712"/>
          </a:xfrm>
        </p:grpSpPr>
        <p:sp>
          <p:nvSpPr>
            <p:cNvPr id="42" name="Rectangle 7"/>
            <p:cNvSpPr>
              <a:spLocks noChangeArrowheads="1"/>
            </p:cNvSpPr>
            <p:nvPr/>
          </p:nvSpPr>
          <p:spPr bwMode="auto">
            <a:xfrm>
              <a:off x="163885" y="787193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Tên gọi của khóa có hình ảnh bên </a:t>
              </a:r>
              <a:r>
                <a:rPr lang="vi-VN" altLang="ko-KR" sz="950" smtClean="0">
                  <a:latin typeface="Times New Roman" pitchFamily="18" charset="0"/>
                  <a:ea typeface="LG Smart_H Regular" panose="020B0600000101010101" pitchFamily="34" charset="-127"/>
                  <a:cs typeface="Times New Roman" pitchFamily="18" charset="0"/>
                </a:rPr>
                <a:t>dưới?</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Parallel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Split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Spring 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Sliding key</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pic>
          <p:nvPicPr>
            <p:cNvPr id="28" name="Picture 27"/>
            <p:cNvPicPr>
              <a:picLocks noChangeAspect="1"/>
            </p:cNvPicPr>
            <p:nvPr/>
          </p:nvPicPr>
          <p:blipFill>
            <a:blip r:embed="rId3"/>
            <a:stretch>
              <a:fillRect/>
            </a:stretch>
          </p:blipFill>
          <p:spPr>
            <a:xfrm>
              <a:off x="1818851" y="8161986"/>
              <a:ext cx="1116209" cy="823662"/>
            </a:xfrm>
            <a:prstGeom prst="rect">
              <a:avLst/>
            </a:prstGeom>
          </p:spPr>
        </p:pic>
      </p:grpSp>
      <p:grpSp>
        <p:nvGrpSpPr>
          <p:cNvPr id="3" name="Group 2"/>
          <p:cNvGrpSpPr/>
          <p:nvPr/>
        </p:nvGrpSpPr>
        <p:grpSpPr>
          <a:xfrm>
            <a:off x="3379882" y="6071736"/>
            <a:ext cx="3180502" cy="1677788"/>
            <a:chOff x="3379882" y="6071736"/>
            <a:chExt cx="3180502" cy="1677788"/>
          </a:xfrm>
        </p:grpSpPr>
        <p:sp>
          <p:nvSpPr>
            <p:cNvPr id="45" name="Rectangle 7"/>
            <p:cNvSpPr>
              <a:spLocks noChangeArrowheads="1"/>
            </p:cNvSpPr>
            <p:nvPr/>
          </p:nvSpPr>
          <p:spPr bwMode="auto">
            <a:xfrm>
              <a:off x="3379882" y="6071736"/>
              <a:ext cx="3180502"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a:t>
              </a:r>
              <a:r>
                <a:rPr lang="vi-VN" altLang="ko-KR" sz="950">
                  <a:latin typeface="Times New Roman" pitchFamily="18" charset="0"/>
                  <a:ea typeface="LG Smart_H Regular" panose="020B0600000101010101" pitchFamily="34" charset="-127"/>
                  <a:cs typeface="Times New Roman" pitchFamily="18" charset="0"/>
                </a:rPr>
                <a:t>Phương thức dẫn động nào sử dụng labyrinth seal để ngăn bụi </a:t>
              </a:r>
              <a:r>
                <a:rPr lang="vi-VN" altLang="ko-KR" sz="950" smtClean="0">
                  <a:latin typeface="Times New Roman" pitchFamily="18" charset="0"/>
                  <a:ea typeface="LG Smart_H Regular" panose="020B0600000101010101" pitchFamily="34" charset="-127"/>
                  <a:cs typeface="Times New Roman" pitchFamily="18" charset="0"/>
                </a:rPr>
                <a:t>bẩn?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B.</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C.                                         D.</a:t>
              </a:r>
            </a:p>
          </p:txBody>
        </p:sp>
        <p:pic>
          <p:nvPicPr>
            <p:cNvPr id="30" name="Picture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50064" y="7176436"/>
              <a:ext cx="847775" cy="57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 name="Picture 33" descr="7-4-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51034" y="6460704"/>
              <a:ext cx="857005" cy="568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38" descr="7-3-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8588" y="6475201"/>
              <a:ext cx="853159" cy="555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40" descr="7-5-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462416" y="7183684"/>
              <a:ext cx="849523" cy="565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75247771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188640" y="809164"/>
            <a:ext cx="3258330"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sp>
        <p:nvSpPr>
          <p:cNvPr id="39" name="Rectangle 11"/>
          <p:cNvSpPr>
            <a:spLocks noChangeArrowheads="1"/>
          </p:cNvSpPr>
          <p:nvPr/>
        </p:nvSpPr>
        <p:spPr bwMode="auto">
          <a:xfrm>
            <a:off x="188640" y="1245022"/>
            <a:ext cx="3258330"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smtClean="0">
                <a:latin typeface="Times New Roman" pitchFamily="18" charset="0"/>
                <a:ea typeface="돋움" pitchFamily="50" charset="-127"/>
                <a:cs typeface="Times New Roman" pitchFamily="18" charset="0"/>
              </a:rPr>
              <a:t>71</a:t>
            </a:r>
            <a:r>
              <a:rPr lang="en-US" altLang="ko-KR" sz="950">
                <a:latin typeface="Times New Roman" pitchFamily="18" charset="0"/>
                <a:ea typeface="돋움" pitchFamily="50" charset="-127"/>
                <a:cs typeface="Times New Roman" pitchFamily="18" charset="0"/>
              </a:rPr>
              <a:t>. Chọn đáp án không đúng với giải thích về </a:t>
            </a:r>
            <a:r>
              <a:rPr lang="en-US" altLang="ko-KR" sz="950" smtClean="0">
                <a:latin typeface="Times New Roman" pitchFamily="18" charset="0"/>
                <a:ea typeface="돋움" pitchFamily="50" charset="-127"/>
                <a:cs typeface="Times New Roman" pitchFamily="18" charset="0"/>
              </a:rPr>
              <a:t>điều kiện trong kỹ thuật máy </a:t>
            </a:r>
            <a:r>
              <a:rPr lang="en-US" altLang="ko-KR" sz="950">
                <a:latin typeface="Times New Roman" pitchFamily="18" charset="0"/>
                <a:ea typeface="돋움" pitchFamily="50" charset="-127"/>
                <a:cs typeface="Times New Roman" pitchFamily="18" charset="0"/>
              </a:rPr>
              <a:t>?</a:t>
            </a: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Nhận cung cấp năng lượng để làm việc có hiệu quả.</a:t>
            </a:r>
          </a:p>
          <a:p>
            <a:r>
              <a:rPr lang="en-US" altLang="ko-KR" sz="950" smtClean="0">
                <a:latin typeface="Times New Roman" pitchFamily="18" charset="0"/>
                <a:ea typeface="돋움" pitchFamily="50" charset="-127"/>
                <a:cs typeface="Times New Roman" pitchFamily="18" charset="0"/>
              </a:rPr>
              <a:t>B. </a:t>
            </a:r>
            <a:r>
              <a:rPr lang="vi-VN" altLang="ko-KR" sz="950">
                <a:latin typeface="Times New Roman" pitchFamily="18" charset="0"/>
                <a:ea typeface="돋움" pitchFamily="50" charset="-127"/>
                <a:cs typeface="Times New Roman" pitchFamily="18" charset="0"/>
              </a:rPr>
              <a:t>Các vật sau khi đã tổ hợp lại với nhau sẽ được vận hành </a:t>
            </a:r>
            <a:endParaRPr lang="en-US" altLang="ko-KR" sz="950" smtClean="0">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C. </a:t>
            </a:r>
            <a:r>
              <a:rPr lang="en-US" altLang="ko-KR" sz="950">
                <a:solidFill>
                  <a:srgbClr val="FF0000"/>
                </a:solidFill>
                <a:latin typeface="Times New Roman" pitchFamily="18" charset="0"/>
                <a:ea typeface="돋움" pitchFamily="50" charset="-127"/>
                <a:cs typeface="Times New Roman" pitchFamily="18" charset="0"/>
              </a:rPr>
              <a:t>Được gọi là động học cơ học.</a:t>
            </a:r>
          </a:p>
          <a:p>
            <a:pPr marL="111125" indent="-111125"/>
            <a:r>
              <a:rPr lang="en-US" altLang="ko-KR" sz="950" smtClean="0">
                <a:latin typeface="Times New Roman" pitchFamily="18" charset="0"/>
                <a:ea typeface="돋움" pitchFamily="50" charset="-127"/>
                <a:cs typeface="Times New Roman" pitchFamily="18" charset="0"/>
              </a:rPr>
              <a:t>D. </a:t>
            </a:r>
            <a:r>
              <a:rPr lang="vi-VN" altLang="ko-KR" sz="950">
                <a:latin typeface="Times New Roman" pitchFamily="18" charset="0"/>
                <a:ea typeface="돋움" pitchFamily="50" charset="-127"/>
                <a:cs typeface="Times New Roman" pitchFamily="18" charset="0"/>
              </a:rPr>
              <a:t>Dựa vào ngoại lực để tạo thành tổ hợp các vật thể có sự đối kháng </a:t>
            </a:r>
            <a:r>
              <a:rPr lang="vi-VN" altLang="ko-KR" sz="950" smtClean="0">
                <a:latin typeface="Times New Roman" pitchFamily="18" charset="0"/>
                <a:ea typeface="돋움" pitchFamily="50" charset="-127"/>
                <a:cs typeface="Times New Roman" pitchFamily="18" charset="0"/>
              </a:rPr>
              <a:t>nhau</a:t>
            </a:r>
            <a:r>
              <a:rPr lang="en-US" altLang="ko-KR" sz="950" smtClean="0">
                <a:latin typeface="Times New Roman" pitchFamily="18" charset="0"/>
                <a:ea typeface="돋움" pitchFamily="50" charset="-127"/>
                <a:cs typeface="Times New Roman" pitchFamily="18" charset="0"/>
              </a:rPr>
              <a:t>.</a:t>
            </a:r>
            <a:endParaRPr lang="en-US" altLang="ko-KR" sz="950">
              <a:latin typeface="Times New Roman" pitchFamily="18" charset="0"/>
              <a:ea typeface="돋움" pitchFamily="50" charset="-127"/>
              <a:cs typeface="Times New Roman" pitchFamily="18" charset="0"/>
            </a:endParaRPr>
          </a:p>
        </p:txBody>
      </p:sp>
      <p:sp>
        <p:nvSpPr>
          <p:cNvPr id="23" name="Rectangle 22"/>
          <p:cNvSpPr>
            <a:spLocks noChangeArrowheads="1"/>
          </p:cNvSpPr>
          <p:nvPr/>
        </p:nvSpPr>
        <p:spPr bwMode="auto">
          <a:xfrm>
            <a:off x="188640" y="2678068"/>
            <a:ext cx="3258330" cy="111569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2</a:t>
            </a:r>
            <a:r>
              <a:rPr lang="en-US" altLang="ko-KR" sz="950">
                <a:latin typeface="Times New Roman" pitchFamily="18" charset="0"/>
                <a:ea typeface="돋움" pitchFamily="50" charset="-127"/>
                <a:cs typeface="Times New Roman" pitchFamily="18" charset="0"/>
              </a:rPr>
              <a:t>. Chọn đáp án không phải là ưu điểm của V Belt?</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Có thể lắp </a:t>
            </a:r>
            <a:r>
              <a:rPr lang="en-US" altLang="ko-KR" sz="950" smtClean="0">
                <a:latin typeface="Times New Roman" pitchFamily="18" charset="0"/>
                <a:ea typeface="돋움" pitchFamily="50" charset="-127"/>
                <a:cs typeface="Times New Roman" pitchFamily="18" charset="0"/>
              </a:rPr>
              <a:t>đặt ở </a:t>
            </a:r>
            <a:r>
              <a:rPr lang="en-US" altLang="ko-KR" sz="950">
                <a:latin typeface="Times New Roman" pitchFamily="18" charset="0"/>
                <a:ea typeface="돋움" pitchFamily="50" charset="-127"/>
                <a:cs typeface="Times New Roman" pitchFamily="18" charset="0"/>
              </a:rPr>
              <a:t>nơi </a:t>
            </a:r>
            <a:r>
              <a:rPr lang="en-US" altLang="ko-KR" sz="950" smtClean="0">
                <a:latin typeface="Times New Roman" pitchFamily="18" charset="0"/>
                <a:ea typeface="돋움" pitchFamily="50" charset="-127"/>
                <a:cs typeface="Times New Roman" pitchFamily="18" charset="0"/>
              </a:rPr>
              <a:t>chật hẹp</a:t>
            </a:r>
            <a:r>
              <a:rPr lang="en-US" altLang="ko-KR" sz="950">
                <a:latin typeface="Times New Roman" pitchFamily="18" charset="0"/>
                <a:ea typeface="돋움" pitchFamily="50" charset="-127"/>
                <a:cs typeface="Times New Roman" pitchFamily="18" charset="0"/>
              </a:rPr>
              <a:t>, vận </a:t>
            </a:r>
            <a:r>
              <a:rPr lang="en-US" altLang="ko-KR" sz="950" smtClean="0">
                <a:latin typeface="Times New Roman" pitchFamily="18" charset="0"/>
                <a:ea typeface="돋움" pitchFamily="50" charset="-127"/>
                <a:cs typeface="Times New Roman" pitchFamily="18" charset="0"/>
              </a:rPr>
              <a:t>hành </a:t>
            </a:r>
            <a:r>
              <a:rPr lang="en-US" altLang="ko-KR" sz="950">
                <a:latin typeface="Times New Roman" pitchFamily="18" charset="0"/>
                <a:ea typeface="돋움" pitchFamily="50" charset="-127"/>
                <a:cs typeface="Times New Roman" pitchFamily="18" charset="0"/>
              </a:rPr>
              <a:t>tĩnh và </a:t>
            </a:r>
            <a:r>
              <a:rPr lang="en-US" altLang="ko-KR" sz="950" smtClean="0">
                <a:latin typeface="Times New Roman" pitchFamily="18" charset="0"/>
                <a:ea typeface="돋움" pitchFamily="50" charset="-127"/>
                <a:cs typeface="Times New Roman" pitchFamily="18" charset="0"/>
              </a:rPr>
              <a:t>rung lắc ít</a:t>
            </a:r>
            <a:endParaRPr lang="en-US" altLang="ko-KR" sz="950">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Hiệu suất truyền động khoảng </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96~99%, lực kéo nhỏ nên tải trọng lên </a:t>
            </a:r>
            <a:r>
              <a:rPr lang="en-US" altLang="ko-KR" sz="950" smtClean="0">
                <a:latin typeface="Times New Roman" pitchFamily="18" charset="0"/>
                <a:ea typeface="돋움" pitchFamily="50" charset="-127"/>
                <a:cs typeface="Times New Roman" pitchFamily="18" charset="0"/>
              </a:rPr>
              <a:t>bánh răng </a:t>
            </a:r>
            <a:r>
              <a:rPr lang="en-US" altLang="ko-KR" sz="950">
                <a:latin typeface="Times New Roman" pitchFamily="18" charset="0"/>
                <a:ea typeface="돋움" pitchFamily="50" charset="-127"/>
                <a:cs typeface="Times New Roman" pitchFamily="18" charset="0"/>
              </a:rPr>
              <a:t>nhỏ.</a:t>
            </a:r>
          </a:p>
          <a:p>
            <a:r>
              <a:rPr lang="en-US" altLang="ko-KR" sz="950" smtClean="0">
                <a:latin typeface="Times New Roman" pitchFamily="18" charset="0"/>
                <a:ea typeface="돋움" pitchFamily="50" charset="-127"/>
                <a:cs typeface="Times New Roman" pitchFamily="18" charset="0"/>
              </a:rPr>
              <a:t>C. Chủ yếu sử dụng trong Pully </a:t>
            </a:r>
            <a:r>
              <a:rPr lang="en-US" altLang="ko-KR" sz="950">
                <a:latin typeface="Times New Roman" pitchFamily="18" charset="0"/>
                <a:ea typeface="돋움" pitchFamily="50" charset="-127"/>
                <a:cs typeface="Times New Roman" pitchFamily="18" charset="0"/>
              </a:rPr>
              <a:t>có đường kính tương đối nhỏ.</a:t>
            </a:r>
          </a:p>
          <a:p>
            <a:r>
              <a:rPr lang="en-US" altLang="ko-KR" sz="950" smtClean="0">
                <a:solidFill>
                  <a:srgbClr val="FF0000"/>
                </a:solidFill>
                <a:latin typeface="Times New Roman" pitchFamily="18" charset="0"/>
                <a:ea typeface="돋움" pitchFamily="50" charset="-127"/>
                <a:cs typeface="Times New Roman" pitchFamily="18" charset="0"/>
              </a:rPr>
              <a:t>D.  </a:t>
            </a:r>
            <a:r>
              <a:rPr lang="en-US" altLang="ko-KR" sz="950">
                <a:solidFill>
                  <a:srgbClr val="FF0000"/>
                </a:solidFill>
                <a:latin typeface="Times New Roman" pitchFamily="18" charset="0"/>
                <a:ea typeface="돋움" pitchFamily="50" charset="-127"/>
                <a:cs typeface="Times New Roman" pitchFamily="18" charset="0"/>
              </a:rPr>
              <a:t>Hầu như không có trơn trợt và thay đổi tốc độ.</a:t>
            </a:r>
          </a:p>
        </p:txBody>
      </p:sp>
      <p:grpSp>
        <p:nvGrpSpPr>
          <p:cNvPr id="24" name="Group 23"/>
          <p:cNvGrpSpPr/>
          <p:nvPr/>
        </p:nvGrpSpPr>
        <p:grpSpPr>
          <a:xfrm>
            <a:off x="188640" y="4630559"/>
            <a:ext cx="3124200" cy="1627369"/>
            <a:chOff x="3467106" y="3347830"/>
            <a:chExt cx="3124200" cy="1627369"/>
          </a:xfrm>
        </p:grpSpPr>
        <p:sp>
          <p:nvSpPr>
            <p:cNvPr id="25" name="Rectangle 26"/>
            <p:cNvSpPr>
              <a:spLocks noChangeArrowheads="1"/>
            </p:cNvSpPr>
            <p:nvPr/>
          </p:nvSpPr>
          <p:spPr bwMode="auto">
            <a:xfrm>
              <a:off x="3467106" y="3347830"/>
              <a:ext cx="3124200" cy="162736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3</a:t>
              </a:r>
              <a:r>
                <a:rPr lang="en-US" altLang="ko-KR" sz="950">
                  <a:latin typeface="Times New Roman" pitchFamily="18" charset="0"/>
                  <a:ea typeface="돋움" pitchFamily="50" charset="-127"/>
                  <a:cs typeface="Times New Roman" pitchFamily="18" charset="0"/>
                </a:rPr>
                <a:t>. Chọn loại răng của Timing Belt mà mang lại thành công hiệu quả backlash tối thiểu, giảm tiếng ồn, độ tin cậy cao và tuổi thọ dài?</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B.</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                                          </a:t>
              </a:r>
              <a:r>
                <a:rPr lang="en-US" altLang="ko-KR" sz="950" smtClean="0">
                  <a:solidFill>
                    <a:srgbClr val="FF0000"/>
                  </a:solidFill>
                  <a:latin typeface="Times New Roman" pitchFamily="18" charset="0"/>
                  <a:ea typeface="돋움" pitchFamily="50" charset="-127"/>
                  <a:cs typeface="Times New Roman" pitchFamily="18" charset="0"/>
                </a:rPr>
                <a:t>D.</a:t>
              </a:r>
              <a:r>
                <a:rPr lang="en-US" altLang="ko-KR" sz="950" smtClean="0">
                  <a:latin typeface="Times New Roman" pitchFamily="18" charset="0"/>
                  <a:ea typeface="돋움" pitchFamily="50" charset="-127"/>
                  <a:cs typeface="Times New Roman" pitchFamily="18" charset="0"/>
                </a:rPr>
                <a:t>   </a:t>
              </a:r>
              <a:endParaRPr lang="en-US" altLang="ko-KR" sz="950">
                <a:latin typeface="Times New Roman" pitchFamily="18" charset="0"/>
                <a:ea typeface="돋움" pitchFamily="50" charset="-127"/>
                <a:cs typeface="Times New Roman" pitchFamily="18" charset="0"/>
              </a:endParaRPr>
            </a:p>
            <a:p>
              <a:pPr>
                <a:spcBef>
                  <a:spcPct val="50000"/>
                </a:spcBef>
              </a:pPr>
              <a:endParaRPr lang="en-US" altLang="ko-KR" sz="950">
                <a:latin typeface="Times New Roman" pitchFamily="18" charset="0"/>
                <a:ea typeface="돋움" pitchFamily="50" charset="-127"/>
                <a:cs typeface="Times New Roman" pitchFamily="18" charset="0"/>
              </a:endParaRPr>
            </a:p>
          </p:txBody>
        </p:sp>
        <p:grpSp>
          <p:nvGrpSpPr>
            <p:cNvPr id="26" name="Group 25"/>
            <p:cNvGrpSpPr/>
            <p:nvPr/>
          </p:nvGrpSpPr>
          <p:grpSpPr>
            <a:xfrm>
              <a:off x="3717040" y="3824080"/>
              <a:ext cx="2736148" cy="1008140"/>
              <a:chOff x="3717040" y="3824080"/>
              <a:chExt cx="2736148" cy="1008140"/>
            </a:xfrm>
          </p:grpSpPr>
          <p:pic>
            <p:nvPicPr>
              <p:cNvPr id="27"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17040" y="3871802"/>
                <a:ext cx="11430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8" name="Picture 28"/>
              <p:cNvPicPr>
                <a:picLocks noChangeAspect="1" noChangeArrowheads="1"/>
              </p:cNvPicPr>
              <p:nvPr/>
            </p:nvPicPr>
            <p:blipFill>
              <a:blip r:embed="rId4">
                <a:extLst>
                  <a:ext uri="{28A0092B-C50C-407E-A947-70E740481C1C}">
                    <a14:useLocalDpi xmlns:a14="http://schemas.microsoft.com/office/drawing/2010/main" val="0"/>
                  </a:ext>
                </a:extLst>
              </a:blip>
              <a:srcRect t="47430" r="16853"/>
              <a:stretch>
                <a:fillRect/>
              </a:stretch>
            </p:blipFill>
            <p:spPr bwMode="auto">
              <a:xfrm>
                <a:off x="5157788" y="3824080"/>
                <a:ext cx="12954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 name="Picture 29"/>
              <p:cNvPicPr>
                <a:picLocks noChangeAspect="1" noChangeArrowheads="1"/>
              </p:cNvPicPr>
              <p:nvPr/>
            </p:nvPicPr>
            <p:blipFill>
              <a:blip r:embed="rId4">
                <a:extLst>
                  <a:ext uri="{28A0092B-C50C-407E-A947-70E740481C1C}">
                    <a14:useLocalDpi xmlns:a14="http://schemas.microsoft.com/office/drawing/2010/main" val="0"/>
                  </a:ext>
                </a:extLst>
              </a:blip>
              <a:srcRect r="16853" b="52174"/>
              <a:stretch>
                <a:fillRect/>
              </a:stretch>
            </p:blipFill>
            <p:spPr bwMode="auto">
              <a:xfrm>
                <a:off x="3717040" y="4443282"/>
                <a:ext cx="1066800" cy="388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30"/>
              <p:cNvPicPr>
                <a:picLocks noChangeAspect="1" noChangeArrowheads="1"/>
              </p:cNvPicPr>
              <p:nvPr/>
            </p:nvPicPr>
            <p:blipFill>
              <a:blip r:embed="rId5" cstate="print">
                <a:extLst>
                  <a:ext uri="{28A0092B-C50C-407E-A947-70E740481C1C}">
                    <a14:useLocalDpi xmlns:a14="http://schemas.microsoft.com/office/drawing/2010/main" val="0"/>
                  </a:ext>
                </a:extLst>
              </a:blip>
              <a:srcRect b="30864"/>
              <a:stretch>
                <a:fillRect/>
              </a:stretch>
            </p:blipFill>
            <p:spPr bwMode="auto">
              <a:xfrm>
                <a:off x="5233988" y="4470765"/>
                <a:ext cx="1143000" cy="361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sp>
        <p:nvSpPr>
          <p:cNvPr id="31" name="Rectangle 32"/>
          <p:cNvSpPr>
            <a:spLocks noChangeArrowheads="1"/>
          </p:cNvSpPr>
          <p:nvPr/>
        </p:nvSpPr>
        <p:spPr bwMode="auto">
          <a:xfrm>
            <a:off x="188640" y="6677417"/>
            <a:ext cx="3248212" cy="67710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111125" indent="-111125"/>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4</a:t>
            </a:r>
            <a:r>
              <a:rPr lang="en-US" altLang="ko-KR" sz="950">
                <a:latin typeface="Times New Roman" pitchFamily="18" charset="0"/>
                <a:ea typeface="돋움" pitchFamily="50" charset="-127"/>
                <a:cs typeface="Times New Roman" pitchFamily="18" charset="0"/>
              </a:rPr>
              <a:t>. Chọn đáp án không được sử dụng như một vật liệu chịu bền kéo của Timing Belt  ? </a:t>
            </a:r>
          </a:p>
          <a:p>
            <a:endParaRPr lang="en-US" altLang="ko-KR" sz="950" smtClean="0">
              <a:solidFill>
                <a:srgbClr val="FF0000"/>
              </a:solidFill>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a:solidFill>
                  <a:srgbClr val="FF0000"/>
                </a:solidFill>
                <a:latin typeface="Times New Roman" pitchFamily="18" charset="0"/>
                <a:ea typeface="돋움" pitchFamily="50" charset="-127"/>
                <a:cs typeface="Times New Roman" pitchFamily="18" charset="0"/>
              </a:rPr>
              <a:t>PTFE   </a:t>
            </a: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Loại SUS</a:t>
            </a:r>
            <a:r>
              <a:rPr lang="ko-KR" altLang="en-US"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Glass Fiber Cord   </a:t>
            </a:r>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Kevlar</a:t>
            </a:r>
          </a:p>
        </p:txBody>
      </p:sp>
      <p:sp>
        <p:nvSpPr>
          <p:cNvPr id="32" name="Rectangle 13"/>
          <p:cNvSpPr>
            <a:spLocks noChangeArrowheads="1"/>
          </p:cNvSpPr>
          <p:nvPr/>
        </p:nvSpPr>
        <p:spPr bwMode="auto">
          <a:xfrm>
            <a:off x="188640" y="7934652"/>
            <a:ext cx="3312368" cy="1115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5</a:t>
            </a:r>
            <a:r>
              <a:rPr lang="en-US" altLang="ko-KR" sz="950">
                <a:latin typeface="Times New Roman" pitchFamily="18" charset="0"/>
                <a:ea typeface="돋움" pitchFamily="50" charset="-127"/>
                <a:cs typeface="Times New Roman" pitchFamily="18" charset="0"/>
              </a:rPr>
              <a:t>. Giải thích nào sau đây không đúng với</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LM Guide?</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Hệ </a:t>
            </a:r>
            <a:r>
              <a:rPr lang="en-US" altLang="ko-KR" sz="950">
                <a:latin typeface="Times New Roman" pitchFamily="18" charset="0"/>
                <a:ea typeface="돋움" pitchFamily="50" charset="-127"/>
                <a:cs typeface="Times New Roman" pitchFamily="18" charset="0"/>
              </a:rPr>
              <a:t>số ma sát là 0.002~0.005 nên giảm chi phí vận hành máy</a:t>
            </a:r>
            <a:r>
              <a:rPr lang="ko-KR" altLang="en-US" sz="950">
                <a:latin typeface="Times New Roman" pitchFamily="18" charset="0"/>
                <a:ea typeface="돋움" pitchFamily="50" charset="-127"/>
                <a:cs typeface="Times New Roman" pitchFamily="18" charset="0"/>
                <a:sym typeface="Wingdings" pitchFamily="2" charset="2"/>
              </a:rPr>
              <a:t> </a:t>
            </a:r>
            <a:endParaRPr lang="ko-KR" altLang="en-US" sz="950">
              <a:latin typeface="Times New Roman" pitchFamily="18" charset="0"/>
              <a:ea typeface="돋움" pitchFamily="50" charset="-127"/>
              <a:cs typeface="Times New Roman" pitchFamily="18" charset="0"/>
            </a:endParaRPr>
          </a:p>
          <a:p>
            <a:pPr marL="109538" indent="-109538"/>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Do </a:t>
            </a:r>
            <a:r>
              <a:rPr lang="en-US" altLang="ko-KR" sz="950" smtClean="0">
                <a:latin typeface="Times New Roman" pitchFamily="18" charset="0"/>
                <a:ea typeface="돋움" pitchFamily="50" charset="-127"/>
                <a:cs typeface="Times New Roman" pitchFamily="18" charset="0"/>
              </a:rPr>
              <a:t>rãnh </a:t>
            </a:r>
            <a:r>
              <a:rPr lang="en-US" altLang="ko-KR" sz="950">
                <a:latin typeface="Times New Roman" pitchFamily="18" charset="0"/>
                <a:ea typeface="돋움" pitchFamily="50" charset="-127"/>
                <a:cs typeface="Times New Roman" pitchFamily="18" charset="0"/>
              </a:rPr>
              <a:t>của ball được gia công bán </a:t>
            </a:r>
            <a:r>
              <a:rPr lang="en-US" altLang="ko-KR" sz="950" smtClean="0">
                <a:latin typeface="Times New Roman" pitchFamily="18" charset="0"/>
                <a:ea typeface="돋움" pitchFamily="50" charset="-127"/>
                <a:cs typeface="Times New Roman" pitchFamily="18" charset="0"/>
              </a:rPr>
              <a:t>kính đồng nhất với rãnh của </a:t>
            </a:r>
            <a:r>
              <a:rPr lang="en-US" altLang="ko-KR" sz="950">
                <a:latin typeface="Times New Roman" pitchFamily="18" charset="0"/>
                <a:ea typeface="돋움" pitchFamily="50" charset="-127"/>
                <a:cs typeface="Times New Roman" pitchFamily="18" charset="0"/>
              </a:rPr>
              <a:t>Bearing ball nên có thể tạo tải trước ( preload) .</a:t>
            </a:r>
            <a:endParaRPr lang="en-US" altLang="ko-KR" sz="950">
              <a:latin typeface="Times New Roman" pitchFamily="18" charset="0"/>
              <a:ea typeface="돋움" pitchFamily="50" charset="-127"/>
              <a:cs typeface="Times New Roman" pitchFamily="18" charset="0"/>
              <a:sym typeface="Wingdings" pitchFamily="2" charset="2"/>
            </a:endParaRP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Không có Stick slip , </a:t>
            </a:r>
            <a:r>
              <a:rPr lang="vi-VN" altLang="ko-KR" sz="950">
                <a:latin typeface="Times New Roman" pitchFamily="18" charset="0"/>
                <a:ea typeface="돋움" pitchFamily="50" charset="-127"/>
                <a:cs typeface="Times New Roman" pitchFamily="18" charset="0"/>
              </a:rPr>
              <a:t>hầu như không có chuyển động lỏng</a:t>
            </a:r>
            <a:r>
              <a:rPr lang="en-US" altLang="ko-KR" sz="950" smtClean="0">
                <a:latin typeface="Times New Roman" pitchFamily="18" charset="0"/>
                <a:ea typeface="돋움" pitchFamily="50" charset="-127"/>
                <a:cs typeface="Times New Roman" pitchFamily="18" charset="0"/>
              </a:rPr>
              <a:t>.</a:t>
            </a:r>
            <a:r>
              <a:rPr lang="en-US" altLang="ko-KR" sz="950" smtClean="0">
                <a:latin typeface="Times New Roman" pitchFamily="18" charset="0"/>
                <a:ea typeface="돋움" pitchFamily="50" charset="-127"/>
                <a:cs typeface="Times New Roman" pitchFamily="18" charset="0"/>
                <a:sym typeface="Wingdings" pitchFamily="2" charset="2"/>
              </a:rPr>
              <a:t> </a:t>
            </a:r>
            <a:endParaRPr lang="en-US" altLang="ko-KR" sz="950">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D. </a:t>
            </a:r>
            <a:r>
              <a:rPr lang="en-US" altLang="ko-KR" sz="950">
                <a:solidFill>
                  <a:srgbClr val="FF0000"/>
                </a:solidFill>
                <a:latin typeface="Times New Roman" pitchFamily="18" charset="0"/>
                <a:ea typeface="돋움" pitchFamily="50" charset="-127"/>
                <a:cs typeface="Times New Roman" pitchFamily="18" charset="0"/>
              </a:rPr>
              <a:t>Có thể thiết kế </a:t>
            </a:r>
            <a:r>
              <a:rPr lang="en-US" altLang="ko-KR" sz="950" smtClean="0">
                <a:solidFill>
                  <a:srgbClr val="FF0000"/>
                </a:solidFill>
                <a:latin typeface="Times New Roman" pitchFamily="18" charset="0"/>
                <a:ea typeface="돋움" pitchFamily="50" charset="-127"/>
                <a:cs typeface="Times New Roman" pitchFamily="18" charset="0"/>
              </a:rPr>
              <a:t> nhỏ gọn </a:t>
            </a:r>
            <a:r>
              <a:rPr lang="en-US" altLang="ko-KR" sz="950">
                <a:solidFill>
                  <a:srgbClr val="FF0000"/>
                </a:solidFill>
                <a:latin typeface="Times New Roman" pitchFamily="18" charset="0"/>
                <a:ea typeface="돋움" pitchFamily="50" charset="-127"/>
                <a:cs typeface="Times New Roman" pitchFamily="18" charset="0"/>
              </a:rPr>
              <a:t>bằng cách thay thế L</a:t>
            </a:r>
            <a:r>
              <a:rPr lang="en-US" altLang="ko-KR" sz="950" smtClean="0">
                <a:solidFill>
                  <a:srgbClr val="FF0000"/>
                </a:solidFill>
                <a:latin typeface="Times New Roman" pitchFamily="18" charset="0"/>
                <a:ea typeface="돋움" pitchFamily="50" charset="-127"/>
                <a:cs typeface="Times New Roman" pitchFamily="18" charset="0"/>
              </a:rPr>
              <a:t>inear Bush</a:t>
            </a:r>
            <a:endParaRPr lang="en-US" altLang="ko-KR" sz="950">
              <a:solidFill>
                <a:srgbClr val="FF0000"/>
              </a:solidFill>
              <a:latin typeface="Times New Roman" pitchFamily="18" charset="0"/>
              <a:ea typeface="돋움" pitchFamily="50" charset="-127"/>
              <a:cs typeface="Times New Roman" pitchFamily="18" charset="0"/>
            </a:endParaRPr>
          </a:p>
        </p:txBody>
      </p:sp>
      <p:grpSp>
        <p:nvGrpSpPr>
          <p:cNvPr id="38" name="Group 37"/>
          <p:cNvGrpSpPr/>
          <p:nvPr/>
        </p:nvGrpSpPr>
        <p:grpSpPr>
          <a:xfrm>
            <a:off x="3436852" y="1280592"/>
            <a:ext cx="3124200" cy="1159548"/>
            <a:chOff x="3441700" y="7153275"/>
            <a:chExt cx="3124200" cy="1159548"/>
          </a:xfrm>
        </p:grpSpPr>
        <p:sp>
          <p:nvSpPr>
            <p:cNvPr id="50" name="Rectangle 36"/>
            <p:cNvSpPr>
              <a:spLocks noChangeArrowheads="1"/>
            </p:cNvSpPr>
            <p:nvPr/>
          </p:nvSpPr>
          <p:spPr bwMode="auto">
            <a:xfrm>
              <a:off x="3441700" y="7153275"/>
              <a:ext cx="3124200" cy="115954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10000"/>
                </a:lnSpc>
              </a:pPr>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6</a:t>
              </a:r>
              <a:r>
                <a:rPr lang="en-US" altLang="ko-KR" sz="950">
                  <a:latin typeface="Times New Roman" pitchFamily="18" charset="0"/>
                  <a:cs typeface="Times New Roman" pitchFamily="18" charset="0"/>
                </a:rPr>
                <a:t>. Tên gọi của phần A ở hình sau là gì</a:t>
              </a:r>
              <a:r>
                <a:rPr lang="ko-KR" altLang="en-US" sz="950">
                  <a:latin typeface="Times New Roman" pitchFamily="18" charset="0"/>
                  <a:cs typeface="Times New Roman" pitchFamily="18" charset="0"/>
                </a:rPr>
                <a:t> </a:t>
              </a:r>
              <a:r>
                <a:rPr lang="en-US" altLang="ko-KR" sz="950">
                  <a:latin typeface="Times New Roman" pitchFamily="18" charset="0"/>
                  <a:cs typeface="Times New Roman" pitchFamily="18" charset="0"/>
                </a:rPr>
                <a:t>?</a:t>
              </a:r>
            </a:p>
            <a:p>
              <a:pPr>
                <a:lnSpc>
                  <a:spcPct val="70000"/>
                </a:lnSpc>
              </a:pPr>
              <a:endParaRPr lang="en-US" altLang="ko-KR" sz="950">
                <a:latin typeface="Times New Roman" pitchFamily="18" charset="0"/>
                <a:cs typeface="Times New Roman" pitchFamily="18" charset="0"/>
              </a:endParaRPr>
            </a:p>
            <a:p>
              <a:pPr>
                <a:lnSpc>
                  <a:spcPct val="70000"/>
                </a:lnSpc>
              </a:pPr>
              <a:endParaRPr lang="en-US" altLang="ko-KR" sz="950">
                <a:latin typeface="Times New Roman" pitchFamily="18" charset="0"/>
                <a:cs typeface="Times New Roman" pitchFamily="18" charset="0"/>
              </a:endParaRPr>
            </a:p>
            <a:p>
              <a:pPr>
                <a:lnSpc>
                  <a:spcPct val="70000"/>
                </a:lnSpc>
                <a:spcBef>
                  <a:spcPct val="50000"/>
                </a:spcBef>
              </a:pPr>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C</a:t>
              </a:r>
              <a:r>
                <a:rPr lang="ko-KR" altLang="en-US" sz="95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cap</a:t>
              </a:r>
              <a:endParaRPr lang="ko-KR" altLang="en-US" sz="950">
                <a:latin typeface="Times New Roman" pitchFamily="18" charset="0"/>
                <a:ea typeface="돋움" pitchFamily="50" charset="-127"/>
                <a:cs typeface="Times New Roman" pitchFamily="18" charset="0"/>
              </a:endParaRPr>
            </a:p>
            <a:p>
              <a:pPr>
                <a:lnSpc>
                  <a:spcPct val="70000"/>
                </a:lnSpc>
                <a:spcBef>
                  <a:spcPct val="50000"/>
                </a:spcBef>
              </a:pP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Ống ngoài</a:t>
              </a:r>
              <a:endParaRPr lang="ko-KR" altLang="en-US" sz="950">
                <a:latin typeface="Times New Roman" pitchFamily="18" charset="0"/>
                <a:ea typeface="돋움" pitchFamily="50" charset="-127"/>
                <a:cs typeface="Times New Roman" pitchFamily="18" charset="0"/>
              </a:endParaRPr>
            </a:p>
            <a:p>
              <a:pPr>
                <a:lnSpc>
                  <a:spcPct val="70000"/>
                </a:lnSpc>
                <a:spcBef>
                  <a:spcPct val="50000"/>
                </a:spcBef>
              </a:pPr>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End </a:t>
              </a:r>
              <a:r>
                <a:rPr lang="en-US" altLang="ko-KR" sz="950">
                  <a:latin typeface="Times New Roman" pitchFamily="18" charset="0"/>
                  <a:ea typeface="돋움" pitchFamily="50" charset="-127"/>
                  <a:cs typeface="Times New Roman" pitchFamily="18" charset="0"/>
                </a:rPr>
                <a:t>Plate</a:t>
              </a:r>
              <a:endParaRPr lang="ko-KR" altLang="en-US" sz="950">
                <a:latin typeface="Times New Roman" pitchFamily="18" charset="0"/>
                <a:ea typeface="돋움" pitchFamily="50" charset="-127"/>
                <a:cs typeface="Times New Roman" pitchFamily="18" charset="0"/>
              </a:endParaRPr>
            </a:p>
            <a:p>
              <a:pPr>
                <a:lnSpc>
                  <a:spcPct val="70000"/>
                </a:lnSpc>
                <a:spcBef>
                  <a:spcPct val="50000"/>
                </a:spcBef>
              </a:pPr>
              <a:r>
                <a:rPr lang="en-US" altLang="ko-KR" sz="950" smtClean="0">
                  <a:solidFill>
                    <a:srgbClr val="FF0000"/>
                  </a:solidFill>
                  <a:latin typeface="Times New Roman" pitchFamily="18" charset="0"/>
                  <a:ea typeface="돋움" pitchFamily="50" charset="-127"/>
                  <a:cs typeface="Times New Roman" pitchFamily="18" charset="0"/>
                </a:rPr>
                <a:t>D.</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Base Plate</a:t>
              </a:r>
              <a:endParaRPr lang="ko-KR" altLang="en-US" sz="950">
                <a:solidFill>
                  <a:srgbClr val="FF0000"/>
                </a:solidFill>
                <a:latin typeface="Times New Roman" pitchFamily="18" charset="0"/>
                <a:ea typeface="돋움" pitchFamily="50" charset="-127"/>
                <a:cs typeface="Times New Roman" pitchFamily="18" charset="0"/>
              </a:endParaRPr>
            </a:p>
          </p:txBody>
        </p:sp>
        <p:grpSp>
          <p:nvGrpSpPr>
            <p:cNvPr id="51" name="Group 37"/>
            <p:cNvGrpSpPr>
              <a:grpSpLocks/>
            </p:cNvGrpSpPr>
            <p:nvPr/>
          </p:nvGrpSpPr>
          <p:grpSpPr bwMode="auto">
            <a:xfrm>
              <a:off x="5121275" y="7353300"/>
              <a:ext cx="1295400" cy="855663"/>
              <a:chOff x="1056" y="848"/>
              <a:chExt cx="816" cy="539"/>
            </a:xfrm>
          </p:grpSpPr>
          <p:sp>
            <p:nvSpPr>
              <p:cNvPr id="52" name="Rectangle 38"/>
              <p:cNvSpPr>
                <a:spLocks noChangeArrowheads="1"/>
              </p:cNvSpPr>
              <p:nvPr/>
            </p:nvSpPr>
            <p:spPr bwMode="auto">
              <a:xfrm>
                <a:off x="1580" y="1279"/>
                <a:ext cx="208" cy="5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ko-KR" altLang="en-US" sz="950">
                  <a:latin typeface="Times New Roman" pitchFamily="18" charset="0"/>
                  <a:cs typeface="Times New Roman" pitchFamily="18" charset="0"/>
                </a:endParaRPr>
              </a:p>
            </p:txBody>
          </p:sp>
          <p:pic>
            <p:nvPicPr>
              <p:cNvPr id="53" name="Picture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6" y="848"/>
                <a:ext cx="816" cy="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4" name="Rectangle 40"/>
              <p:cNvSpPr>
                <a:spLocks noChangeArrowheads="1"/>
              </p:cNvSpPr>
              <p:nvPr/>
            </p:nvSpPr>
            <p:spPr bwMode="auto">
              <a:xfrm>
                <a:off x="1436" y="1292"/>
                <a:ext cx="238" cy="60"/>
              </a:xfrm>
              <a:prstGeom prst="rect">
                <a:avLst/>
              </a:prstGeom>
              <a:solidFill>
                <a:schemeClr val="bg1"/>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950">
                    <a:latin typeface="Times New Roman" pitchFamily="18" charset="0"/>
                    <a:cs typeface="Times New Roman" pitchFamily="18" charset="0"/>
                  </a:rPr>
                  <a:t>A</a:t>
                </a:r>
              </a:p>
            </p:txBody>
          </p:sp>
        </p:grpSp>
      </p:grpSp>
      <p:sp>
        <p:nvSpPr>
          <p:cNvPr id="55" name="Rectangle 46"/>
          <p:cNvSpPr>
            <a:spLocks noChangeArrowheads="1"/>
          </p:cNvSpPr>
          <p:nvPr/>
        </p:nvSpPr>
        <p:spPr bwMode="auto">
          <a:xfrm>
            <a:off x="3442965" y="3008784"/>
            <a:ext cx="3214202"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7</a:t>
            </a:r>
            <a:r>
              <a:rPr lang="en-US" altLang="ko-KR" sz="950">
                <a:latin typeface="Times New Roman" pitchFamily="18" charset="0"/>
                <a:ea typeface="돋움" pitchFamily="50" charset="-127"/>
                <a:cs typeface="Times New Roman" pitchFamily="18" charset="0"/>
              </a:rPr>
              <a:t>. Type nào tạo sao tải trọng định mức giống nhau cho cả 4 hướng trong cấu trúc của LM Guide?</a:t>
            </a:r>
          </a:p>
          <a:p>
            <a:r>
              <a:rPr lang="en-US" altLang="ko-KR" sz="950" smtClean="0">
                <a:solidFill>
                  <a:srgbClr val="FF0000"/>
                </a:solidFill>
                <a:latin typeface="Times New Roman" pitchFamily="18" charset="0"/>
                <a:ea typeface="돋움" pitchFamily="50" charset="-127"/>
                <a:cs typeface="Times New Roman" pitchFamily="18" charset="0"/>
              </a:rPr>
              <a:t>  </a:t>
            </a:r>
          </a:p>
          <a:p>
            <a:r>
              <a:rPr lang="en-US" altLang="ko-KR" sz="950" smtClean="0">
                <a:solidFill>
                  <a:srgbClr val="FF0000"/>
                </a:solidFill>
                <a:latin typeface="Times New Roman" pitchFamily="18" charset="0"/>
                <a:ea typeface="돋움" pitchFamily="50" charset="-127"/>
                <a:cs typeface="Times New Roman" pitchFamily="18" charset="0"/>
              </a:rPr>
              <a:t> A. </a:t>
            </a:r>
            <a:r>
              <a:rPr lang="en-US" altLang="ko-KR" sz="950">
                <a:solidFill>
                  <a:srgbClr val="FF0000"/>
                </a:solidFill>
                <a:latin typeface="Times New Roman" pitchFamily="18" charset="0"/>
                <a:ea typeface="돋움" pitchFamily="50" charset="-127"/>
                <a:cs typeface="Times New Roman" pitchFamily="18" charset="0"/>
              </a:rPr>
              <a:t>HSR  </a:t>
            </a:r>
            <a:r>
              <a:rPr lang="en-US" altLang="ko-KR" sz="950" smtClean="0">
                <a:solidFill>
                  <a:srgbClr val="FF0000"/>
                </a:solidFill>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SR    </a:t>
            </a:r>
            <a:r>
              <a:rPr lang="en-US" altLang="ko-KR" sz="950" smtClean="0">
                <a:latin typeface="Times New Roman" pitchFamily="18" charset="0"/>
                <a:ea typeface="돋움" pitchFamily="50" charset="-127"/>
                <a:cs typeface="Times New Roman" pitchFamily="18" charset="0"/>
              </a:rPr>
              <a:t>   C. </a:t>
            </a:r>
            <a:r>
              <a:rPr lang="en-US" altLang="ko-KR" sz="950">
                <a:latin typeface="Times New Roman" pitchFamily="18" charset="0"/>
                <a:ea typeface="돋움" pitchFamily="50" charset="-127"/>
                <a:cs typeface="Times New Roman" pitchFamily="18" charset="0"/>
              </a:rPr>
              <a:t>SRG   </a:t>
            </a:r>
            <a:r>
              <a:rPr lang="en-US" altLang="ko-KR" sz="950" smtClean="0">
                <a:latin typeface="Times New Roman" pitchFamily="18" charset="0"/>
                <a:ea typeface="돋움" pitchFamily="50" charset="-127"/>
                <a:cs typeface="Times New Roman" pitchFamily="18" charset="0"/>
              </a:rPr>
              <a:t>    D. </a:t>
            </a:r>
            <a:r>
              <a:rPr lang="en-US" altLang="ko-KR" sz="950">
                <a:latin typeface="Times New Roman" pitchFamily="18" charset="0"/>
                <a:ea typeface="돋움" pitchFamily="50" charset="-127"/>
                <a:cs typeface="Times New Roman" pitchFamily="18" charset="0"/>
              </a:rPr>
              <a:t>SRW</a:t>
            </a:r>
          </a:p>
        </p:txBody>
      </p:sp>
      <p:sp>
        <p:nvSpPr>
          <p:cNvPr id="56" name="Rectangle 14"/>
          <p:cNvSpPr>
            <a:spLocks noChangeArrowheads="1"/>
          </p:cNvSpPr>
          <p:nvPr/>
        </p:nvSpPr>
        <p:spPr bwMode="auto">
          <a:xfrm>
            <a:off x="3429000" y="4304928"/>
            <a:ext cx="3272982"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8</a:t>
            </a:r>
            <a:r>
              <a:rPr lang="en-US" altLang="ko-KR" sz="950">
                <a:latin typeface="Times New Roman" pitchFamily="18" charset="0"/>
                <a:ea typeface="돋움" pitchFamily="50" charset="-127"/>
                <a:cs typeface="Times New Roman" pitchFamily="18" charset="0"/>
              </a:rPr>
              <a:t>. Chọn đáp án không phải là đặc điểm của bôi trơn dầu?</a:t>
            </a:r>
          </a:p>
          <a:p>
            <a:pPr marL="111125" indent="-111125"/>
            <a:endParaRPr lang="en-US" altLang="ko-KR" sz="950" smtClean="0">
              <a:solidFill>
                <a:srgbClr val="FF0000"/>
              </a:solidFill>
              <a:latin typeface="Times New Roman" pitchFamily="18" charset="0"/>
              <a:ea typeface="돋움" pitchFamily="50" charset="-127"/>
              <a:cs typeface="Times New Roman" pitchFamily="18" charset="0"/>
            </a:endParaRPr>
          </a:p>
          <a:p>
            <a:pPr marL="111125" indent="-111125"/>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a:solidFill>
                  <a:srgbClr val="FF0000"/>
                </a:solidFill>
                <a:latin typeface="Times New Roman" pitchFamily="18" charset="0"/>
                <a:ea typeface="돋움" pitchFamily="50" charset="-127"/>
                <a:cs typeface="Times New Roman" pitchFamily="18" charset="0"/>
              </a:rPr>
              <a:t>Phù hợp với sử dụng nhiệt độ thấp hoặc tốc độ thấp hơn là bôi trơn bằng mỡ.</a:t>
            </a:r>
          </a:p>
          <a:p>
            <a:pPr marL="111125" indent="-111125"/>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Bôi trơn bằng dầu là </a:t>
            </a:r>
            <a:r>
              <a:rPr lang="en-US" altLang="ko-KR" sz="950" smtClean="0">
                <a:latin typeface="Times New Roman" pitchFamily="18" charset="0"/>
                <a:ea typeface="돋움" pitchFamily="50" charset="-127"/>
                <a:cs typeface="Times New Roman" pitchFamily="18" charset="0"/>
              </a:rPr>
              <a:t>phù </a:t>
            </a:r>
            <a:r>
              <a:rPr lang="en-US" altLang="ko-KR" sz="950">
                <a:latin typeface="Times New Roman" pitchFamily="18" charset="0"/>
                <a:ea typeface="돋움" pitchFamily="50" charset="-127"/>
                <a:cs typeface="Times New Roman" pitchFamily="18" charset="0"/>
              </a:rPr>
              <a:t>hợp trong trường hợp cần thoát nhiệt ra bên ngoài.</a:t>
            </a: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Cần phải sử dụng dầu có độ nhớt thấp đúng với tốc độ quay.</a:t>
            </a:r>
          </a:p>
          <a:p>
            <a:pPr marL="111125" indent="-111125"/>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Cần phải sử dụng dầu bôi trơn có độ lớn cao tùy theo tải trọng.</a:t>
            </a:r>
          </a:p>
        </p:txBody>
      </p:sp>
      <p:sp>
        <p:nvSpPr>
          <p:cNvPr id="57" name="Rectangle 14"/>
          <p:cNvSpPr>
            <a:spLocks noChangeArrowheads="1"/>
          </p:cNvSpPr>
          <p:nvPr/>
        </p:nvSpPr>
        <p:spPr bwMode="auto">
          <a:xfrm>
            <a:off x="3429000" y="7689304"/>
            <a:ext cx="3272982" cy="17004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8</a:t>
            </a:r>
            <a:r>
              <a:rPr lang="en-US" altLang="ko-KR" sz="950" smtClean="0">
                <a:latin typeface="Times New Roman" pitchFamily="18" charset="0"/>
                <a:ea typeface="돋움" pitchFamily="50" charset="-127"/>
                <a:cs typeface="Times New Roman" pitchFamily="18" charset="0"/>
              </a:rPr>
              <a:t>0</a:t>
            </a:r>
            <a:r>
              <a:rPr lang="en-US" altLang="ko-KR" sz="950">
                <a:latin typeface="Times New Roman" pitchFamily="18" charset="0"/>
                <a:ea typeface="돋움" pitchFamily="50" charset="-127"/>
                <a:cs typeface="Times New Roman" pitchFamily="18" charset="0"/>
              </a:rPr>
              <a:t>. Chọn đáp án biểu thị đúng thứ tự ưu tiên của </a:t>
            </a:r>
            <a:r>
              <a:rPr lang="en-US" altLang="ko-KR" sz="950" smtClean="0">
                <a:latin typeface="Times New Roman" pitchFamily="18" charset="0"/>
                <a:ea typeface="돋움" pitchFamily="50" charset="-127"/>
                <a:cs typeface="Times New Roman" pitchFamily="18" charset="0"/>
              </a:rPr>
              <a:t>đường kẻ trong bản vẽ?</a:t>
            </a:r>
            <a:endParaRPr lang="en-US" altLang="ko-KR" sz="950">
              <a:latin typeface="Times New Roman" pitchFamily="18" charset="0"/>
              <a:ea typeface="돋움" pitchFamily="50" charset="-127"/>
              <a:cs typeface="Times New Roman" pitchFamily="18" charset="0"/>
            </a:endParaRPr>
          </a:p>
          <a:p>
            <a:pPr marL="111125" indent="-111125"/>
            <a:endParaRPr lang="en-US" altLang="ko-KR" sz="950" smtClean="0">
              <a:solidFill>
                <a:srgbClr val="FF0000"/>
              </a:solidFill>
              <a:latin typeface="Times New Roman" pitchFamily="18" charset="0"/>
              <a:ea typeface="돋움" pitchFamily="50" charset="-127"/>
              <a:cs typeface="Times New Roman" pitchFamily="18" charset="0"/>
            </a:endParaRPr>
          </a:p>
          <a:p>
            <a:pPr marL="111125" indent="-111125"/>
            <a:r>
              <a:rPr lang="en-US" altLang="ko-KR" sz="950" smtClean="0">
                <a:solidFill>
                  <a:srgbClr val="FF0000"/>
                </a:solidFill>
                <a:latin typeface="Times New Roman" pitchFamily="18" charset="0"/>
                <a:ea typeface="돋움" pitchFamily="50" charset="-127"/>
                <a:cs typeface="Times New Roman" pitchFamily="18" charset="0"/>
              </a:rPr>
              <a:t>A. Đường nhìn thấy</a:t>
            </a:r>
            <a:r>
              <a:rPr lang="ko-KR" altLang="en-US" sz="950" smtClean="0">
                <a:solidFill>
                  <a:srgbClr val="FF0000"/>
                </a:solidFill>
                <a:latin typeface="Times New Roman" pitchFamily="18" charset="0"/>
                <a:ea typeface="돋움" pitchFamily="50" charset="-127"/>
                <a:cs typeface="Times New Roman" pitchFamily="18" charset="0"/>
              </a:rPr>
              <a:t> </a:t>
            </a:r>
            <a:r>
              <a:rPr lang="ko-KR" altLang="en-US" sz="950">
                <a:solidFill>
                  <a:srgbClr val="FF0000"/>
                </a:solidFill>
                <a:latin typeface="Times New Roman" pitchFamily="18" charset="0"/>
                <a:ea typeface="돋움" pitchFamily="50" charset="-127"/>
                <a:cs typeface="Times New Roman" pitchFamily="18" charset="0"/>
                <a:sym typeface="Wingdings" pitchFamily="2" charset="2"/>
              </a:rPr>
              <a:t> </a:t>
            </a:r>
            <a:r>
              <a:rPr lang="en-US" altLang="ko-KR" sz="950" smtClean="0">
                <a:solidFill>
                  <a:srgbClr val="FF0000"/>
                </a:solidFill>
                <a:latin typeface="Times New Roman" pitchFamily="18" charset="0"/>
                <a:ea typeface="돋움" pitchFamily="50" charset="-127"/>
                <a:cs typeface="Times New Roman" pitchFamily="18" charset="0"/>
                <a:sym typeface="Wingdings" pitchFamily="2" charset="2"/>
              </a:rPr>
              <a:t>đường </a:t>
            </a:r>
            <a:r>
              <a:rPr lang="en-US" altLang="ko-KR" sz="950">
                <a:solidFill>
                  <a:srgbClr val="FF0000"/>
                </a:solidFill>
                <a:latin typeface="Times New Roman" pitchFamily="18" charset="0"/>
                <a:ea typeface="돋움" pitchFamily="50" charset="-127"/>
                <a:cs typeface="Times New Roman" pitchFamily="18" charset="0"/>
                <a:sym typeface="Wingdings" pitchFamily="2" charset="2"/>
              </a:rPr>
              <a:t>ẩn</a:t>
            </a:r>
            <a:r>
              <a:rPr lang="ko-KR" altLang="en-US" sz="950">
                <a:solidFill>
                  <a:srgbClr val="FF0000"/>
                </a:solidFill>
                <a:latin typeface="Times New Roman" pitchFamily="18" charset="0"/>
                <a:ea typeface="돋움" pitchFamily="50" charset="-127"/>
                <a:cs typeface="Times New Roman" pitchFamily="18" charset="0"/>
                <a:sym typeface="Wingdings" pitchFamily="2" charset="2"/>
              </a:rPr>
              <a:t> </a:t>
            </a:r>
            <a:r>
              <a:rPr lang="ko-KR" altLang="en-US" sz="950" smtClean="0">
                <a:solidFill>
                  <a:srgbClr val="FF0000"/>
                </a:solidFill>
                <a:latin typeface="Times New Roman" pitchFamily="18" charset="0"/>
                <a:ea typeface="돋움" pitchFamily="50" charset="-127"/>
                <a:cs typeface="Times New Roman" pitchFamily="18" charset="0"/>
                <a:sym typeface="Wingdings" pitchFamily="2" charset="2"/>
              </a:rPr>
              <a:t> </a:t>
            </a:r>
            <a:r>
              <a:rPr lang="en-US" altLang="ko-KR" sz="950" smtClean="0">
                <a:solidFill>
                  <a:srgbClr val="FF0000"/>
                </a:solidFill>
                <a:latin typeface="Times New Roman" pitchFamily="18" charset="0"/>
                <a:ea typeface="돋움" pitchFamily="50" charset="-127"/>
                <a:cs typeface="Times New Roman" pitchFamily="18" charset="0"/>
                <a:sym typeface="Wingdings" pitchFamily="2" charset="2"/>
              </a:rPr>
              <a:t>đường cắt phẳng</a:t>
            </a:r>
            <a:r>
              <a:rPr lang="ko-KR" altLang="en-US" sz="950" smtClean="0">
                <a:solidFill>
                  <a:srgbClr val="FF0000"/>
                </a:solidFill>
                <a:latin typeface="Times New Roman" pitchFamily="18" charset="0"/>
                <a:ea typeface="돋움" pitchFamily="50" charset="-127"/>
                <a:cs typeface="Times New Roman" pitchFamily="18" charset="0"/>
                <a:sym typeface="Wingdings" pitchFamily="2" charset="2"/>
              </a:rPr>
              <a:t> </a:t>
            </a:r>
            <a:r>
              <a:rPr lang="ko-KR" altLang="en-US" sz="950">
                <a:solidFill>
                  <a:srgbClr val="FF0000"/>
                </a:solidFill>
                <a:latin typeface="Times New Roman" pitchFamily="18" charset="0"/>
                <a:ea typeface="돋움" pitchFamily="50" charset="-127"/>
                <a:cs typeface="Times New Roman" pitchFamily="18" charset="0"/>
                <a:sym typeface="Wingdings" pitchFamily="2" charset="2"/>
              </a:rPr>
              <a:t> </a:t>
            </a:r>
            <a:r>
              <a:rPr lang="en-US" altLang="ko-KR" sz="950" smtClean="0">
                <a:solidFill>
                  <a:srgbClr val="FF0000"/>
                </a:solidFill>
                <a:latin typeface="Times New Roman" pitchFamily="18" charset="0"/>
                <a:ea typeface="돋움" pitchFamily="50" charset="-127"/>
                <a:cs typeface="Times New Roman" pitchFamily="18" charset="0"/>
                <a:sym typeface="Wingdings" pitchFamily="2" charset="2"/>
              </a:rPr>
              <a:t>đường  tâm</a:t>
            </a:r>
            <a:r>
              <a:rPr lang="ko-KR" altLang="en-US" sz="950" smtClean="0">
                <a:solidFill>
                  <a:srgbClr val="FF0000"/>
                </a:solidFill>
                <a:latin typeface="Times New Roman" pitchFamily="18" charset="0"/>
                <a:ea typeface="돋움" pitchFamily="50" charset="-127"/>
                <a:cs typeface="Times New Roman" pitchFamily="18" charset="0"/>
                <a:sym typeface="Wingdings" pitchFamily="2" charset="2"/>
              </a:rPr>
              <a:t> </a:t>
            </a:r>
            <a:r>
              <a:rPr lang="ko-KR" altLang="en-US" sz="950">
                <a:solidFill>
                  <a:srgbClr val="FF0000"/>
                </a:solidFill>
                <a:latin typeface="Times New Roman" pitchFamily="18" charset="0"/>
                <a:ea typeface="돋움" pitchFamily="50" charset="-127"/>
                <a:cs typeface="Times New Roman" pitchFamily="18" charset="0"/>
                <a:sym typeface="Wingdings" pitchFamily="2" charset="2"/>
              </a:rPr>
              <a:t> </a:t>
            </a:r>
            <a:r>
              <a:rPr lang="en-US" altLang="ko-KR" sz="950" smtClean="0">
                <a:solidFill>
                  <a:srgbClr val="FF0000"/>
                </a:solidFill>
                <a:latin typeface="Times New Roman" pitchFamily="18" charset="0"/>
                <a:ea typeface="돋움" pitchFamily="50" charset="-127"/>
                <a:cs typeface="Times New Roman" pitchFamily="18" charset="0"/>
                <a:sym typeface="Wingdings" pitchFamily="2" charset="2"/>
              </a:rPr>
              <a:t>đường đề kích thước</a:t>
            </a:r>
            <a:endParaRPr lang="ko-KR" altLang="en-US" sz="950">
              <a:solidFill>
                <a:srgbClr val="FF0000"/>
              </a:solidFill>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Đường nhìn thấy</a:t>
            </a:r>
            <a:r>
              <a:rPr lang="ko-KR" altLang="en-US" sz="950" smtClean="0">
                <a:latin typeface="Times New Roman" pitchFamily="18" charset="0"/>
                <a:ea typeface="돋움" pitchFamily="50" charset="-127"/>
                <a:cs typeface="Times New Roman" pitchFamily="18" charset="0"/>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cắt phẳng</a:t>
            </a:r>
            <a:r>
              <a:rPr lang="ko-KR" altLang="en-US" sz="950" smtClean="0">
                <a:latin typeface="Times New Roman" pitchFamily="18" charset="0"/>
                <a:ea typeface="돋움" pitchFamily="50" charset="-127"/>
                <a:cs typeface="Times New Roman" pitchFamily="18" charset="0"/>
                <a:sym typeface="Wingdings" pitchFamily="2" charset="2"/>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a:t>
            </a:r>
            <a:r>
              <a:rPr lang="en-US" altLang="ko-KR" sz="950">
                <a:latin typeface="Times New Roman" pitchFamily="18" charset="0"/>
                <a:ea typeface="돋움" pitchFamily="50" charset="-127"/>
                <a:cs typeface="Times New Roman" pitchFamily="18" charset="0"/>
                <a:sym typeface="Wingdings" pitchFamily="2" charset="2"/>
              </a:rPr>
              <a:t>ẩn</a:t>
            </a:r>
            <a:r>
              <a:rPr lang="ko-KR" altLang="en-US" sz="950">
                <a:latin typeface="Times New Roman" pitchFamily="18" charset="0"/>
                <a:ea typeface="돋움" pitchFamily="50" charset="-127"/>
                <a:cs typeface="Times New Roman" pitchFamily="18" charset="0"/>
                <a:sym typeface="Wingdings" pitchFamily="2" charset="2"/>
              </a:rPr>
              <a:t>  </a:t>
            </a:r>
            <a:r>
              <a:rPr lang="en-US" altLang="ko-KR" sz="950" smtClean="0">
                <a:latin typeface="Times New Roman" pitchFamily="18" charset="0"/>
                <a:ea typeface="돋움" pitchFamily="50" charset="-127"/>
                <a:cs typeface="Times New Roman" pitchFamily="18" charset="0"/>
                <a:sym typeface="Wingdings" pitchFamily="2" charset="2"/>
              </a:rPr>
              <a:t>đường tâm</a:t>
            </a:r>
            <a:r>
              <a:rPr lang="ko-KR" altLang="en-US" sz="950" smtClean="0">
                <a:latin typeface="Times New Roman" pitchFamily="18" charset="0"/>
                <a:ea typeface="돋움" pitchFamily="50" charset="-127"/>
                <a:cs typeface="Times New Roman" pitchFamily="18" charset="0"/>
                <a:sym typeface="Wingdings" pitchFamily="2" charset="2"/>
              </a:rPr>
              <a:t> </a:t>
            </a:r>
            <a:r>
              <a:rPr lang="ko-KR" altLang="en-US" sz="950">
                <a:latin typeface="Times New Roman" pitchFamily="18" charset="0"/>
                <a:ea typeface="돋움" pitchFamily="50" charset="-127"/>
                <a:cs typeface="Times New Roman" pitchFamily="18" charset="0"/>
                <a:sym typeface="Wingdings" pitchFamily="2" charset="2"/>
              </a:rPr>
              <a:t>  </a:t>
            </a:r>
            <a:r>
              <a:rPr lang="en-US" altLang="ko-KR" sz="950" smtClean="0">
                <a:latin typeface="Times New Roman" pitchFamily="18" charset="0"/>
                <a:ea typeface="돋움" pitchFamily="50" charset="-127"/>
                <a:cs typeface="Times New Roman" pitchFamily="18" charset="0"/>
                <a:sym typeface="Wingdings" pitchFamily="2" charset="2"/>
              </a:rPr>
              <a:t>đường đề kích thước</a:t>
            </a:r>
            <a:endParaRPr lang="ko-KR" altLang="en-US" sz="950">
              <a:latin typeface="Times New Roman" pitchFamily="18" charset="0"/>
              <a:ea typeface="돋움" pitchFamily="50" charset="-127"/>
              <a:cs typeface="Times New Roman" pitchFamily="18" charset="0"/>
              <a:sym typeface="Wingdings" pitchFamily="2" charset="2"/>
            </a:endParaRPr>
          </a:p>
          <a:p>
            <a:pPr marL="111125" indent="-111125"/>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vi-VN" altLang="ko-KR" sz="950">
                <a:latin typeface="Times New Roman" pitchFamily="18" charset="0"/>
                <a:ea typeface="돋움" pitchFamily="50" charset="-127"/>
                <a:cs typeface="Times New Roman" pitchFamily="18" charset="0"/>
              </a:rPr>
              <a:t>Đường nhìn thấy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ẩn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smtClean="0">
                <a:latin typeface="Times New Roman" pitchFamily="18" charset="0"/>
                <a:ea typeface="돋움" pitchFamily="50" charset="-127"/>
                <a:cs typeface="Times New Roman" pitchFamily="18" charset="0"/>
                <a:sym typeface="Wingdings" pitchFamily="2" charset="2"/>
              </a:rPr>
              <a:t>đường tâm</a:t>
            </a:r>
            <a:r>
              <a:rPr lang="en-US" altLang="ko-KR" sz="950" smtClean="0">
                <a:latin typeface="Times New Roman" pitchFamily="18" charset="0"/>
                <a:ea typeface="돋움" pitchFamily="50" charset="-127"/>
                <a:cs typeface="Times New Roman" pitchFamily="18" charset="0"/>
                <a:sym typeface="Wingdings" pitchFamily="2" charset="2"/>
              </a:rPr>
              <a:t>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a:t>
            </a:r>
            <a:r>
              <a:rPr lang="en-US" altLang="ko-KR" sz="950" smtClean="0">
                <a:latin typeface="Times New Roman" pitchFamily="18" charset="0"/>
                <a:ea typeface="돋움" pitchFamily="50" charset="-127"/>
                <a:cs typeface="Times New Roman" pitchFamily="18" charset="0"/>
                <a:sym typeface="Wingdings" pitchFamily="2" charset="2"/>
              </a:rPr>
              <a:t>kích đề thước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cắt phẳng </a:t>
            </a:r>
            <a:endParaRPr lang="ko-KR" altLang="en-US" sz="950">
              <a:latin typeface="Times New Roman" pitchFamily="18" charset="0"/>
              <a:ea typeface="돋움" pitchFamily="50" charset="-127"/>
              <a:cs typeface="Times New Roman" pitchFamily="18" charset="0"/>
            </a:endParaRPr>
          </a:p>
          <a:p>
            <a:pPr marL="111125" indent="-111125"/>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sym typeface="Wingdings" pitchFamily="2" charset="2"/>
              </a:rPr>
              <a:t>Đ</a:t>
            </a:r>
            <a:r>
              <a:rPr lang="vi-VN" altLang="ko-KR" sz="950" smtClean="0">
                <a:latin typeface="Times New Roman" pitchFamily="18" charset="0"/>
                <a:ea typeface="돋움" pitchFamily="50" charset="-127"/>
                <a:cs typeface="Times New Roman" pitchFamily="18" charset="0"/>
                <a:sym typeface="Wingdings" pitchFamily="2" charset="2"/>
              </a:rPr>
              <a:t>ường </a:t>
            </a:r>
            <a:r>
              <a:rPr lang="vi-VN" altLang="ko-KR" sz="950">
                <a:latin typeface="Times New Roman" pitchFamily="18" charset="0"/>
                <a:ea typeface="돋움" pitchFamily="50" charset="-127"/>
                <a:cs typeface="Times New Roman" pitchFamily="18" charset="0"/>
                <a:sym typeface="Wingdings" pitchFamily="2" charset="2"/>
              </a:rPr>
              <a:t>ẩn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rPr>
              <a:t>Đường nhìn thấy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cắt </a:t>
            </a:r>
            <a:r>
              <a:rPr lang="en-US" altLang="ko-KR" sz="950" smtClean="0">
                <a:latin typeface="Times New Roman" pitchFamily="18" charset="0"/>
                <a:ea typeface="돋움" pitchFamily="50" charset="-127"/>
                <a:cs typeface="Times New Roman" pitchFamily="18" charset="0"/>
                <a:sym typeface="Wingdings" pitchFamily="2" charset="2"/>
              </a:rPr>
              <a:t>phẳng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a:t>
            </a:r>
            <a:r>
              <a:rPr lang="vi-VN" altLang="ko-KR" sz="950" smtClean="0">
                <a:latin typeface="Times New Roman" pitchFamily="18" charset="0"/>
                <a:ea typeface="돋움" pitchFamily="50" charset="-127"/>
                <a:cs typeface="Times New Roman" pitchFamily="18" charset="0"/>
                <a:sym typeface="Wingdings" pitchFamily="2" charset="2"/>
              </a:rPr>
              <a:t> tâm</a:t>
            </a:r>
            <a:r>
              <a:rPr lang="en-US" altLang="ko-KR" sz="950" smtClean="0">
                <a:latin typeface="Times New Roman" pitchFamily="18" charset="0"/>
                <a:ea typeface="돋움" pitchFamily="50" charset="-127"/>
                <a:cs typeface="Times New Roman" pitchFamily="18" charset="0"/>
                <a:sym typeface="Wingdings" pitchFamily="2" charset="2"/>
              </a:rPr>
              <a:t> </a:t>
            </a:r>
            <a:r>
              <a:rPr lang="ko-KR" altLang="en-US" sz="950" smtClean="0">
                <a:latin typeface="Times New Roman" pitchFamily="18" charset="0"/>
                <a:ea typeface="돋움" pitchFamily="50" charset="-127"/>
                <a:cs typeface="Times New Roman" pitchFamily="18" charset="0"/>
                <a:sym typeface="Wingdings" pitchFamily="2" charset="2"/>
              </a:rPr>
              <a:t> </a:t>
            </a:r>
            <a:r>
              <a:rPr lang="vi-VN" altLang="ko-KR" sz="950">
                <a:latin typeface="Times New Roman" pitchFamily="18" charset="0"/>
                <a:ea typeface="돋움" pitchFamily="50" charset="-127"/>
                <a:cs typeface="Times New Roman" pitchFamily="18" charset="0"/>
                <a:sym typeface="Wingdings" pitchFamily="2" charset="2"/>
              </a:rPr>
              <a:t>đường </a:t>
            </a:r>
            <a:r>
              <a:rPr lang="en-US" altLang="ko-KR" sz="950" smtClean="0">
                <a:latin typeface="Times New Roman" pitchFamily="18" charset="0"/>
                <a:ea typeface="돋움" pitchFamily="50" charset="-127"/>
                <a:cs typeface="Times New Roman" pitchFamily="18" charset="0"/>
                <a:sym typeface="Wingdings" pitchFamily="2" charset="2"/>
              </a:rPr>
              <a:t>đề kích thước</a:t>
            </a:r>
            <a:r>
              <a:rPr lang="vi-VN" altLang="ko-KR" sz="950" smtClean="0">
                <a:latin typeface="Times New Roman" pitchFamily="18" charset="0"/>
                <a:ea typeface="돋움" pitchFamily="50" charset="-127"/>
                <a:cs typeface="Times New Roman" pitchFamily="18" charset="0"/>
                <a:sym typeface="Wingdings" pitchFamily="2" charset="2"/>
              </a:rPr>
              <a:t> </a:t>
            </a:r>
            <a:r>
              <a:rPr lang="ko-KR" altLang="en-US" sz="950" smtClean="0">
                <a:latin typeface="Times New Roman" pitchFamily="18" charset="0"/>
                <a:ea typeface="돋움" pitchFamily="50" charset="-127"/>
                <a:cs typeface="Times New Roman" pitchFamily="18" charset="0"/>
                <a:sym typeface="Wingdings" pitchFamily="2" charset="2"/>
              </a:rPr>
              <a:t> </a:t>
            </a:r>
            <a:endParaRPr lang="ko-KR" altLang="en-US" sz="950">
              <a:latin typeface="Times New Roman" pitchFamily="18" charset="0"/>
              <a:ea typeface="돋움" pitchFamily="50" charset="-127"/>
              <a:cs typeface="Times New Roman" pitchFamily="18" charset="0"/>
            </a:endParaRPr>
          </a:p>
        </p:txBody>
      </p:sp>
      <p:sp>
        <p:nvSpPr>
          <p:cNvPr id="58" name="Rectangle 22"/>
          <p:cNvSpPr>
            <a:spLocks noChangeArrowheads="1"/>
          </p:cNvSpPr>
          <p:nvPr/>
        </p:nvSpPr>
        <p:spPr bwMode="auto">
          <a:xfrm>
            <a:off x="3428999" y="6465168"/>
            <a:ext cx="3228167"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9</a:t>
            </a:r>
            <a:r>
              <a:rPr lang="en-US" altLang="ko-KR" sz="950">
                <a:latin typeface="Times New Roman" pitchFamily="18" charset="0"/>
                <a:ea typeface="돋움" pitchFamily="50" charset="-127"/>
                <a:cs typeface="Times New Roman" pitchFamily="18" charset="0"/>
              </a:rPr>
              <a:t>. Chọn đáp án không đúng với mục đích của việc bôi trơn?</a:t>
            </a:r>
          </a:p>
          <a:p>
            <a:pPr marL="228600" indent="-228600">
              <a:buAutoNum type="alphaUcPeriod"/>
            </a:pPr>
            <a:r>
              <a:rPr lang="en-US" altLang="ko-KR" sz="950" smtClean="0">
                <a:latin typeface="Times New Roman" pitchFamily="18" charset="0"/>
                <a:ea typeface="돋움" pitchFamily="50" charset="-127"/>
                <a:cs typeface="Times New Roman" pitchFamily="18" charset="0"/>
              </a:rPr>
              <a:t>Giảm </a:t>
            </a:r>
            <a:r>
              <a:rPr lang="en-US" altLang="ko-KR" sz="950">
                <a:latin typeface="Times New Roman" pitchFamily="18" charset="0"/>
                <a:ea typeface="돋움" pitchFamily="50" charset="-127"/>
                <a:cs typeface="Times New Roman" pitchFamily="18" charset="0"/>
              </a:rPr>
              <a:t>ma sát và </a:t>
            </a:r>
            <a:r>
              <a:rPr lang="en-US" altLang="ko-KR" sz="950" smtClean="0">
                <a:latin typeface="Times New Roman" pitchFamily="18" charset="0"/>
                <a:ea typeface="돋움" pitchFamily="50" charset="-127"/>
                <a:cs typeface="Times New Roman" pitchFamily="18" charset="0"/>
              </a:rPr>
              <a:t>giảm mài </a:t>
            </a:r>
            <a:r>
              <a:rPr lang="en-US" altLang="ko-KR" sz="950">
                <a:latin typeface="Times New Roman" pitchFamily="18" charset="0"/>
                <a:ea typeface="돋움" pitchFamily="50" charset="-127"/>
                <a:cs typeface="Times New Roman" pitchFamily="18" charset="0"/>
              </a:rPr>
              <a:t>mòn</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marL="228600" indent="-228600">
              <a:buAutoNum type="alphaUcPeriod"/>
            </a:pPr>
            <a:r>
              <a:rPr lang="en-US" altLang="ko-KR" sz="950" smtClean="0">
                <a:latin typeface="Times New Roman" pitchFamily="18" charset="0"/>
                <a:ea typeface="돋움" pitchFamily="50" charset="-127"/>
                <a:cs typeface="Times New Roman" pitchFamily="18" charset="0"/>
              </a:rPr>
              <a:t>Giảm nhiệt </a:t>
            </a:r>
            <a:r>
              <a:rPr lang="en-US" altLang="ko-KR" sz="950">
                <a:latin typeface="Times New Roman" pitchFamily="18" charset="0"/>
                <a:ea typeface="돋움" pitchFamily="50" charset="-127"/>
                <a:cs typeface="Times New Roman" pitchFamily="18" charset="0"/>
              </a:rPr>
              <a:t>ma </a:t>
            </a:r>
            <a:r>
              <a:rPr lang="en-US" altLang="ko-KR" sz="950" smtClean="0">
                <a:latin typeface="Times New Roman" pitchFamily="18" charset="0"/>
                <a:ea typeface="돋움" pitchFamily="50" charset="-127"/>
                <a:cs typeface="Times New Roman" pitchFamily="18" charset="0"/>
              </a:rPr>
              <a:t>sát</a:t>
            </a:r>
            <a:endParaRPr lang="en-US" altLang="ko-KR" sz="950">
              <a:latin typeface="Times New Roman" pitchFamily="18" charset="0"/>
              <a:ea typeface="돋움" pitchFamily="50" charset="-127"/>
              <a:cs typeface="Times New Roman" pitchFamily="18" charset="0"/>
            </a:endParaRPr>
          </a:p>
          <a:p>
            <a:pPr marL="228600" indent="-228600">
              <a:buAutoNum type="alphaUcPeriod"/>
            </a:pPr>
            <a:r>
              <a:rPr lang="en-US" altLang="ko-KR" sz="950" smtClean="0">
                <a:latin typeface="Times New Roman" pitchFamily="18" charset="0"/>
                <a:ea typeface="돋움" pitchFamily="50" charset="-127"/>
                <a:cs typeface="Times New Roman" pitchFamily="18" charset="0"/>
              </a:rPr>
              <a:t>Tăng </a:t>
            </a:r>
            <a:r>
              <a:rPr lang="en-US" altLang="ko-KR" sz="950">
                <a:latin typeface="Times New Roman" pitchFamily="18" charset="0"/>
                <a:ea typeface="돋움" pitchFamily="50" charset="-127"/>
                <a:cs typeface="Times New Roman" pitchFamily="18" charset="0"/>
              </a:rPr>
              <a:t>tuổi thọ của Bearing</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pPr marL="228600" indent="-228600">
              <a:buAutoNum type="alphaUcPeriod"/>
            </a:pPr>
            <a:r>
              <a:rPr lang="en-US" altLang="ko-KR" sz="950" smtClean="0">
                <a:solidFill>
                  <a:srgbClr val="FF0000"/>
                </a:solidFill>
                <a:latin typeface="Times New Roman" pitchFamily="18" charset="0"/>
                <a:ea typeface="돋움" pitchFamily="50" charset="-127"/>
                <a:cs typeface="Times New Roman" pitchFamily="18" charset="0"/>
              </a:rPr>
              <a:t>Ngăn </a:t>
            </a:r>
            <a:r>
              <a:rPr lang="en-US" altLang="ko-KR" sz="950">
                <a:solidFill>
                  <a:srgbClr val="FF0000"/>
                </a:solidFill>
                <a:latin typeface="Times New Roman" pitchFamily="18" charset="0"/>
                <a:ea typeface="돋움" pitchFamily="50" charset="-127"/>
                <a:cs typeface="Times New Roman" pitchFamily="18" charset="0"/>
              </a:rPr>
              <a:t>phân tán</a:t>
            </a:r>
            <a:endParaRPr lang="ko-KR" altLang="en-US" sz="950">
              <a:solidFill>
                <a:srgbClr val="FF0000"/>
              </a:solidFill>
              <a:latin typeface="Times New Roman" pitchFamily="18" charset="0"/>
              <a:ea typeface="돋움" pitchFamily="50" charset="-127"/>
              <a:cs typeface="Times New Roman" pitchFamily="18" charset="0"/>
            </a:endParaRPr>
          </a:p>
        </p:txBody>
      </p:sp>
    </p:spTree>
    <p:extLst>
      <p:ext uri="{BB962C8B-B14F-4D97-AF65-F5344CB8AC3E}">
        <p14:creationId xmlns:p14="http://schemas.microsoft.com/office/powerpoint/2010/main" val="265151419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3075" name="Rectangle 3"/>
          <p:cNvSpPr>
            <a:spLocks noChangeArrowheads="1"/>
          </p:cNvSpPr>
          <p:nvPr/>
        </p:nvSpPr>
        <p:spPr bwMode="auto">
          <a:xfrm>
            <a:off x="162099"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3076" name="Rectangle 4"/>
          <p:cNvSpPr>
            <a:spLocks noChangeArrowheads="1"/>
          </p:cNvSpPr>
          <p:nvPr/>
        </p:nvSpPr>
        <p:spPr bwMode="auto">
          <a:xfrm>
            <a:off x="3425736"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215045"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3078" name="Text Box 6"/>
          <p:cNvSpPr txBox="1">
            <a:spLocks noChangeArrowheads="1"/>
          </p:cNvSpPr>
          <p:nvPr/>
        </p:nvSpPr>
        <p:spPr bwMode="auto">
          <a:xfrm>
            <a:off x="292100" y="817563"/>
            <a:ext cx="1842171"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smtClean="0">
                <a:latin typeface="Times New Roman" pitchFamily="18" charset="0"/>
                <a:cs typeface="Times New Roman" pitchFamily="18" charset="0"/>
              </a:rPr>
              <a:t>Điện </a:t>
            </a:r>
            <a:r>
              <a:rPr lang="en-US" altLang="ko-KR" sz="950" b="1" smtClean="0">
                <a:latin typeface="Times New Roman" pitchFamily="18" charset="0"/>
                <a:cs typeface="Times New Roman" pitchFamily="18" charset="0"/>
              </a:rPr>
              <a:t>- Đ</a:t>
            </a:r>
            <a:r>
              <a:rPr lang="vi-VN" altLang="ko-KR" sz="950" b="1" smtClean="0">
                <a:latin typeface="Times New Roman" pitchFamily="18" charset="0"/>
                <a:cs typeface="Times New Roman" pitchFamily="18" charset="0"/>
              </a:rPr>
              <a:t>iện </a:t>
            </a:r>
            <a:r>
              <a:rPr lang="vi-VN" altLang="ko-KR" sz="950" b="1" dirty="0" smtClean="0">
                <a:latin typeface="Times New Roman" pitchFamily="18" charset="0"/>
                <a:cs typeface="Times New Roman" pitchFamily="18" charset="0"/>
              </a:rPr>
              <a:t>tử</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1~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20</a:t>
            </a:r>
            <a:endParaRPr lang="ko-KR" altLang="en-US" sz="950" b="1" dirty="0" smtClean="0">
              <a:latin typeface="Times New Roman" pitchFamily="18" charset="0"/>
              <a:cs typeface="Times New Roman" pitchFamily="18" charset="0"/>
            </a:endParaRPr>
          </a:p>
        </p:txBody>
      </p:sp>
      <p:sp>
        <p:nvSpPr>
          <p:cNvPr id="60" name="Rectangle 7"/>
          <p:cNvSpPr>
            <a:spLocks noChangeArrowheads="1"/>
          </p:cNvSpPr>
          <p:nvPr/>
        </p:nvSpPr>
        <p:spPr bwMode="auto">
          <a:xfrm>
            <a:off x="188640" y="319141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 </a:t>
            </a:r>
            <a:r>
              <a:rPr lang="vi-VN" altLang="ko-KR" sz="950">
                <a:latin typeface="Times New Roman" pitchFamily="18" charset="0"/>
                <a:ea typeface="LG Smart_H Regular" panose="020B0600000101010101" pitchFamily="34" charset="-127"/>
                <a:cs typeface="Times New Roman" pitchFamily="18" charset="0"/>
              </a:rPr>
              <a:t>Độ cao thấp của dòng điện được gọi là </a:t>
            </a:r>
            <a:r>
              <a:rPr lang="vi-VN" altLang="ko-KR" sz="950" smtClean="0">
                <a:latin typeface="Times New Roman" pitchFamily="18" charset="0"/>
                <a:ea typeface="LG Smart_H Regular" panose="020B0600000101010101" pitchFamily="34" charset="-127"/>
                <a:cs typeface="Times New Roman" pitchFamily="18" charset="0"/>
              </a:rPr>
              <a:t>gì</a:t>
            </a:r>
            <a:r>
              <a:rPr lang="el-GR" altLang="ko-KR" sz="950" smtClean="0">
                <a:latin typeface="Times New Roman" pitchFamily="18" charset="0"/>
                <a:ea typeface="LG Smart_H Regular" panose="020B0600000101010101" pitchFamily="34" charset="-127"/>
                <a:cs typeface="Times New Roman" pitchFamily="18" charset="0"/>
              </a:rPr>
              <a:t>?</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Điện thế(electric potential</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Hiệu điện thế(potential difference)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Điện áp(electric voltage</a:t>
            </a:r>
            <a:r>
              <a:rPr lang="en-US" altLang="ko-KR" sz="950" smtClean="0">
                <a:latin typeface="Times New Roman" pitchFamily="18" charset="0"/>
                <a:ea typeface="LG Smart_H Regular" panose="020B0600000101010101" pitchFamily="34" charset="-127"/>
                <a:cs typeface="Times New Roman" pitchFamily="18" charset="0"/>
              </a:rPr>
              <a:t>)</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Lực điện động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1" name="Rectangle 7"/>
          <p:cNvSpPr>
            <a:spLocks noChangeArrowheads="1"/>
          </p:cNvSpPr>
          <p:nvPr/>
        </p:nvSpPr>
        <p:spPr bwMode="auto">
          <a:xfrm>
            <a:off x="116632" y="4775592"/>
            <a:ext cx="3384376"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3</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Loại nào sau đây là thiết bị ngắt quá </a:t>
            </a:r>
            <a:r>
              <a:rPr lang="vi-VN" altLang="ko-KR" sz="950" smtClean="0">
                <a:latin typeface="Times New Roman" pitchFamily="18" charset="0"/>
                <a:ea typeface="LG Smart_H Regular" panose="020B0600000101010101" pitchFamily="34" charset="-127"/>
                <a:cs typeface="Times New Roman" pitchFamily="18" charset="0"/>
              </a:rPr>
              <a:t>tải?</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tabLst>
                <a:tab pos="228600" algn="l"/>
              </a:tabLs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latin typeface="Times New Roman" pitchFamily="18" charset="0"/>
                <a:ea typeface="LG Smart_H Regular" panose="020B0600000101010101" pitchFamily="34" charset="-127"/>
                <a:cs typeface="Times New Roman" pitchFamily="18" charset="0"/>
              </a:rPr>
              <a:t>ELB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en-US" altLang="ko-KR" sz="950" smtClean="0">
                <a:latin typeface="Times New Roman" pitchFamily="18" charset="0"/>
                <a:ea typeface="LG Smart_H Regular" panose="020B0600000101010101" pitchFamily="34" charset="-127"/>
                <a:cs typeface="Times New Roman" pitchFamily="18" charset="0"/>
              </a:rPr>
              <a:t>ELCC</a:t>
            </a:r>
          </a:p>
          <a:p>
            <a:pPr marL="228600" indent="-228600" eaLnBrk="1" fontAlgn="base" hangingPunct="1">
              <a:spcBef>
                <a:spcPct val="0"/>
              </a:spcBef>
              <a:spcAft>
                <a:spcPct val="0"/>
              </a:spcAft>
              <a:buAutoNum type="alphaUcPeriod"/>
              <a:tabLst>
                <a:tab pos="228600" algn="l"/>
              </a:tabLst>
            </a:pPr>
            <a:r>
              <a:rPr lang="vi-VN" altLang="ko-KR" sz="950" smtClean="0">
                <a:latin typeface="Times New Roman" pitchFamily="18" charset="0"/>
                <a:ea typeface="LG Smart_H Regular" panose="020B0600000101010101" pitchFamily="34" charset="-127"/>
                <a:cs typeface="Times New Roman" pitchFamily="18" charset="0"/>
              </a:rPr>
              <a:t>MELB</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tabLst>
                <a:tab pos="228600" algn="l"/>
              </a:tabLst>
            </a:pPr>
            <a:r>
              <a:rPr lang="vi-VN" altLang="ko-KR" sz="950">
                <a:solidFill>
                  <a:srgbClr val="FF0000"/>
                </a:solidFill>
                <a:latin typeface="Times New Roman" pitchFamily="18" charset="0"/>
                <a:ea typeface="LG Smart_H Regular" panose="020B0600000101010101" pitchFamily="34" charset="-127"/>
                <a:cs typeface="Times New Roman" pitchFamily="18" charset="0"/>
              </a:rPr>
              <a:t>MCCB</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69" name="Rectangle 7"/>
          <p:cNvSpPr>
            <a:spLocks noChangeArrowheads="1"/>
          </p:cNvSpPr>
          <p:nvPr/>
        </p:nvSpPr>
        <p:spPr bwMode="auto">
          <a:xfrm>
            <a:off x="3448472" y="2685182"/>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 </a:t>
            </a:r>
            <a:r>
              <a:rPr lang="vi-VN" altLang="ko-KR" sz="950">
                <a:latin typeface="Times New Roman" pitchFamily="18" charset="0"/>
                <a:ea typeface="LG Smart_H Regular" panose="020B0600000101010101" pitchFamily="34" charset="-127"/>
                <a:cs typeface="Times New Roman" pitchFamily="18" charset="0"/>
              </a:rPr>
              <a:t>Chọn đáp án đúng cho ký hiệu khoảng cách giữa 2 bản điện cực của tụ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C</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F</a:t>
            </a: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K</a:t>
            </a:r>
          </a:p>
          <a:p>
            <a:pPr marL="228600" indent="-228600" eaLnBrk="1" fontAlgn="base" hangingPunct="1">
              <a:spcBef>
                <a:spcPct val="0"/>
              </a:spcBef>
              <a:spcAft>
                <a:spcPct val="0"/>
              </a:spcAft>
              <a:buAutoNum type="alphaUcPeriod"/>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59" name="Rectangle 7"/>
          <p:cNvSpPr>
            <a:spLocks noChangeArrowheads="1"/>
          </p:cNvSpPr>
          <p:nvPr/>
        </p:nvSpPr>
        <p:spPr bwMode="auto">
          <a:xfrm>
            <a:off x="188640" y="1136576"/>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228600" indent="-228600" eaLnBrk="1" fontAlgn="base" hangingPunct="1">
              <a:spcBef>
                <a:spcPct val="0"/>
              </a:spcBef>
              <a:spcAft>
                <a:spcPct val="0"/>
              </a:spcAft>
              <a:buAutoNum type="arabicPeriod"/>
            </a:pPr>
            <a:r>
              <a:rPr lang="vi-VN" altLang="ko-KR" sz="950" smtClean="0">
                <a:latin typeface="Times New Roman" pitchFamily="18" charset="0"/>
                <a:ea typeface="LG Smart_H Regular" panose="020B0600000101010101" pitchFamily="34" charset="-127"/>
                <a:cs typeface="Times New Roman" pitchFamily="18" charset="0"/>
              </a:rPr>
              <a:t>Giải </a:t>
            </a:r>
            <a:r>
              <a:rPr lang="vi-VN" altLang="ko-KR" sz="950">
                <a:latin typeface="Times New Roman" pitchFamily="18" charset="0"/>
                <a:ea typeface="LG Smart_H Regular" panose="020B0600000101010101" pitchFamily="34" charset="-127"/>
                <a:cs typeface="Times New Roman" pitchFamily="18" charset="0"/>
              </a:rPr>
              <a:t>thích nào đúng về cách </a:t>
            </a:r>
            <a:r>
              <a:rPr lang="vi-VN" altLang="ko-KR" sz="950" smtClean="0">
                <a:latin typeface="Times New Roman" pitchFamily="18" charset="0"/>
                <a:ea typeface="LG Smart_H Regular" panose="020B0600000101010101" pitchFamily="34" charset="-127"/>
                <a:cs typeface="Times New Roman" pitchFamily="18" charset="0"/>
              </a:rPr>
              <a:t>điện? </a:t>
            </a:r>
            <a:endParaRPr lang="en-US" altLang="ko-KR" sz="950" dirty="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rabi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đường bị cắt, là đoạn dây hay dây điện không cho dòng điện chạy </a:t>
            </a:r>
            <a:r>
              <a:rPr lang="vi-VN" altLang="ko-KR" sz="950" smtClean="0">
                <a:latin typeface="Times New Roman" pitchFamily="18" charset="0"/>
                <a:ea typeface="LG Smart_H Regular" panose="020B0600000101010101" pitchFamily="34" charset="-127"/>
                <a:cs typeface="Times New Roman" pitchFamily="18" charset="0"/>
              </a:rPr>
              <a:t>qua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Là việc đưa một chất vào giữa chất dẫn điện làm cho dòng điện hay nhiệt không thể chạy qua</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sự tiếp xúc của hai điểm trên mạch điện tử có điện trở bằng hoặc sấp sỉ bằng </a:t>
            </a:r>
            <a:r>
              <a:rPr lang="vi-VN" altLang="ko-KR" sz="950" smtClean="0">
                <a:latin typeface="Times New Roman" pitchFamily="18" charset="0"/>
                <a:ea typeface="LG Smart_H Regular" panose="020B0600000101010101" pitchFamily="34" charset="-127"/>
                <a:cs typeface="Times New Roman" pitchFamily="18" charset="0"/>
              </a:rPr>
              <a:t>0</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sự nối đất, thường được sử dụng khi nói đến tình trạng dòng điện bị dò rỉ</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68" name="Rectangle 7"/>
          <p:cNvSpPr>
            <a:spLocks noChangeArrowheads="1"/>
          </p:cNvSpPr>
          <p:nvPr/>
        </p:nvSpPr>
        <p:spPr bwMode="auto">
          <a:xfrm>
            <a:off x="162099" y="8193360"/>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5</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Giá trị đỉnh: là  giá trị lớn nhất trong giá trị tức thời. Có ký hiệu </a:t>
            </a:r>
            <a:r>
              <a:rPr lang="vi-VN" altLang="ko-KR" sz="950" smtClean="0">
                <a:latin typeface="Times New Roman" pitchFamily="18" charset="0"/>
                <a:ea typeface="LG Smart_H Regular" panose="020B0600000101010101" pitchFamily="34" charset="-127"/>
                <a:cs typeface="Times New Roman" pitchFamily="18" charset="0"/>
              </a:rPr>
              <a:t>là?</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VM</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VP_P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V</a:t>
            </a: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VRMS</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1" name="Rectangle 7"/>
          <p:cNvSpPr>
            <a:spLocks noChangeArrowheads="1"/>
          </p:cNvSpPr>
          <p:nvPr/>
        </p:nvSpPr>
        <p:spPr bwMode="auto">
          <a:xfrm>
            <a:off x="3429000" y="1156142"/>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6</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Chọn đáp án đúng nói về chức năng sau: "Chức năng vận hành trôi chảy mạch điện bằng việc giới hạn dòng điện và là một trong những linh kiện không thể thiếu của một mạch 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Điện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trở</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Tụ </a:t>
            </a:r>
            <a:r>
              <a:rPr lang="vi-VN" altLang="ko-KR" sz="950" smtClean="0">
                <a:latin typeface="Times New Roman" pitchFamily="18" charset="0"/>
                <a:ea typeface="LG Smart_H Regular" panose="020B0600000101010101" pitchFamily="34" charset="-127"/>
                <a:cs typeface="Times New Roman" pitchFamily="18" charset="0"/>
              </a:rPr>
              <a:t>điện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Cuộn </a:t>
            </a:r>
            <a:r>
              <a:rPr lang="en-US" altLang="ko-KR" sz="950" smtClean="0">
                <a:latin typeface="Times New Roman" pitchFamily="18" charset="0"/>
                <a:ea typeface="LG Smart_H Regular" panose="020B0600000101010101" pitchFamily="34" charset="-127"/>
                <a:cs typeface="Times New Roman" pitchFamily="18" charset="0"/>
              </a:rPr>
              <a:t>cảm</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Điot</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70" name="Rectangle 7"/>
          <p:cNvSpPr>
            <a:spLocks noChangeArrowheads="1"/>
          </p:cNvSpPr>
          <p:nvPr/>
        </p:nvSpPr>
        <p:spPr bwMode="auto">
          <a:xfrm>
            <a:off x="3448472" y="4647602"/>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8. </a:t>
            </a:r>
            <a:r>
              <a:rPr lang="vi-VN" altLang="ko-KR" sz="950">
                <a:latin typeface="Times New Roman" pitchFamily="18" charset="0"/>
                <a:ea typeface="LG Smart_H Regular" panose="020B0600000101010101" pitchFamily="34" charset="-127"/>
                <a:cs typeface="Times New Roman" pitchFamily="18" charset="0"/>
              </a:rPr>
              <a:t>Chọn đáp án đúng cho việc sử dụng nguyên lý của tác động hỗ </a:t>
            </a:r>
            <a:r>
              <a:rPr lang="vi-VN" altLang="ko-KR" sz="950" smtClean="0">
                <a:latin typeface="Times New Roman" pitchFamily="18" charset="0"/>
                <a:ea typeface="LG Smart_H Regular" panose="020B0600000101010101" pitchFamily="34" charset="-127"/>
                <a:cs typeface="Times New Roman" pitchFamily="18" charset="0"/>
              </a:rPr>
              <a:t>cảm?</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Biến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áp</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Rơ le điện </a:t>
            </a:r>
            <a:r>
              <a:rPr lang="vi-VN" altLang="ko-KR" sz="950" smtClean="0">
                <a:latin typeface="Times New Roman" pitchFamily="18" charset="0"/>
                <a:ea typeface="LG Smart_H Regular" panose="020B0600000101010101" pitchFamily="34" charset="-127"/>
                <a:cs typeface="Times New Roman" pitchFamily="18" charset="0"/>
              </a:rPr>
              <a:t>từ</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Loa</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Máy phát điện</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 name="Group 2"/>
          <p:cNvGrpSpPr/>
          <p:nvPr/>
        </p:nvGrpSpPr>
        <p:grpSpPr>
          <a:xfrm>
            <a:off x="184076" y="6681192"/>
            <a:ext cx="3239810" cy="969496"/>
            <a:chOff x="184076" y="6969224"/>
            <a:chExt cx="3239810" cy="969496"/>
          </a:xfrm>
        </p:grpSpPr>
        <p:sp>
          <p:nvSpPr>
            <p:cNvPr id="57" name="Rectangle 7"/>
            <p:cNvSpPr>
              <a:spLocks noChangeArrowheads="1"/>
            </p:cNvSpPr>
            <p:nvPr/>
          </p:nvSpPr>
          <p:spPr bwMode="auto">
            <a:xfrm>
              <a:off x="184076" y="6969224"/>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4</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Lượng điện tích của hạt trung tính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0 </a:t>
              </a:r>
              <a:r>
                <a:rPr lang="vi-VN" altLang="ko-KR" sz="950">
                  <a:latin typeface="Times New Roman" pitchFamily="18" charset="0"/>
                  <a:ea typeface="LG Smart_H Regular" panose="020B0600000101010101" pitchFamily="34" charset="-127"/>
                  <a:cs typeface="Times New Roman" pitchFamily="18" charset="0"/>
                </a:rPr>
                <a:t>[V</a:t>
              </a:r>
              <a:r>
                <a:rPr lang="vi-VN" altLang="ko-KR" sz="950" smtClean="0">
                  <a:latin typeface="Times New Roman" pitchFamily="18" charset="0"/>
                  <a:ea typeface="LG Smart_H Regular" panose="020B0600000101010101" pitchFamily="34" charset="-127"/>
                  <a:cs typeface="Times New Roman" pitchFamily="18" charset="0"/>
                </a:rPr>
                <a:t>]</a:t>
              </a: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C.                                                </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a:t>
              </a:r>
              <a:r>
                <a:rPr lang="en-US" altLang="ko-KR" sz="950">
                  <a:solidFill>
                    <a:srgbClr val="FF0000"/>
                  </a:solidFill>
                  <a:latin typeface="Times New Roman" pitchFamily="18" charset="0"/>
                  <a:ea typeface="LG Smart_H Regular" panose="020B0600000101010101" pitchFamily="34" charset="-127"/>
                  <a:cs typeface="Times New Roman" pitchFamily="18" charset="0"/>
                </a:rPr>
                <a:t>. 0 [C]</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35" name="Group 34"/>
            <p:cNvGrpSpPr>
              <a:grpSpLocks noChangeAspect="1"/>
            </p:cNvGrpSpPr>
            <p:nvPr/>
          </p:nvGrpSpPr>
          <p:grpSpPr bwMode="auto">
            <a:xfrm>
              <a:off x="1982793" y="7288253"/>
              <a:ext cx="1374199" cy="187062"/>
              <a:chOff x="0" y="-4"/>
              <a:chExt cx="145" cy="45"/>
            </a:xfrm>
          </p:grpSpPr>
          <p:sp>
            <p:nvSpPr>
              <p:cNvPr id="36" name="AutoShape 2"/>
              <p:cNvSpPr>
                <a:spLocks noChangeAspect="1" noChangeArrowheads="1" noTextEdit="1"/>
              </p:cNvSpPr>
              <p:nvPr/>
            </p:nvSpPr>
            <p:spPr bwMode="auto">
              <a:xfrm>
                <a:off x="0" y="0"/>
                <a:ext cx="14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000"/>
              </a:p>
            </p:txBody>
          </p:sp>
          <p:sp>
            <p:nvSpPr>
              <p:cNvPr id="37" name="Rectangle 36"/>
              <p:cNvSpPr>
                <a:spLocks noChangeArrowheads="1"/>
              </p:cNvSpPr>
              <p:nvPr/>
            </p:nvSpPr>
            <p:spPr bwMode="auto">
              <a:xfrm>
                <a:off x="129" y="4"/>
                <a:ext cx="5"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38" name="Rectangle 37"/>
              <p:cNvSpPr>
                <a:spLocks noChangeArrowheads="1"/>
              </p:cNvSpPr>
              <p:nvPr/>
            </p:nvSpPr>
            <p:spPr bwMode="auto">
              <a:xfrm>
                <a:off x="114" y="4"/>
                <a:ext cx="5"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39" name="Rectangle 38"/>
              <p:cNvSpPr>
                <a:spLocks noChangeArrowheads="1"/>
              </p:cNvSpPr>
              <p:nvPr/>
            </p:nvSpPr>
            <p:spPr bwMode="auto">
              <a:xfrm>
                <a:off x="73" y="4"/>
                <a:ext cx="1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10</a:t>
                </a:r>
              </a:p>
            </p:txBody>
          </p:sp>
          <p:sp>
            <p:nvSpPr>
              <p:cNvPr id="40" name="Rectangle 39"/>
              <p:cNvSpPr>
                <a:spLocks noChangeArrowheads="1"/>
              </p:cNvSpPr>
              <p:nvPr/>
            </p:nvSpPr>
            <p:spPr bwMode="auto">
              <a:xfrm>
                <a:off x="27" y="4"/>
                <a:ext cx="3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60219</a:t>
                </a:r>
              </a:p>
            </p:txBody>
          </p:sp>
          <p:sp>
            <p:nvSpPr>
              <p:cNvPr id="41" name="Rectangle 40"/>
              <p:cNvSpPr>
                <a:spLocks noChangeArrowheads="1"/>
              </p:cNvSpPr>
              <p:nvPr/>
            </p:nvSpPr>
            <p:spPr bwMode="auto">
              <a:xfrm>
                <a:off x="23" y="4"/>
                <a:ext cx="3"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42" name="Rectangle 41"/>
              <p:cNvSpPr>
                <a:spLocks noChangeArrowheads="1"/>
              </p:cNvSpPr>
              <p:nvPr/>
            </p:nvSpPr>
            <p:spPr bwMode="auto">
              <a:xfrm>
                <a:off x="14" y="4"/>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a:t>
                </a:r>
              </a:p>
            </p:txBody>
          </p:sp>
          <p:sp>
            <p:nvSpPr>
              <p:cNvPr id="43" name="Rectangle 42"/>
              <p:cNvSpPr>
                <a:spLocks noChangeArrowheads="1"/>
              </p:cNvSpPr>
              <p:nvPr/>
            </p:nvSpPr>
            <p:spPr bwMode="auto">
              <a:xfrm>
                <a:off x="99" y="1"/>
                <a:ext cx="14"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19</a:t>
                </a:r>
              </a:p>
            </p:txBody>
          </p:sp>
          <p:sp>
            <p:nvSpPr>
              <p:cNvPr id="44" name="Rectangle 43"/>
              <p:cNvSpPr>
                <a:spLocks noChangeArrowheads="1"/>
              </p:cNvSpPr>
              <p:nvPr/>
            </p:nvSpPr>
            <p:spPr bwMode="auto">
              <a:xfrm>
                <a:off x="118" y="4"/>
                <a:ext cx="9"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1" u="none" strike="noStrike" baseline="0">
                    <a:solidFill>
                      <a:srgbClr val="000000"/>
                    </a:solidFill>
                    <a:latin typeface="Times New Roman"/>
                    <a:cs typeface="Times New Roman"/>
                  </a:rPr>
                  <a:t>C</a:t>
                </a:r>
              </a:p>
            </p:txBody>
          </p:sp>
          <p:sp>
            <p:nvSpPr>
              <p:cNvPr id="45" name="Rectangle 44"/>
              <p:cNvSpPr>
                <a:spLocks noChangeArrowheads="1"/>
              </p:cNvSpPr>
              <p:nvPr/>
            </p:nvSpPr>
            <p:spPr bwMode="auto">
              <a:xfrm>
                <a:off x="91" y="-4"/>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sp>
            <p:nvSpPr>
              <p:cNvPr id="46" name="Rectangle 45"/>
              <p:cNvSpPr>
                <a:spLocks noChangeArrowheads="1"/>
              </p:cNvSpPr>
              <p:nvPr/>
            </p:nvSpPr>
            <p:spPr bwMode="auto">
              <a:xfrm>
                <a:off x="61" y="1"/>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sp>
            <p:nvSpPr>
              <p:cNvPr id="47" name="Rectangle 46"/>
              <p:cNvSpPr>
                <a:spLocks noChangeArrowheads="1"/>
              </p:cNvSpPr>
              <p:nvPr/>
            </p:nvSpPr>
            <p:spPr bwMode="auto">
              <a:xfrm>
                <a:off x="3" y="1"/>
                <a:ext cx="7" cy="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grpSp>
        <p:grpSp>
          <p:nvGrpSpPr>
            <p:cNvPr id="48" name="Group 47"/>
            <p:cNvGrpSpPr>
              <a:grpSpLocks noChangeAspect="1"/>
            </p:cNvGrpSpPr>
            <p:nvPr/>
          </p:nvGrpSpPr>
          <p:grpSpPr bwMode="auto">
            <a:xfrm>
              <a:off x="476672" y="7699402"/>
              <a:ext cx="1260472" cy="187956"/>
              <a:chOff x="0" y="-2"/>
              <a:chExt cx="145" cy="33"/>
            </a:xfrm>
          </p:grpSpPr>
          <p:sp>
            <p:nvSpPr>
              <p:cNvPr id="49" name="AutoShape 2"/>
              <p:cNvSpPr>
                <a:spLocks noChangeAspect="1" noChangeArrowheads="1" noTextEdit="1"/>
              </p:cNvSpPr>
              <p:nvPr/>
            </p:nvSpPr>
            <p:spPr bwMode="auto">
              <a:xfrm>
                <a:off x="0" y="0"/>
                <a:ext cx="14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z="1000"/>
              </a:p>
            </p:txBody>
          </p:sp>
          <p:sp>
            <p:nvSpPr>
              <p:cNvPr id="50" name="Rectangle 49"/>
              <p:cNvSpPr>
                <a:spLocks noChangeArrowheads="1"/>
              </p:cNvSpPr>
              <p:nvPr/>
            </p:nvSpPr>
            <p:spPr bwMode="auto">
              <a:xfrm>
                <a:off x="129" y="4"/>
                <a:ext cx="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51" name="Rectangle 50"/>
              <p:cNvSpPr>
                <a:spLocks noChangeArrowheads="1"/>
              </p:cNvSpPr>
              <p:nvPr/>
            </p:nvSpPr>
            <p:spPr bwMode="auto">
              <a:xfrm>
                <a:off x="113" y="4"/>
                <a:ext cx="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52" name="Rectangle 51"/>
              <p:cNvSpPr>
                <a:spLocks noChangeArrowheads="1"/>
              </p:cNvSpPr>
              <p:nvPr/>
            </p:nvSpPr>
            <p:spPr bwMode="auto">
              <a:xfrm>
                <a:off x="73" y="4"/>
                <a:ext cx="1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10</a:t>
                </a:r>
              </a:p>
            </p:txBody>
          </p:sp>
          <p:sp>
            <p:nvSpPr>
              <p:cNvPr id="53" name="Rectangle 52"/>
              <p:cNvSpPr>
                <a:spLocks noChangeArrowheads="1"/>
              </p:cNvSpPr>
              <p:nvPr/>
            </p:nvSpPr>
            <p:spPr bwMode="auto">
              <a:xfrm>
                <a:off x="27" y="4"/>
                <a:ext cx="37"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60219</a:t>
                </a:r>
              </a:p>
            </p:txBody>
          </p:sp>
          <p:sp>
            <p:nvSpPr>
              <p:cNvPr id="54" name="Rectangle 53"/>
              <p:cNvSpPr>
                <a:spLocks noChangeArrowheads="1"/>
              </p:cNvSpPr>
              <p:nvPr/>
            </p:nvSpPr>
            <p:spPr bwMode="auto">
              <a:xfrm>
                <a:off x="23" y="4"/>
                <a:ext cx="4"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a:t>
                </a:r>
              </a:p>
            </p:txBody>
          </p:sp>
          <p:sp>
            <p:nvSpPr>
              <p:cNvPr id="55" name="Rectangle 54"/>
              <p:cNvSpPr>
                <a:spLocks noChangeArrowheads="1"/>
              </p:cNvSpPr>
              <p:nvPr/>
            </p:nvSpPr>
            <p:spPr bwMode="auto">
              <a:xfrm>
                <a:off x="14" y="4"/>
                <a:ext cx="7"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a:t>
                </a:r>
              </a:p>
            </p:txBody>
          </p:sp>
          <p:sp>
            <p:nvSpPr>
              <p:cNvPr id="56" name="Rectangle 55"/>
              <p:cNvSpPr>
                <a:spLocks noChangeArrowheads="1"/>
              </p:cNvSpPr>
              <p:nvPr/>
            </p:nvSpPr>
            <p:spPr bwMode="auto">
              <a:xfrm>
                <a:off x="98" y="1"/>
                <a:ext cx="15"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Times New Roman"/>
                    <a:cs typeface="Times New Roman"/>
                  </a:rPr>
                  <a:t>19</a:t>
                </a:r>
              </a:p>
            </p:txBody>
          </p:sp>
          <p:sp>
            <p:nvSpPr>
              <p:cNvPr id="58" name="Rectangle 57"/>
              <p:cNvSpPr>
                <a:spLocks noChangeArrowheads="1"/>
              </p:cNvSpPr>
              <p:nvPr/>
            </p:nvSpPr>
            <p:spPr bwMode="auto">
              <a:xfrm>
                <a:off x="117" y="4"/>
                <a:ext cx="10"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1" u="none" strike="noStrike" baseline="0">
                    <a:solidFill>
                      <a:srgbClr val="000000"/>
                    </a:solidFill>
                    <a:latin typeface="Times New Roman"/>
                    <a:cs typeface="Times New Roman"/>
                  </a:rPr>
                  <a:t>C</a:t>
                </a:r>
              </a:p>
            </p:txBody>
          </p:sp>
          <p:sp>
            <p:nvSpPr>
              <p:cNvPr id="62" name="Rectangle 61"/>
              <p:cNvSpPr>
                <a:spLocks noChangeArrowheads="1"/>
              </p:cNvSpPr>
              <p:nvPr/>
            </p:nvSpPr>
            <p:spPr bwMode="auto">
              <a:xfrm>
                <a:off x="91" y="-2"/>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sp>
            <p:nvSpPr>
              <p:cNvPr id="63" name="Rectangle 62"/>
              <p:cNvSpPr>
                <a:spLocks noChangeArrowheads="1"/>
              </p:cNvSpPr>
              <p:nvPr/>
            </p:nvSpPr>
            <p:spPr bwMode="auto">
              <a:xfrm>
                <a:off x="63" y="1"/>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sp>
            <p:nvSpPr>
              <p:cNvPr id="64" name="Rectangle 63"/>
              <p:cNvSpPr>
                <a:spLocks noChangeArrowheads="1"/>
              </p:cNvSpPr>
              <p:nvPr/>
            </p:nvSpPr>
            <p:spPr bwMode="auto">
              <a:xfrm>
                <a:off x="3" y="1"/>
                <a:ext cx="8" cy="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t">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r>
                  <a:rPr lang="en-US" sz="1000" b="0" i="0" u="none" strike="noStrike" baseline="0">
                    <a:solidFill>
                      <a:srgbClr val="000000"/>
                    </a:solidFill>
                    <a:latin typeface="Symbol"/>
                  </a:rPr>
                  <a:t>-</a:t>
                </a:r>
              </a:p>
            </p:txBody>
          </p:sp>
        </p:grpSp>
      </p:grpSp>
      <p:grpSp>
        <p:nvGrpSpPr>
          <p:cNvPr id="4" name="Group 3"/>
          <p:cNvGrpSpPr/>
          <p:nvPr/>
        </p:nvGrpSpPr>
        <p:grpSpPr>
          <a:xfrm>
            <a:off x="3429000" y="6393160"/>
            <a:ext cx="3239810" cy="1046053"/>
            <a:chOff x="3429000" y="6431776"/>
            <a:chExt cx="3239810" cy="1046053"/>
          </a:xfrm>
        </p:grpSpPr>
        <p:sp>
          <p:nvSpPr>
            <p:cNvPr id="73" name="Rectangle 7"/>
            <p:cNvSpPr>
              <a:spLocks noChangeArrowheads="1"/>
            </p:cNvSpPr>
            <p:nvPr/>
          </p:nvSpPr>
          <p:spPr bwMode="auto">
            <a:xfrm>
              <a:off x="3429000" y="6431776"/>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9</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Đâu là kí hiệu của "Light-Emitting Diode</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a:t>
              </a:r>
              <a:r>
                <a:rPr lang="en-US" altLang="ko-KR" sz="950" smtClean="0">
                  <a:latin typeface="Times New Roman" pitchFamily="18" charset="0"/>
                  <a:ea typeface="LG Smart_H Regular" panose="020B0600000101010101" pitchFamily="34" charset="-127"/>
                  <a:cs typeface="Times New Roman" pitchFamily="18" charset="0"/>
                </a:rPr>
                <a:t>                                             B. </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t>
              </a: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C.                                              D.</a:t>
              </a:r>
            </a:p>
          </p:txBody>
        </p:sp>
        <p:pic>
          <p:nvPicPr>
            <p:cNvPr id="65" name="Picture 64" descr="l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26921" y="6681192"/>
              <a:ext cx="582199" cy="381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 name="Picture 65" descr="zen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1601" y="6693963"/>
              <a:ext cx="497679" cy="3881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 name="Picture 66" descr="brid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89230" y="7104337"/>
              <a:ext cx="563323" cy="3734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 name="Picture 71" descr="shottoky"/>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3216" y="7041232"/>
              <a:ext cx="575499" cy="4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 name="Group 4"/>
          <p:cNvGrpSpPr/>
          <p:nvPr/>
        </p:nvGrpSpPr>
        <p:grpSpPr>
          <a:xfrm>
            <a:off x="3439885" y="8155612"/>
            <a:ext cx="3228925" cy="1033711"/>
            <a:chOff x="3439885" y="8155612"/>
            <a:chExt cx="3239810" cy="1033711"/>
          </a:xfrm>
        </p:grpSpPr>
        <p:sp>
          <p:nvSpPr>
            <p:cNvPr id="76" name="Rectangle 7"/>
            <p:cNvSpPr>
              <a:spLocks noChangeArrowheads="1"/>
            </p:cNvSpPr>
            <p:nvPr/>
          </p:nvSpPr>
          <p:spPr bwMode="auto">
            <a:xfrm>
              <a:off x="3439885" y="8155612"/>
              <a:ext cx="323981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10. </a:t>
              </a:r>
              <a:r>
                <a:rPr lang="fr-FR" altLang="ko-KR" sz="950">
                  <a:latin typeface="Times New Roman" pitchFamily="18" charset="0"/>
                  <a:ea typeface="LG Smart_H Regular" panose="020B0600000101010101" pitchFamily="34" charset="-127"/>
                  <a:cs typeface="Times New Roman" pitchFamily="18" charset="0"/>
                </a:rPr>
                <a:t>Số 3 trong hình bên là gì</a:t>
              </a:r>
              <a:r>
                <a:rPr lang="fr-FR"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Cathode</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Chip</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Lead </a:t>
              </a:r>
              <a:r>
                <a:rPr lang="vi-VN" altLang="ko-KR" sz="950" smtClean="0">
                  <a:latin typeface="Times New Roman" pitchFamily="18" charset="0"/>
                  <a:ea typeface="LG Smart_H Regular" panose="020B0600000101010101" pitchFamily="34" charset="-127"/>
                  <a:cs typeface="Times New Roman" pitchFamily="18" charset="0"/>
                </a:rPr>
                <a:t>frame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Gold wire</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74" name="Group 73"/>
            <p:cNvGrpSpPr/>
            <p:nvPr/>
          </p:nvGrpSpPr>
          <p:grpSpPr>
            <a:xfrm>
              <a:off x="4802705" y="8481392"/>
              <a:ext cx="1008940" cy="707931"/>
              <a:chOff x="0" y="0"/>
              <a:chExt cx="2045832" cy="1200204"/>
            </a:xfrm>
          </p:grpSpPr>
          <p:pic>
            <p:nvPicPr>
              <p:cNvPr id="75" name="Picture 74" descr="L-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104144"/>
                <a:ext cx="2045832" cy="10769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 name="Oval 76"/>
              <p:cNvSpPr/>
              <p:nvPr/>
            </p:nvSpPr>
            <p:spPr>
              <a:xfrm>
                <a:off x="4357" y="80475"/>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ysClr val="windowText" lastClr="000000"/>
                    </a:solidFill>
                  </a:rPr>
                  <a:t>3</a:t>
                </a:r>
              </a:p>
            </p:txBody>
          </p:sp>
          <p:sp>
            <p:nvSpPr>
              <p:cNvPr id="78" name="Oval 77"/>
              <p:cNvSpPr/>
              <p:nvPr/>
            </p:nvSpPr>
            <p:spPr>
              <a:xfrm>
                <a:off x="1239842" y="0"/>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ysClr val="windowText" lastClr="000000"/>
                    </a:solidFill>
                  </a:rPr>
                  <a:t>4</a:t>
                </a:r>
              </a:p>
            </p:txBody>
          </p:sp>
          <p:sp>
            <p:nvSpPr>
              <p:cNvPr id="79" name="Oval 78"/>
              <p:cNvSpPr/>
              <p:nvPr/>
            </p:nvSpPr>
            <p:spPr>
              <a:xfrm>
                <a:off x="1665785" y="108878"/>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ysClr val="windowText" lastClr="000000"/>
                    </a:solidFill>
                  </a:rPr>
                  <a:t>1</a:t>
                </a:r>
              </a:p>
            </p:txBody>
          </p:sp>
          <p:sp>
            <p:nvSpPr>
              <p:cNvPr id="80" name="Oval 79"/>
              <p:cNvSpPr/>
              <p:nvPr/>
            </p:nvSpPr>
            <p:spPr>
              <a:xfrm>
                <a:off x="1568641" y="418948"/>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ysClr val="windowText" lastClr="000000"/>
                    </a:solidFill>
                  </a:rPr>
                  <a:t>2</a:t>
                </a:r>
              </a:p>
            </p:txBody>
          </p:sp>
          <p:sp>
            <p:nvSpPr>
              <p:cNvPr id="81" name="Oval 80"/>
              <p:cNvSpPr/>
              <p:nvPr/>
            </p:nvSpPr>
            <p:spPr>
              <a:xfrm>
                <a:off x="1292678" y="884464"/>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ysClr val="windowText" lastClr="000000"/>
                    </a:solidFill>
                  </a:rPr>
                  <a:t>6</a:t>
                </a:r>
              </a:p>
            </p:txBody>
          </p:sp>
          <p:sp>
            <p:nvSpPr>
              <p:cNvPr id="82" name="Oval 81"/>
              <p:cNvSpPr/>
              <p:nvPr/>
            </p:nvSpPr>
            <p:spPr>
              <a:xfrm>
                <a:off x="438150" y="928007"/>
                <a:ext cx="286454" cy="272197"/>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sz="1000" b="1">
                    <a:solidFill>
                      <a:sysClr val="windowText" lastClr="000000"/>
                    </a:solidFill>
                  </a:rPr>
                  <a:t>5</a:t>
                </a:r>
              </a:p>
            </p:txBody>
          </p:sp>
        </p:grpSp>
      </p:grpSp>
    </p:spTree>
    <p:extLst>
      <p:ext uri="{BB962C8B-B14F-4D97-AF65-F5344CB8AC3E}">
        <p14:creationId xmlns:p14="http://schemas.microsoft.com/office/powerpoint/2010/main" val="404009690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Arial Narrow" pitchFamily="34" charset="0"/>
              <a:ea typeface="돋움" pitchFamily="50" charset="-127"/>
              <a:cs typeface="Times New Roman" pitchFamily="18" charset="0"/>
            </a:endParaRPr>
          </a:p>
        </p:txBody>
      </p:sp>
      <p:sp>
        <p:nvSpPr>
          <p:cNvPr id="4099" name="Rectangle 3"/>
          <p:cNvSpPr>
            <a:spLocks noChangeArrowheads="1"/>
          </p:cNvSpPr>
          <p:nvPr/>
        </p:nvSpPr>
        <p:spPr bwMode="auto">
          <a:xfrm>
            <a:off x="137523" y="776288"/>
            <a:ext cx="330252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4100" name="Rectangle 4"/>
          <p:cNvSpPr>
            <a:spLocks noChangeArrowheads="1"/>
          </p:cNvSpPr>
          <p:nvPr/>
        </p:nvSpPr>
        <p:spPr bwMode="auto">
          <a:xfrm>
            <a:off x="3460960" y="776288"/>
            <a:ext cx="324383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217093" name="Text Box 5"/>
          <p:cNvSpPr txBox="1">
            <a:spLocks noChangeArrowheads="1"/>
          </p:cNvSpPr>
          <p:nvPr/>
        </p:nvSpPr>
        <p:spPr bwMode="auto">
          <a:xfrm>
            <a:off x="174625" y="239713"/>
            <a:ext cx="1712328"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Điện</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Đ</a:t>
            </a:r>
            <a:r>
              <a:rPr kumimoji="1" lang="vi-VN"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iện tử</a:t>
            </a:r>
            <a:r>
              <a:rPr kumimoji="1" lang="ko-KR" altLang="en-US"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endPar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endParaRPr>
          </a:p>
        </p:txBody>
      </p:sp>
      <p:sp>
        <p:nvSpPr>
          <p:cNvPr id="6" name="Rectangle 132"/>
          <p:cNvSpPr>
            <a:spLocks noChangeArrowheads="1"/>
          </p:cNvSpPr>
          <p:nvPr/>
        </p:nvSpPr>
        <p:spPr bwMode="auto">
          <a:xfrm>
            <a:off x="147512" y="2644969"/>
            <a:ext cx="3125788" cy="6463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itchFamily="34" charset="0"/>
                <a:cs typeface="Arial" panose="020B0604020202020204" pitchFamily="34" charset="0"/>
              </a:rPr>
              <a:t>12. </a:t>
            </a:r>
            <a:r>
              <a:rPr lang="en-US" altLang="ko-KR" sz="900" dirty="0" smtClean="0">
                <a:latin typeface="Arial" panose="020B0604020202020204" pitchFamily="34" charset="0"/>
                <a:cs typeface="Arial" panose="020B0604020202020204" pitchFamily="34" charset="0"/>
              </a:rPr>
              <a:t>TRANSISTOR </a:t>
            </a:r>
            <a:r>
              <a:rPr lang="en-US" altLang="ko-KR" sz="900" dirty="0" err="1" smtClean="0">
                <a:latin typeface="Arial" panose="020B0604020202020204" pitchFamily="34" charset="0"/>
                <a:cs typeface="Arial" panose="020B0604020202020204" pitchFamily="34" charset="0"/>
              </a:rPr>
              <a:t>tần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số</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thấp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theo</a:t>
            </a:r>
            <a:r>
              <a:rPr lang="en-US" altLang="ko-KR" sz="900" dirty="0" smtClean="0">
                <a:latin typeface="Arial" panose="020B0604020202020204" pitchFamily="34" charset="0"/>
                <a:cs typeface="Arial" panose="020B0604020202020204" pitchFamily="34" charset="0"/>
              </a:rPr>
              <a:t> PNP Type </a:t>
            </a:r>
            <a:r>
              <a:rPr lang="en-US" altLang="ko-KR" sz="900" dirty="0" err="1" smtClean="0">
                <a:latin typeface="Arial" panose="020B0604020202020204" pitchFamily="34" charset="0"/>
                <a:cs typeface="Arial" panose="020B0604020202020204" pitchFamily="34" charset="0"/>
              </a:rPr>
              <a:t>khi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phân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loại</a:t>
            </a:r>
            <a:r>
              <a:rPr lang="en-US" altLang="ko-KR" sz="900" dirty="0">
                <a:latin typeface="Arial" panose="020B0604020202020204" pitchFamily="34" charset="0"/>
                <a:cs typeface="Arial" panose="020B0604020202020204" pitchFamily="34" charset="0"/>
              </a:rPr>
              <a:t> TRANSISTOR </a:t>
            </a:r>
            <a:r>
              <a:rPr lang="en-US" altLang="ko-KR" sz="900" dirty="0" err="1" smtClean="0">
                <a:latin typeface="Arial" panose="020B0604020202020204" pitchFamily="34" charset="0"/>
                <a:cs typeface="Arial" panose="020B0604020202020204" pitchFamily="34" charset="0"/>
              </a:rPr>
              <a:t>theo</a:t>
            </a:r>
            <a:r>
              <a:rPr lang="en-US" altLang="ko-KR" sz="900" dirty="0" smtClean="0">
                <a:latin typeface="Arial" panose="020B0604020202020204" pitchFamily="34" charset="0"/>
                <a:cs typeface="Arial" panose="020B0604020202020204" pitchFamily="34" charset="0"/>
              </a:rPr>
              <a:t> Part No </a:t>
            </a:r>
            <a:r>
              <a:rPr lang="en-US" altLang="ko-KR" sz="900" dirty="0" err="1" smtClean="0">
                <a:latin typeface="Arial" panose="020B0604020202020204" pitchFamily="34" charset="0"/>
                <a:cs typeface="Arial" panose="020B0604020202020204" pitchFamily="34" charset="0"/>
              </a:rPr>
              <a:t>là</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gì</a:t>
            </a:r>
            <a:r>
              <a:rPr lang="en-US" altLang="ko-KR" sz="900" smtClean="0">
                <a:latin typeface="Arial" panose="020B0604020202020204" pitchFamily="34" charset="0"/>
                <a:cs typeface="Arial" panose="020B0604020202020204" pitchFamily="34" charset="0"/>
              </a:rPr>
              <a:t>?</a:t>
            </a:r>
            <a:endParaRPr lang="en-US" altLang="ko-KR" sz="900" dirty="0">
              <a:latin typeface="Arial" panose="020B0604020202020204" pitchFamily="34" charset="0"/>
              <a:cs typeface="Arial" panose="020B0604020202020204" pitchFamily="34" charset="0"/>
            </a:endParaRPr>
          </a:p>
          <a:p>
            <a:pPr eaLnBrk="1" hangingPunct="1"/>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 A. </a:t>
            </a:r>
            <a:r>
              <a:rPr lang="en-US" altLang="ko-KR" sz="900">
                <a:latin typeface="Arial" panose="020B0604020202020204" pitchFamily="34" charset="0"/>
                <a:cs typeface="Arial" panose="020B0604020202020204" pitchFamily="34" charset="0"/>
              </a:rPr>
              <a:t>2SAxx     </a:t>
            </a:r>
            <a:r>
              <a:rPr lang="en-US" altLang="ko-KR" sz="900" smtClean="0">
                <a:solidFill>
                  <a:srgbClr val="FF0000"/>
                </a:solidFill>
                <a:latin typeface="Arial" panose="020B0604020202020204" pitchFamily="34" charset="0"/>
                <a:cs typeface="Arial" panose="020B0604020202020204" pitchFamily="34" charset="0"/>
              </a:rPr>
              <a:t>B. </a:t>
            </a:r>
            <a:r>
              <a:rPr lang="en-US" altLang="ko-KR" sz="900">
                <a:solidFill>
                  <a:srgbClr val="FF0000"/>
                </a:solidFill>
                <a:latin typeface="Arial" panose="020B0604020202020204" pitchFamily="34" charset="0"/>
                <a:cs typeface="Arial" panose="020B0604020202020204" pitchFamily="34" charset="0"/>
              </a:rPr>
              <a:t>2SBxx     </a:t>
            </a:r>
            <a:r>
              <a:rPr lang="en-US" altLang="ko-KR" sz="900" smtClean="0">
                <a:latin typeface="Arial" panose="020B0604020202020204" pitchFamily="34" charset="0"/>
                <a:cs typeface="Arial" panose="020B0604020202020204" pitchFamily="34" charset="0"/>
              </a:rPr>
              <a:t>C. </a:t>
            </a:r>
            <a:r>
              <a:rPr lang="en-US" altLang="ko-KR" sz="900">
                <a:latin typeface="Arial" panose="020B0604020202020204" pitchFamily="34" charset="0"/>
                <a:cs typeface="Arial" panose="020B0604020202020204" pitchFamily="34" charset="0"/>
              </a:rPr>
              <a:t>2SCxx      </a:t>
            </a:r>
            <a:r>
              <a:rPr lang="en-US" altLang="ko-KR" sz="900" smtClean="0">
                <a:latin typeface="Arial" panose="020B0604020202020204" pitchFamily="34" charset="0"/>
                <a:cs typeface="Arial" panose="020B0604020202020204" pitchFamily="34" charset="0"/>
              </a:rPr>
              <a:t>D. </a:t>
            </a:r>
            <a:r>
              <a:rPr lang="en-US" altLang="ko-KR" sz="900" dirty="0">
                <a:latin typeface="Arial" panose="020B0604020202020204" pitchFamily="34" charset="0"/>
                <a:cs typeface="Arial" panose="020B0604020202020204" pitchFamily="34" charset="0"/>
              </a:rPr>
              <a:t>2SDxx</a:t>
            </a:r>
          </a:p>
        </p:txBody>
      </p:sp>
      <p:sp>
        <p:nvSpPr>
          <p:cNvPr id="7" name="Rectangle 166"/>
          <p:cNvSpPr>
            <a:spLocks noChangeArrowheads="1"/>
          </p:cNvSpPr>
          <p:nvPr/>
        </p:nvSpPr>
        <p:spPr bwMode="auto">
          <a:xfrm>
            <a:off x="3438436" y="931604"/>
            <a:ext cx="3181350" cy="6463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anose="020B0604020202020204" pitchFamily="34" charset="0"/>
                <a:cs typeface="Arial" panose="020B0604020202020204" pitchFamily="34" charset="0"/>
              </a:rPr>
              <a:t>16.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Sensor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thể</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phát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hiện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được</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mặt</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gương</a:t>
            </a:r>
            <a:r>
              <a:rPr lang="en-US" altLang="ko-KR" sz="900" dirty="0" smtClean="0">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 </a:t>
            </a:r>
            <a:r>
              <a:rPr lang="en-US" altLang="ko-KR" sz="900">
                <a:latin typeface="Arial" panose="020B0604020202020204" pitchFamily="34" charset="0"/>
                <a:cs typeface="Arial" panose="020B0604020202020204" pitchFamily="34" charset="0"/>
              </a:rPr>
              <a:t> </a:t>
            </a:r>
            <a:endParaRPr lang="en-US" altLang="ko-KR" sz="900" smtClean="0">
              <a:latin typeface="Arial" panose="020B0604020202020204" pitchFamily="34" charset="0"/>
              <a:cs typeface="Arial" panose="020B0604020202020204" pitchFamily="34" charset="0"/>
            </a:endParaRPr>
          </a:p>
          <a:p>
            <a:pPr eaLnBrk="1" hangingPunct="1"/>
            <a:endParaRPr lang="en-US" altLang="ko-KR" sz="900" smtClean="0">
              <a:solidFill>
                <a:srgbClr val="FF0000"/>
              </a:solidFill>
              <a:latin typeface="Arial" panose="020B0604020202020204" pitchFamily="34" charset="0"/>
              <a:cs typeface="Arial" panose="020B0604020202020204" pitchFamily="34" charset="0"/>
            </a:endParaRPr>
          </a:p>
          <a:p>
            <a:pPr eaLnBrk="1" hangingPunct="1"/>
            <a:r>
              <a:rPr lang="en-US" altLang="ko-KR" sz="900" smtClean="0">
                <a:solidFill>
                  <a:srgbClr val="FF0000"/>
                </a:solidFill>
                <a:latin typeface="Arial" panose="020B0604020202020204" pitchFamily="34" charset="0"/>
                <a:cs typeface="Arial" panose="020B0604020202020204" pitchFamily="34" charset="0"/>
              </a:rPr>
              <a:t>A. Loại </a:t>
            </a:r>
            <a:r>
              <a:rPr lang="en-US" altLang="ko-KR" sz="900" dirty="0" err="1" smtClean="0">
                <a:solidFill>
                  <a:srgbClr val="FF0000"/>
                </a:solidFill>
                <a:latin typeface="Arial" panose="020B0604020202020204" pitchFamily="34" charset="0"/>
                <a:cs typeface="Arial" panose="020B0604020202020204" pitchFamily="34" charset="0"/>
              </a:rPr>
              <a:t>phản</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xạ</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hồi</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err="1" smtClean="0">
                <a:solidFill>
                  <a:srgbClr val="FF0000"/>
                </a:solidFill>
                <a:latin typeface="Arial" panose="020B0604020202020204" pitchFamily="34" charset="0"/>
                <a:cs typeface="Arial" panose="020B0604020202020204" pitchFamily="34" charset="0"/>
              </a:rPr>
              <a:t>quy</a:t>
            </a:r>
            <a:r>
              <a:rPr lang="en-US" altLang="ko-KR" sz="900" smtClean="0">
                <a:solidFill>
                  <a:srgbClr val="FF0000"/>
                </a:solidFill>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B.</a:t>
            </a:r>
            <a:r>
              <a:rPr lang="ko-KR" altLang="en-US" sz="90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Loại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xuyên</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thấu</a:t>
            </a:r>
            <a:r>
              <a:rPr lang="ko-KR" altLang="en-US" sz="900" smtClean="0">
                <a:latin typeface="Arial" panose="020B0604020202020204" pitchFamily="34" charset="0"/>
                <a:cs typeface="Arial" panose="020B0604020202020204" pitchFamily="34" charset="0"/>
              </a:rPr>
              <a:t>   </a:t>
            </a:r>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C.</a:t>
            </a:r>
            <a:r>
              <a:rPr lang="ko-KR" altLang="en-US" sz="90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Phản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xạ</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khuếch</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tán</a:t>
            </a:r>
            <a:r>
              <a:rPr lang="ko-KR" altLang="en-US" sz="900" smtClean="0">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D.</a:t>
            </a:r>
            <a:r>
              <a:rPr lang="ko-KR" altLang="en-US" sz="900" smtClean="0">
                <a:latin typeface="Arial" panose="020B0604020202020204" pitchFamily="34" charset="0"/>
                <a:cs typeface="Arial" panose="020B0604020202020204" pitchFamily="34" charset="0"/>
              </a:rPr>
              <a:t> </a:t>
            </a:r>
            <a:r>
              <a:rPr lang="en-US" altLang="ko-KR" sz="900" dirty="0" smtClean="0">
                <a:latin typeface="Arial" panose="020B0604020202020204" pitchFamily="34" charset="0"/>
                <a:cs typeface="Arial" panose="020B0604020202020204" pitchFamily="34" charset="0"/>
              </a:rPr>
              <a:t>Sensor </a:t>
            </a:r>
            <a:r>
              <a:rPr lang="en-US" altLang="ko-KR" sz="900" dirty="0" err="1" smtClean="0">
                <a:latin typeface="Arial" panose="020B0604020202020204" pitchFamily="34" charset="0"/>
                <a:cs typeface="Arial" panose="020B0604020202020204" pitchFamily="34" charset="0"/>
              </a:rPr>
              <a:t>móng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ngựa</a:t>
            </a:r>
            <a:endParaRPr lang="ko-KR" altLang="en-US" sz="900" dirty="0">
              <a:latin typeface="Arial" panose="020B0604020202020204" pitchFamily="34" charset="0"/>
              <a:cs typeface="Arial" panose="020B0604020202020204" pitchFamily="34" charset="0"/>
            </a:endParaRPr>
          </a:p>
        </p:txBody>
      </p:sp>
      <p:sp>
        <p:nvSpPr>
          <p:cNvPr id="8" name="Rectangle 103"/>
          <p:cNvSpPr>
            <a:spLocks noChangeArrowheads="1"/>
          </p:cNvSpPr>
          <p:nvPr/>
        </p:nvSpPr>
        <p:spPr bwMode="auto">
          <a:xfrm>
            <a:off x="140359" y="8051085"/>
            <a:ext cx="3080690" cy="784830"/>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latin typeface="Arial" panose="020B0604020202020204" pitchFamily="34" charset="0"/>
                <a:cs typeface="Arial" panose="020B0604020202020204" pitchFamily="34" charset="0"/>
              </a:rPr>
              <a:t>15</a:t>
            </a:r>
            <a:r>
              <a:rPr lang="en-US" altLang="ko-KR" sz="900" dirty="0">
                <a:latin typeface="Arial" panose="020B0604020202020204" pitchFamily="34" charset="0"/>
                <a:cs typeface="Arial" panose="020B0604020202020204" pitchFamily="34" charset="0"/>
              </a:rPr>
              <a:t>. </a:t>
            </a:r>
            <a:r>
              <a:rPr lang="en-US" altLang="ko-KR" sz="900" dirty="0" smtClean="0">
                <a:latin typeface="Arial" panose="020B0604020202020204" pitchFamily="34" charset="0"/>
                <a:cs typeface="Arial" panose="020B0604020202020204" pitchFamily="34" charset="0"/>
              </a:rPr>
              <a:t>‘</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giá</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trị</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độ</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được</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gọi</a:t>
            </a:r>
            <a:r>
              <a:rPr lang="en-US" altLang="ko-KR" sz="900" smtClean="0">
                <a:latin typeface="Arial" panose="020B0604020202020204" pitchFamily="34" charset="0"/>
                <a:cs typeface="Arial" panose="020B0604020202020204" pitchFamily="34" charset="0"/>
              </a:rPr>
              <a:t>  là </a:t>
            </a:r>
            <a:r>
              <a:rPr lang="en-US" altLang="ko-KR" sz="900" err="1" smtClean="0">
                <a:latin typeface="Arial" panose="020B0604020202020204" pitchFamily="34" charset="0"/>
                <a:cs typeface="Arial" panose="020B0604020202020204" pitchFamily="34" charset="0"/>
              </a:rPr>
              <a:t>gì</a:t>
            </a:r>
            <a:r>
              <a:rPr lang="en-US" altLang="ko-KR" sz="900" smtClean="0">
                <a:latin typeface="Arial" panose="020B0604020202020204" pitchFamily="34" charset="0"/>
                <a:cs typeface="Arial" panose="020B0604020202020204" pitchFamily="34" charset="0"/>
              </a:rPr>
              <a:t> ?</a:t>
            </a:r>
            <a:endParaRPr lang="en-US" altLang="ko-KR" sz="900" dirty="0">
              <a:latin typeface="Arial" panose="020B0604020202020204" pitchFamily="34" charset="0"/>
              <a:cs typeface="Arial" panose="020B0604020202020204" pitchFamily="34" charset="0"/>
            </a:endParaRPr>
          </a:p>
          <a:p>
            <a:pPr eaLnBrk="1" hangingPunct="1"/>
            <a:r>
              <a:rPr lang="en-US" altLang="ko-KR" sz="900">
                <a:latin typeface="Arial" panose="020B0604020202020204" pitchFamily="34" charset="0"/>
                <a:cs typeface="Arial" panose="020B0604020202020204" pitchFamily="34" charset="0"/>
              </a:rPr>
              <a:t> </a:t>
            </a:r>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 A. </a:t>
            </a:r>
            <a:r>
              <a:rPr lang="en-US" altLang="ko-KR" sz="900">
                <a:latin typeface="Arial" panose="020B0604020202020204" pitchFamily="34" charset="0"/>
                <a:cs typeface="Arial" panose="020B0604020202020204" pitchFamily="34" charset="0"/>
              </a:rPr>
              <a:t>CTR  </a:t>
            </a:r>
            <a:r>
              <a:rPr lang="en-US" altLang="ko-KR" sz="900" smtClean="0">
                <a:latin typeface="Arial" panose="020B0604020202020204" pitchFamily="34" charset="0"/>
                <a:cs typeface="Arial" panose="020B0604020202020204" pitchFamily="34" charset="0"/>
              </a:rPr>
              <a:t>        B. </a:t>
            </a:r>
            <a:r>
              <a:rPr lang="en-US" altLang="ko-KR" sz="900">
                <a:latin typeface="Arial" panose="020B0604020202020204" pitchFamily="34" charset="0"/>
                <a:cs typeface="Arial" panose="020B0604020202020204" pitchFamily="34" charset="0"/>
              </a:rPr>
              <a:t>NTC </a:t>
            </a:r>
            <a:r>
              <a:rPr lang="en-US" altLang="ko-KR" sz="900" smtClean="0">
                <a:latin typeface="Arial" panose="020B0604020202020204" pitchFamily="34" charset="0"/>
                <a:cs typeface="Arial" panose="020B0604020202020204" pitchFamily="34" charset="0"/>
              </a:rPr>
              <a:t>          </a:t>
            </a:r>
            <a:r>
              <a:rPr lang="en-US" altLang="ko-KR" sz="900" smtClean="0">
                <a:solidFill>
                  <a:srgbClr val="FF0000"/>
                </a:solidFill>
                <a:latin typeface="Arial" panose="020B0604020202020204" pitchFamily="34" charset="0"/>
                <a:cs typeface="Arial" panose="020B0604020202020204" pitchFamily="34" charset="0"/>
              </a:rPr>
              <a:t>C. </a:t>
            </a:r>
            <a:r>
              <a:rPr lang="en-US" altLang="ko-KR" sz="900">
                <a:solidFill>
                  <a:srgbClr val="FF0000"/>
                </a:solidFill>
                <a:latin typeface="Arial" panose="020B0604020202020204" pitchFamily="34" charset="0"/>
                <a:cs typeface="Arial" panose="020B0604020202020204" pitchFamily="34" charset="0"/>
              </a:rPr>
              <a:t>PTC </a:t>
            </a:r>
            <a:r>
              <a:rPr lang="en-US" altLang="ko-KR" sz="900" smtClean="0">
                <a:solidFill>
                  <a:srgbClr val="FF0000"/>
                </a:solidFill>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D. </a:t>
            </a:r>
            <a:r>
              <a:rPr lang="en-US" altLang="ko-KR" sz="900" dirty="0">
                <a:latin typeface="Arial" panose="020B0604020202020204" pitchFamily="34" charset="0"/>
                <a:cs typeface="Arial" panose="020B0604020202020204" pitchFamily="34" charset="0"/>
              </a:rPr>
              <a:t>TTR</a:t>
            </a:r>
          </a:p>
          <a:p>
            <a:pPr eaLnBrk="1" hangingPunct="1"/>
            <a:endParaRPr lang="en-US" altLang="ko-KR" sz="900" dirty="0">
              <a:latin typeface="Arial" panose="020B0604020202020204" pitchFamily="34" charset="0"/>
              <a:cs typeface="Arial" panose="020B0604020202020204" pitchFamily="34" charset="0"/>
            </a:endParaRPr>
          </a:p>
        </p:txBody>
      </p:sp>
      <p:sp>
        <p:nvSpPr>
          <p:cNvPr id="9" name="Rectangle 8"/>
          <p:cNvSpPr/>
          <p:nvPr/>
        </p:nvSpPr>
        <p:spPr>
          <a:xfrm>
            <a:off x="134017" y="920552"/>
            <a:ext cx="3429000" cy="646331"/>
          </a:xfrm>
          <a:prstGeom prst="rect">
            <a:avLst/>
          </a:prstGeom>
        </p:spPr>
        <p:txBody>
          <a:bodyPr>
            <a:spAutoFit/>
          </a:bodyPr>
          <a:lstStyle/>
          <a:p>
            <a:r>
              <a:rPr lang="vi-VN" altLang="ko-KR" sz="900" smtClean="0">
                <a:latin typeface="Arial" pitchFamily="34" charset="0"/>
                <a:ea typeface="돋움" pitchFamily="50" charset="-127"/>
                <a:cs typeface="Arial" pitchFamily="34" charset="0"/>
              </a:rPr>
              <a:t>1</a:t>
            </a:r>
            <a:r>
              <a:rPr lang="en-US" altLang="ko-KR" sz="900" smtClean="0">
                <a:latin typeface="Arial" pitchFamily="34" charset="0"/>
                <a:ea typeface="돋움" pitchFamily="50" charset="-127"/>
                <a:cs typeface="Arial" pitchFamily="34" charset="0"/>
              </a:rPr>
              <a:t>1</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Điện áp ngưỡng thuận của diode Zener 9.1V / </a:t>
            </a:r>
            <a:r>
              <a:rPr lang="vi-VN" altLang="ko-KR" sz="900" smtClean="0">
                <a:latin typeface="Arial" pitchFamily="34" charset="0"/>
                <a:ea typeface="돋움" pitchFamily="50" charset="-127"/>
                <a:cs typeface="Arial" pitchFamily="34" charset="0"/>
              </a:rPr>
              <a:t>Si </a:t>
            </a:r>
            <a:r>
              <a:rPr lang="vi-VN" altLang="ko-KR" sz="900">
                <a:latin typeface="Arial" pitchFamily="34" charset="0"/>
                <a:ea typeface="돋움" pitchFamily="50" charset="-127"/>
                <a:cs typeface="Arial" pitchFamily="34" charset="0"/>
              </a:rPr>
              <a:t>là bao nhiêu?</a:t>
            </a:r>
            <a:endParaRPr lang="en-US" altLang="ko-KR" sz="900">
              <a:latin typeface="Arial" pitchFamily="34" charset="0"/>
              <a:ea typeface="돋움" pitchFamily="50" charset="-127"/>
              <a:cs typeface="Arial" pitchFamily="34" charset="0"/>
            </a:endParaRP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 </a:t>
            </a:r>
          </a:p>
          <a:p>
            <a:r>
              <a:rPr lang="en-US" altLang="ko-KR" sz="900" smtClean="0">
                <a:latin typeface="Arial" pitchFamily="34" charset="0"/>
                <a:ea typeface="돋움" pitchFamily="50" charset="-127"/>
                <a:cs typeface="Arial" pitchFamily="34" charset="0"/>
              </a:rPr>
              <a:t>A </a:t>
            </a:r>
            <a:r>
              <a:rPr lang="en-US" altLang="ko-KR" sz="900">
                <a:latin typeface="Arial" pitchFamily="34" charset="0"/>
                <a:ea typeface="돋움" pitchFamily="50" charset="-127"/>
                <a:cs typeface="Arial" pitchFamily="34" charset="0"/>
              </a:rPr>
              <a:t>0,2V        </a:t>
            </a:r>
            <a:r>
              <a:rPr lang="en-US" altLang="ko-KR" sz="900" smtClean="0">
                <a:latin typeface="Arial" pitchFamily="34" charset="0"/>
                <a:ea typeface="돋움" pitchFamily="50" charset="-127"/>
                <a:cs typeface="Arial" pitchFamily="34" charset="0"/>
              </a:rPr>
              <a:t>    </a:t>
            </a:r>
            <a:r>
              <a:rPr lang="en-US" altLang="ko-KR" sz="900" smtClean="0">
                <a:solidFill>
                  <a:srgbClr val="FF0000"/>
                </a:solidFill>
                <a:latin typeface="Arial" pitchFamily="34" charset="0"/>
                <a:ea typeface="돋움" pitchFamily="50" charset="-127"/>
                <a:cs typeface="Arial" pitchFamily="34" charset="0"/>
              </a:rPr>
              <a:t>B 0,7V       </a:t>
            </a:r>
            <a:r>
              <a:rPr lang="en-US" altLang="ko-KR" sz="900" smtClean="0">
                <a:latin typeface="Arial" pitchFamily="34" charset="0"/>
                <a:ea typeface="돋움" pitchFamily="50" charset="-127"/>
                <a:cs typeface="Arial" pitchFamily="34" charset="0"/>
              </a:rPr>
              <a:t>  C </a:t>
            </a:r>
            <a:r>
              <a:rPr lang="en-US" altLang="ko-KR" sz="900">
                <a:latin typeface="Arial" pitchFamily="34" charset="0"/>
                <a:ea typeface="돋움" pitchFamily="50" charset="-127"/>
                <a:cs typeface="Arial" pitchFamily="34" charset="0"/>
              </a:rPr>
              <a:t>2,9V               </a:t>
            </a:r>
            <a:r>
              <a:rPr lang="en-US" altLang="ko-KR" sz="900" smtClean="0">
                <a:latin typeface="Arial" pitchFamily="34" charset="0"/>
                <a:ea typeface="돋움" pitchFamily="50" charset="-127"/>
                <a:cs typeface="Arial" pitchFamily="34" charset="0"/>
              </a:rPr>
              <a:t>D </a:t>
            </a:r>
            <a:r>
              <a:rPr lang="en-US" altLang="ko-KR" sz="900">
                <a:latin typeface="Arial" pitchFamily="34" charset="0"/>
                <a:ea typeface="돋움" pitchFamily="50" charset="-127"/>
                <a:cs typeface="Arial" pitchFamily="34" charset="0"/>
              </a:rPr>
              <a:t>9.1V</a:t>
            </a:r>
          </a:p>
        </p:txBody>
      </p:sp>
      <p:sp>
        <p:nvSpPr>
          <p:cNvPr id="10" name="Rectangle 9"/>
          <p:cNvSpPr/>
          <p:nvPr/>
        </p:nvSpPr>
        <p:spPr>
          <a:xfrm>
            <a:off x="116632" y="4306669"/>
            <a:ext cx="3429000" cy="646331"/>
          </a:xfrm>
          <a:prstGeom prst="rect">
            <a:avLst/>
          </a:prstGeom>
        </p:spPr>
        <p:txBody>
          <a:bodyPr>
            <a:spAutoFit/>
          </a:bodyPr>
          <a:lstStyle/>
          <a:p>
            <a:r>
              <a:rPr lang="en-US" altLang="ko-KR" sz="900" smtClean="0">
                <a:latin typeface="Arial" pitchFamily="34" charset="0"/>
                <a:ea typeface="돋움" pitchFamily="50" charset="-127"/>
                <a:cs typeface="Arial" pitchFamily="34" charset="0"/>
              </a:rPr>
              <a:t>13</a:t>
            </a:r>
            <a:r>
              <a:rPr lang="vi-VN"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G</a:t>
            </a:r>
            <a:r>
              <a:rPr lang="vi-VN" altLang="ko-KR" sz="900">
                <a:latin typeface="Arial" pitchFamily="34" charset="0"/>
                <a:ea typeface="돋움" pitchFamily="50" charset="-127"/>
                <a:cs typeface="Arial" pitchFamily="34" charset="0"/>
              </a:rPr>
              <a:t>iá trị đỉnh</a:t>
            </a:r>
            <a:r>
              <a:rPr lang="en-US" altLang="ko-KR" sz="90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 đỉnh là 10V</a:t>
            </a:r>
            <a:r>
              <a:rPr lang="en-US" altLang="ko-KR" sz="900">
                <a:latin typeface="Arial" pitchFamily="34" charset="0"/>
                <a:ea typeface="돋움" pitchFamily="50" charset="-127"/>
                <a:cs typeface="Arial" pitchFamily="34" charset="0"/>
              </a:rPr>
              <a:t>. Vậy giá trị Vave</a:t>
            </a:r>
            <a:r>
              <a:rPr lang="vi-VN" altLang="ko-KR" sz="900">
                <a:latin typeface="Arial" pitchFamily="34" charset="0"/>
                <a:ea typeface="돋움" pitchFamily="50" charset="-127"/>
                <a:cs typeface="Arial" pitchFamily="34" charset="0"/>
              </a:rPr>
              <a:t> là bao nhiêu?</a:t>
            </a:r>
          </a:p>
          <a:p>
            <a:endParaRPr lang="en-US" altLang="ko-KR" sz="900">
              <a:latin typeface="Arial" pitchFamily="34" charset="0"/>
              <a:ea typeface="돋움" pitchFamily="50" charset="-127"/>
              <a:cs typeface="Arial" pitchFamily="34" charset="0"/>
            </a:endParaRP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A. </a:t>
            </a:r>
            <a:r>
              <a:rPr lang="en-US" altLang="ko-KR" sz="900">
                <a:latin typeface="Arial" pitchFamily="34" charset="0"/>
                <a:ea typeface="돋움" pitchFamily="50" charset="-127"/>
                <a:cs typeface="Arial" pitchFamily="34" charset="0"/>
              </a:rPr>
              <a:t>7,07    </a:t>
            </a:r>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6,37  </a:t>
            </a:r>
            <a:r>
              <a:rPr lang="en-US" altLang="ko-KR" sz="900" smtClean="0">
                <a:latin typeface="Arial" pitchFamily="34" charset="0"/>
                <a:ea typeface="돋움" pitchFamily="50" charset="-127"/>
                <a:cs typeface="Arial" pitchFamily="34" charset="0"/>
              </a:rPr>
              <a:t>         C. 3,535              </a:t>
            </a:r>
            <a:r>
              <a:rPr lang="en-US" altLang="ko-KR" sz="900" smtClean="0">
                <a:solidFill>
                  <a:srgbClr val="FF0000"/>
                </a:solidFill>
                <a:latin typeface="Arial" pitchFamily="34" charset="0"/>
                <a:ea typeface="돋움" pitchFamily="50" charset="-127"/>
                <a:cs typeface="Arial" pitchFamily="34" charset="0"/>
              </a:rPr>
              <a:t>D. </a:t>
            </a:r>
            <a:r>
              <a:rPr lang="en-US" altLang="ko-KR" sz="900">
                <a:solidFill>
                  <a:srgbClr val="FF0000"/>
                </a:solidFill>
                <a:latin typeface="Arial" pitchFamily="34" charset="0"/>
                <a:ea typeface="돋움" pitchFamily="50" charset="-127"/>
                <a:cs typeface="Arial" pitchFamily="34" charset="0"/>
              </a:rPr>
              <a:t>3,185</a:t>
            </a:r>
          </a:p>
          <a:p>
            <a:endParaRPr lang="en-US" altLang="ko-KR" sz="900">
              <a:latin typeface="Arial" pitchFamily="34" charset="0"/>
              <a:ea typeface="돋움" pitchFamily="50" charset="-127"/>
              <a:cs typeface="Arial" pitchFamily="34" charset="0"/>
            </a:endParaRPr>
          </a:p>
        </p:txBody>
      </p:sp>
      <p:sp>
        <p:nvSpPr>
          <p:cNvPr id="11" name="Rectangle 10"/>
          <p:cNvSpPr/>
          <p:nvPr/>
        </p:nvSpPr>
        <p:spPr>
          <a:xfrm>
            <a:off x="124329" y="6045894"/>
            <a:ext cx="3429000" cy="923330"/>
          </a:xfrm>
          <a:prstGeom prst="rect">
            <a:avLst/>
          </a:prstGeom>
        </p:spPr>
        <p:txBody>
          <a:bodyPr>
            <a:spAutoFit/>
          </a:bodyPr>
          <a:lstStyle/>
          <a:p>
            <a:r>
              <a:rPr lang="vi-VN" altLang="ko-KR" sz="900" smtClean="0">
                <a:latin typeface="Arial" pitchFamily="34" charset="0"/>
                <a:ea typeface="돋움" pitchFamily="50" charset="-127"/>
                <a:cs typeface="Arial" pitchFamily="34" charset="0"/>
              </a:rPr>
              <a:t>1</a:t>
            </a:r>
            <a:r>
              <a:rPr lang="en-US" altLang="ko-KR" sz="900" smtClean="0">
                <a:latin typeface="Arial" pitchFamily="34" charset="0"/>
                <a:ea typeface="돋움" pitchFamily="50" charset="-127"/>
                <a:cs typeface="Arial" pitchFamily="34" charset="0"/>
              </a:rPr>
              <a:t>4</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Đ</a:t>
            </a:r>
            <a:r>
              <a:rPr lang="en-US" altLang="ko-KR" sz="900">
                <a:latin typeface="Arial" pitchFamily="34" charset="0"/>
                <a:ea typeface="돋움" pitchFamily="50" charset="-127"/>
                <a:cs typeface="Arial" pitchFamily="34" charset="0"/>
              </a:rPr>
              <a:t>âu</a:t>
            </a:r>
            <a:r>
              <a:rPr lang="vi-VN" altLang="ko-KR" sz="900">
                <a:latin typeface="Arial" pitchFamily="34" charset="0"/>
                <a:ea typeface="돋움" pitchFamily="50" charset="-127"/>
                <a:cs typeface="Arial" pitchFamily="34" charset="0"/>
              </a:rPr>
              <a:t> không phải là đặc điểm của Photo Coupler?</a:t>
            </a:r>
          </a:p>
          <a:p>
            <a:r>
              <a:rPr lang="en-US" altLang="ko-KR" sz="900">
                <a:latin typeface="Arial" pitchFamily="34" charset="0"/>
                <a:ea typeface="돋움" pitchFamily="50" charset="-127"/>
                <a:cs typeface="Arial" pitchFamily="34" charset="0"/>
              </a:rPr>
              <a:t>  </a:t>
            </a:r>
          </a:p>
          <a:p>
            <a:r>
              <a:rPr lang="vi-VN" altLang="ko-KR" sz="90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A</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Tốc độ phản hồi nhanh</a:t>
            </a:r>
          </a:p>
          <a:p>
            <a:r>
              <a:rPr lang="en-US" altLang="ko-KR" sz="900">
                <a:latin typeface="Arial" pitchFamily="34" charset="0"/>
                <a:ea typeface="돋움" pitchFamily="50" charset="-127"/>
                <a:cs typeface="Arial" pitchFamily="34" charset="0"/>
              </a:rPr>
              <a:t>  </a:t>
            </a:r>
            <a:r>
              <a:rPr lang="en-US" altLang="ko-KR" sz="900" smtClean="0">
                <a:solidFill>
                  <a:srgbClr val="FF0000"/>
                </a:solidFill>
                <a:latin typeface="Arial" pitchFamily="34" charset="0"/>
                <a:ea typeface="돋움" pitchFamily="50" charset="-127"/>
                <a:cs typeface="Arial" pitchFamily="34" charset="0"/>
              </a:rPr>
              <a:t>B </a:t>
            </a:r>
            <a:r>
              <a:rPr lang="en-US" altLang="ko-KR" sz="900">
                <a:solidFill>
                  <a:srgbClr val="FF0000"/>
                </a:solidFill>
                <a:latin typeface="Arial" pitchFamily="34" charset="0"/>
                <a:ea typeface="돋움" pitchFamily="50" charset="-127"/>
                <a:cs typeface="Arial" pitchFamily="34" charset="0"/>
              </a:rPr>
              <a:t>Truyền tín hiệu dạng hai chiều</a:t>
            </a:r>
          </a:p>
          <a:p>
            <a:r>
              <a:rPr lang="vi-VN"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a:t>
            </a:r>
            <a:r>
              <a:rPr lang="vi-VN" altLang="ko-KR" sz="900" smtClean="0">
                <a:latin typeface="Arial" pitchFamily="34" charset="0"/>
                <a:ea typeface="돋움" pitchFamily="50" charset="-127"/>
                <a:cs typeface="Arial" pitchFamily="34" charset="0"/>
              </a:rPr>
              <a:t> </a:t>
            </a:r>
            <a:r>
              <a:rPr lang="vi-VN" altLang="ko-KR" sz="900">
                <a:latin typeface="Arial" pitchFamily="34" charset="0"/>
                <a:ea typeface="돋움" pitchFamily="50" charset="-127"/>
                <a:cs typeface="Arial" pitchFamily="34" charset="0"/>
              </a:rPr>
              <a:t>Có độ tin cậy cao</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D </a:t>
            </a:r>
            <a:r>
              <a:rPr lang="en-US" altLang="ko-KR" sz="900">
                <a:latin typeface="Arial" pitchFamily="34" charset="0"/>
                <a:ea typeface="돋움" pitchFamily="50" charset="-127"/>
                <a:cs typeface="Arial" pitchFamily="34" charset="0"/>
              </a:rPr>
              <a:t>Chống </a:t>
            </a:r>
            <a:r>
              <a:rPr lang="en-US" altLang="ko-KR" sz="900" smtClean="0">
                <a:latin typeface="Arial" pitchFamily="34" charset="0"/>
                <a:ea typeface="돋움" pitchFamily="50" charset="-127"/>
                <a:cs typeface="Arial" pitchFamily="34" charset="0"/>
              </a:rPr>
              <a:t>ồn</a:t>
            </a:r>
            <a:endParaRPr lang="en-US" altLang="ko-KR" sz="900">
              <a:latin typeface="Arial" pitchFamily="34" charset="0"/>
              <a:ea typeface="돋움" pitchFamily="50" charset="-127"/>
              <a:cs typeface="Arial" pitchFamily="34" charset="0"/>
            </a:endParaRPr>
          </a:p>
        </p:txBody>
      </p:sp>
      <p:sp>
        <p:nvSpPr>
          <p:cNvPr id="12" name="Rectangle 161"/>
          <p:cNvSpPr>
            <a:spLocks noChangeArrowheads="1"/>
          </p:cNvSpPr>
          <p:nvPr/>
        </p:nvSpPr>
        <p:spPr bwMode="auto">
          <a:xfrm>
            <a:off x="3460960" y="2589510"/>
            <a:ext cx="3268220" cy="10618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anose="020B0604020202020204" pitchFamily="34" charset="0"/>
                <a:cs typeface="Arial" panose="020B0604020202020204" pitchFamily="34" charset="0"/>
              </a:rPr>
              <a:t>17.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đáp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án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không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phải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là</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đặc</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điểm</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của</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trở</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nhiệt</a:t>
            </a:r>
            <a:r>
              <a:rPr lang="en-US" altLang="ko-KR" sz="900" smtClean="0">
                <a:latin typeface="Arial" panose="020B0604020202020204" pitchFamily="34" charset="0"/>
                <a:cs typeface="Arial" panose="020B0604020202020204" pitchFamily="34" charset="0"/>
              </a:rPr>
              <a:t>? </a:t>
            </a:r>
            <a:endParaRPr lang="en-US" altLang="ko-KR" sz="900" dirty="0">
              <a:latin typeface="Arial" panose="020B0604020202020204" pitchFamily="34" charset="0"/>
              <a:cs typeface="Arial" panose="020B0604020202020204" pitchFamily="34" charset="0"/>
            </a:endParaRPr>
          </a:p>
          <a:p>
            <a:pPr eaLnBrk="1" hangingPunct="1"/>
            <a:endParaRPr lang="en-US" altLang="ko-KR" sz="900" smtClean="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A. </a:t>
            </a:r>
            <a:r>
              <a:rPr lang="en-US" altLang="ko-KR" sz="900" dirty="0" err="1" smtClean="0">
                <a:latin typeface="Arial" panose="020B0604020202020204" pitchFamily="34" charset="0"/>
                <a:cs typeface="Arial" panose="020B0604020202020204" pitchFamily="34" charset="0"/>
              </a:rPr>
              <a:t>Cấu</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trúc</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đơn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giản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nên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thể</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thiết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kế</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nhỏ</a:t>
            </a:r>
            <a:r>
              <a:rPr lang="en-US" altLang="ko-KR" sz="900" dirty="0" smtClean="0">
                <a:latin typeface="Arial" panose="020B0604020202020204" pitchFamily="34" charset="0"/>
                <a:cs typeface="Arial" panose="020B0604020202020204" pitchFamily="34" charset="0"/>
              </a:rPr>
              <a:t>.       </a:t>
            </a:r>
            <a:endParaRPr lang="en-US" altLang="ko-KR" sz="900" dirty="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B.Không nhạy với áp suất và từ tính</a:t>
            </a:r>
            <a:endParaRPr lang="en-US" altLang="ko-KR" sz="900" dirty="0">
              <a:latin typeface="Arial" panose="020B0604020202020204" pitchFamily="34" charset="0"/>
              <a:cs typeface="Arial" panose="020B0604020202020204" pitchFamily="34" charset="0"/>
            </a:endParaRPr>
          </a:p>
          <a:p>
            <a:pPr eaLnBrk="1" hangingPunct="1"/>
            <a:r>
              <a:rPr lang="en-US" altLang="ko-KR" sz="900" smtClean="0">
                <a:latin typeface="Arial" panose="020B0604020202020204" pitchFamily="34" charset="0"/>
                <a:cs typeface="Arial" panose="020B0604020202020204" pitchFamily="34" charset="0"/>
              </a:rPr>
              <a:t>C.  </a:t>
            </a:r>
            <a:r>
              <a:rPr lang="en-US" altLang="ko-KR" sz="900" dirty="0" err="1" smtClean="0">
                <a:latin typeface="Arial" panose="020B0604020202020204" pitchFamily="34" charset="0"/>
                <a:cs typeface="Arial" panose="020B0604020202020204" pitchFamily="34" charset="0"/>
              </a:rPr>
              <a:t>Tính</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sản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xuất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đại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trà</a:t>
            </a:r>
            <a:r>
              <a:rPr lang="en-US" altLang="ko-KR" sz="900" dirty="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tốt</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có</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khả</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năng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cung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cấp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số</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lượng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lớn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với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giá</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ổn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định</a:t>
            </a:r>
            <a:endParaRPr lang="ko-KR" altLang="en-US" sz="900" dirty="0">
              <a:latin typeface="Arial" panose="020B0604020202020204" pitchFamily="34" charset="0"/>
              <a:cs typeface="Arial" panose="020B0604020202020204" pitchFamily="34" charset="0"/>
            </a:endParaRPr>
          </a:p>
          <a:p>
            <a:pPr eaLnBrk="1" hangingPunct="1"/>
            <a:r>
              <a:rPr lang="en-US" altLang="ko-KR" sz="900" smtClean="0">
                <a:solidFill>
                  <a:srgbClr val="FF0000"/>
                </a:solidFill>
                <a:latin typeface="Arial" panose="020B0604020202020204" pitchFamily="34" charset="0"/>
                <a:cs typeface="Arial" panose="020B0604020202020204" pitchFamily="34" charset="0"/>
              </a:rPr>
              <a:t>D.</a:t>
            </a:r>
            <a:r>
              <a:rPr lang="ko-KR" altLang="en-US" sz="90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Là</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tiếp</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điểm</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cơ</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nên</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tính</a:t>
            </a:r>
            <a:r>
              <a:rPr lang="en-US" altLang="ko-KR" sz="900" dirty="0" smtClean="0">
                <a:solidFill>
                  <a:srgbClr val="FF0000"/>
                </a:solidFill>
                <a:latin typeface="Arial" panose="020B0604020202020204" pitchFamily="34" charset="0"/>
                <a:cs typeface="Arial" panose="020B0604020202020204" pitchFamily="34" charset="0"/>
              </a:rPr>
              <a:t> tin </a:t>
            </a:r>
            <a:r>
              <a:rPr lang="en-US" altLang="ko-KR" sz="900" dirty="0" err="1" smtClean="0">
                <a:solidFill>
                  <a:srgbClr val="FF0000"/>
                </a:solidFill>
                <a:latin typeface="Arial" panose="020B0604020202020204" pitchFamily="34" charset="0"/>
                <a:cs typeface="Arial" panose="020B0604020202020204" pitchFamily="34" charset="0"/>
              </a:rPr>
              <a:t>cậy</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cao</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và</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ít</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bị</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biến</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đổi</a:t>
            </a:r>
            <a:r>
              <a:rPr lang="en-US" altLang="ko-KR" sz="900" dirty="0" smtClean="0">
                <a:solidFill>
                  <a:srgbClr val="FF0000"/>
                </a:solidFill>
                <a:latin typeface="Arial" panose="020B0604020202020204" pitchFamily="34" charset="0"/>
                <a:cs typeface="Arial" panose="020B0604020202020204" pitchFamily="34" charset="0"/>
              </a:rPr>
              <a:t> </a:t>
            </a:r>
            <a:r>
              <a:rPr lang="en-US" altLang="ko-KR" sz="900" dirty="0" err="1" smtClean="0">
                <a:solidFill>
                  <a:srgbClr val="FF0000"/>
                </a:solidFill>
                <a:latin typeface="Arial" panose="020B0604020202020204" pitchFamily="34" charset="0"/>
                <a:cs typeface="Arial" panose="020B0604020202020204" pitchFamily="34" charset="0"/>
              </a:rPr>
              <a:t>nhỏ</a:t>
            </a:r>
            <a:r>
              <a:rPr lang="en-US" altLang="ko-KR" sz="900" dirty="0" smtClean="0">
                <a:solidFill>
                  <a:srgbClr val="FF0000"/>
                </a:solidFill>
                <a:latin typeface="Arial" panose="020B0604020202020204" pitchFamily="34" charset="0"/>
                <a:cs typeface="Arial" panose="020B0604020202020204" pitchFamily="34" charset="0"/>
              </a:rPr>
              <a:t>.</a:t>
            </a:r>
            <a:endParaRPr lang="en-US" altLang="ko-KR" sz="900" dirty="0">
              <a:solidFill>
                <a:srgbClr val="FF0000"/>
              </a:solidFill>
              <a:latin typeface="Arial" panose="020B0604020202020204" pitchFamily="34" charset="0"/>
              <a:cs typeface="Arial" panose="020B0604020202020204" pitchFamily="34" charset="0"/>
            </a:endParaRPr>
          </a:p>
        </p:txBody>
      </p:sp>
      <p:sp>
        <p:nvSpPr>
          <p:cNvPr id="13" name="Rectangle 196"/>
          <p:cNvSpPr>
            <a:spLocks noChangeArrowheads="1"/>
          </p:cNvSpPr>
          <p:nvPr/>
        </p:nvSpPr>
        <p:spPr bwMode="auto">
          <a:xfrm>
            <a:off x="3456384" y="4304928"/>
            <a:ext cx="3429000" cy="507831"/>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itchFamily="34" charset="0"/>
                <a:cs typeface="Arial" panose="020B0604020202020204" pitchFamily="34" charset="0"/>
              </a:rPr>
              <a:t>18.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kí</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hiệu</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của</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mạch</a:t>
            </a:r>
            <a:r>
              <a:rPr lang="en-US" altLang="ko-KR" sz="900" dirty="0" smtClean="0">
                <a:latin typeface="Arial" panose="020B0604020202020204" pitchFamily="34" charset="0"/>
                <a:cs typeface="Arial" panose="020B0604020202020204" pitchFamily="34" charset="0"/>
              </a:rPr>
              <a:t> </a:t>
            </a:r>
            <a:r>
              <a:rPr lang="en-US" altLang="ko-KR" sz="900" smtClean="0">
                <a:latin typeface="Arial" panose="020B0604020202020204" pitchFamily="34" charset="0"/>
                <a:cs typeface="Arial" panose="020B0604020202020204" pitchFamily="34" charset="0"/>
              </a:rPr>
              <a:t>SCR?</a:t>
            </a:r>
            <a:endParaRPr lang="en-US" altLang="ko-KR" sz="900" dirty="0">
              <a:latin typeface="Arial" panose="020B0604020202020204" pitchFamily="34" charset="0"/>
              <a:cs typeface="Arial" panose="020B0604020202020204" pitchFamily="34" charset="0"/>
            </a:endParaRPr>
          </a:p>
          <a:p>
            <a:pPr eaLnBrk="1" hangingPunct="1"/>
            <a:endParaRPr lang="en-US" altLang="ko-KR" sz="900" smtClean="0">
              <a:solidFill>
                <a:srgbClr val="FF0000"/>
              </a:solidFill>
              <a:latin typeface="Arial" panose="020B0604020202020204" pitchFamily="34" charset="0"/>
              <a:cs typeface="Arial" panose="020B0604020202020204" pitchFamily="34" charset="0"/>
            </a:endParaRPr>
          </a:p>
          <a:p>
            <a:pPr eaLnBrk="1" hangingPunct="1"/>
            <a:r>
              <a:rPr lang="en-US" altLang="ko-KR" sz="900" smtClean="0">
                <a:solidFill>
                  <a:srgbClr val="FF0000"/>
                </a:solidFill>
                <a:latin typeface="Arial" panose="020B0604020202020204" pitchFamily="34" charset="0"/>
                <a:cs typeface="Arial" panose="020B0604020202020204" pitchFamily="34" charset="0"/>
              </a:rPr>
              <a:t>A.</a:t>
            </a:r>
            <a:r>
              <a:rPr lang="en-US" altLang="ko-KR" sz="900" smtClean="0">
                <a:latin typeface="Arial" panose="020B0604020202020204" pitchFamily="34" charset="0"/>
                <a:cs typeface="Arial" panose="020B0604020202020204" pitchFamily="34" charset="0"/>
              </a:rPr>
              <a:t>                    B.                      C.                     D.</a:t>
            </a:r>
            <a:endParaRPr lang="en-US" altLang="ko-KR" sz="900" dirty="0">
              <a:latin typeface="Arial" panose="020B0604020202020204" pitchFamily="34" charset="0"/>
              <a:cs typeface="Arial" panose="020B0604020202020204" pitchFamily="34" charset="0"/>
            </a:endParaRPr>
          </a:p>
        </p:txBody>
      </p:sp>
      <p:pic>
        <p:nvPicPr>
          <p:cNvPr id="14" name="Picture 19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04474" y="4754809"/>
            <a:ext cx="617538"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198"/>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589984" y="4764829"/>
            <a:ext cx="688975" cy="53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19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86546" y="4755306"/>
            <a:ext cx="466725" cy="630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20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96584" y="4771256"/>
            <a:ext cx="396864"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Rectangle 213"/>
          <p:cNvSpPr>
            <a:spLocks noChangeArrowheads="1"/>
          </p:cNvSpPr>
          <p:nvPr/>
        </p:nvSpPr>
        <p:spPr bwMode="auto">
          <a:xfrm>
            <a:off x="3428614" y="6062444"/>
            <a:ext cx="3179763" cy="1338828"/>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latin typeface="Arial" pitchFamily="34" charset="0"/>
                <a:cs typeface="Arial" panose="020B0604020202020204" pitchFamily="34" charset="0"/>
              </a:rPr>
              <a:t>19. </a:t>
            </a:r>
            <a:r>
              <a:rPr lang="en-US" altLang="ko-KR" sz="900" dirty="0" err="1" smtClean="0">
                <a:latin typeface="Arial" panose="020B0604020202020204" pitchFamily="34" charset="0"/>
                <a:cs typeface="Arial" panose="020B0604020202020204" pitchFamily="34" charset="0"/>
              </a:rPr>
              <a:t>Chọn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đáp</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án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đúng</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với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điện</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áp</a:t>
            </a:r>
            <a:r>
              <a:rPr lang="en-US" altLang="ko-KR" sz="900" dirty="0" smtClean="0">
                <a:latin typeface="Arial" panose="020B0604020202020204" pitchFamily="34" charset="0"/>
                <a:cs typeface="Arial" panose="020B0604020202020204" pitchFamily="34" charset="0"/>
              </a:rPr>
              <a:t> ở </a:t>
            </a:r>
            <a:r>
              <a:rPr lang="en-US" altLang="ko-KR" sz="900" dirty="0" err="1" smtClean="0">
                <a:latin typeface="Arial" panose="020B0604020202020204" pitchFamily="34" charset="0"/>
                <a:cs typeface="Arial" panose="020B0604020202020204" pitchFamily="34" charset="0"/>
              </a:rPr>
              <a:t>hai</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đầu</a:t>
            </a:r>
            <a:r>
              <a:rPr lang="en-US" altLang="ko-KR" sz="900" dirty="0" smtClean="0">
                <a:latin typeface="Arial" panose="020B0604020202020204" pitchFamily="34" charset="0"/>
                <a:cs typeface="Arial" panose="020B0604020202020204" pitchFamily="34" charset="0"/>
              </a:rPr>
              <a:t> </a:t>
            </a:r>
            <a:r>
              <a:rPr lang="en-US" altLang="ko-KR" sz="900" dirty="0" err="1" smtClean="0">
                <a:latin typeface="Arial" panose="020B0604020202020204" pitchFamily="34" charset="0"/>
                <a:cs typeface="Arial" panose="020B0604020202020204" pitchFamily="34" charset="0"/>
              </a:rPr>
              <a:t>điểm</a:t>
            </a:r>
            <a:r>
              <a:rPr lang="en-US" altLang="ko-KR" sz="900" dirty="0" smtClean="0">
                <a:latin typeface="Arial" panose="020B0604020202020204" pitchFamily="34" charset="0"/>
                <a:cs typeface="Arial" panose="020B0604020202020204" pitchFamily="34" charset="0"/>
              </a:rPr>
              <a:t> A </a:t>
            </a:r>
            <a:r>
              <a:rPr lang="en-US" altLang="ko-KR" sz="900" dirty="0" err="1" smtClean="0">
                <a:latin typeface="Arial" panose="020B0604020202020204" pitchFamily="34" charset="0"/>
                <a:cs typeface="Arial" panose="020B0604020202020204" pitchFamily="34" charset="0"/>
              </a:rPr>
              <a:t>trong</a:t>
            </a:r>
            <a:r>
              <a:rPr lang="en-US" altLang="ko-KR" sz="900" dirty="0" smtClean="0">
                <a:latin typeface="Arial" panose="020B0604020202020204" pitchFamily="34" charset="0"/>
                <a:cs typeface="Arial" panose="020B0604020202020204" pitchFamily="34" charset="0"/>
              </a:rPr>
              <a:t> </a:t>
            </a:r>
            <a:r>
              <a:rPr lang="en-US" altLang="ko-KR" sz="900" err="1" smtClean="0">
                <a:latin typeface="Arial" panose="020B0604020202020204" pitchFamily="34" charset="0"/>
                <a:cs typeface="Arial" panose="020B0604020202020204" pitchFamily="34" charset="0"/>
              </a:rPr>
              <a:t>mạch</a:t>
            </a:r>
            <a:r>
              <a:rPr lang="en-US" altLang="ko-KR" sz="900" smtClean="0">
                <a:latin typeface="Arial" panose="020B0604020202020204" pitchFamily="34" charset="0"/>
                <a:cs typeface="Arial" panose="020B0604020202020204" pitchFamily="34" charset="0"/>
              </a:rPr>
              <a:t> sau?</a:t>
            </a:r>
            <a:endParaRPr lang="en-US" altLang="ko-KR" sz="900" dirty="0">
              <a:latin typeface="Arial" panose="020B0604020202020204" pitchFamily="34" charset="0"/>
              <a:cs typeface="Arial" panose="020B0604020202020204" pitchFamily="34" charset="0"/>
            </a:endParaRPr>
          </a:p>
          <a:p>
            <a:pPr eaLnBrk="1" hangingPunct="1"/>
            <a:endParaRPr lang="en-US" altLang="ko-KR" sz="900" dirty="0">
              <a:latin typeface="Arial" panose="020B0604020202020204" pitchFamily="34" charset="0"/>
              <a:cs typeface="Arial" panose="020B0604020202020204" pitchFamily="34" charset="0"/>
            </a:endParaRPr>
          </a:p>
          <a:p>
            <a:pPr eaLnBrk="1" hangingPunct="1"/>
            <a:r>
              <a:rPr lang="en-US" altLang="ko-KR" sz="900" smtClean="0">
                <a:solidFill>
                  <a:srgbClr val="FF0000"/>
                </a:solidFill>
                <a:latin typeface="Arial" panose="020B0604020202020204" pitchFamily="34" charset="0"/>
                <a:cs typeface="Arial" panose="020B0604020202020204" pitchFamily="34" charset="0"/>
              </a:rPr>
              <a:t>A. 0V</a:t>
            </a:r>
          </a:p>
          <a:p>
            <a:pPr eaLnBrk="1" hangingPunct="1"/>
            <a:r>
              <a:rPr lang="en-US" altLang="ko-KR" sz="900" smtClean="0">
                <a:latin typeface="Arial" panose="020B0604020202020204" pitchFamily="34" charset="0"/>
                <a:cs typeface="Arial" panose="020B0604020202020204" pitchFamily="34" charset="0"/>
              </a:rPr>
              <a:t>B. 15V</a:t>
            </a:r>
          </a:p>
          <a:p>
            <a:pPr eaLnBrk="1" hangingPunct="1"/>
            <a:r>
              <a:rPr lang="en-US" altLang="ko-KR" sz="900" smtClean="0">
                <a:latin typeface="Arial" panose="020B0604020202020204" pitchFamily="34" charset="0"/>
                <a:cs typeface="Arial" panose="020B0604020202020204" pitchFamily="34" charset="0"/>
              </a:rPr>
              <a:t>C. 0.7V</a:t>
            </a:r>
          </a:p>
          <a:p>
            <a:pPr eaLnBrk="1" hangingPunct="1"/>
            <a:r>
              <a:rPr lang="en-US" altLang="ko-KR" sz="900" smtClean="0">
                <a:latin typeface="Arial" panose="020B0604020202020204" pitchFamily="34" charset="0"/>
                <a:cs typeface="Arial" panose="020B0604020202020204" pitchFamily="34" charset="0"/>
              </a:rPr>
              <a:t>D. 14.3V</a:t>
            </a:r>
          </a:p>
          <a:p>
            <a:pPr eaLnBrk="1" hangingPunct="1"/>
            <a:endParaRPr lang="en-US" altLang="ko-KR" sz="900" dirty="0">
              <a:latin typeface="Arial" panose="020B0604020202020204" pitchFamily="34" charset="0"/>
              <a:cs typeface="Arial" panose="020B0604020202020204" pitchFamily="34" charset="0"/>
            </a:endParaRPr>
          </a:p>
          <a:p>
            <a:pPr eaLnBrk="1" hangingPunct="1"/>
            <a:endParaRPr lang="en-US" altLang="ko-KR" sz="900" dirty="0">
              <a:latin typeface="Arial" panose="020B0604020202020204" pitchFamily="34" charset="0"/>
              <a:cs typeface="Arial" panose="020B0604020202020204" pitchFamily="34" charset="0"/>
            </a:endParaRPr>
          </a:p>
        </p:txBody>
      </p:sp>
      <p:grpSp>
        <p:nvGrpSpPr>
          <p:cNvPr id="19" name="Group 214"/>
          <p:cNvGrpSpPr>
            <a:grpSpLocks/>
          </p:cNvGrpSpPr>
          <p:nvPr/>
        </p:nvGrpSpPr>
        <p:grpSpPr bwMode="auto">
          <a:xfrm>
            <a:off x="4967533" y="6350484"/>
            <a:ext cx="1409700" cy="952500"/>
            <a:chOff x="3095" y="2537"/>
            <a:chExt cx="888" cy="600"/>
          </a:xfrm>
        </p:grpSpPr>
        <p:sp>
          <p:nvSpPr>
            <p:cNvPr id="20" name="Line 215"/>
            <p:cNvSpPr>
              <a:spLocks noChangeShapeType="1"/>
            </p:cNvSpPr>
            <p:nvPr/>
          </p:nvSpPr>
          <p:spPr bwMode="auto">
            <a:xfrm>
              <a:off x="3392" y="2546"/>
              <a:ext cx="0" cy="287"/>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1" name="Line 216"/>
            <p:cNvSpPr>
              <a:spLocks noChangeShapeType="1"/>
            </p:cNvSpPr>
            <p:nvPr/>
          </p:nvSpPr>
          <p:spPr bwMode="auto">
            <a:xfrm>
              <a:off x="3388" y="2546"/>
              <a:ext cx="320"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2" name="Line 217"/>
            <p:cNvSpPr>
              <a:spLocks noChangeShapeType="1"/>
            </p:cNvSpPr>
            <p:nvPr/>
          </p:nvSpPr>
          <p:spPr bwMode="auto">
            <a:xfrm>
              <a:off x="3711" y="2546"/>
              <a:ext cx="0" cy="87"/>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grpSp>
          <p:nvGrpSpPr>
            <p:cNvPr id="23" name="Group 218"/>
            <p:cNvGrpSpPr>
              <a:grpSpLocks/>
            </p:cNvGrpSpPr>
            <p:nvPr/>
          </p:nvGrpSpPr>
          <p:grpSpPr bwMode="auto">
            <a:xfrm>
              <a:off x="3679" y="2633"/>
              <a:ext cx="64" cy="109"/>
              <a:chOff x="1488" y="1152"/>
              <a:chExt cx="192" cy="336"/>
            </a:xfrm>
          </p:grpSpPr>
          <p:sp>
            <p:nvSpPr>
              <p:cNvPr id="39" name="Line 219"/>
              <p:cNvSpPr>
                <a:spLocks noChangeShapeType="1"/>
              </p:cNvSpPr>
              <p:nvPr/>
            </p:nvSpPr>
            <p:spPr bwMode="auto">
              <a:xfrm>
                <a:off x="1584" y="1152"/>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0" name="Line 220"/>
              <p:cNvSpPr>
                <a:spLocks noChangeShapeType="1"/>
              </p:cNvSpPr>
              <p:nvPr/>
            </p:nvSpPr>
            <p:spPr bwMode="auto">
              <a:xfrm flipH="1">
                <a:off x="1488" y="1200"/>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1" name="Line 221"/>
              <p:cNvSpPr>
                <a:spLocks noChangeShapeType="1"/>
              </p:cNvSpPr>
              <p:nvPr/>
            </p:nvSpPr>
            <p:spPr bwMode="auto">
              <a:xfrm>
                <a:off x="1488" y="1248"/>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2" name="Line 222"/>
              <p:cNvSpPr>
                <a:spLocks noChangeShapeType="1"/>
              </p:cNvSpPr>
              <p:nvPr/>
            </p:nvSpPr>
            <p:spPr bwMode="auto">
              <a:xfrm flipH="1">
                <a:off x="1488" y="1296"/>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3" name="Line 223"/>
              <p:cNvSpPr>
                <a:spLocks noChangeShapeType="1"/>
              </p:cNvSpPr>
              <p:nvPr/>
            </p:nvSpPr>
            <p:spPr bwMode="auto">
              <a:xfrm>
                <a:off x="1488" y="1344"/>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4" name="Line 224"/>
              <p:cNvSpPr>
                <a:spLocks noChangeShapeType="1"/>
              </p:cNvSpPr>
              <p:nvPr/>
            </p:nvSpPr>
            <p:spPr bwMode="auto">
              <a:xfrm flipH="1">
                <a:off x="1488" y="1392"/>
                <a:ext cx="192"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45" name="Line 225"/>
              <p:cNvSpPr>
                <a:spLocks noChangeShapeType="1"/>
              </p:cNvSpPr>
              <p:nvPr/>
            </p:nvSpPr>
            <p:spPr bwMode="auto">
              <a:xfrm>
                <a:off x="1488" y="1440"/>
                <a:ext cx="96" cy="48"/>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grpSp>
        <p:sp>
          <p:nvSpPr>
            <p:cNvPr id="24" name="Line 226"/>
            <p:cNvSpPr>
              <a:spLocks noChangeShapeType="1"/>
            </p:cNvSpPr>
            <p:nvPr/>
          </p:nvSpPr>
          <p:spPr bwMode="auto">
            <a:xfrm>
              <a:off x="3711" y="2742"/>
              <a:ext cx="0" cy="19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5" name="AutoShape 227"/>
            <p:cNvSpPr>
              <a:spLocks noChangeArrowheads="1"/>
            </p:cNvSpPr>
            <p:nvPr/>
          </p:nvSpPr>
          <p:spPr bwMode="auto">
            <a:xfrm flipV="1">
              <a:off x="3668" y="2932"/>
              <a:ext cx="85" cy="54"/>
            </a:xfrm>
            <a:prstGeom prst="triangle">
              <a:avLst>
                <a:gd name="adj" fmla="val 50000"/>
              </a:avLst>
            </a:prstGeom>
            <a:solidFill>
              <a:srgbClr val="000000"/>
            </a:solidFill>
            <a:ln w="1587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endParaRPr lang="ko-KR" altLang="en-US" sz="900">
                <a:latin typeface="Arial" pitchFamily="34" charset="0"/>
                <a:cs typeface="Arial" panose="020B0604020202020204" pitchFamily="34" charset="0"/>
              </a:endParaRPr>
            </a:p>
          </p:txBody>
        </p:sp>
        <p:sp>
          <p:nvSpPr>
            <p:cNvPr id="26" name="Line 228"/>
            <p:cNvSpPr>
              <a:spLocks noChangeShapeType="1"/>
            </p:cNvSpPr>
            <p:nvPr/>
          </p:nvSpPr>
          <p:spPr bwMode="auto">
            <a:xfrm>
              <a:off x="3392" y="3137"/>
              <a:ext cx="319"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7" name="Line 229"/>
            <p:cNvSpPr>
              <a:spLocks noChangeShapeType="1"/>
            </p:cNvSpPr>
            <p:nvPr/>
          </p:nvSpPr>
          <p:spPr bwMode="auto">
            <a:xfrm>
              <a:off x="3711" y="2984"/>
              <a:ext cx="0" cy="153"/>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8" name="Line 230"/>
            <p:cNvSpPr>
              <a:spLocks noChangeShapeType="1"/>
            </p:cNvSpPr>
            <p:nvPr/>
          </p:nvSpPr>
          <p:spPr bwMode="auto">
            <a:xfrm flipV="1">
              <a:off x="3392" y="2846"/>
              <a:ext cx="0" cy="282"/>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29" name="Line 231"/>
            <p:cNvSpPr>
              <a:spLocks noChangeShapeType="1"/>
            </p:cNvSpPr>
            <p:nvPr/>
          </p:nvSpPr>
          <p:spPr bwMode="auto">
            <a:xfrm>
              <a:off x="3352" y="2828"/>
              <a:ext cx="83"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0" name="Line 232"/>
            <p:cNvSpPr>
              <a:spLocks noChangeShapeType="1"/>
            </p:cNvSpPr>
            <p:nvPr/>
          </p:nvSpPr>
          <p:spPr bwMode="auto">
            <a:xfrm>
              <a:off x="3324" y="2849"/>
              <a:ext cx="156"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1" name="Text Box 233"/>
            <p:cNvSpPr txBox="1">
              <a:spLocks noChangeArrowheads="1"/>
            </p:cNvSpPr>
            <p:nvPr/>
          </p:nvSpPr>
          <p:spPr bwMode="auto">
            <a:xfrm>
              <a:off x="3095" y="2695"/>
              <a:ext cx="328"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b="1">
                  <a:latin typeface="Arial" pitchFamily="34" charset="0"/>
                  <a:ea typeface="돋움" pitchFamily="50" charset="-127"/>
                  <a:cs typeface="Arial" panose="020B0604020202020204" pitchFamily="34" charset="0"/>
                </a:rPr>
                <a:t>    +5V</a:t>
              </a:r>
            </a:p>
          </p:txBody>
        </p:sp>
        <p:grpSp>
          <p:nvGrpSpPr>
            <p:cNvPr id="32" name="Group 234"/>
            <p:cNvGrpSpPr>
              <a:grpSpLocks/>
            </p:cNvGrpSpPr>
            <p:nvPr/>
          </p:nvGrpSpPr>
          <p:grpSpPr bwMode="auto">
            <a:xfrm rot="10800000">
              <a:off x="3667" y="2932"/>
              <a:ext cx="86" cy="54"/>
              <a:chOff x="3667" y="2932"/>
              <a:chExt cx="86" cy="54"/>
            </a:xfrm>
          </p:grpSpPr>
          <p:sp>
            <p:nvSpPr>
              <p:cNvPr id="37" name="Line 235"/>
              <p:cNvSpPr>
                <a:spLocks noChangeShapeType="1"/>
              </p:cNvSpPr>
              <p:nvPr/>
            </p:nvSpPr>
            <p:spPr bwMode="auto">
              <a:xfrm flipV="1">
                <a:off x="3668" y="2986"/>
                <a:ext cx="85"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8" name="Line 236"/>
              <p:cNvSpPr>
                <a:spLocks noChangeShapeType="1"/>
              </p:cNvSpPr>
              <p:nvPr/>
            </p:nvSpPr>
            <p:spPr bwMode="auto">
              <a:xfrm flipV="1">
                <a:off x="3667" y="2932"/>
                <a:ext cx="86" cy="0"/>
              </a:xfrm>
              <a:prstGeom prst="line">
                <a:avLst/>
              </a:prstGeom>
              <a:noFill/>
              <a:ln w="1587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grpSp>
        <p:sp>
          <p:nvSpPr>
            <p:cNvPr id="33" name="Text Box 237"/>
            <p:cNvSpPr txBox="1">
              <a:spLocks noChangeArrowheads="1"/>
            </p:cNvSpPr>
            <p:nvPr/>
          </p:nvSpPr>
          <p:spPr bwMode="auto">
            <a:xfrm>
              <a:off x="3458" y="2930"/>
              <a:ext cx="225"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b="1">
                  <a:latin typeface="Arial" pitchFamily="34" charset="0"/>
                  <a:ea typeface="돋움" pitchFamily="50" charset="-127"/>
                  <a:cs typeface="Arial" panose="020B0604020202020204" pitchFamily="34" charset="0"/>
                </a:rPr>
                <a:t>  Si</a:t>
              </a:r>
            </a:p>
          </p:txBody>
        </p:sp>
        <p:sp>
          <p:nvSpPr>
            <p:cNvPr id="34" name="Line 238"/>
            <p:cNvSpPr>
              <a:spLocks noChangeShapeType="1"/>
            </p:cNvSpPr>
            <p:nvPr/>
          </p:nvSpPr>
          <p:spPr bwMode="auto">
            <a:xfrm flipH="1" flipV="1">
              <a:off x="3744" y="2537"/>
              <a:ext cx="80" cy="99"/>
            </a:xfrm>
            <a:prstGeom prst="line">
              <a:avLst/>
            </a:prstGeom>
            <a:noFill/>
            <a:ln w="9525">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5" name="Line 239"/>
            <p:cNvSpPr>
              <a:spLocks noChangeShapeType="1"/>
            </p:cNvSpPr>
            <p:nvPr/>
          </p:nvSpPr>
          <p:spPr bwMode="auto">
            <a:xfrm flipH="1">
              <a:off x="3744" y="2767"/>
              <a:ext cx="105" cy="66"/>
            </a:xfrm>
            <a:prstGeom prst="line">
              <a:avLst/>
            </a:prstGeom>
            <a:noFill/>
            <a:ln w="9525">
              <a:solidFill>
                <a:srgbClr val="000000"/>
              </a:solidFill>
              <a:round/>
              <a:headEnd/>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00">
                <a:latin typeface="Arial" pitchFamily="34" charset="0"/>
                <a:cs typeface="Arial" panose="020B0604020202020204" pitchFamily="34" charset="0"/>
              </a:endParaRPr>
            </a:p>
          </p:txBody>
        </p:sp>
        <p:sp>
          <p:nvSpPr>
            <p:cNvPr id="36" name="Text Box 240"/>
            <p:cNvSpPr txBox="1">
              <a:spLocks noChangeArrowheads="1"/>
            </p:cNvSpPr>
            <p:nvPr/>
          </p:nvSpPr>
          <p:spPr bwMode="auto">
            <a:xfrm>
              <a:off x="3693" y="2640"/>
              <a:ext cx="290"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b="1">
                  <a:latin typeface="Arial" pitchFamily="34" charset="0"/>
                  <a:ea typeface="돋움" pitchFamily="50" charset="-127"/>
                  <a:cs typeface="Arial" panose="020B0604020202020204" pitchFamily="34" charset="0"/>
                </a:rPr>
                <a:t>     A </a:t>
              </a:r>
            </a:p>
          </p:txBody>
        </p:sp>
      </p:grpSp>
      <p:sp>
        <p:nvSpPr>
          <p:cNvPr id="46" name="Rectangle 45"/>
          <p:cNvSpPr/>
          <p:nvPr/>
        </p:nvSpPr>
        <p:spPr>
          <a:xfrm>
            <a:off x="4363936" y="4779823"/>
            <a:ext cx="323563" cy="126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Drain</a:t>
            </a:r>
            <a:endParaRPr lang="en-US" sz="900" dirty="0">
              <a:solidFill>
                <a:schemeClr val="tx1"/>
              </a:solidFill>
              <a:latin typeface="Arial" pitchFamily="34" charset="0"/>
              <a:cs typeface="Arial" pitchFamily="34" charset="0"/>
            </a:endParaRPr>
          </a:p>
        </p:txBody>
      </p:sp>
      <p:sp>
        <p:nvSpPr>
          <p:cNvPr id="47" name="Rectangle 46"/>
          <p:cNvSpPr/>
          <p:nvPr/>
        </p:nvSpPr>
        <p:spPr>
          <a:xfrm>
            <a:off x="4098840" y="5070295"/>
            <a:ext cx="266686" cy="815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Gate</a:t>
            </a:r>
            <a:endParaRPr lang="en-US" sz="900" dirty="0">
              <a:solidFill>
                <a:schemeClr val="tx1"/>
              </a:solidFill>
              <a:latin typeface="Arial" pitchFamily="34" charset="0"/>
              <a:cs typeface="Arial" pitchFamily="34" charset="0"/>
            </a:endParaRPr>
          </a:p>
        </p:txBody>
      </p:sp>
      <p:sp>
        <p:nvSpPr>
          <p:cNvPr id="48" name="Rectangle 47"/>
          <p:cNvSpPr/>
          <p:nvPr/>
        </p:nvSpPr>
        <p:spPr>
          <a:xfrm>
            <a:off x="4386879" y="5243457"/>
            <a:ext cx="380779" cy="1357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Source</a:t>
            </a:r>
            <a:endParaRPr lang="en-US" sz="900" dirty="0">
              <a:solidFill>
                <a:schemeClr val="tx1"/>
              </a:solidFill>
              <a:latin typeface="Arial" pitchFamily="34" charset="0"/>
              <a:cs typeface="Arial" pitchFamily="34" charset="0"/>
            </a:endParaRPr>
          </a:p>
        </p:txBody>
      </p:sp>
      <p:sp>
        <p:nvSpPr>
          <p:cNvPr id="49" name="Rectangle 48"/>
          <p:cNvSpPr/>
          <p:nvPr/>
        </p:nvSpPr>
        <p:spPr>
          <a:xfrm>
            <a:off x="5472664" y="4751245"/>
            <a:ext cx="366875" cy="2067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Emitter</a:t>
            </a:r>
            <a:endParaRPr lang="en-US" sz="900" dirty="0">
              <a:solidFill>
                <a:schemeClr val="tx1"/>
              </a:solidFill>
              <a:latin typeface="Arial" pitchFamily="34" charset="0"/>
              <a:cs typeface="Arial" pitchFamily="34" charset="0"/>
            </a:endParaRPr>
          </a:p>
        </p:txBody>
      </p:sp>
      <p:sp>
        <p:nvSpPr>
          <p:cNvPr id="50" name="Rectangle 49"/>
          <p:cNvSpPr/>
          <p:nvPr/>
        </p:nvSpPr>
        <p:spPr>
          <a:xfrm>
            <a:off x="6076303" y="4736956"/>
            <a:ext cx="476511" cy="2124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Collector</a:t>
            </a:r>
            <a:endParaRPr lang="en-US" sz="900" dirty="0">
              <a:solidFill>
                <a:schemeClr val="tx1"/>
              </a:solidFill>
              <a:latin typeface="Arial" pitchFamily="34" charset="0"/>
              <a:cs typeface="Arial" pitchFamily="34" charset="0"/>
            </a:endParaRPr>
          </a:p>
        </p:txBody>
      </p:sp>
      <p:sp>
        <p:nvSpPr>
          <p:cNvPr id="51" name="Rectangle 50"/>
          <p:cNvSpPr/>
          <p:nvPr/>
        </p:nvSpPr>
        <p:spPr>
          <a:xfrm>
            <a:off x="5805726" y="5169016"/>
            <a:ext cx="266686" cy="1707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900" dirty="0" smtClean="0">
                <a:solidFill>
                  <a:schemeClr val="tx1"/>
                </a:solidFill>
                <a:latin typeface="Arial" pitchFamily="34" charset="0"/>
                <a:cs typeface="Arial" pitchFamily="34" charset="0"/>
              </a:rPr>
              <a:t>Base</a:t>
            </a:r>
            <a:endParaRPr lang="en-US" sz="900" dirty="0">
              <a:solidFill>
                <a:schemeClr val="tx1"/>
              </a:solidFill>
              <a:latin typeface="Arial" pitchFamily="34" charset="0"/>
              <a:cs typeface="Arial" pitchFamily="34" charset="0"/>
            </a:endParaRPr>
          </a:p>
        </p:txBody>
      </p:sp>
      <p:sp>
        <p:nvSpPr>
          <p:cNvPr id="52" name="Rectangle 51"/>
          <p:cNvSpPr/>
          <p:nvPr/>
        </p:nvSpPr>
        <p:spPr>
          <a:xfrm>
            <a:off x="3428614" y="8049344"/>
            <a:ext cx="3429000" cy="923330"/>
          </a:xfrm>
          <a:prstGeom prst="rect">
            <a:avLst/>
          </a:prstGeom>
        </p:spPr>
        <p:txBody>
          <a:bodyPr>
            <a:spAutoFit/>
          </a:bodyPr>
          <a:lstStyle/>
          <a:p>
            <a:r>
              <a:rPr lang="en-US" altLang="ko-KR" sz="900" smtClean="0">
                <a:latin typeface="Arial" pitchFamily="34" charset="0"/>
                <a:ea typeface="돋움" pitchFamily="50" charset="-127"/>
                <a:cs typeface="Arial" pitchFamily="34" charset="0"/>
              </a:rPr>
              <a:t>20</a:t>
            </a:r>
            <a:r>
              <a:rPr lang="vi-VN"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Đáp án</a:t>
            </a:r>
            <a:r>
              <a:rPr lang="vi-VN" altLang="ko-KR" sz="900">
                <a:latin typeface="Arial" pitchFamily="34" charset="0"/>
                <a:ea typeface="돋움" pitchFamily="50" charset="-127"/>
                <a:cs typeface="Arial" pitchFamily="34" charset="0"/>
              </a:rPr>
              <a:t> nào sau đây không phải là </a:t>
            </a:r>
            <a:r>
              <a:rPr lang="en-US" altLang="ko-KR" sz="900">
                <a:latin typeface="Arial" pitchFamily="34" charset="0"/>
                <a:ea typeface="돋움" pitchFamily="50" charset="-127"/>
                <a:cs typeface="Arial" pitchFamily="34" charset="0"/>
              </a:rPr>
              <a:t>một loại </a:t>
            </a:r>
            <a:r>
              <a:rPr lang="vi-VN" altLang="ko-KR" sz="900">
                <a:latin typeface="Arial" pitchFamily="34" charset="0"/>
                <a:ea typeface="돋움" pitchFamily="50" charset="-127"/>
                <a:cs typeface="Arial" pitchFamily="34" charset="0"/>
              </a:rPr>
              <a:t>của biến trở?</a:t>
            </a:r>
          </a:p>
          <a:p>
            <a:r>
              <a:rPr lang="en-US" altLang="ko-KR" sz="900">
                <a:latin typeface="Arial" pitchFamily="34" charset="0"/>
                <a:ea typeface="돋움" pitchFamily="50" charset="-127"/>
                <a:cs typeface="Arial" pitchFamily="34" charset="0"/>
              </a:rPr>
              <a:t>  </a:t>
            </a:r>
          </a:p>
          <a:p>
            <a:r>
              <a:rPr lang="en-US" altLang="ko-KR" sz="900">
                <a:latin typeface="Arial" pitchFamily="34" charset="0"/>
                <a:ea typeface="돋움" pitchFamily="50" charset="-127"/>
                <a:cs typeface="Arial" pitchFamily="34" charset="0"/>
              </a:rPr>
              <a:t>  A</a:t>
            </a:r>
            <a:r>
              <a:rPr lang="en-US" altLang="ko-KR" sz="900" smtClean="0">
                <a:latin typeface="Arial" pitchFamily="34" charset="0"/>
                <a:ea typeface="돋움" pitchFamily="50" charset="-127"/>
                <a:cs typeface="Arial" pitchFamily="34" charset="0"/>
              </a:rPr>
              <a:t> </a:t>
            </a:r>
            <a:r>
              <a:rPr lang="en-US" altLang="ko-KR" sz="900">
                <a:latin typeface="Arial" pitchFamily="34" charset="0"/>
                <a:ea typeface="돋움" pitchFamily="50" charset="-127"/>
                <a:cs typeface="Arial" pitchFamily="34" charset="0"/>
              </a:rPr>
              <a:t>Màng carbon</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Màng kim loại</a:t>
            </a:r>
          </a:p>
          <a:p>
            <a:r>
              <a:rPr lang="en-US" altLang="ko-KR" sz="900">
                <a:latin typeface="Arial" pitchFamily="34" charset="0"/>
                <a:ea typeface="돋움" pitchFamily="50" charset="-127"/>
                <a:cs typeface="Arial" pitchFamily="34" charset="0"/>
              </a:rPr>
              <a:t>  </a:t>
            </a:r>
            <a:r>
              <a:rPr lang="en-US" altLang="ko-KR" sz="900" smtClean="0">
                <a:latin typeface="Arial" pitchFamily="34" charset="0"/>
                <a:ea typeface="돋움" pitchFamily="50" charset="-127"/>
                <a:cs typeface="Arial" pitchFamily="34" charset="0"/>
              </a:rPr>
              <a:t>C </a:t>
            </a:r>
            <a:r>
              <a:rPr lang="en-US" altLang="ko-KR" sz="900">
                <a:latin typeface="Arial" pitchFamily="34" charset="0"/>
                <a:ea typeface="돋움" pitchFamily="50" charset="-127"/>
                <a:cs typeface="Arial" pitchFamily="34" charset="0"/>
              </a:rPr>
              <a:t>Cuộn dây</a:t>
            </a:r>
          </a:p>
          <a:p>
            <a:r>
              <a:rPr lang="en-US" altLang="ko-KR" sz="900">
                <a:latin typeface="Arial" pitchFamily="34" charset="0"/>
                <a:ea typeface="돋움" pitchFamily="50" charset="-127"/>
                <a:cs typeface="Arial" pitchFamily="34" charset="0"/>
              </a:rPr>
              <a:t>  </a:t>
            </a:r>
            <a:r>
              <a:rPr lang="en-US" altLang="ko-KR" sz="900" smtClean="0">
                <a:solidFill>
                  <a:srgbClr val="FF0000"/>
                </a:solidFill>
                <a:latin typeface="Arial" pitchFamily="34" charset="0"/>
                <a:ea typeface="돋움" pitchFamily="50" charset="-127"/>
                <a:cs typeface="Arial" pitchFamily="34" charset="0"/>
              </a:rPr>
              <a:t>D </a:t>
            </a:r>
            <a:r>
              <a:rPr lang="en-US" altLang="ko-KR" sz="900">
                <a:solidFill>
                  <a:srgbClr val="FF0000"/>
                </a:solidFill>
                <a:latin typeface="Arial" pitchFamily="34" charset="0"/>
                <a:ea typeface="돋움" pitchFamily="50" charset="-127"/>
                <a:cs typeface="Arial" pitchFamily="34" charset="0"/>
              </a:rPr>
              <a:t>Silicone</a:t>
            </a:r>
          </a:p>
        </p:txBody>
      </p:sp>
    </p:spTree>
    <p:extLst>
      <p:ext uri="{BB962C8B-B14F-4D97-AF65-F5344CB8AC3E}">
        <p14:creationId xmlns:p14="http://schemas.microsoft.com/office/powerpoint/2010/main" val="222629363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93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sp>
        <p:nvSpPr>
          <p:cNvPr id="5124" name="Rectangle 71"/>
          <p:cNvSpPr>
            <a:spLocks noChangeArrowheads="1"/>
          </p:cNvSpPr>
          <p:nvPr/>
        </p:nvSpPr>
        <p:spPr bwMode="auto">
          <a:xfrm>
            <a:off x="179115"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en-US" altLang="ko-KR" smtClean="0">
              <a:latin typeface="Times New Roman" pitchFamily="18" charset="0"/>
              <a:cs typeface="Times New Roman" pitchFamily="18" charset="0"/>
            </a:endParaRPr>
          </a:p>
          <a:p>
            <a:pPr eaLnBrk="1" fontAlgn="base" hangingPunct="1">
              <a:spcBef>
                <a:spcPct val="0"/>
              </a:spcBef>
              <a:spcAft>
                <a:spcPct val="0"/>
              </a:spcAft>
            </a:pPr>
            <a:endParaRPr lang="en-US" altLang="ko-KR" smtClean="0">
              <a:latin typeface="Times New Roman" pitchFamily="18" charset="0"/>
              <a:cs typeface="Times New Roman" pitchFamily="18" charset="0"/>
            </a:endParaRPr>
          </a:p>
        </p:txBody>
      </p:sp>
      <p:sp>
        <p:nvSpPr>
          <p:cNvPr id="5125" name="Rectangle 72"/>
          <p:cNvSpPr>
            <a:spLocks noChangeArrowheads="1"/>
          </p:cNvSpPr>
          <p:nvPr/>
        </p:nvSpPr>
        <p:spPr bwMode="auto">
          <a:xfrm>
            <a:off x="3422352" y="776288"/>
            <a:ext cx="32470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mtClean="0">
              <a:latin typeface="Times New Roman" pitchFamily="18" charset="0"/>
              <a:cs typeface="Times New Roman" pitchFamily="18" charset="0"/>
            </a:endParaRPr>
          </a:p>
        </p:txBody>
      </p:sp>
      <p:sp>
        <p:nvSpPr>
          <p:cNvPr id="5126" name="Text Box 73"/>
          <p:cNvSpPr txBox="1">
            <a:spLocks noChangeArrowheads="1"/>
          </p:cNvSpPr>
          <p:nvPr/>
        </p:nvSpPr>
        <p:spPr bwMode="auto">
          <a:xfrm>
            <a:off x="292100" y="817563"/>
            <a:ext cx="147508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PLC :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21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40</a:t>
            </a:r>
            <a:endParaRPr lang="ko-KR" altLang="en-US" sz="950" b="1" dirty="0" smtClean="0">
              <a:latin typeface="Times New Roman" pitchFamily="18" charset="0"/>
              <a:cs typeface="Times New Roman" pitchFamily="18" charset="0"/>
            </a:endParaRPr>
          </a:p>
        </p:txBody>
      </p:sp>
      <p:sp>
        <p:nvSpPr>
          <p:cNvPr id="105" name="Rectangle 7"/>
          <p:cNvSpPr>
            <a:spLocks noChangeArrowheads="1"/>
          </p:cNvSpPr>
          <p:nvPr/>
        </p:nvSpPr>
        <p:spPr bwMode="auto">
          <a:xfrm>
            <a:off x="189190" y="1208584"/>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21. </a:t>
            </a:r>
            <a:r>
              <a:rPr lang="vi-VN" altLang="ko-KR" sz="950">
                <a:latin typeface="Times New Roman" pitchFamily="18" charset="0"/>
                <a:ea typeface="LG Smart_H Regular" panose="020B0600000101010101" pitchFamily="34" charset="-127"/>
                <a:cs typeface="Times New Roman" pitchFamily="18" charset="0"/>
              </a:rPr>
              <a:t>Đâu không phải nội dung của bảng điều khiển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Khó khăn trong việc nhỏ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hóa</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Hiện thực hóa điều khiển quy mô lớn , tính năng cao bằng loại </a:t>
            </a:r>
            <a:r>
              <a:rPr lang="vi-VN" altLang="ko-KR" sz="950" smtClean="0">
                <a:latin typeface="Times New Roman" pitchFamily="18" charset="0"/>
                <a:ea typeface="LG Smart_H Regular" panose="020B0600000101010101" pitchFamily="34" charset="-127"/>
                <a:cs typeface="Times New Roman" pitchFamily="18" charset="0"/>
              </a:rPr>
              <a:t>nhỏ</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Được điều khiển dựa vào sofrware được gọi là </a:t>
            </a:r>
            <a:r>
              <a:rPr lang="vi-VN" altLang="ko-KR" sz="950" smtClean="0">
                <a:latin typeface="Times New Roman" pitchFamily="18" charset="0"/>
                <a:ea typeface="LG Smart_H Regular" panose="020B0600000101010101" pitchFamily="34" charset="-127"/>
                <a:cs typeface="Times New Roman" pitchFamily="18" charset="0"/>
              </a:rPr>
              <a:t>Program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Điều khiển không tiếp xúc</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07" name="Rectangle 7"/>
          <p:cNvSpPr>
            <a:spLocks noChangeArrowheads="1"/>
          </p:cNvSpPr>
          <p:nvPr/>
        </p:nvSpPr>
        <p:spPr bwMode="auto">
          <a:xfrm>
            <a:off x="201890" y="4016896"/>
            <a:ext cx="3239810"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23. </a:t>
            </a:r>
            <a:r>
              <a:rPr lang="vi-VN" altLang="ko-KR" sz="950">
                <a:latin typeface="Times New Roman" pitchFamily="18" charset="0"/>
                <a:ea typeface="LG Smart_H Regular" panose="020B0600000101010101" pitchFamily="34" charset="-127"/>
                <a:cs typeface="Times New Roman" pitchFamily="18" charset="0"/>
              </a:rPr>
              <a:t>Chọn giải thích đúng về Device </a:t>
            </a:r>
            <a:r>
              <a:rPr lang="vi-VN" altLang="ko-KR" sz="950" smtClean="0">
                <a:latin typeface="Times New Roman" pitchFamily="18" charset="0"/>
                <a:ea typeface="LG Smart_H Regular" panose="020B0600000101010101" pitchFamily="34" charset="-127"/>
                <a:cs typeface="Times New Roman" pitchFamily="18" charset="0"/>
              </a:rPr>
              <a:t>Timer?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khả năng hoán đổi thông tin Data giữa các Local Station,  Master Station →  Local Station, Local Station → Master Station trong Link Register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DATA REGISTER lưu trữ kết quả tính toán của  mệnh lệnh ứng dụng , mệnh lệnh cơ bản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Là bộ đếm thời gian Timer công thức cộng, và có 3 loại là 100ms Timer,10ms Timer, và Timer hơn 100ms</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Có 2 loại là Interrupt sử dụng Interrupt Sequence Program và Counter sử dụng  Sequence Program trong công thức cộng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0" name="Rectangle 7"/>
          <p:cNvSpPr>
            <a:spLocks noChangeArrowheads="1"/>
          </p:cNvSpPr>
          <p:nvPr/>
        </p:nvSpPr>
        <p:spPr bwMode="auto">
          <a:xfrm>
            <a:off x="3449862" y="1251556"/>
            <a:ext cx="323981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26. </a:t>
            </a:r>
            <a:r>
              <a:rPr lang="vi-VN" altLang="ko-KR" sz="950">
                <a:latin typeface="Times New Roman" pitchFamily="18" charset="0"/>
                <a:ea typeface="LG Smart_H Regular" panose="020B0600000101010101" pitchFamily="34" charset="-127"/>
                <a:cs typeface="Times New Roman" pitchFamily="18" charset="0"/>
              </a:rPr>
              <a:t>Khi muốn sửa Program hiện tại thì sử dụng phím tắt nào sau </a:t>
            </a:r>
            <a:r>
              <a:rPr lang="vi-VN" altLang="ko-KR" sz="950" smtClean="0">
                <a:latin typeface="Times New Roman" pitchFamily="18" charset="0"/>
                <a:ea typeface="LG Smart_H Regular" panose="020B0600000101010101" pitchFamily="34" charset="-127"/>
                <a:cs typeface="Times New Roman" pitchFamily="18" charset="0"/>
              </a:rPr>
              <a:t>đây?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F1              B. F</a:t>
            </a:r>
            <a:r>
              <a:rPr lang="en-US" altLang="ko-KR" sz="950">
                <a:latin typeface="Times New Roman" pitchFamily="18" charset="0"/>
                <a:ea typeface="LG Smart_H Regular" panose="020B0600000101010101" pitchFamily="34" charset="-127"/>
                <a:cs typeface="Times New Roman" pitchFamily="18" charset="0"/>
              </a:rPr>
              <a:t>2</a:t>
            </a:r>
            <a:r>
              <a:rPr lang="en-US" altLang="ko-KR" sz="950" smtClean="0">
                <a:latin typeface="Times New Roman" pitchFamily="18" charset="0"/>
                <a:ea typeface="LG Smart_H Regular" panose="020B0600000101010101" pitchFamily="34" charset="-127"/>
                <a:cs typeface="Times New Roman" pitchFamily="18" charset="0"/>
              </a:rPr>
              <a: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F</a:t>
            </a:r>
            <a:r>
              <a:rPr lang="en-US" altLang="ko-KR" sz="950">
                <a:solidFill>
                  <a:srgbClr val="FF0000"/>
                </a:solidFill>
                <a:latin typeface="Times New Roman" pitchFamily="18" charset="0"/>
                <a:ea typeface="LG Smart_H Regular" panose="020B0600000101010101" pitchFamily="34" charset="-127"/>
                <a:cs typeface="Times New Roman" pitchFamily="18" charset="0"/>
              </a:rPr>
              <a:t>3</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D. </a:t>
            </a:r>
            <a:r>
              <a:rPr lang="vi-VN" altLang="ko-KR" sz="950" smtClean="0">
                <a:latin typeface="Times New Roman" pitchFamily="18" charset="0"/>
                <a:ea typeface="LG Smart_H Regular" panose="020B0600000101010101" pitchFamily="34" charset="-127"/>
                <a:cs typeface="Times New Roman" pitchFamily="18" charset="0"/>
              </a:rPr>
              <a:t>F4</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1" name="Rectangle 7"/>
          <p:cNvSpPr>
            <a:spLocks noChangeArrowheads="1"/>
          </p:cNvSpPr>
          <p:nvPr/>
        </p:nvSpPr>
        <p:spPr bwMode="auto">
          <a:xfrm>
            <a:off x="3455294" y="2394972"/>
            <a:ext cx="3239810"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27. </a:t>
            </a:r>
            <a:r>
              <a:rPr lang="vi-VN" altLang="ko-KR" sz="950">
                <a:latin typeface="Times New Roman" pitchFamily="18" charset="0"/>
                <a:ea typeface="LG Smart_H Regular" panose="020B0600000101010101" pitchFamily="34" charset="-127"/>
                <a:cs typeface="Times New Roman" pitchFamily="18" charset="0"/>
              </a:rPr>
              <a:t>"Là nơi cài đặt thời gian Scan lớn nhất, trong trường hợp thời gian Run Scan chậm  hơn thời gian cài đặt sẽ phát sinh PLC Error" là định nghĩa nào sau đây</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Cài đặt Mode vận hành khi có </a:t>
            </a:r>
            <a:r>
              <a:rPr lang="vi-VN" altLang="ko-KR" sz="950" smtClean="0">
                <a:latin typeface="Times New Roman" pitchFamily="18" charset="0"/>
                <a:ea typeface="LG Smart_H Regular" panose="020B0600000101010101" pitchFamily="34" charset="-127"/>
                <a:cs typeface="Times New Roman" pitchFamily="18" charset="0"/>
              </a:rPr>
              <a:t>Error </a:t>
            </a:r>
            <a:r>
              <a:rPr lang="vi-VN" altLang="ko-KR" sz="95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Cài đặt WDT.</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Constant Scan.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Error Check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112" name="Rectangle 7"/>
          <p:cNvSpPr>
            <a:spLocks noChangeArrowheads="1"/>
          </p:cNvSpPr>
          <p:nvPr/>
        </p:nvSpPr>
        <p:spPr bwMode="auto">
          <a:xfrm>
            <a:off x="3419475" y="4413374"/>
            <a:ext cx="3233208"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28. </a:t>
            </a:r>
            <a:r>
              <a:rPr lang="vi-VN" altLang="ko-KR" sz="950">
                <a:latin typeface="Times New Roman" pitchFamily="18" charset="0"/>
                <a:ea typeface="LG Smart_H Regular" panose="020B0600000101010101" pitchFamily="34" charset="-127"/>
                <a:cs typeface="Times New Roman" pitchFamily="18" charset="0"/>
              </a:rPr>
              <a:t>Phương pháp cài đặt PLC File: trường hợp sử dụng File Register R giới hạn cài    đặt dung lượng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1~1018M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1~1024M</a:t>
            </a: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1~1018K</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1~1024K</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24" name="Rectangle 7"/>
          <p:cNvSpPr>
            <a:spLocks noChangeArrowheads="1"/>
          </p:cNvSpPr>
          <p:nvPr/>
        </p:nvSpPr>
        <p:spPr bwMode="auto">
          <a:xfrm>
            <a:off x="163863" y="6177136"/>
            <a:ext cx="323981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24. </a:t>
            </a:r>
            <a:r>
              <a:rPr lang="vi-VN" altLang="ko-KR" sz="950">
                <a:latin typeface="Times New Roman" pitchFamily="18" charset="0"/>
                <a:ea typeface="LG Smart_H Regular" panose="020B0600000101010101" pitchFamily="34" charset="-127"/>
                <a:cs typeface="Times New Roman" pitchFamily="18" charset="0"/>
              </a:rPr>
              <a:t>Thao tác nào sau đây có thể Để Clear trạng thái duy trì tĩnh điện (Lacth) của Device?</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Fomat PLC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ON/OFF </a:t>
            </a:r>
            <a:r>
              <a:rPr lang="vi-VN" altLang="ko-KR" sz="950">
                <a:latin typeface="Times New Roman" pitchFamily="18" charset="0"/>
                <a:ea typeface="LG Smart_H Regular" panose="020B0600000101010101" pitchFamily="34" charset="-127"/>
                <a:cs typeface="Times New Roman" pitchFamily="18" charset="0"/>
              </a:rPr>
              <a:t>nguồn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Reset </a:t>
            </a:r>
            <a:r>
              <a:rPr lang="en-US" altLang="ko-KR" sz="950" smtClean="0">
                <a:latin typeface="Times New Roman" pitchFamily="18" charset="0"/>
                <a:ea typeface="LG Smart_H Regular" panose="020B0600000101010101" pitchFamily="34" charset="-127"/>
                <a:cs typeface="Times New Roman" pitchFamily="18" charset="0"/>
              </a:rPr>
              <a:t>PLC</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Thao tác Latch Clear</a:t>
            </a:r>
            <a:endParaRPr lang="vi-VN" altLang="ko-KR" sz="950">
              <a:solidFill>
                <a:srgbClr val="FF0000"/>
              </a:solidFill>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82542" y="2504728"/>
            <a:ext cx="3239810" cy="1408078"/>
            <a:chOff x="182542" y="2504728"/>
            <a:chExt cx="3239810" cy="1408078"/>
          </a:xfrm>
        </p:grpSpPr>
        <p:sp>
          <p:nvSpPr>
            <p:cNvPr id="26" name="Rectangle 7"/>
            <p:cNvSpPr>
              <a:spLocks noChangeArrowheads="1"/>
            </p:cNvSpPr>
            <p:nvPr/>
          </p:nvSpPr>
          <p:spPr bwMode="auto">
            <a:xfrm>
              <a:off x="182542" y="2504728"/>
              <a:ext cx="3239810"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22. </a:t>
              </a:r>
              <a:r>
                <a:rPr lang="vi-VN" altLang="ko-KR" sz="950">
                  <a:latin typeface="Times New Roman" pitchFamily="18" charset="0"/>
                  <a:ea typeface="LG Smart_H Regular" panose="020B0600000101010101" pitchFamily="34" charset="-127"/>
                  <a:cs typeface="Times New Roman" pitchFamily="18" charset="0"/>
                </a:rPr>
                <a:t>"Slot trống" dưới đây có I/O kết thúc là bao nhiêu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2F               B. 30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 3</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F</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D. 40</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27" name="Group 26"/>
            <p:cNvGrpSpPr/>
            <p:nvPr/>
          </p:nvGrpSpPr>
          <p:grpSpPr>
            <a:xfrm>
              <a:off x="192365" y="2792760"/>
              <a:ext cx="3227110" cy="773991"/>
              <a:chOff x="-14824" y="-1"/>
              <a:chExt cx="5022370" cy="1157242"/>
            </a:xfrm>
          </p:grpSpPr>
          <p:sp>
            <p:nvSpPr>
              <p:cNvPr id="28" name="Rectangle 27"/>
              <p:cNvSpPr>
                <a:spLocks noChangeArrowheads="1"/>
              </p:cNvSpPr>
              <p:nvPr/>
            </p:nvSpPr>
            <p:spPr bwMode="auto">
              <a:xfrm>
                <a:off x="1395413" y="-1"/>
                <a:ext cx="693737" cy="115724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90000"/>
                  </a:lnSpc>
                  <a:spcBef>
                    <a:spcPct val="50000"/>
                  </a:spcBef>
                  <a:buFontTx/>
                  <a:buNone/>
                </a:pPr>
                <a:r>
                  <a:rPr lang="en-US" altLang="ko-KR" sz="800">
                    <a:latin typeface="Times New Roman" panose="02020603050405020304" pitchFamily="18" charset="0"/>
                    <a:cs typeface="Times New Roman" panose="02020603050405020304" pitchFamily="18" charset="0"/>
                  </a:rPr>
                  <a:t>QX41 </a:t>
                </a:r>
              </a:p>
            </p:txBody>
          </p:sp>
          <p:sp>
            <p:nvSpPr>
              <p:cNvPr id="29" name="Rectangle 28"/>
              <p:cNvSpPr>
                <a:spLocks noChangeArrowheads="1"/>
              </p:cNvSpPr>
              <p:nvPr/>
            </p:nvSpPr>
            <p:spPr bwMode="auto">
              <a:xfrm>
                <a:off x="2102192" y="856"/>
                <a:ext cx="693737" cy="114300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800">
                    <a:latin typeface="Times New Roman" panose="02020603050405020304" pitchFamily="18" charset="0"/>
                    <a:cs typeface="Times New Roman" panose="02020603050405020304" pitchFamily="18" charset="0"/>
                  </a:rPr>
                  <a:t>QY40</a:t>
                </a:r>
              </a:p>
            </p:txBody>
          </p:sp>
          <p:sp>
            <p:nvSpPr>
              <p:cNvPr id="30" name="Rectangle 29"/>
              <p:cNvSpPr>
                <a:spLocks noChangeArrowheads="1"/>
              </p:cNvSpPr>
              <p:nvPr/>
            </p:nvSpPr>
            <p:spPr bwMode="auto">
              <a:xfrm>
                <a:off x="2788342" y="856"/>
                <a:ext cx="630671"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ko-KR" altLang="en-US" sz="800">
                    <a:latin typeface="Times New Roman" panose="02020603050405020304" pitchFamily="18" charset="0"/>
                    <a:cs typeface="Times New Roman" panose="02020603050405020304" pitchFamily="18" charset="0"/>
                  </a:rPr>
                  <a:t> </a:t>
                </a:r>
                <a:r>
                  <a:rPr lang="en-US" altLang="ko-KR" sz="800">
                    <a:latin typeface="Times New Roman" panose="02020603050405020304" pitchFamily="18" charset="0"/>
                    <a:cs typeface="Times New Roman" panose="02020603050405020304" pitchFamily="18" charset="0"/>
                  </a:rPr>
                  <a:t>Slot trống</a:t>
                </a:r>
              </a:p>
            </p:txBody>
          </p:sp>
          <p:sp>
            <p:nvSpPr>
              <p:cNvPr id="31" name="Rectangle 30"/>
              <p:cNvSpPr>
                <a:spLocks noChangeArrowheads="1"/>
              </p:cNvSpPr>
              <p:nvPr/>
            </p:nvSpPr>
            <p:spPr bwMode="auto">
              <a:xfrm>
                <a:off x="3424464" y="856"/>
                <a:ext cx="800653"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800">
                    <a:latin typeface="Times New Roman" panose="02020603050405020304" pitchFamily="18" charset="0"/>
                    <a:cs typeface="Times New Roman" panose="02020603050405020304" pitchFamily="18" charset="0"/>
                  </a:rPr>
                  <a:t>Q64AD</a:t>
                </a:r>
              </a:p>
            </p:txBody>
          </p:sp>
          <p:sp>
            <p:nvSpPr>
              <p:cNvPr id="32" name="Rectangle 31"/>
              <p:cNvSpPr>
                <a:spLocks noChangeArrowheads="1"/>
              </p:cNvSpPr>
              <p:nvPr/>
            </p:nvSpPr>
            <p:spPr bwMode="auto">
              <a:xfrm>
                <a:off x="4222525" y="856"/>
                <a:ext cx="785021"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70000"/>
                  </a:lnSpc>
                  <a:spcBef>
                    <a:spcPct val="50000"/>
                  </a:spcBef>
                  <a:buFontTx/>
                  <a:buNone/>
                </a:pPr>
                <a:r>
                  <a:rPr lang="en-US" altLang="ko-KR" sz="800">
                    <a:latin typeface="Times New Roman" panose="02020603050405020304" pitchFamily="18" charset="0"/>
                    <a:cs typeface="Times New Roman" panose="02020603050405020304" pitchFamily="18" charset="0"/>
                  </a:rPr>
                  <a:t>Q62DA</a:t>
                </a:r>
              </a:p>
            </p:txBody>
          </p:sp>
          <p:sp>
            <p:nvSpPr>
              <p:cNvPr id="33" name="Text Box 12"/>
              <p:cNvSpPr txBox="1">
                <a:spLocks noChangeArrowheads="1"/>
              </p:cNvSpPr>
              <p:nvPr/>
            </p:nvSpPr>
            <p:spPr bwMode="auto">
              <a:xfrm>
                <a:off x="33050" y="300969"/>
                <a:ext cx="697219" cy="5407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700">
                    <a:latin typeface="Times New Roman" panose="02020603050405020304" pitchFamily="18" charset="0"/>
                    <a:cs typeface="Times New Roman" panose="02020603050405020304" pitchFamily="18" charset="0"/>
                  </a:rPr>
                  <a:t>Nguồn</a:t>
                </a:r>
              </a:p>
              <a:p>
                <a:pPr algn="ctr" eaLnBrk="1" hangingPunct="1">
                  <a:lnSpc>
                    <a:spcPct val="100000"/>
                  </a:lnSpc>
                  <a:spcBef>
                    <a:spcPct val="50000"/>
                  </a:spcBef>
                  <a:buFontTx/>
                  <a:buNone/>
                </a:pPr>
                <a:r>
                  <a:rPr lang="en-US" altLang="ko-KR" sz="700">
                    <a:latin typeface="Times New Roman" panose="02020603050405020304" pitchFamily="18" charset="0"/>
                    <a:cs typeface="Times New Roman" panose="02020603050405020304" pitchFamily="18" charset="0"/>
                  </a:rPr>
                  <a:t>Cấp</a:t>
                </a:r>
                <a:endParaRPr lang="ko-KR" altLang="en-US" sz="700">
                  <a:latin typeface="Times New Roman" panose="02020603050405020304" pitchFamily="18" charset="0"/>
                  <a:cs typeface="Times New Roman" panose="02020603050405020304" pitchFamily="18" charset="0"/>
                </a:endParaRPr>
              </a:p>
            </p:txBody>
          </p:sp>
          <p:sp>
            <p:nvSpPr>
              <p:cNvPr id="34" name="Text Box 13"/>
              <p:cNvSpPr txBox="1">
                <a:spLocks noChangeArrowheads="1"/>
              </p:cNvSpPr>
              <p:nvPr/>
            </p:nvSpPr>
            <p:spPr bwMode="auto">
              <a:xfrm>
                <a:off x="704186" y="413444"/>
                <a:ext cx="691146" cy="264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100000"/>
                  </a:lnSpc>
                  <a:spcBef>
                    <a:spcPct val="50000"/>
                  </a:spcBef>
                  <a:buFontTx/>
                  <a:buNone/>
                </a:pPr>
                <a:r>
                  <a:rPr lang="en-US" altLang="ko-KR" sz="800">
                    <a:latin typeface="Times New Roman" panose="02020603050405020304" pitchFamily="18" charset="0"/>
                    <a:cs typeface="Times New Roman" panose="02020603050405020304" pitchFamily="18" charset="0"/>
                  </a:rPr>
                  <a:t>CPU</a:t>
                </a:r>
              </a:p>
            </p:txBody>
          </p:sp>
          <p:sp>
            <p:nvSpPr>
              <p:cNvPr id="35" name="Rectangle 34"/>
              <p:cNvSpPr>
                <a:spLocks noChangeArrowheads="1"/>
              </p:cNvSpPr>
              <p:nvPr/>
            </p:nvSpPr>
            <p:spPr bwMode="auto">
              <a:xfrm>
                <a:off x="700088" y="856"/>
                <a:ext cx="693738" cy="1143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90000"/>
                  </a:lnSpc>
                  <a:spcBef>
                    <a:spcPct val="50000"/>
                  </a:spcBef>
                  <a:buFontTx/>
                  <a:buNone/>
                </a:pPr>
                <a:endParaRPr lang="ko-KR" altLang="en-US" sz="800">
                  <a:latin typeface="Times New Roman" panose="02020603050405020304" pitchFamily="18" charset="0"/>
                  <a:cs typeface="Times New Roman" panose="02020603050405020304" pitchFamily="18" charset="0"/>
                </a:endParaRPr>
              </a:p>
            </p:txBody>
          </p:sp>
          <p:sp>
            <p:nvSpPr>
              <p:cNvPr id="36" name="Rectangle 35"/>
              <p:cNvSpPr>
                <a:spLocks noChangeArrowheads="1"/>
              </p:cNvSpPr>
              <p:nvPr/>
            </p:nvSpPr>
            <p:spPr bwMode="auto">
              <a:xfrm>
                <a:off x="-14824" y="857"/>
                <a:ext cx="693737" cy="1143001"/>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eaLnBrk="1" hangingPunct="1">
                  <a:lnSpc>
                    <a:spcPct val="90000"/>
                  </a:lnSpc>
                  <a:spcBef>
                    <a:spcPct val="50000"/>
                  </a:spcBef>
                  <a:buFontTx/>
                  <a:buNone/>
                </a:pPr>
                <a:endParaRPr lang="ko-KR" altLang="en-US" sz="800">
                  <a:latin typeface="Times New Roman" panose="02020603050405020304" pitchFamily="18" charset="0"/>
                  <a:cs typeface="Times New Roman" panose="02020603050405020304" pitchFamily="18" charset="0"/>
                </a:endParaRPr>
              </a:p>
            </p:txBody>
          </p:sp>
        </p:grpSp>
      </p:grpSp>
      <p:sp>
        <p:nvSpPr>
          <p:cNvPr id="37" name="Rectangle 7"/>
          <p:cNvSpPr>
            <a:spLocks noChangeArrowheads="1"/>
          </p:cNvSpPr>
          <p:nvPr/>
        </p:nvSpPr>
        <p:spPr bwMode="auto">
          <a:xfrm>
            <a:off x="155622" y="7905328"/>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25. </a:t>
            </a:r>
            <a:r>
              <a:rPr lang="vi-VN" altLang="ko-KR" sz="950">
                <a:latin typeface="Times New Roman" pitchFamily="18" charset="0"/>
                <a:ea typeface="LG Smart_H Regular" panose="020B0600000101010101" pitchFamily="34" charset="-127"/>
                <a:cs typeface="Times New Roman" pitchFamily="18" charset="0"/>
              </a:rPr>
              <a:t>Tiến hành "Memory Clear". Thao thác nào là đúng?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(1) Kết nối GX Word 2 với CPU PLC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-&gt; </a:t>
            </a:r>
            <a:r>
              <a:rPr lang="en-US" altLang="ko-KR" sz="950">
                <a:solidFill>
                  <a:srgbClr val="FF0000"/>
                </a:solidFill>
                <a:latin typeface="Times New Roman" pitchFamily="18" charset="0"/>
                <a:ea typeface="LG Smart_H Regular" panose="020B0600000101010101" pitchFamily="34" charset="-127"/>
                <a:cs typeface="Times New Roman" pitchFamily="18" charset="0"/>
              </a:rPr>
              <a:t>(2) Stop PLC -&gt;  PLC Memory Clear -&gt; Reset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PLC</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 Kết nối GX Word 2 với CPU PLC -&gt; (2) Stop PLC -&gt;  (3)PLC Memory Clear -&gt; (4)Reset </a:t>
            </a:r>
            <a:r>
              <a:rPr lang="vi-VN" altLang="ko-KR" sz="950" smtClean="0">
                <a:latin typeface="Times New Roman" pitchFamily="18" charset="0"/>
                <a:ea typeface="LG Smart_H Regular" panose="020B0600000101010101" pitchFamily="34" charset="-127"/>
                <a:cs typeface="Times New Roman" pitchFamily="18" charset="0"/>
              </a:rPr>
              <a:t>PLC</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Kết nối GX Word 2 với CPU PLC -&gt; (2) Stop PLC -&gt;  (3)Reset PLC-&gt;  (4)PLC Memory Clear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 Kết nối GX Word 2 với CPU PLC -&gt; (2) PLC Memory Clear -&gt; (3)Stop PLC -&gt;  (4)Reset PLC</a:t>
            </a:r>
            <a:endParaRPr lang="vi-VN" altLang="ko-KR" sz="950">
              <a:latin typeface="Times New Roman" pitchFamily="18" charset="0"/>
              <a:ea typeface="LG Smart_H Regular" panose="020B0600000101010101" pitchFamily="34" charset="-127"/>
              <a:cs typeface="Times New Roman" pitchFamily="18" charset="0"/>
            </a:endParaRPr>
          </a:p>
        </p:txBody>
      </p:sp>
      <p:sp>
        <p:nvSpPr>
          <p:cNvPr id="38" name="Rectangle 7"/>
          <p:cNvSpPr>
            <a:spLocks noChangeArrowheads="1"/>
          </p:cNvSpPr>
          <p:nvPr/>
        </p:nvSpPr>
        <p:spPr bwMode="auto">
          <a:xfrm>
            <a:off x="3429000" y="6209218"/>
            <a:ext cx="3233208"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marL="114300" indent="-114300"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29. </a:t>
            </a:r>
            <a:r>
              <a:rPr lang="vi-VN" altLang="ko-KR" sz="950">
                <a:latin typeface="Times New Roman" pitchFamily="18" charset="0"/>
                <a:ea typeface="LG Smart_H Regular" panose="020B0600000101010101" pitchFamily="34" charset="-127"/>
                <a:cs typeface="Times New Roman" pitchFamily="18" charset="0"/>
              </a:rPr>
              <a:t>Phương pháp cài đặt PLC File: trường hợp sử dụng File Register R giới hạn cài </a:t>
            </a:r>
            <a:r>
              <a:rPr lang="vi-VN" altLang="ko-KR" sz="950" smtClean="0">
                <a:latin typeface="Times New Roman" pitchFamily="18" charset="0"/>
                <a:ea typeface="LG Smart_H Regular" panose="020B0600000101010101" pitchFamily="34" charset="-127"/>
                <a:cs typeface="Times New Roman" pitchFamily="18" charset="0"/>
              </a:rPr>
              <a:t>đặt </a:t>
            </a:r>
            <a:r>
              <a:rPr lang="vi-VN" altLang="ko-KR" sz="950">
                <a:latin typeface="Times New Roman" pitchFamily="18" charset="0"/>
                <a:ea typeface="LG Smart_H Regular" panose="020B0600000101010101" pitchFamily="34" charset="-127"/>
                <a:cs typeface="Times New Roman" pitchFamily="18" charset="0"/>
              </a:rPr>
              <a:t>dung lượng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Giá trị cài đặt Timer là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K1~K32768</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Nếu cài đặt trực tiếp giá trị cài đặt </a:t>
            </a:r>
            <a:r>
              <a:rPr lang="vi-VN" altLang="ko-KR" sz="950" smtClean="0">
                <a:latin typeface="Times New Roman" pitchFamily="18" charset="0"/>
                <a:ea typeface="LG Smart_H Regular" panose="020B0600000101010101" pitchFamily="34" charset="-127"/>
                <a:cs typeface="Times New Roman" pitchFamily="18" charset="0"/>
              </a:rPr>
              <a:t>thì </a:t>
            </a:r>
            <a:r>
              <a:rPr lang="vi-VN" altLang="ko-KR" sz="950">
                <a:latin typeface="Times New Roman" pitchFamily="18" charset="0"/>
                <a:ea typeface="LG Smart_H Regular" panose="020B0600000101010101" pitchFamily="34" charset="-127"/>
                <a:cs typeface="Times New Roman" pitchFamily="18" charset="0"/>
              </a:rPr>
              <a:t>chỉ có thể cài đặt bằng </a:t>
            </a:r>
            <a:r>
              <a:rPr lang="vi-VN" altLang="ko-KR" sz="950" smtClean="0">
                <a:latin typeface="Times New Roman" pitchFamily="18" charset="0"/>
                <a:ea typeface="LG Smart_H Regular" panose="020B0600000101010101" pitchFamily="34" charset="-127"/>
                <a:cs typeface="Times New Roman" pitchFamily="18" charset="0"/>
              </a:rPr>
              <a:t>K</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Timer là lệnh 4 Step. (Tuy nhiên </a:t>
            </a:r>
            <a:r>
              <a:rPr lang="vi-VN" altLang="ko-KR" sz="950" smtClean="0">
                <a:latin typeface="Times New Roman" pitchFamily="18" charset="0"/>
                <a:ea typeface="LG Smart_H Regular" panose="020B0600000101010101" pitchFamily="34" charset="-127"/>
                <a:cs typeface="Times New Roman" pitchFamily="18" charset="0"/>
              </a:rPr>
              <a:t>tiếp</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điểm </a:t>
            </a:r>
            <a:r>
              <a:rPr lang="vi-VN" altLang="ko-KR" sz="950">
                <a:latin typeface="Times New Roman" pitchFamily="18" charset="0"/>
                <a:ea typeface="LG Smart_H Regular" panose="020B0600000101010101" pitchFamily="34" charset="-127"/>
                <a:cs typeface="Times New Roman" pitchFamily="18" charset="0"/>
              </a:rPr>
              <a:t>của Timer chỉ là 1 Step)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Parameter có thể biến đổi đơn </a:t>
            </a:r>
            <a:r>
              <a:rPr lang="vi-VN" altLang="ko-KR" sz="950" smtClean="0">
                <a:latin typeface="Times New Roman" pitchFamily="18" charset="0"/>
                <a:ea typeface="LG Smart_H Regular" panose="020B0600000101010101" pitchFamily="34" charset="-127"/>
                <a:cs typeface="Times New Roman" pitchFamily="18" charset="0"/>
              </a:rPr>
              <a:t>vị </a:t>
            </a:r>
            <a:r>
              <a:rPr lang="vi-VN" altLang="ko-KR" sz="950">
                <a:latin typeface="Times New Roman" pitchFamily="18" charset="0"/>
                <a:ea typeface="LG Smart_H Regular" panose="020B0600000101010101" pitchFamily="34" charset="-127"/>
                <a:cs typeface="Times New Roman" pitchFamily="18" charset="0"/>
              </a:rPr>
              <a:t>của từng Timer</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39" name="Rectangle 7"/>
          <p:cNvSpPr>
            <a:spLocks noChangeArrowheads="1"/>
          </p:cNvSpPr>
          <p:nvPr/>
        </p:nvSpPr>
        <p:spPr bwMode="auto">
          <a:xfrm>
            <a:off x="3425699" y="8270813"/>
            <a:ext cx="3239810" cy="8233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30. </a:t>
            </a:r>
            <a:r>
              <a:rPr lang="vi-VN" altLang="ko-KR" sz="950">
                <a:latin typeface="Times New Roman" pitchFamily="18" charset="0"/>
                <a:ea typeface="LG Smart_H Regular" panose="020B0600000101010101" pitchFamily="34" charset="-127"/>
                <a:cs typeface="Times New Roman" pitchFamily="18" charset="0"/>
              </a:rPr>
              <a:t>Khi chỉ thị đầu vào của lệnh OFF → ON,  Device được chọn ON 1</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 Scan  Là giải thích về lệnh nào?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    A. FF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B. PLS               </a:t>
            </a:r>
            <a:r>
              <a:rPr lang="en-US" altLang="ko-KR" sz="950" smtClean="0">
                <a:latin typeface="Times New Roman" pitchFamily="18" charset="0"/>
                <a:ea typeface="LG Smart_H Regular" panose="020B0600000101010101" pitchFamily="34" charset="-127"/>
                <a:cs typeface="Times New Roman" pitchFamily="18" charset="0"/>
              </a:rPr>
              <a:t>C. SET                D. PLF</a:t>
            </a:r>
            <a:endParaRPr lang="en-US" altLang="ko-KR" sz="950" dirty="0">
              <a:latin typeface="Times New Roman" pitchFamily="18" charset="0"/>
              <a:ea typeface="LG Smart_H Regular" panose="020B0600000101010101" pitchFamily="34" charset="-127"/>
              <a:cs typeface="Times New Roman" pitchFamily="18" charset="0"/>
            </a:endParaRPr>
          </a:p>
        </p:txBody>
      </p:sp>
    </p:spTree>
    <p:extLst>
      <p:ext uri="{BB962C8B-B14F-4D97-AF65-F5344CB8AC3E}">
        <p14:creationId xmlns:p14="http://schemas.microsoft.com/office/powerpoint/2010/main" val="308037941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latin typeface="Times New Roman" pitchFamily="18" charset="0"/>
              <a:ea typeface="돋움" pitchFamily="50" charset="-127"/>
              <a:cs typeface="Times New Roman" pitchFamily="18" charset="0"/>
            </a:endParaRPr>
          </a:p>
        </p:txBody>
      </p:sp>
      <p:sp>
        <p:nvSpPr>
          <p:cNvPr id="6149" name="Rectangle 94"/>
          <p:cNvSpPr>
            <a:spLocks noChangeArrowheads="1"/>
          </p:cNvSpPr>
          <p:nvPr/>
        </p:nvSpPr>
        <p:spPr bwMode="auto">
          <a:xfrm>
            <a:off x="174625" y="776288"/>
            <a:ext cx="3254375"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0"/>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6150" name="Rectangle 95"/>
          <p:cNvSpPr>
            <a:spLocks noChangeArrowheads="1"/>
          </p:cNvSpPr>
          <p:nvPr/>
        </p:nvSpPr>
        <p:spPr bwMode="auto">
          <a:xfrm>
            <a:off x="3429000" y="776288"/>
            <a:ext cx="3240360"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81" name="Text Box 5"/>
          <p:cNvSpPr txBox="1">
            <a:spLocks noChangeArrowheads="1"/>
          </p:cNvSpPr>
          <p:nvPr/>
        </p:nvSpPr>
        <p:spPr bwMode="auto">
          <a:xfrm>
            <a:off x="174625" y="239713"/>
            <a:ext cx="904415" cy="338554"/>
          </a:xfrm>
          <a:prstGeom prst="rect">
            <a:avLst/>
          </a:prstGeom>
          <a:noFill/>
          <a:ln w="9525">
            <a:noFill/>
            <a:miter lim="800000"/>
            <a:headEnd/>
            <a:tailEnd/>
          </a:ln>
          <a:effectLst/>
        </p:spPr>
        <p:txBody>
          <a:bodyPr wrap="none">
            <a:spAutoFit/>
          </a:bodyPr>
          <a:lstStyle/>
          <a:p>
            <a:pPr fontAlgn="base">
              <a:spcBef>
                <a:spcPct val="0"/>
              </a:spcBef>
              <a:spcAft>
                <a:spcPct val="0"/>
              </a:spcAft>
              <a:defRPr/>
            </a:pP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PLC</a:t>
            </a:r>
            <a:r>
              <a:rPr kumimoji="1" lang="ko-KR" altLang="en-US" sz="1600" b="1" dirty="0" smtClean="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r>
              <a:rPr kumimoji="1" lang="en-US" altLang="ko-KR" sz="1600" b="1" dirty="0">
                <a:solidFill>
                  <a:srgbClr val="000000"/>
                </a:solidFill>
                <a:effectLst>
                  <a:outerShdw blurRad="38100" dist="38100" dir="2700000" algn="tl">
                    <a:srgbClr val="C0C0C0"/>
                  </a:outerShdw>
                </a:effectLst>
                <a:latin typeface="Times New Roman" pitchFamily="18" charset="0"/>
                <a:ea typeface="돋움" pitchFamily="50" charset="-127"/>
                <a:cs typeface="Times New Roman" pitchFamily="18" charset="0"/>
              </a:rPr>
              <a:t>] </a:t>
            </a:r>
          </a:p>
        </p:txBody>
      </p:sp>
      <p:grpSp>
        <p:nvGrpSpPr>
          <p:cNvPr id="7" name="Group 6"/>
          <p:cNvGrpSpPr/>
          <p:nvPr/>
        </p:nvGrpSpPr>
        <p:grpSpPr>
          <a:xfrm>
            <a:off x="188640" y="2936776"/>
            <a:ext cx="3183502" cy="1892826"/>
            <a:chOff x="3306989" y="6950075"/>
            <a:chExt cx="3429000" cy="1892826"/>
          </a:xfrm>
        </p:grpSpPr>
        <p:sp>
          <p:nvSpPr>
            <p:cNvPr id="8" name="Rectangle 101"/>
            <p:cNvSpPr>
              <a:spLocks noChangeArrowheads="1"/>
            </p:cNvSpPr>
            <p:nvPr/>
          </p:nvSpPr>
          <p:spPr bwMode="auto">
            <a:xfrm>
              <a:off x="3306989" y="6950075"/>
              <a:ext cx="3429000" cy="1892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3</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2. </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P/B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số</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1</a:t>
              </a:r>
              <a:r>
                <a:rPr lang="ko-KR" altLang="en-US"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ON → P/B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số</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2</a:t>
              </a:r>
              <a:r>
                <a:rPr lang="ko-KR" altLang="en-US"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ON → P/B </a:t>
              </a:r>
            </a:p>
            <a:p>
              <a:pPr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Số 1</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OFF </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 P/B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số</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2</a:t>
              </a:r>
              <a:r>
                <a:rPr lang="ko-KR" altLang="en-US"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ON.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Rơ</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le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nào</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sẽ</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hoạt</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động</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a:t>
              </a:r>
              <a:r>
                <a:rPr lang="en-US" altLang="ko-KR" sz="900">
                  <a:latin typeface="Times New Roman" panose="02020603050405020304" pitchFamily="18" charset="0"/>
                  <a:ea typeface="돋움" pitchFamily="50" charset="-127"/>
                  <a:cs typeface="Times New Roman" panose="02020603050405020304" pitchFamily="18" charset="0"/>
                </a:rPr>
                <a:t> </a:t>
              </a:r>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a:latin typeface="Times New Roman" panose="02020603050405020304" pitchFamily="18" charset="0"/>
                  <a:ea typeface="돋움" pitchFamily="50" charset="-127"/>
                  <a:cs typeface="Times New Roman" panose="02020603050405020304" pitchFamily="18" charset="0"/>
                </a:rPr>
                <a:t> </a:t>
              </a:r>
              <a:r>
                <a:rPr lang="en-US" altLang="ko-KR" sz="900" smtClean="0">
                  <a:latin typeface="Times New Roman" panose="02020603050405020304" pitchFamily="18" charset="0"/>
                  <a:ea typeface="돋움" pitchFamily="50" charset="-127"/>
                  <a:cs typeface="Times New Roman" panose="02020603050405020304" pitchFamily="18" charset="0"/>
                </a:rPr>
                <a:t>     A</a:t>
              </a:r>
              <a:r>
                <a:rPr lang="en-US" altLang="ko-KR" sz="900">
                  <a:latin typeface="Times New Roman" panose="02020603050405020304" pitchFamily="18" charset="0"/>
                  <a:ea typeface="돋움" pitchFamily="50" charset="-127"/>
                  <a:cs typeface="Times New Roman" panose="02020603050405020304" pitchFamily="18" charset="0"/>
                </a:rPr>
                <a:t>.  R1    </a:t>
              </a:r>
              <a:r>
                <a:rPr lang="en-US" altLang="ko-KR" sz="900">
                  <a:solidFill>
                    <a:srgbClr val="FF0000"/>
                  </a:solidFill>
                  <a:latin typeface="Times New Roman" panose="02020603050405020304" pitchFamily="18" charset="0"/>
                  <a:ea typeface="돋움" pitchFamily="50" charset="-127"/>
                  <a:cs typeface="Times New Roman" panose="02020603050405020304" pitchFamily="18" charset="0"/>
                </a:rPr>
                <a:t>B.  R2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C.  Cả R1,R2</a:t>
              </a:r>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D. </a:t>
              </a:r>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Không có</a:t>
              </a:r>
              <a:endParaRPr lang="ko-KR" altLang="en-US"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pic>
          <p:nvPicPr>
            <p:cNvPr id="9" name="Picture 1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4900" y="7337425"/>
              <a:ext cx="2554288" cy="1101725"/>
            </a:xfrm>
            <a:prstGeom prst="rect">
              <a:avLst/>
            </a:prstGeom>
            <a:noFill/>
            <a:ln>
              <a:noFill/>
            </a:ln>
            <a:effectLst/>
            <a:extLst>
              <a:ext uri="{909E8E84-426E-40DD-AFC4-6F175D3DCCD1}">
                <a14:hiddenFill xmlns:a14="http://schemas.microsoft.com/office/drawing/2010/main">
                  <a:solidFill>
                    <a:srgbClr val="4F81BD"/>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EEECE1"/>
                    </a:outerShdw>
                  </a:effectLst>
                </a14:hiddenEffects>
              </a:ext>
            </a:extLst>
          </p:spPr>
        </p:pic>
      </p:grpSp>
      <p:sp>
        <p:nvSpPr>
          <p:cNvPr id="31" name="Rectangle 44"/>
          <p:cNvSpPr>
            <a:spLocks noChangeArrowheads="1"/>
          </p:cNvSpPr>
          <p:nvPr/>
        </p:nvSpPr>
        <p:spPr bwMode="auto">
          <a:xfrm>
            <a:off x="3405750" y="4607828"/>
            <a:ext cx="309708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3</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8</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Đây</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giải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thích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cho</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điều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chương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trình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chỉ</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được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tiến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hành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ở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Thời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gian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tiến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hành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Program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chạy</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tốc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độ</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thấp</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được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cài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đặt</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ở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Thời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gian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dư</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của</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Constant Scan).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trường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hợp</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ưu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tiên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mức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độ</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điều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khiển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thời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gian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Scan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được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quy</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định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cài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đặt</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thời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gian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Constant Scan]</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A.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Program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loại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tiến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hành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ban đầu</a:t>
            </a: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B. </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Program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tiến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hành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theo</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chu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kỳ</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cố</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định</a:t>
            </a:r>
            <a:endPar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 C.  Program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loại</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tiến</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hành</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tốc</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độ</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err="1" smtClean="0">
                <a:solidFill>
                  <a:srgbClr val="FF0000"/>
                </a:solidFill>
                <a:latin typeface="Times New Roman" panose="02020603050405020304" pitchFamily="18" charset="0"/>
                <a:ea typeface="돋움" pitchFamily="50" charset="-127"/>
                <a:cs typeface="Times New Roman" panose="02020603050405020304" pitchFamily="18" charset="0"/>
              </a:rPr>
              <a:t>thấp</a:t>
            </a:r>
            <a:r>
              <a:rPr lang="ko-KR" altLang="en-US" sz="900" smtClean="0">
                <a:solidFill>
                  <a:srgbClr val="FF0000"/>
                </a:solidFill>
                <a:latin typeface="Times New Roman" panose="02020603050405020304" pitchFamily="18" charset="0"/>
                <a:ea typeface="돋움" pitchFamily="50" charset="-127"/>
                <a:cs typeface="Times New Roman" panose="02020603050405020304" pitchFamily="18" charset="0"/>
              </a:rPr>
              <a:t>  </a:t>
            </a:r>
            <a:endParaRPr lang="en-US" altLang="ko-KR" sz="900">
              <a:solidFill>
                <a:srgbClr val="FF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D. </a:t>
            </a:r>
            <a:r>
              <a:rPr lang="ko-KR" altLang="en-US"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Program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loại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tiến</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hành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Scan</a:t>
            </a:r>
            <a:endPar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sp>
        <p:nvSpPr>
          <p:cNvPr id="57" name="Rectangle 101"/>
          <p:cNvSpPr>
            <a:spLocks noChangeArrowheads="1"/>
          </p:cNvSpPr>
          <p:nvPr/>
        </p:nvSpPr>
        <p:spPr bwMode="auto">
          <a:xfrm>
            <a:off x="3428622" y="8049344"/>
            <a:ext cx="3312746" cy="13388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4</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0. Đáp án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nào</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sai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những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giải</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thích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về</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MC/MCR</a:t>
            </a:r>
            <a:r>
              <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sau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A.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Trường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hợp</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lệnh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MC</a:t>
            </a:r>
            <a:r>
              <a:rPr lang="ko-KR" altLang="en-US"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OFF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giá</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trị</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COUNT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MC tương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ứng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được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duy</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B.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Trường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hợp</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MC</a:t>
            </a:r>
            <a:r>
              <a:rPr lang="ko-KR" altLang="en-US"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OFF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tất</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cả</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lệnh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OUT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MC tương ứng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đều</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OFF </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C.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Trường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hợp</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MC</a:t>
            </a:r>
            <a:r>
              <a:rPr lang="ko-KR" altLang="en-US"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OFF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lệnh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SET/RST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trong</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MC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tương</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ứng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được</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duy</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endPar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endParaRPr>
          </a:p>
          <a:p>
            <a:pPr marL="228600" indent="-228600" eaLnBrk="1" hangingPunct="1"/>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D.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Trường</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hợp</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MC</a:t>
            </a:r>
            <a:r>
              <a:rPr lang="ko-KR" altLang="en-US"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OFF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10ms Timer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trong</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MC </a:t>
            </a:r>
            <a:r>
              <a:rPr lang="en-US" altLang="ko-KR" sz="900" err="1" smtClean="0">
                <a:solidFill>
                  <a:srgbClr val="FF0000"/>
                </a:solidFill>
                <a:latin typeface="Times New Roman" panose="02020603050405020304" pitchFamily="18" charset="0"/>
                <a:ea typeface="돋움" pitchFamily="50" charset="-127"/>
                <a:cs typeface="Times New Roman" panose="02020603050405020304" pitchFamily="18" charset="0"/>
              </a:rPr>
              <a:t>tương</a:t>
            </a:r>
            <a:r>
              <a:rPr lang="en-US" altLang="ko-KR" sz="900" smtClean="0">
                <a:solidFill>
                  <a:srgbClr val="FF0000"/>
                </a:solidFill>
                <a:latin typeface="Times New Roman" panose="02020603050405020304" pitchFamily="18" charset="0"/>
                <a:ea typeface="돋움" pitchFamily="50" charset="-127"/>
                <a:cs typeface="Times New Roman" panose="02020603050405020304" pitchFamily="18" charset="0"/>
              </a:rPr>
              <a:t> ứng vẫn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duy</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trì</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giá</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FF0000"/>
                </a:solidFill>
                <a:latin typeface="Times New Roman" panose="02020603050405020304" pitchFamily="18" charset="0"/>
                <a:ea typeface="돋움" pitchFamily="50" charset="-127"/>
                <a:cs typeface="Times New Roman" panose="02020603050405020304" pitchFamily="18" charset="0"/>
              </a:rPr>
              <a:t>trị</a:t>
            </a:r>
            <a:r>
              <a:rPr lang="en-US" altLang="ko-KR" sz="900" dirty="0" smtClean="0">
                <a:solidFill>
                  <a:srgbClr val="FF0000"/>
                </a:solidFill>
                <a:latin typeface="Times New Roman" panose="02020603050405020304" pitchFamily="18" charset="0"/>
                <a:ea typeface="돋움" pitchFamily="50" charset="-127"/>
                <a:cs typeface="Times New Roman" panose="02020603050405020304" pitchFamily="18" charset="0"/>
              </a:rPr>
              <a:t>.</a:t>
            </a:r>
            <a:endParaRPr lang="en-US" altLang="ko-KR" sz="900" dirty="0">
              <a:solidFill>
                <a:srgbClr val="FF0000"/>
              </a:solidFill>
              <a:latin typeface="Times New Roman" panose="02020603050405020304" pitchFamily="18" charset="0"/>
              <a:ea typeface="돋움" pitchFamily="50" charset="-127"/>
              <a:cs typeface="Times New Roman" panose="02020603050405020304" pitchFamily="18" charset="0"/>
            </a:endParaRPr>
          </a:p>
        </p:txBody>
      </p:sp>
      <p:sp>
        <p:nvSpPr>
          <p:cNvPr id="58" name="Line 6"/>
          <p:cNvSpPr>
            <a:spLocks noChangeShapeType="1"/>
          </p:cNvSpPr>
          <p:nvPr/>
        </p:nvSpPr>
        <p:spPr bwMode="auto">
          <a:xfrm>
            <a:off x="8786018" y="5575595"/>
            <a:ext cx="176839"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Times New Roman" panose="02020603050405020304" pitchFamily="18" charset="0"/>
              <a:cs typeface="Times New Roman" panose="02020603050405020304" pitchFamily="18" charset="0"/>
            </a:endParaRPr>
          </a:p>
        </p:txBody>
      </p:sp>
      <p:sp>
        <p:nvSpPr>
          <p:cNvPr id="59" name="Line 7"/>
          <p:cNvSpPr>
            <a:spLocks noChangeShapeType="1"/>
          </p:cNvSpPr>
          <p:nvPr/>
        </p:nvSpPr>
        <p:spPr bwMode="auto">
          <a:xfrm>
            <a:off x="8786018" y="5499395"/>
            <a:ext cx="176839"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a:latin typeface="Times New Roman" panose="02020603050405020304" pitchFamily="18" charset="0"/>
              <a:cs typeface="Times New Roman" panose="02020603050405020304" pitchFamily="18" charset="0"/>
            </a:endParaRPr>
          </a:p>
        </p:txBody>
      </p:sp>
      <p:grpSp>
        <p:nvGrpSpPr>
          <p:cNvPr id="60" name="Group 59"/>
          <p:cNvGrpSpPr/>
          <p:nvPr/>
        </p:nvGrpSpPr>
        <p:grpSpPr>
          <a:xfrm>
            <a:off x="3458171" y="6264739"/>
            <a:ext cx="3111500" cy="1754326"/>
            <a:chOff x="3424651" y="1547580"/>
            <a:chExt cx="3111500" cy="1754326"/>
          </a:xfrm>
        </p:grpSpPr>
        <p:sp>
          <p:nvSpPr>
            <p:cNvPr id="61" name="Rectangle 104"/>
            <p:cNvSpPr>
              <a:spLocks noChangeArrowheads="1"/>
            </p:cNvSpPr>
            <p:nvPr/>
          </p:nvSpPr>
          <p:spPr bwMode="auto">
            <a:xfrm>
              <a:off x="3424651" y="1547580"/>
              <a:ext cx="3111500" cy="175432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39</a:t>
              </a:r>
              <a:r>
                <a:rPr lang="en-US" altLang="ko-KR" sz="900" dirty="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Nếu</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định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viết</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mạch</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tự</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duy</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trì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thì</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ở </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  </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sẽ</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dirty="0" err="1" smtClean="0">
                  <a:solidFill>
                    <a:srgbClr val="000000"/>
                  </a:solidFill>
                  <a:latin typeface="Times New Roman" panose="02020603050405020304" pitchFamily="18" charset="0"/>
                  <a:ea typeface="돋움" pitchFamily="50" charset="-127"/>
                  <a:cs typeface="Times New Roman" panose="02020603050405020304" pitchFamily="18" charset="0"/>
                </a:rPr>
                <a:t>là</a:t>
              </a:r>
              <a:r>
                <a:rPr lang="en-US" altLang="ko-KR" sz="900" dirty="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err="1" smtClean="0">
                  <a:solidFill>
                    <a:srgbClr val="000000"/>
                  </a:solidFill>
                  <a:latin typeface="Times New Roman" panose="02020603050405020304" pitchFamily="18" charset="0"/>
                  <a:ea typeface="돋움" pitchFamily="50" charset="-127"/>
                  <a:cs typeface="Times New Roman" panose="02020603050405020304" pitchFamily="18" charset="0"/>
                </a:rPr>
                <a:t>gì</a:t>
              </a:r>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a:t>
              </a: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r>
                <a:rPr lang="en-US" altLang="ko-KR" sz="900" smtClean="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A. CO            </a:t>
              </a:r>
              <a:r>
                <a:rPr lang="en-US" altLang="ko-KR" sz="900">
                  <a:solidFill>
                    <a:srgbClr val="FF0000"/>
                  </a:solidFill>
                  <a:latin typeface="Times New Roman" panose="02020603050405020304" pitchFamily="18" charset="0"/>
                  <a:ea typeface="돋움" pitchFamily="50" charset="-127"/>
                  <a:cs typeface="Times New Roman" panose="02020603050405020304" pitchFamily="18" charset="0"/>
                </a:rPr>
                <a:t>B.  Y40</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           C.  SET T40</a:t>
              </a:r>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D.</a:t>
              </a:r>
              <a:r>
                <a:rPr lang="ko-KR" altLang="en-US" sz="900">
                  <a:solidFill>
                    <a:srgbClr val="000000"/>
                  </a:solidFill>
                  <a:latin typeface="Times New Roman" panose="02020603050405020304" pitchFamily="18" charset="0"/>
                  <a:ea typeface="돋움" pitchFamily="50" charset="-127"/>
                  <a:cs typeface="Times New Roman" panose="02020603050405020304" pitchFamily="18" charset="0"/>
                </a:rPr>
                <a:t>  </a:t>
              </a:r>
              <a:r>
                <a:rPr lang="en-US" altLang="ko-KR" sz="900">
                  <a:solidFill>
                    <a:srgbClr val="000000"/>
                  </a:solidFill>
                  <a:latin typeface="Times New Roman" panose="02020603050405020304" pitchFamily="18" charset="0"/>
                  <a:ea typeface="돋움" pitchFamily="50" charset="-127"/>
                  <a:cs typeface="Times New Roman" panose="02020603050405020304" pitchFamily="18" charset="0"/>
                </a:rPr>
                <a:t>X1</a:t>
              </a:r>
              <a:endParaRPr lang="ko-KR" altLang="en-US" sz="900">
                <a:solidFill>
                  <a:srgbClr val="000000"/>
                </a:solidFill>
                <a:latin typeface="Times New Roman" panose="02020603050405020304" pitchFamily="18" charset="0"/>
                <a:ea typeface="돋움" pitchFamily="50" charset="-127"/>
                <a:cs typeface="Times New Roman" panose="02020603050405020304" pitchFamily="18" charset="0"/>
              </a:endParaRPr>
            </a:p>
            <a:p>
              <a:pPr eaLnBrk="1" hangingPunct="1"/>
              <a:endParaRPr lang="ko-KR" altLang="en-US" sz="900" dirty="0">
                <a:solidFill>
                  <a:srgbClr val="000000"/>
                </a:solidFill>
                <a:latin typeface="Times New Roman" panose="02020603050405020304" pitchFamily="18" charset="0"/>
                <a:ea typeface="돋움" pitchFamily="50" charset="-127"/>
                <a:cs typeface="Times New Roman" panose="02020603050405020304" pitchFamily="18" charset="0"/>
              </a:endParaRPr>
            </a:p>
          </p:txBody>
        </p:sp>
        <p:pic>
          <p:nvPicPr>
            <p:cNvPr id="62" name="Picture 6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83132" y="1820153"/>
              <a:ext cx="2828636" cy="1047896"/>
            </a:xfrm>
            <a:prstGeom prst="rect">
              <a:avLst/>
            </a:prstGeom>
          </p:spPr>
        </p:pic>
      </p:grpSp>
      <p:grpSp>
        <p:nvGrpSpPr>
          <p:cNvPr id="72" name="Group 71"/>
          <p:cNvGrpSpPr/>
          <p:nvPr/>
        </p:nvGrpSpPr>
        <p:grpSpPr>
          <a:xfrm>
            <a:off x="165991" y="4879591"/>
            <a:ext cx="3095625" cy="2577629"/>
            <a:chOff x="-27384" y="3013059"/>
            <a:chExt cx="3095625" cy="2577629"/>
          </a:xfrm>
        </p:grpSpPr>
        <p:sp>
          <p:nvSpPr>
            <p:cNvPr id="73" name="Rectangle 2"/>
            <p:cNvSpPr>
              <a:spLocks noChangeArrowheads="1"/>
            </p:cNvSpPr>
            <p:nvPr/>
          </p:nvSpPr>
          <p:spPr bwMode="auto">
            <a:xfrm>
              <a:off x="-27384" y="3013059"/>
              <a:ext cx="3095625" cy="2577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50" smtClean="0">
                  <a:latin typeface="Times New Roman" pitchFamily="18" charset="0"/>
                  <a:ea typeface="돋움" pitchFamily="50" charset="-127"/>
                  <a:cs typeface="Times New Roman" pitchFamily="18" charset="0"/>
                </a:rPr>
                <a:t>Câu 33. Sơ </a:t>
              </a:r>
              <a:r>
                <a:rPr lang="en-US" altLang="ko-KR" sz="950">
                  <a:latin typeface="Times New Roman" pitchFamily="18" charset="0"/>
                  <a:ea typeface="돋움" pitchFamily="50" charset="-127"/>
                  <a:cs typeface="Times New Roman" pitchFamily="18" charset="0"/>
                </a:rPr>
                <a:t>đồ Sequence sau là sơ đồ mạch nào?</a:t>
              </a: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50">
                <a:latin typeface="Times New Roman" pitchFamily="18" charset="0"/>
                <a:ea typeface="돋움" pitchFamily="50" charset="-127"/>
                <a:cs typeface="Times New Roman" pitchFamily="18" charset="0"/>
              </a:endParaRPr>
            </a:p>
            <a:p>
              <a:pPr algn="just" eaLnBrk="1" hangingPunct="1">
                <a:spcBef>
                  <a:spcPct val="50000"/>
                </a:spcBef>
                <a:buFontTx/>
                <a:buNone/>
              </a:pPr>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a:solidFill>
                    <a:srgbClr val="FF0000"/>
                  </a:solidFill>
                  <a:latin typeface="Times New Roman" pitchFamily="18" charset="0"/>
                  <a:ea typeface="돋움" pitchFamily="50" charset="-127"/>
                  <a:cs typeface="Times New Roman" pitchFamily="18" charset="0"/>
                </a:rPr>
                <a:t>Mạch ưu tiên khởi </a:t>
              </a:r>
              <a:r>
                <a:rPr lang="en-US" altLang="ko-KR" sz="950" smtClean="0">
                  <a:solidFill>
                    <a:srgbClr val="FF0000"/>
                  </a:solidFill>
                  <a:latin typeface="Times New Roman" pitchFamily="18" charset="0"/>
                  <a:ea typeface="돋움" pitchFamily="50" charset="-127"/>
                  <a:cs typeface="Times New Roman" pitchFamily="18" charset="0"/>
                </a:rPr>
                <a:t>động</a:t>
              </a:r>
            </a:p>
            <a:p>
              <a:pPr algn="just" eaLnBrk="1" hangingPunct="1">
                <a:spcBef>
                  <a:spcPct val="50000"/>
                </a:spcBef>
                <a:buFontTx/>
                <a:buNone/>
              </a:pPr>
              <a:r>
                <a:rPr lang="en-US" altLang="ko-KR" sz="950" smtClean="0">
                  <a:latin typeface="Times New Roman" pitchFamily="18" charset="0"/>
                  <a:ea typeface="돋움" pitchFamily="50" charset="-127"/>
                  <a:cs typeface="Times New Roman" pitchFamily="18" charset="0"/>
                </a:rPr>
                <a:t>B.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Mạch ưu tiên dừng </a:t>
              </a:r>
              <a:endParaRPr lang="en-US" altLang="ko-KR" sz="950" smtClean="0">
                <a:latin typeface="Times New Roman" pitchFamily="18" charset="0"/>
                <a:ea typeface="돋움" pitchFamily="50" charset="-127"/>
                <a:cs typeface="Times New Roman" pitchFamily="18" charset="0"/>
              </a:endParaRPr>
            </a:p>
            <a:p>
              <a:pPr algn="just" eaLnBrk="1" hangingPunct="1">
                <a:spcBef>
                  <a:spcPct val="50000"/>
                </a:spcBef>
                <a:buFontTx/>
                <a:buNone/>
              </a:pPr>
              <a:r>
                <a:rPr lang="en-US" altLang="ko-KR" sz="950" smtClean="0">
                  <a:latin typeface="Times New Roman" pitchFamily="18" charset="0"/>
                  <a:ea typeface="돋움" pitchFamily="50" charset="-127"/>
                  <a:cs typeface="Times New Roman" pitchFamily="18" charset="0"/>
                </a:rPr>
                <a:t>C.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Mạch </a:t>
              </a:r>
              <a:r>
                <a:rPr lang="en-US" altLang="ko-KR" sz="950" smtClean="0">
                  <a:latin typeface="Times New Roman" pitchFamily="18" charset="0"/>
                  <a:ea typeface="돋움" pitchFamily="50" charset="-127"/>
                  <a:cs typeface="Times New Roman" pitchFamily="18" charset="0"/>
                </a:rPr>
                <a:t>OR</a:t>
              </a:r>
            </a:p>
            <a:p>
              <a:pPr algn="just" eaLnBrk="1" hangingPunct="1">
                <a:spcBef>
                  <a:spcPct val="50000"/>
                </a:spcBef>
                <a:buFontTx/>
                <a:buNone/>
              </a:pPr>
              <a:r>
                <a:rPr lang="en-US" altLang="ko-KR" sz="950" smtClean="0">
                  <a:latin typeface="Times New Roman" pitchFamily="18" charset="0"/>
                  <a:ea typeface="돋움" pitchFamily="50" charset="-127"/>
                  <a:cs typeface="Times New Roman" pitchFamily="18" charset="0"/>
                </a:rPr>
                <a:t>D. </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Mạch Inter Lock</a:t>
              </a:r>
              <a:endParaRPr lang="ko-KR" altLang="en-US" sz="950">
                <a:latin typeface="Times New Roman" pitchFamily="18" charset="0"/>
                <a:ea typeface="돋움" pitchFamily="50" charset="-127"/>
                <a:cs typeface="Times New Roman" pitchFamily="18" charset="0"/>
              </a:endParaRPr>
            </a:p>
          </p:txBody>
        </p:sp>
        <p:grpSp>
          <p:nvGrpSpPr>
            <p:cNvPr id="74" name="Group 153"/>
            <p:cNvGrpSpPr>
              <a:grpSpLocks/>
            </p:cNvGrpSpPr>
            <p:nvPr/>
          </p:nvGrpSpPr>
          <p:grpSpPr bwMode="auto">
            <a:xfrm>
              <a:off x="266576" y="3368824"/>
              <a:ext cx="2742660" cy="1368425"/>
              <a:chOff x="3368" y="1165"/>
              <a:chExt cx="2275" cy="950"/>
            </a:xfrm>
          </p:grpSpPr>
          <p:sp>
            <p:nvSpPr>
              <p:cNvPr id="75" name="Line 73"/>
              <p:cNvSpPr>
                <a:spLocks noChangeShapeType="1"/>
              </p:cNvSpPr>
              <p:nvPr/>
            </p:nvSpPr>
            <p:spPr bwMode="auto">
              <a:xfrm>
                <a:off x="3368" y="1233"/>
                <a:ext cx="0" cy="88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76" name="Line 74"/>
              <p:cNvSpPr>
                <a:spLocks noChangeShapeType="1"/>
              </p:cNvSpPr>
              <p:nvPr/>
            </p:nvSpPr>
            <p:spPr bwMode="auto">
              <a:xfrm>
                <a:off x="5643" y="1225"/>
                <a:ext cx="0" cy="88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77" name="Oval 75"/>
              <p:cNvSpPr>
                <a:spLocks noChangeArrowheads="1"/>
              </p:cNvSpPr>
              <p:nvPr/>
            </p:nvSpPr>
            <p:spPr bwMode="auto">
              <a:xfrm>
                <a:off x="3685" y="1373"/>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78" name="Oval 76"/>
              <p:cNvSpPr>
                <a:spLocks noChangeArrowheads="1"/>
              </p:cNvSpPr>
              <p:nvPr/>
            </p:nvSpPr>
            <p:spPr bwMode="auto">
              <a:xfrm>
                <a:off x="3821" y="1373"/>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79" name="Line 77"/>
              <p:cNvSpPr>
                <a:spLocks noChangeShapeType="1"/>
              </p:cNvSpPr>
              <p:nvPr/>
            </p:nvSpPr>
            <p:spPr bwMode="auto">
              <a:xfrm>
                <a:off x="3685" y="1345"/>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0" name="Line 78"/>
              <p:cNvSpPr>
                <a:spLocks noChangeShapeType="1"/>
              </p:cNvSpPr>
              <p:nvPr/>
            </p:nvSpPr>
            <p:spPr bwMode="auto">
              <a:xfrm flipV="1">
                <a:off x="3775" y="1317"/>
                <a:ext cx="0" cy="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2" name="Oval 80"/>
              <p:cNvSpPr>
                <a:spLocks noChangeArrowheads="1"/>
              </p:cNvSpPr>
              <p:nvPr/>
            </p:nvSpPr>
            <p:spPr bwMode="auto">
              <a:xfrm>
                <a:off x="3685" y="1908"/>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83" name="Oval 81"/>
              <p:cNvSpPr>
                <a:spLocks noChangeArrowheads="1"/>
              </p:cNvSpPr>
              <p:nvPr/>
            </p:nvSpPr>
            <p:spPr bwMode="auto">
              <a:xfrm>
                <a:off x="3821" y="1908"/>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84" name="Line 82"/>
              <p:cNvSpPr>
                <a:spLocks noChangeShapeType="1"/>
              </p:cNvSpPr>
              <p:nvPr/>
            </p:nvSpPr>
            <p:spPr bwMode="auto">
              <a:xfrm>
                <a:off x="3685" y="1880"/>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grpSp>
            <p:nvGrpSpPr>
              <p:cNvPr id="85" name="Group 83"/>
              <p:cNvGrpSpPr>
                <a:grpSpLocks/>
              </p:cNvGrpSpPr>
              <p:nvPr/>
            </p:nvGrpSpPr>
            <p:grpSpPr bwMode="auto">
              <a:xfrm>
                <a:off x="4997" y="1282"/>
                <a:ext cx="238" cy="192"/>
                <a:chOff x="2928" y="1832"/>
                <a:chExt cx="252" cy="297"/>
              </a:xfrm>
            </p:grpSpPr>
            <p:sp>
              <p:nvSpPr>
                <p:cNvPr id="110" name="Oval 84"/>
                <p:cNvSpPr>
                  <a:spLocks noChangeArrowheads="1"/>
                </p:cNvSpPr>
                <p:nvPr/>
              </p:nvSpPr>
              <p:spPr bwMode="auto">
                <a:xfrm>
                  <a:off x="2928" y="1872"/>
                  <a:ext cx="240" cy="2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11" name="Text Box 85"/>
                <p:cNvSpPr txBox="1">
                  <a:spLocks noChangeArrowheads="1"/>
                </p:cNvSpPr>
                <p:nvPr/>
              </p:nvSpPr>
              <p:spPr bwMode="auto">
                <a:xfrm>
                  <a:off x="2939" y="1832"/>
                  <a:ext cx="241"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R</a:t>
                  </a:r>
                </a:p>
              </p:txBody>
            </p:sp>
          </p:grpSp>
          <p:sp>
            <p:nvSpPr>
              <p:cNvPr id="86" name="Line 86"/>
              <p:cNvSpPr>
                <a:spLocks noChangeShapeType="1"/>
              </p:cNvSpPr>
              <p:nvPr/>
            </p:nvSpPr>
            <p:spPr bwMode="auto">
              <a:xfrm flipH="1">
                <a:off x="3368" y="1388"/>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7" name="Line 87"/>
              <p:cNvSpPr>
                <a:spLocks noChangeShapeType="1"/>
              </p:cNvSpPr>
              <p:nvPr/>
            </p:nvSpPr>
            <p:spPr bwMode="auto">
              <a:xfrm>
                <a:off x="5224" y="1388"/>
                <a:ext cx="40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8" name="Line 88"/>
              <p:cNvSpPr>
                <a:spLocks noChangeShapeType="1"/>
              </p:cNvSpPr>
              <p:nvPr/>
            </p:nvSpPr>
            <p:spPr bwMode="auto">
              <a:xfrm flipH="1">
                <a:off x="3368" y="1923"/>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89" name="Text Box 89"/>
              <p:cNvSpPr txBox="1">
                <a:spLocks noChangeArrowheads="1"/>
              </p:cNvSpPr>
              <p:nvPr/>
            </p:nvSpPr>
            <p:spPr bwMode="auto">
              <a:xfrm>
                <a:off x="3587" y="1165"/>
                <a:ext cx="4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P/B A</a:t>
                </a:r>
              </a:p>
            </p:txBody>
          </p:sp>
          <p:sp>
            <p:nvSpPr>
              <p:cNvPr id="90" name="Text Box 90"/>
              <p:cNvSpPr txBox="1">
                <a:spLocks noChangeArrowheads="1"/>
              </p:cNvSpPr>
              <p:nvPr/>
            </p:nvSpPr>
            <p:spPr bwMode="auto">
              <a:xfrm>
                <a:off x="4183" y="1507"/>
                <a:ext cx="3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R</a:t>
                </a:r>
              </a:p>
            </p:txBody>
          </p:sp>
          <p:grpSp>
            <p:nvGrpSpPr>
              <p:cNvPr id="91" name="Group 91"/>
              <p:cNvGrpSpPr>
                <a:grpSpLocks/>
              </p:cNvGrpSpPr>
              <p:nvPr/>
            </p:nvGrpSpPr>
            <p:grpSpPr bwMode="auto">
              <a:xfrm>
                <a:off x="4997" y="1802"/>
                <a:ext cx="238" cy="192"/>
                <a:chOff x="2928" y="1826"/>
                <a:chExt cx="252" cy="297"/>
              </a:xfrm>
            </p:grpSpPr>
            <p:sp>
              <p:nvSpPr>
                <p:cNvPr id="108" name="Oval 92"/>
                <p:cNvSpPr>
                  <a:spLocks noChangeArrowheads="1"/>
                </p:cNvSpPr>
                <p:nvPr/>
              </p:nvSpPr>
              <p:spPr bwMode="auto">
                <a:xfrm>
                  <a:off x="2928" y="1872"/>
                  <a:ext cx="240" cy="24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09" name="Text Box 93"/>
                <p:cNvSpPr txBox="1">
                  <a:spLocks noChangeArrowheads="1"/>
                </p:cNvSpPr>
                <p:nvPr/>
              </p:nvSpPr>
              <p:spPr bwMode="auto">
                <a:xfrm>
                  <a:off x="2939" y="1826"/>
                  <a:ext cx="241"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L</a:t>
                  </a:r>
                </a:p>
              </p:txBody>
            </p:sp>
          </p:grpSp>
          <p:sp>
            <p:nvSpPr>
              <p:cNvPr id="92" name="Line 94"/>
              <p:cNvSpPr>
                <a:spLocks noChangeShapeType="1"/>
              </p:cNvSpPr>
              <p:nvPr/>
            </p:nvSpPr>
            <p:spPr bwMode="auto">
              <a:xfrm>
                <a:off x="3866" y="1923"/>
                <a:ext cx="11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3" name="Line 95"/>
              <p:cNvSpPr>
                <a:spLocks noChangeShapeType="1"/>
              </p:cNvSpPr>
              <p:nvPr/>
            </p:nvSpPr>
            <p:spPr bwMode="auto">
              <a:xfrm flipV="1">
                <a:off x="5224" y="1913"/>
                <a:ext cx="419" cy="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4" name="Oval 96"/>
              <p:cNvSpPr>
                <a:spLocks noChangeArrowheads="1"/>
              </p:cNvSpPr>
              <p:nvPr/>
            </p:nvSpPr>
            <p:spPr bwMode="auto">
              <a:xfrm>
                <a:off x="3692" y="1679"/>
                <a:ext cx="46" cy="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95" name="Oval 97"/>
              <p:cNvSpPr>
                <a:spLocks noChangeArrowheads="1"/>
              </p:cNvSpPr>
              <p:nvPr/>
            </p:nvSpPr>
            <p:spPr bwMode="auto">
              <a:xfrm>
                <a:off x="3828" y="1679"/>
                <a:ext cx="45" cy="32"/>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96" name="Line 98"/>
              <p:cNvSpPr>
                <a:spLocks noChangeShapeType="1"/>
              </p:cNvSpPr>
              <p:nvPr/>
            </p:nvSpPr>
            <p:spPr bwMode="auto">
              <a:xfrm>
                <a:off x="3692" y="1721"/>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7" name="Line 99"/>
              <p:cNvSpPr>
                <a:spLocks noChangeShapeType="1"/>
              </p:cNvSpPr>
              <p:nvPr/>
            </p:nvSpPr>
            <p:spPr bwMode="auto">
              <a:xfrm flipV="1">
                <a:off x="3783" y="1685"/>
                <a:ext cx="0" cy="3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98" name="Text Box 100"/>
              <p:cNvSpPr txBox="1">
                <a:spLocks noChangeArrowheads="1"/>
              </p:cNvSpPr>
              <p:nvPr/>
            </p:nvSpPr>
            <p:spPr bwMode="auto">
              <a:xfrm>
                <a:off x="3587" y="1525"/>
                <a:ext cx="58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P/B B</a:t>
                </a:r>
              </a:p>
            </p:txBody>
          </p:sp>
          <p:sp>
            <p:nvSpPr>
              <p:cNvPr id="99" name="Line 101"/>
              <p:cNvSpPr>
                <a:spLocks noChangeShapeType="1"/>
              </p:cNvSpPr>
              <p:nvPr/>
            </p:nvSpPr>
            <p:spPr bwMode="auto">
              <a:xfrm flipH="1">
                <a:off x="3368" y="1700"/>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0" name="Line 102"/>
              <p:cNvSpPr>
                <a:spLocks noChangeShapeType="1"/>
              </p:cNvSpPr>
              <p:nvPr/>
            </p:nvSpPr>
            <p:spPr bwMode="auto">
              <a:xfrm flipH="1">
                <a:off x="3866" y="1700"/>
                <a:ext cx="31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1" name="Oval 104"/>
              <p:cNvSpPr>
                <a:spLocks noChangeArrowheads="1"/>
              </p:cNvSpPr>
              <p:nvPr/>
            </p:nvSpPr>
            <p:spPr bwMode="auto">
              <a:xfrm>
                <a:off x="4183" y="1685"/>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02" name="Oval 105"/>
              <p:cNvSpPr>
                <a:spLocks noChangeArrowheads="1"/>
              </p:cNvSpPr>
              <p:nvPr/>
            </p:nvSpPr>
            <p:spPr bwMode="auto">
              <a:xfrm>
                <a:off x="4319" y="1685"/>
                <a:ext cx="45" cy="3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endParaRPr lang="ko-KR" altLang="en-US" sz="2000">
                  <a:latin typeface="Times New Roman" panose="02020603050405020304" pitchFamily="18" charset="0"/>
                  <a:ea typeface="HY견고딕" pitchFamily="18" charset="-127"/>
                  <a:cs typeface="Times New Roman" pitchFamily="18" charset="0"/>
                </a:endParaRPr>
              </a:p>
            </p:txBody>
          </p:sp>
          <p:sp>
            <p:nvSpPr>
              <p:cNvPr id="103" name="Line 106"/>
              <p:cNvSpPr>
                <a:spLocks noChangeShapeType="1"/>
              </p:cNvSpPr>
              <p:nvPr/>
            </p:nvSpPr>
            <p:spPr bwMode="auto">
              <a:xfrm>
                <a:off x="4183" y="1657"/>
                <a:ext cx="18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4" name="Text Box 107"/>
              <p:cNvSpPr txBox="1">
                <a:spLocks noChangeArrowheads="1"/>
              </p:cNvSpPr>
              <p:nvPr/>
            </p:nvSpPr>
            <p:spPr bwMode="auto">
              <a:xfrm>
                <a:off x="3684" y="1738"/>
                <a:ext cx="31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50000"/>
                  </a:spcBef>
                  <a:buFontTx/>
                  <a:buNone/>
                </a:pPr>
                <a:r>
                  <a:rPr lang="en-US" altLang="ko-KR" sz="1200">
                    <a:latin typeface="Times New Roman" panose="02020603050405020304" pitchFamily="18" charset="0"/>
                    <a:cs typeface="Times New Roman" pitchFamily="18" charset="0"/>
                  </a:rPr>
                  <a:t>R</a:t>
                </a:r>
              </a:p>
            </p:txBody>
          </p:sp>
          <p:sp>
            <p:nvSpPr>
              <p:cNvPr id="105" name="Line 108"/>
              <p:cNvSpPr>
                <a:spLocks noChangeShapeType="1"/>
              </p:cNvSpPr>
              <p:nvPr/>
            </p:nvSpPr>
            <p:spPr bwMode="auto">
              <a:xfrm>
                <a:off x="4364" y="1700"/>
                <a:ext cx="13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6" name="Line 109"/>
              <p:cNvSpPr>
                <a:spLocks noChangeShapeType="1"/>
              </p:cNvSpPr>
              <p:nvPr/>
            </p:nvSpPr>
            <p:spPr bwMode="auto">
              <a:xfrm flipV="1">
                <a:off x="4499" y="1389"/>
                <a:ext cx="0" cy="31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sp>
            <p:nvSpPr>
              <p:cNvPr id="107" name="Line 110"/>
              <p:cNvSpPr>
                <a:spLocks noChangeShapeType="1"/>
              </p:cNvSpPr>
              <p:nvPr/>
            </p:nvSpPr>
            <p:spPr bwMode="auto">
              <a:xfrm>
                <a:off x="3866" y="1389"/>
                <a:ext cx="113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lstStyle/>
              <a:p>
                <a:endParaRPr lang="ko-KR" altLang="en-US">
                  <a:latin typeface="Times New Roman" panose="02020603050405020304" pitchFamily="18" charset="0"/>
                  <a:cs typeface="Times New Roman" panose="02020603050405020304" pitchFamily="18" charset="0"/>
                </a:endParaRPr>
              </a:p>
            </p:txBody>
          </p:sp>
        </p:grpSp>
      </p:grpSp>
      <p:sp>
        <p:nvSpPr>
          <p:cNvPr id="112" name="Rectangle 31"/>
          <p:cNvSpPr>
            <a:spLocks noChangeArrowheads="1"/>
          </p:cNvSpPr>
          <p:nvPr/>
        </p:nvSpPr>
        <p:spPr bwMode="auto">
          <a:xfrm>
            <a:off x="193886" y="7545288"/>
            <a:ext cx="3141663" cy="15881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00" smtClean="0">
                <a:latin typeface="Times New Roman" pitchFamily="18" charset="0"/>
                <a:ea typeface="돋움" pitchFamily="50" charset="-127"/>
                <a:cs typeface="Times New Roman" pitchFamily="18" charset="0"/>
              </a:rPr>
              <a:t>34.</a:t>
            </a:r>
            <a:r>
              <a:rPr lang="en-US" altLang="ko-KR" sz="900">
                <a:latin typeface="Times New Roman" pitchFamily="18" charset="0"/>
                <a:ea typeface="돋움" pitchFamily="50" charset="-127"/>
                <a:cs typeface="Times New Roman" pitchFamily="18" charset="0"/>
              </a:rPr>
              <a:t> </a:t>
            </a:r>
            <a:r>
              <a:rPr lang="en-US" altLang="ko-KR" sz="900" smtClean="0">
                <a:latin typeface="Times New Roman" pitchFamily="18" charset="0"/>
                <a:ea typeface="돋움" pitchFamily="50" charset="-127"/>
                <a:cs typeface="Times New Roman" pitchFamily="18" charset="0"/>
              </a:rPr>
              <a:t>Đây </a:t>
            </a:r>
            <a:r>
              <a:rPr lang="en-US" altLang="ko-KR" sz="900">
                <a:latin typeface="Times New Roman" pitchFamily="18" charset="0"/>
                <a:ea typeface="돋움" pitchFamily="50" charset="-127"/>
                <a:cs typeface="Times New Roman" pitchFamily="18" charset="0"/>
              </a:rPr>
              <a:t>là giải thích về LED của CPU PLC. Giải thích nào </a:t>
            </a:r>
            <a:r>
              <a:rPr lang="en-US" altLang="ko-KR" sz="900" u="sng">
                <a:latin typeface="Times New Roman" pitchFamily="18" charset="0"/>
                <a:ea typeface="돋움" pitchFamily="50" charset="-127"/>
                <a:cs typeface="Times New Roman" pitchFamily="18" charset="0"/>
              </a:rPr>
              <a:t>sai</a:t>
            </a:r>
            <a:r>
              <a:rPr lang="en-US" altLang="ko-KR" sz="900">
                <a:latin typeface="Times New Roman" pitchFamily="18" charset="0"/>
                <a:ea typeface="돋움" pitchFamily="50" charset="-127"/>
                <a:cs typeface="Times New Roman" pitchFamily="18" charset="0"/>
              </a:rPr>
              <a:t>?</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lnSpc>
                <a:spcPct val="150000"/>
              </a:lnSpc>
              <a:spcBef>
                <a:spcPct val="0"/>
              </a:spcBef>
              <a:buFontTx/>
              <a:buNone/>
            </a:pPr>
            <a:r>
              <a:rPr lang="en-US" altLang="ko-KR" sz="900" smtClean="0">
                <a:latin typeface="Times New Roman" pitchFamily="18" charset="0"/>
                <a:ea typeface="돋움" pitchFamily="50" charset="-127"/>
                <a:cs typeface="Times New Roman" pitchFamily="18" charset="0"/>
              </a:rPr>
              <a:t>A.  </a:t>
            </a:r>
            <a:r>
              <a:rPr lang="en-US" altLang="ko-KR" sz="900">
                <a:latin typeface="Times New Roman" pitchFamily="18" charset="0"/>
                <a:ea typeface="돋움" pitchFamily="50" charset="-127"/>
                <a:cs typeface="Times New Roman" pitchFamily="18" charset="0"/>
              </a:rPr>
              <a:t>RUN LED : Sáng đèn khi đang vận hành bằng RUN.</a:t>
            </a:r>
          </a:p>
          <a:p>
            <a:pPr eaLnBrk="1" hangingPunct="1">
              <a:lnSpc>
                <a:spcPct val="150000"/>
              </a:lnSpc>
              <a:spcBef>
                <a:spcPct val="0"/>
              </a:spcBef>
              <a:buFontTx/>
              <a:buNone/>
            </a:pPr>
            <a:r>
              <a:rPr lang="en-US" altLang="ko-KR" sz="900" smtClean="0">
                <a:latin typeface="Times New Roman" pitchFamily="18" charset="0"/>
                <a:ea typeface="돋움" pitchFamily="50" charset="-127"/>
                <a:cs typeface="Times New Roman" pitchFamily="18" charset="0"/>
              </a:rPr>
              <a:t>B.  </a:t>
            </a:r>
            <a:r>
              <a:rPr lang="en-US" altLang="ko-KR" sz="900">
                <a:latin typeface="Times New Roman" pitchFamily="18" charset="0"/>
                <a:ea typeface="돋움" pitchFamily="50" charset="-127"/>
                <a:cs typeface="Times New Roman" pitchFamily="18" charset="0"/>
              </a:rPr>
              <a:t>USER LED : Nhấp nháy khi thực hiện Latch Clear. </a:t>
            </a:r>
          </a:p>
          <a:p>
            <a:pPr eaLnBrk="1" hangingPunct="1">
              <a:lnSpc>
                <a:spcPct val="150000"/>
              </a:lnSpc>
              <a:spcBef>
                <a:spcPct val="0"/>
              </a:spcBef>
              <a:buFontTx/>
              <a:buNone/>
            </a:pPr>
            <a:r>
              <a:rPr lang="en-US" altLang="ko-KR" sz="900" smtClean="0">
                <a:latin typeface="Times New Roman" pitchFamily="18" charset="0"/>
                <a:ea typeface="돋움" pitchFamily="50" charset="-127"/>
                <a:cs typeface="Times New Roman" pitchFamily="18" charset="0"/>
              </a:rPr>
              <a:t>C.  </a:t>
            </a:r>
            <a:r>
              <a:rPr lang="en-US" altLang="ko-KR" sz="900">
                <a:latin typeface="Times New Roman" pitchFamily="18" charset="0"/>
                <a:ea typeface="돋움" pitchFamily="50" charset="-127"/>
                <a:cs typeface="Times New Roman" pitchFamily="18" charset="0"/>
              </a:rPr>
              <a:t>BAT. LED : Nhấp nháy khi điện áp Battery của thân máy CPU và Memory Card thấp đi làm phát sinh Error của Battery.</a:t>
            </a:r>
          </a:p>
          <a:p>
            <a:pPr eaLnBrk="1" hangingPunct="1">
              <a:lnSpc>
                <a:spcPct val="150000"/>
              </a:lnSpc>
              <a:spcBef>
                <a:spcPct val="0"/>
              </a:spcBef>
              <a:buFontTx/>
              <a:buNone/>
            </a:pPr>
            <a:r>
              <a:rPr lang="en-US" altLang="ko-KR" sz="900" smtClean="0">
                <a:solidFill>
                  <a:srgbClr val="FF0000"/>
                </a:solidFill>
                <a:latin typeface="Times New Roman" pitchFamily="18" charset="0"/>
                <a:ea typeface="돋움" pitchFamily="50" charset="-127"/>
                <a:cs typeface="Times New Roman" pitchFamily="18" charset="0"/>
              </a:rPr>
              <a:t>D. </a:t>
            </a:r>
            <a:r>
              <a:rPr lang="en-US" altLang="ko-KR" sz="900">
                <a:solidFill>
                  <a:srgbClr val="FF0000"/>
                </a:solidFill>
                <a:latin typeface="Times New Roman" pitchFamily="18" charset="0"/>
                <a:ea typeface="돋움" pitchFamily="50" charset="-127"/>
                <a:cs typeface="Times New Roman" pitchFamily="18" charset="0"/>
              </a:rPr>
              <a:t>MODE LED : Nếu sáng đèn màu da cam thì là</a:t>
            </a:r>
            <a:r>
              <a:rPr lang="ko-KR" altLang="en-US" sz="900">
                <a:solidFill>
                  <a:srgbClr val="FF0000"/>
                </a:solidFill>
                <a:latin typeface="Times New Roman" pitchFamily="18" charset="0"/>
                <a:ea typeface="돋움" pitchFamily="50" charset="-127"/>
                <a:cs typeface="Times New Roman" pitchFamily="18" charset="0"/>
              </a:rPr>
              <a:t> </a:t>
            </a:r>
            <a:r>
              <a:rPr lang="en-US" altLang="ko-KR" sz="900">
                <a:solidFill>
                  <a:srgbClr val="FF0000"/>
                </a:solidFill>
                <a:latin typeface="Times New Roman" pitchFamily="18" charset="0"/>
                <a:ea typeface="돋움" pitchFamily="50" charset="-127"/>
                <a:cs typeface="Times New Roman" pitchFamily="18" charset="0"/>
              </a:rPr>
              <a:t>Q</a:t>
            </a:r>
            <a:r>
              <a:rPr lang="ko-KR" altLang="en-US" sz="900">
                <a:solidFill>
                  <a:srgbClr val="FF0000"/>
                </a:solidFill>
                <a:latin typeface="Times New Roman" pitchFamily="18" charset="0"/>
                <a:ea typeface="돋움" pitchFamily="50" charset="-127"/>
                <a:cs typeface="Times New Roman" pitchFamily="18" charset="0"/>
              </a:rPr>
              <a:t> </a:t>
            </a:r>
            <a:r>
              <a:rPr lang="en-US" altLang="ko-KR" sz="900">
                <a:solidFill>
                  <a:srgbClr val="FF0000"/>
                </a:solidFill>
                <a:latin typeface="Times New Roman" pitchFamily="18" charset="0"/>
                <a:ea typeface="돋움" pitchFamily="50" charset="-127"/>
                <a:cs typeface="Times New Roman" pitchFamily="18" charset="0"/>
              </a:rPr>
              <a:t>Mode. </a:t>
            </a:r>
          </a:p>
          <a:p>
            <a:pPr eaLnBrk="1" hangingPunct="1">
              <a:lnSpc>
                <a:spcPct val="130000"/>
              </a:lnSpc>
              <a:spcBef>
                <a:spcPct val="0"/>
              </a:spcBef>
              <a:buFontTx/>
              <a:buNone/>
            </a:pPr>
            <a:endParaRPr lang="en-US" altLang="ko-KR" sz="900">
              <a:solidFill>
                <a:srgbClr val="FF0000"/>
              </a:solidFill>
              <a:latin typeface="Times New Roman" pitchFamily="18" charset="0"/>
              <a:ea typeface="돋움" pitchFamily="50" charset="-127"/>
              <a:cs typeface="Times New Roman" pitchFamily="18" charset="0"/>
            </a:endParaRPr>
          </a:p>
        </p:txBody>
      </p:sp>
      <p:sp>
        <p:nvSpPr>
          <p:cNvPr id="113" name="Rectangle 112"/>
          <p:cNvSpPr/>
          <p:nvPr/>
        </p:nvSpPr>
        <p:spPr>
          <a:xfrm>
            <a:off x="3428622" y="920552"/>
            <a:ext cx="3198018" cy="677108"/>
          </a:xfrm>
          <a:prstGeom prst="rect">
            <a:avLst/>
          </a:prstGeom>
        </p:spPr>
        <p:txBody>
          <a:bodyPr wrap="square">
            <a:spAutoFit/>
          </a:bodyPr>
          <a:lstStyle/>
          <a:p>
            <a:pPr>
              <a:defRPr/>
            </a:pPr>
            <a:r>
              <a:rPr lang="en-US" altLang="ko-KR" sz="950" smtClean="0">
                <a:latin typeface="Times New Roman" pitchFamily="18" charset="0"/>
                <a:cs typeface="Times New Roman" pitchFamily="18" charset="0"/>
              </a:rPr>
              <a:t>35. Relay chuyên </a:t>
            </a:r>
            <a:r>
              <a:rPr lang="en-US" altLang="ko-KR" sz="950">
                <a:latin typeface="Times New Roman" pitchFamily="18" charset="0"/>
                <a:cs typeface="Times New Roman" pitchFamily="18" charset="0"/>
              </a:rPr>
              <a:t>sử dụng cho Data link là </a:t>
            </a:r>
            <a:r>
              <a:rPr lang="en-US" altLang="ko-KR" sz="950" smtClean="0">
                <a:latin typeface="Times New Roman" pitchFamily="18" charset="0"/>
                <a:cs typeface="Times New Roman" pitchFamily="18" charset="0"/>
              </a:rPr>
              <a:t>Bit </a:t>
            </a:r>
            <a:r>
              <a:rPr lang="en-US" altLang="ko-KR" sz="950">
                <a:latin typeface="Times New Roman" pitchFamily="18" charset="0"/>
                <a:cs typeface="Times New Roman" pitchFamily="18" charset="0"/>
              </a:rPr>
              <a:t>device nào dưới đây? </a:t>
            </a:r>
          </a:p>
          <a:p>
            <a:pPr>
              <a:defRPr/>
            </a:pPr>
            <a:endParaRPr lang="en-US" altLang="ko-KR" sz="950">
              <a:latin typeface="Times New Roman" pitchFamily="18" charset="0"/>
              <a:cs typeface="Times New Roman" pitchFamily="18" charset="0"/>
            </a:endParaRPr>
          </a:p>
          <a:p>
            <a:pPr>
              <a:defRPr/>
            </a:pPr>
            <a:r>
              <a:rPr lang="en-US" altLang="ko-KR" sz="950" smtClean="0">
                <a:solidFill>
                  <a:srgbClr val="FF0000"/>
                </a:solidFill>
                <a:latin typeface="Times New Roman" pitchFamily="18" charset="0"/>
                <a:cs typeface="Times New Roman" pitchFamily="18" charset="0"/>
              </a:rPr>
              <a:t>A. </a:t>
            </a:r>
            <a:r>
              <a:rPr lang="en-US" altLang="ko-KR" sz="950" b="1" smtClean="0">
                <a:solidFill>
                  <a:srgbClr val="FF0000"/>
                </a:solidFill>
                <a:latin typeface="Times New Roman" pitchFamily="18" charset="0"/>
                <a:cs typeface="Times New Roman" pitchFamily="18" charset="0"/>
              </a:rPr>
              <a:t> </a:t>
            </a:r>
            <a:r>
              <a:rPr lang="en-US" altLang="ko-KR" sz="950" smtClean="0">
                <a:solidFill>
                  <a:srgbClr val="FF0000"/>
                </a:solidFill>
                <a:latin typeface="Times New Roman" pitchFamily="18" charset="0"/>
                <a:cs typeface="Times New Roman" pitchFamily="18" charset="0"/>
              </a:rPr>
              <a:t>B                   </a:t>
            </a:r>
            <a:r>
              <a:rPr lang="en-US" altLang="ko-KR" sz="950" smtClean="0">
                <a:latin typeface="Times New Roman" pitchFamily="18" charset="0"/>
                <a:cs typeface="Times New Roman" pitchFamily="18" charset="0"/>
              </a:rPr>
              <a:t>B. </a:t>
            </a:r>
            <a:r>
              <a:rPr lang="ko-KR" altLang="en-US" sz="950" smtClean="0">
                <a:latin typeface="Times New Roman" pitchFamily="18" charset="0"/>
                <a:cs typeface="Times New Roman" pitchFamily="18" charset="0"/>
              </a:rPr>
              <a:t> </a:t>
            </a:r>
            <a:r>
              <a:rPr lang="en-US" altLang="ko-KR" sz="950" smtClean="0">
                <a:solidFill>
                  <a:srgbClr val="404040"/>
                </a:solidFill>
                <a:latin typeface="Times New Roman" pitchFamily="18" charset="0"/>
                <a:cs typeface="Times New Roman" pitchFamily="18" charset="0"/>
              </a:rPr>
              <a:t>Z                     </a:t>
            </a:r>
            <a:r>
              <a:rPr lang="en-US" altLang="ko-KR" sz="950" smtClean="0">
                <a:latin typeface="Times New Roman" pitchFamily="18" charset="0"/>
                <a:cs typeface="Times New Roman" pitchFamily="18" charset="0"/>
              </a:rPr>
              <a:t>C. </a:t>
            </a:r>
            <a:r>
              <a:rPr lang="ko-KR" altLang="en-US" sz="950" smtClean="0">
                <a:latin typeface="Times New Roman" pitchFamily="18" charset="0"/>
                <a:cs typeface="Times New Roman" pitchFamily="18" charset="0"/>
              </a:rPr>
              <a:t> </a:t>
            </a:r>
            <a:r>
              <a:rPr lang="en-US" altLang="ko-KR" sz="950">
                <a:solidFill>
                  <a:srgbClr val="404040"/>
                </a:solidFill>
                <a:latin typeface="Times New Roman" pitchFamily="18" charset="0"/>
                <a:cs typeface="Times New Roman" pitchFamily="18" charset="0"/>
              </a:rPr>
              <a:t>R                  </a:t>
            </a:r>
            <a:r>
              <a:rPr lang="en-US" altLang="ko-KR" sz="950" smtClean="0">
                <a:solidFill>
                  <a:srgbClr val="40404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smtClean="0">
                <a:solidFill>
                  <a:srgbClr val="404040"/>
                </a:solidFill>
                <a:latin typeface="Times New Roman" pitchFamily="18" charset="0"/>
                <a:cs typeface="Times New Roman" pitchFamily="18" charset="0"/>
              </a:rPr>
              <a:t> </a:t>
            </a:r>
            <a:r>
              <a:rPr lang="en-US" altLang="ko-KR" sz="950">
                <a:solidFill>
                  <a:srgbClr val="404040"/>
                </a:solidFill>
                <a:latin typeface="Times New Roman" pitchFamily="18" charset="0"/>
                <a:cs typeface="Times New Roman" pitchFamily="18" charset="0"/>
              </a:rPr>
              <a:t>W</a:t>
            </a:r>
            <a:r>
              <a:rPr lang="ko-KR" altLang="en-US" sz="950">
                <a:latin typeface="Times New Roman" pitchFamily="18" charset="0"/>
                <a:cs typeface="Times New Roman" pitchFamily="18" charset="0"/>
              </a:rPr>
              <a:t> </a:t>
            </a:r>
          </a:p>
        </p:txBody>
      </p:sp>
      <p:sp>
        <p:nvSpPr>
          <p:cNvPr id="114" name="Rectangle 8"/>
          <p:cNvSpPr>
            <a:spLocks noChangeArrowheads="1"/>
          </p:cNvSpPr>
          <p:nvPr/>
        </p:nvSpPr>
        <p:spPr bwMode="auto">
          <a:xfrm>
            <a:off x="3459181" y="2936776"/>
            <a:ext cx="314166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spcBef>
                <a:spcPct val="0"/>
              </a:spcBef>
              <a:buFontTx/>
              <a:buNone/>
            </a:pPr>
            <a:r>
              <a:rPr lang="en-US" altLang="ko-KR" sz="900" smtClean="0">
                <a:latin typeface="Times New Roman" panose="02020603050405020304" pitchFamily="18" charset="0"/>
                <a:ea typeface="돋움" pitchFamily="50" charset="-127"/>
                <a:cs typeface="Times New Roman" pitchFamily="18" charset="0"/>
              </a:rPr>
              <a:t>37.  </a:t>
            </a:r>
            <a:r>
              <a:rPr lang="en-US" altLang="ko-KR" sz="900">
                <a:latin typeface="Times New Roman" pitchFamily="18" charset="0"/>
                <a:ea typeface="돋움" pitchFamily="50" charset="-127"/>
                <a:cs typeface="Times New Roman" pitchFamily="18" charset="0"/>
              </a:rPr>
              <a:t>Address cuối cùng của Slot </a:t>
            </a:r>
            <a:r>
              <a:rPr lang="en-US" altLang="ko-KR" sz="900" smtClean="0">
                <a:latin typeface="Times New Roman" pitchFamily="18" charset="0"/>
                <a:ea typeface="돋움" pitchFamily="50" charset="-127"/>
                <a:cs typeface="Times New Roman" pitchFamily="18" charset="0"/>
              </a:rPr>
              <a:t> </a:t>
            </a:r>
            <a:r>
              <a:rPr lang="en-US" altLang="ko-KR" sz="900">
                <a:latin typeface="Times New Roman" pitchFamily="18" charset="0"/>
                <a:ea typeface="돋움" pitchFamily="50" charset="-127"/>
                <a:cs typeface="Times New Roman" pitchFamily="18" charset="0"/>
              </a:rPr>
              <a:t>ở ảnh cấu tạo PLC dưới đây là gì?</a:t>
            </a: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endParaRPr lang="en-US" altLang="ko-KR" sz="900">
              <a:latin typeface="Times New Roman" pitchFamily="18" charset="0"/>
              <a:ea typeface="돋움" pitchFamily="50" charset="-127"/>
              <a:cs typeface="Times New Roman" pitchFamily="18" charset="0"/>
            </a:endParaRPr>
          </a:p>
          <a:p>
            <a:pPr eaLnBrk="1" hangingPunct="1">
              <a:spcBef>
                <a:spcPct val="0"/>
              </a:spcBef>
              <a:buFontTx/>
              <a:buNone/>
            </a:pPr>
            <a:r>
              <a:rPr lang="en-US" altLang="ko-KR" sz="900" smtClean="0">
                <a:latin typeface="Times New Roman" pitchFamily="18" charset="0"/>
                <a:ea typeface="돋움" pitchFamily="50" charset="-127"/>
                <a:cs typeface="Times New Roman" pitchFamily="18" charset="0"/>
              </a:rPr>
              <a:t>A. </a:t>
            </a:r>
            <a:r>
              <a:rPr lang="en-US" altLang="ko-KR" sz="900">
                <a:latin typeface="Times New Roman" pitchFamily="18" charset="0"/>
                <a:ea typeface="돋움" pitchFamily="50" charset="-127"/>
                <a:cs typeface="Times New Roman" pitchFamily="18" charset="0"/>
              </a:rPr>
              <a:t>CF         </a:t>
            </a:r>
            <a:r>
              <a:rPr lang="en-US" altLang="ko-KR" sz="900" smtClean="0">
                <a:solidFill>
                  <a:srgbClr val="FF0000"/>
                </a:solidFill>
                <a:latin typeface="Times New Roman" pitchFamily="18" charset="0"/>
                <a:ea typeface="돋움" pitchFamily="50" charset="-127"/>
                <a:cs typeface="Times New Roman" pitchFamily="18" charset="0"/>
              </a:rPr>
              <a:t>B.  </a:t>
            </a:r>
            <a:r>
              <a:rPr lang="en-US" altLang="ko-KR" sz="900">
                <a:solidFill>
                  <a:srgbClr val="FF0000"/>
                </a:solidFill>
                <a:latin typeface="Times New Roman" pitchFamily="18" charset="0"/>
                <a:ea typeface="돋움" pitchFamily="50" charset="-127"/>
                <a:cs typeface="Times New Roman" pitchFamily="18" charset="0"/>
              </a:rPr>
              <a:t>DF         </a:t>
            </a:r>
            <a:r>
              <a:rPr lang="en-US" altLang="ko-KR" sz="900" smtClean="0">
                <a:latin typeface="Times New Roman" pitchFamily="18" charset="0"/>
                <a:ea typeface="돋움" pitchFamily="50" charset="-127"/>
                <a:cs typeface="Times New Roman" pitchFamily="18" charset="0"/>
              </a:rPr>
              <a:t>C.  </a:t>
            </a:r>
            <a:r>
              <a:rPr lang="en-US" altLang="ko-KR" sz="900">
                <a:latin typeface="Times New Roman" pitchFamily="18" charset="0"/>
                <a:ea typeface="돋움" pitchFamily="50" charset="-127"/>
                <a:cs typeface="Times New Roman" pitchFamily="18" charset="0"/>
              </a:rPr>
              <a:t>EF         </a:t>
            </a:r>
            <a:r>
              <a:rPr lang="en-US" altLang="ko-KR" sz="900" smtClean="0">
                <a:latin typeface="Times New Roman" pitchFamily="18" charset="0"/>
                <a:ea typeface="돋움" pitchFamily="50" charset="-127"/>
                <a:cs typeface="Times New Roman" pitchFamily="18" charset="0"/>
              </a:rPr>
              <a:t>D. </a:t>
            </a:r>
            <a:r>
              <a:rPr lang="en-US" altLang="ko-KR" sz="900">
                <a:latin typeface="Times New Roman" pitchFamily="18" charset="0"/>
                <a:ea typeface="돋움" pitchFamily="50" charset="-127"/>
                <a:cs typeface="Times New Roman" pitchFamily="18" charset="0"/>
              </a:rPr>
              <a:t>FF</a:t>
            </a:r>
          </a:p>
        </p:txBody>
      </p:sp>
      <p:grpSp>
        <p:nvGrpSpPr>
          <p:cNvPr id="115" name="Group 114"/>
          <p:cNvGrpSpPr/>
          <p:nvPr/>
        </p:nvGrpSpPr>
        <p:grpSpPr>
          <a:xfrm>
            <a:off x="3589264" y="3312832"/>
            <a:ext cx="2936080" cy="631825"/>
            <a:chOff x="373063" y="2144713"/>
            <a:chExt cx="2936080" cy="631825"/>
          </a:xfrm>
        </p:grpSpPr>
        <p:sp>
          <p:nvSpPr>
            <p:cNvPr id="116" name="Rectangle 9"/>
            <p:cNvSpPr>
              <a:spLocks noChangeArrowheads="1"/>
            </p:cNvSpPr>
            <p:nvPr/>
          </p:nvSpPr>
          <p:spPr bwMode="auto">
            <a:xfrm>
              <a:off x="496888" y="2200275"/>
              <a:ext cx="2665412" cy="5762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endParaRPr lang="ko-KR" altLang="ko-KR" sz="800">
                <a:latin typeface="Times New Roman" panose="02020603050405020304" pitchFamily="18" charset="0"/>
                <a:ea typeface="돋움" pitchFamily="50" charset="-127"/>
                <a:cs typeface="Times New Roman" pitchFamily="18" charset="0"/>
              </a:endParaRPr>
            </a:p>
          </p:txBody>
        </p:sp>
        <p:sp>
          <p:nvSpPr>
            <p:cNvPr id="117" name="Line 10"/>
            <p:cNvSpPr>
              <a:spLocks noChangeShapeType="1"/>
            </p:cNvSpPr>
            <p:nvPr/>
          </p:nvSpPr>
          <p:spPr bwMode="auto">
            <a:xfrm>
              <a:off x="755650"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18" name="Line 11"/>
            <p:cNvSpPr>
              <a:spLocks noChangeShapeType="1"/>
            </p:cNvSpPr>
            <p:nvPr/>
          </p:nvSpPr>
          <p:spPr bwMode="auto">
            <a:xfrm>
              <a:off x="1003300"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19" name="Line 12"/>
            <p:cNvSpPr>
              <a:spLocks noChangeShapeType="1"/>
            </p:cNvSpPr>
            <p:nvPr/>
          </p:nvSpPr>
          <p:spPr bwMode="auto">
            <a:xfrm>
              <a:off x="1312863"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0" name="Line 13"/>
            <p:cNvSpPr>
              <a:spLocks noChangeShapeType="1"/>
            </p:cNvSpPr>
            <p:nvPr/>
          </p:nvSpPr>
          <p:spPr bwMode="auto">
            <a:xfrm>
              <a:off x="1622425"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1" name="Line 14"/>
            <p:cNvSpPr>
              <a:spLocks noChangeShapeType="1"/>
            </p:cNvSpPr>
            <p:nvPr/>
          </p:nvSpPr>
          <p:spPr bwMode="auto">
            <a:xfrm>
              <a:off x="1931988"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2" name="Text Box 15"/>
            <p:cNvSpPr txBox="1">
              <a:spLocks noChangeArrowheads="1"/>
            </p:cNvSpPr>
            <p:nvPr/>
          </p:nvSpPr>
          <p:spPr bwMode="auto">
            <a:xfrm>
              <a:off x="373063" y="2144713"/>
              <a:ext cx="4635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UNIT</a:t>
              </a:r>
            </a:p>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điện</a:t>
              </a:r>
            </a:p>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nguồn</a:t>
              </a:r>
            </a:p>
          </p:txBody>
        </p:sp>
        <p:sp>
          <p:nvSpPr>
            <p:cNvPr id="123" name="Text Box 16"/>
            <p:cNvSpPr txBox="1">
              <a:spLocks noChangeArrowheads="1"/>
            </p:cNvSpPr>
            <p:nvPr/>
          </p:nvSpPr>
          <p:spPr bwMode="auto">
            <a:xfrm>
              <a:off x="687388" y="2201863"/>
              <a:ext cx="500062" cy="16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CPU</a:t>
              </a:r>
            </a:p>
          </p:txBody>
        </p:sp>
        <p:sp>
          <p:nvSpPr>
            <p:cNvPr id="124" name="Text Box 17"/>
            <p:cNvSpPr txBox="1">
              <a:spLocks noChangeArrowheads="1"/>
            </p:cNvSpPr>
            <p:nvPr/>
          </p:nvSpPr>
          <p:spPr bwMode="auto">
            <a:xfrm>
              <a:off x="936625" y="2197100"/>
              <a:ext cx="554038"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QX41</a:t>
              </a:r>
            </a:p>
          </p:txBody>
        </p:sp>
        <p:sp>
          <p:nvSpPr>
            <p:cNvPr id="125" name="Text Box 18"/>
            <p:cNvSpPr txBox="1">
              <a:spLocks noChangeArrowheads="1"/>
            </p:cNvSpPr>
            <p:nvPr/>
          </p:nvSpPr>
          <p:spPr bwMode="auto">
            <a:xfrm>
              <a:off x="1555750" y="2198688"/>
              <a:ext cx="482600"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QX41</a:t>
              </a:r>
            </a:p>
          </p:txBody>
        </p:sp>
        <p:sp>
          <p:nvSpPr>
            <p:cNvPr id="126" name="Text Box 19"/>
            <p:cNvSpPr txBox="1">
              <a:spLocks noChangeArrowheads="1"/>
            </p:cNvSpPr>
            <p:nvPr/>
          </p:nvSpPr>
          <p:spPr bwMode="auto">
            <a:xfrm>
              <a:off x="1246188" y="2198688"/>
              <a:ext cx="454025"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QY42</a:t>
              </a:r>
            </a:p>
          </p:txBody>
        </p:sp>
        <p:sp>
          <p:nvSpPr>
            <p:cNvPr id="127" name="Text Box 20"/>
            <p:cNvSpPr txBox="1">
              <a:spLocks noChangeArrowheads="1"/>
            </p:cNvSpPr>
            <p:nvPr/>
          </p:nvSpPr>
          <p:spPr bwMode="auto">
            <a:xfrm>
              <a:off x="2804318" y="2216945"/>
              <a:ext cx="50482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QY40</a:t>
              </a:r>
            </a:p>
          </p:txBody>
        </p:sp>
        <p:sp>
          <p:nvSpPr>
            <p:cNvPr id="128" name="Line 21"/>
            <p:cNvSpPr>
              <a:spLocks noChangeShapeType="1"/>
            </p:cNvSpPr>
            <p:nvPr/>
          </p:nvSpPr>
          <p:spPr bwMode="auto">
            <a:xfrm>
              <a:off x="2243138"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29" name="Text Box 22"/>
            <p:cNvSpPr txBox="1">
              <a:spLocks noChangeArrowheads="1"/>
            </p:cNvSpPr>
            <p:nvPr/>
          </p:nvSpPr>
          <p:spPr bwMode="auto">
            <a:xfrm>
              <a:off x="1797050" y="2216945"/>
              <a:ext cx="581025" cy="26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Slot</a:t>
              </a:r>
            </a:p>
            <a:p>
              <a:pPr algn="ct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trống</a:t>
              </a:r>
            </a:p>
          </p:txBody>
        </p:sp>
        <p:sp>
          <p:nvSpPr>
            <p:cNvPr id="130" name="Line 23"/>
            <p:cNvSpPr>
              <a:spLocks noChangeShapeType="1"/>
            </p:cNvSpPr>
            <p:nvPr/>
          </p:nvSpPr>
          <p:spPr bwMode="auto">
            <a:xfrm>
              <a:off x="2551113"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1" name="Text Box 24"/>
            <p:cNvSpPr txBox="1">
              <a:spLocks noChangeArrowheads="1"/>
            </p:cNvSpPr>
            <p:nvPr/>
          </p:nvSpPr>
          <p:spPr bwMode="auto">
            <a:xfrm>
              <a:off x="2192338" y="2200275"/>
              <a:ext cx="447675" cy="423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Q64</a:t>
              </a:r>
            </a:p>
            <a:p>
              <a:pPr eaLnBrk="1" hangingPunct="1">
                <a:lnSpc>
                  <a:spcPct val="120000"/>
                </a:lnSpc>
                <a:spcBef>
                  <a:spcPct val="0"/>
                </a:spcBef>
                <a:buFontTx/>
                <a:buNone/>
              </a:pPr>
              <a:r>
                <a:rPr lang="en-US" altLang="ko-KR" sz="800">
                  <a:latin typeface="Times New Roman" pitchFamily="18" charset="0"/>
                  <a:ea typeface="돋움" pitchFamily="50" charset="-127"/>
                  <a:cs typeface="Times New Roman" pitchFamily="18" charset="0"/>
                </a:rPr>
                <a:t>  AD</a:t>
              </a:r>
            </a:p>
          </p:txBody>
        </p:sp>
        <p:sp>
          <p:nvSpPr>
            <p:cNvPr id="132" name="Text Box 25"/>
            <p:cNvSpPr txBox="1">
              <a:spLocks noChangeArrowheads="1"/>
            </p:cNvSpPr>
            <p:nvPr/>
          </p:nvSpPr>
          <p:spPr bwMode="auto">
            <a:xfrm>
              <a:off x="2478088" y="2200275"/>
              <a:ext cx="498475" cy="16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QX42</a:t>
              </a:r>
            </a:p>
          </p:txBody>
        </p:sp>
        <p:sp>
          <p:nvSpPr>
            <p:cNvPr id="133" name="Line 26"/>
            <p:cNvSpPr>
              <a:spLocks noChangeShapeType="1"/>
            </p:cNvSpPr>
            <p:nvPr/>
          </p:nvSpPr>
          <p:spPr bwMode="auto">
            <a:xfrm>
              <a:off x="2862263" y="2200275"/>
              <a:ext cx="0" cy="57626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ko-KR" altLang="en-US">
                <a:latin typeface="Times New Roman" panose="02020603050405020304" pitchFamily="18" charset="0"/>
                <a:cs typeface="Times New Roman" panose="02020603050405020304" pitchFamily="18" charset="0"/>
              </a:endParaRPr>
            </a:p>
          </p:txBody>
        </p:sp>
        <p:sp>
          <p:nvSpPr>
            <p:cNvPr id="134" name="Rectangle 38"/>
            <p:cNvSpPr>
              <a:spLocks noChangeArrowheads="1"/>
            </p:cNvSpPr>
            <p:nvPr/>
          </p:nvSpPr>
          <p:spPr bwMode="auto">
            <a:xfrm>
              <a:off x="2551113" y="2489200"/>
              <a:ext cx="465137"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defTabSz="854075" eaLnBrk="0" hangingPunct="0">
                <a:spcBef>
                  <a:spcPct val="20000"/>
                </a:spcBef>
                <a:buChar char="•"/>
                <a:defRPr kumimoji="1" sz="3200">
                  <a:solidFill>
                    <a:schemeClr val="tx1"/>
                  </a:solidFill>
                  <a:latin typeface="굴림" charset="-127"/>
                  <a:ea typeface="굴림" charset="-127"/>
                </a:defRPr>
              </a:lvl1pPr>
              <a:lvl2pPr marL="742950" indent="-285750" defTabSz="854075" eaLnBrk="0" hangingPunct="0">
                <a:spcBef>
                  <a:spcPct val="20000"/>
                </a:spcBef>
                <a:buChar char="–"/>
                <a:defRPr kumimoji="1" sz="2800">
                  <a:solidFill>
                    <a:schemeClr val="tx1"/>
                  </a:solidFill>
                  <a:latin typeface="굴림" charset="-127"/>
                  <a:ea typeface="굴림" charset="-127"/>
                </a:defRPr>
              </a:lvl2pPr>
              <a:lvl3pPr marL="1143000" indent="-228600" defTabSz="854075" eaLnBrk="0" hangingPunct="0">
                <a:spcBef>
                  <a:spcPct val="20000"/>
                </a:spcBef>
                <a:buChar char="•"/>
                <a:defRPr kumimoji="1" sz="2400">
                  <a:solidFill>
                    <a:schemeClr val="tx1"/>
                  </a:solidFill>
                  <a:latin typeface="굴림" charset="-127"/>
                  <a:ea typeface="굴림" charset="-127"/>
                </a:defRPr>
              </a:lvl3pPr>
              <a:lvl4pPr marL="1600200" indent="-228600" defTabSz="854075" eaLnBrk="0" hangingPunct="0">
                <a:spcBef>
                  <a:spcPct val="20000"/>
                </a:spcBef>
                <a:buChar char="–"/>
                <a:defRPr kumimoji="1" sz="2000">
                  <a:solidFill>
                    <a:schemeClr val="tx1"/>
                  </a:solidFill>
                  <a:latin typeface="굴림" charset="-127"/>
                  <a:ea typeface="굴림" charset="-127"/>
                </a:defRPr>
              </a:lvl4pPr>
              <a:lvl5pPr marL="2057400" indent="-228600" defTabSz="854075" eaLnBrk="0" hangingPunct="0">
                <a:spcBef>
                  <a:spcPct val="20000"/>
                </a:spcBef>
                <a:buChar char="»"/>
                <a:defRPr kumimoji="1" sz="2000">
                  <a:solidFill>
                    <a:schemeClr val="tx1"/>
                  </a:solidFill>
                  <a:latin typeface="굴림" charset="-127"/>
                  <a:ea typeface="굴림" charset="-127"/>
                </a:defRPr>
              </a:lvl5pPr>
              <a:lvl6pPr marL="25146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defTabSz="854075" eaLnBrk="0" fontAlgn="base" hangingPunct="0">
                <a:spcBef>
                  <a:spcPct val="20000"/>
                </a:spcBef>
                <a:spcAft>
                  <a:spcPct val="0"/>
                </a:spcAft>
                <a:buChar char="»"/>
                <a:defRPr kumimoji="1" sz="2000">
                  <a:solidFill>
                    <a:schemeClr val="tx1"/>
                  </a:solidFill>
                  <a:latin typeface="굴림" charset="-127"/>
                  <a:ea typeface="굴림" charset="-127"/>
                </a:defRPr>
              </a:lvl9pPr>
            </a:lstStyle>
            <a:p>
              <a:pPr eaLnBrk="1" hangingPunct="1">
                <a:lnSpc>
                  <a:spcPct val="120000"/>
                </a:lnSpc>
                <a:spcBef>
                  <a:spcPct val="0"/>
                </a:spcBef>
                <a:buFontTx/>
                <a:buNone/>
              </a:pPr>
              <a:r>
                <a:rPr lang="en-US" altLang="ko-KR" sz="800">
                  <a:latin typeface="Times New Roman" panose="02020603050405020304" pitchFamily="18" charset="0"/>
                  <a:ea typeface="돋움" pitchFamily="50" charset="-127"/>
                  <a:cs typeface="Times New Roman" pitchFamily="18" charset="0"/>
                </a:rPr>
                <a:t>( ? )</a:t>
              </a:r>
            </a:p>
          </p:txBody>
        </p:sp>
      </p:grpSp>
      <p:sp>
        <p:nvSpPr>
          <p:cNvPr id="138" name="Rectangle 137"/>
          <p:cNvSpPr/>
          <p:nvPr/>
        </p:nvSpPr>
        <p:spPr>
          <a:xfrm>
            <a:off x="186888" y="913656"/>
            <a:ext cx="3358744" cy="1919756"/>
          </a:xfrm>
          <a:prstGeom prst="rect">
            <a:avLst/>
          </a:prstGeom>
        </p:spPr>
        <p:txBody>
          <a:bodyPr wrap="square">
            <a:spAutoFit/>
          </a:bodyPr>
          <a:lstStyle/>
          <a:p>
            <a:pPr lvl="0" fontAlgn="base">
              <a:spcBef>
                <a:spcPct val="0"/>
              </a:spcBef>
              <a:spcAft>
                <a:spcPct val="0"/>
              </a:spcAft>
            </a:pPr>
            <a:r>
              <a:rPr lang="en-US" altLang="ko-KR" sz="950" smtClean="0">
                <a:solidFill>
                  <a:srgbClr val="000000"/>
                </a:solidFill>
                <a:latin typeface="Arial" pitchFamily="34" charset="0"/>
                <a:ea typeface="LG Smart_H Regular" panose="020B0600000101010101" pitchFamily="34" charset="-127"/>
                <a:cs typeface="Arial" pitchFamily="34" charset="0"/>
              </a:rPr>
              <a:t>31. </a:t>
            </a:r>
            <a:r>
              <a:rPr lang="vi-VN" altLang="ko-KR" sz="950">
                <a:solidFill>
                  <a:srgbClr val="000000"/>
                </a:solidFill>
                <a:latin typeface="Arial" pitchFamily="34" charset="0"/>
                <a:ea typeface="LG Smart_H Regular" panose="020B0600000101010101" pitchFamily="34" charset="-127"/>
                <a:cs typeface="Arial" pitchFamily="34" charset="0"/>
              </a:rPr>
              <a:t>Điều gì đúng khi giải thích về </a:t>
            </a:r>
            <a:r>
              <a:rPr lang="en-US" altLang="ko-KR" sz="950">
                <a:solidFill>
                  <a:srgbClr val="000000"/>
                </a:solidFill>
                <a:latin typeface="Arial" pitchFamily="34" charset="0"/>
                <a:ea typeface="LG Smart_H Regular" panose="020B0600000101010101" pitchFamily="34" charset="-127"/>
                <a:cs typeface="Arial" pitchFamily="34" charset="0"/>
              </a:rPr>
              <a:t>DEVICE "Y</a:t>
            </a:r>
            <a:r>
              <a:rPr lang="vi-VN" altLang="ko-KR" sz="950">
                <a:solidFill>
                  <a:srgbClr val="000000"/>
                </a:solidFill>
                <a:latin typeface="Arial" pitchFamily="34" charset="0"/>
                <a:ea typeface="LG Smart_H Regular" panose="020B0600000101010101" pitchFamily="34" charset="-127"/>
                <a:cs typeface="Arial" pitchFamily="34" charset="0"/>
              </a:rPr>
              <a:t>’’ đầu ra</a:t>
            </a:r>
            <a:r>
              <a:rPr lang="en-US" altLang="ko-KR" sz="950">
                <a:solidFill>
                  <a:srgbClr val="000000"/>
                </a:solidFill>
                <a:latin typeface="Arial" pitchFamily="34" charset="0"/>
                <a:ea typeface="LG Smart_H Regular" panose="020B0600000101010101" pitchFamily="34" charset="-127"/>
                <a:cs typeface="Arial" pitchFamily="34" charset="0"/>
              </a:rPr>
              <a:t>?   </a:t>
            </a:r>
            <a:endParaRPr lang="en-US" altLang="ko-KR" sz="950" smtClean="0">
              <a:solidFill>
                <a:srgbClr val="000000"/>
              </a:solidFill>
              <a:latin typeface="Arial" pitchFamily="34" charset="0"/>
              <a:ea typeface="LG Smart_H Regular" panose="020B0600000101010101" pitchFamily="34" charset="-127"/>
              <a:cs typeface="Arial" pitchFamily="34" charset="0"/>
            </a:endParaRPr>
          </a:p>
          <a:p>
            <a:pPr lvl="0" fontAlgn="base">
              <a:spcBef>
                <a:spcPct val="0"/>
              </a:spcBef>
              <a:spcAft>
                <a:spcPct val="0"/>
              </a:spcAft>
            </a:pPr>
            <a:endParaRPr lang="en-US" altLang="ko-KR" sz="950">
              <a:solidFill>
                <a:srgbClr val="000000"/>
              </a:solidFill>
              <a:latin typeface="Arial" pitchFamily="34" charset="0"/>
              <a:ea typeface="LG Smart_H Regular" panose="020B0600000101010101" pitchFamily="34" charset="-127"/>
              <a:cs typeface="Arial" pitchFamily="34" charset="0"/>
            </a:endParaRPr>
          </a:p>
          <a:p>
            <a:pPr fontAlgn="base">
              <a:spcBef>
                <a:spcPct val="0"/>
              </a:spcBef>
              <a:spcAft>
                <a:spcPct val="0"/>
              </a:spcAft>
              <a:buFontTx/>
              <a:buAutoNum type="alphaUcPeriod"/>
            </a:pPr>
            <a:r>
              <a:rPr lang="vi-VN" altLang="ko-KR" sz="950">
                <a:solidFill>
                  <a:srgbClr val="000000"/>
                </a:solidFill>
                <a:latin typeface="Arial" pitchFamily="34" charset="0"/>
                <a:ea typeface="LG Smart_H Regular" panose="020B0600000101010101" pitchFamily="34" charset="-127"/>
                <a:cs typeface="Arial" pitchFamily="34" charset="0"/>
              </a:rPr>
              <a:t>Khi sử dụng Relay M bên trong Y có khả năng duy trì tĩnh điện</a:t>
            </a:r>
            <a:endParaRPr lang="ko-KR" altLang="en-US" sz="950">
              <a:solidFill>
                <a:srgbClr val="000000"/>
              </a:solidFill>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en-US" altLang="ko-KR" sz="950" smtClean="0">
                <a:solidFill>
                  <a:srgbClr val="000000"/>
                </a:solidFill>
                <a:latin typeface="Arial" pitchFamily="34" charset="0"/>
                <a:ea typeface="LG Smart_H Regular" panose="020B0600000101010101" pitchFamily="34" charset="-127"/>
                <a:cs typeface="Arial" pitchFamily="34" charset="0"/>
              </a:rPr>
              <a:t>B. </a:t>
            </a:r>
            <a:r>
              <a:rPr lang="ko-KR" altLang="en-US" sz="950" smtClean="0">
                <a:solidFill>
                  <a:srgbClr val="000000"/>
                </a:solidFill>
                <a:latin typeface="Arial" pitchFamily="34" charset="0"/>
                <a:ea typeface="LG Smart_H Regular" panose="020B0600000101010101" pitchFamily="34" charset="-127"/>
                <a:cs typeface="Arial" pitchFamily="34" charset="0"/>
              </a:rPr>
              <a:t> </a:t>
            </a:r>
            <a:r>
              <a:rPr lang="vi-VN" altLang="ko-KR" sz="950">
                <a:solidFill>
                  <a:srgbClr val="000000"/>
                </a:solidFill>
                <a:latin typeface="Arial" pitchFamily="34" charset="0"/>
                <a:ea typeface="LG Smart_H Regular" panose="020B0600000101010101" pitchFamily="34" charset="-127"/>
                <a:cs typeface="Arial" pitchFamily="34" charset="0"/>
              </a:rPr>
              <a:t>Kết quả được tạo ra trong quá trình hoạt động của </a:t>
            </a:r>
            <a:endParaRPr lang="en-US" altLang="ko-KR" sz="950">
              <a:solidFill>
                <a:srgbClr val="000000"/>
              </a:solidFill>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en-US" altLang="ko-KR" sz="950">
                <a:solidFill>
                  <a:srgbClr val="000000"/>
                </a:solidFill>
                <a:latin typeface="Arial" pitchFamily="34" charset="0"/>
                <a:ea typeface="LG Smart_H Regular" panose="020B0600000101010101" pitchFamily="34" charset="-127"/>
                <a:cs typeface="Arial" pitchFamily="34" charset="0"/>
              </a:rPr>
              <a:t>c</a:t>
            </a:r>
            <a:r>
              <a:rPr lang="vi-VN" altLang="ko-KR" sz="950">
                <a:solidFill>
                  <a:srgbClr val="000000"/>
                </a:solidFill>
                <a:latin typeface="Arial" pitchFamily="34" charset="0"/>
                <a:ea typeface="LG Smart_H Regular" panose="020B0600000101010101" pitchFamily="34" charset="-127"/>
                <a:cs typeface="Arial" pitchFamily="34" charset="0"/>
              </a:rPr>
              <a:t>hương trình chính được lưu trong vùng đầu ra.</a:t>
            </a:r>
            <a:endParaRPr lang="ko-KR" altLang="en-US" sz="950">
              <a:solidFill>
                <a:srgbClr val="000000"/>
              </a:solidFill>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en-US" altLang="ko-KR" sz="950">
                <a:solidFill>
                  <a:srgbClr val="000000"/>
                </a:solidFill>
                <a:latin typeface="Arial" pitchFamily="34" charset="0"/>
                <a:ea typeface="LG Smart_H Regular" panose="020B0600000101010101" pitchFamily="34" charset="-127"/>
                <a:cs typeface="Arial" pitchFamily="34" charset="0"/>
              </a:rPr>
              <a:t>C</a:t>
            </a:r>
            <a:r>
              <a:rPr lang="en-US" altLang="ko-KR" sz="950" smtClean="0">
                <a:solidFill>
                  <a:srgbClr val="000000"/>
                </a:solidFill>
                <a:latin typeface="Arial" pitchFamily="34" charset="0"/>
                <a:ea typeface="LG Smart_H Regular" panose="020B0600000101010101" pitchFamily="34" charset="-127"/>
                <a:cs typeface="Arial" pitchFamily="34" charset="0"/>
              </a:rPr>
              <a:t>. </a:t>
            </a:r>
            <a:r>
              <a:rPr lang="ko-KR" altLang="en-US" sz="950" smtClean="0">
                <a:solidFill>
                  <a:srgbClr val="000000"/>
                </a:solidFill>
                <a:latin typeface="Arial" pitchFamily="34" charset="0"/>
                <a:ea typeface="LG Smart_H Regular" panose="020B0600000101010101" pitchFamily="34" charset="-127"/>
                <a:cs typeface="Arial" pitchFamily="34" charset="0"/>
              </a:rPr>
              <a:t> </a:t>
            </a:r>
            <a:r>
              <a:rPr lang="vi-VN" altLang="ko-KR" sz="950">
                <a:solidFill>
                  <a:srgbClr val="000000"/>
                </a:solidFill>
                <a:latin typeface="Arial" pitchFamily="34" charset="0"/>
                <a:ea typeface="LG Smart_H Regular" panose="020B0600000101010101" pitchFamily="34" charset="-127"/>
                <a:cs typeface="Arial" pitchFamily="34" charset="0"/>
              </a:rPr>
              <a:t>Y không thể được sử dụng làm tiếp điểm  trong </a:t>
            </a:r>
            <a:endParaRPr lang="en-US" altLang="ko-KR" sz="950">
              <a:solidFill>
                <a:srgbClr val="000000"/>
              </a:solidFill>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r>
              <a:rPr lang="vi-VN" altLang="ko-KR" sz="950">
                <a:solidFill>
                  <a:srgbClr val="000000"/>
                </a:solidFill>
                <a:latin typeface="Arial" pitchFamily="34" charset="0"/>
                <a:ea typeface="LG Smart_H Regular" panose="020B0600000101010101" pitchFamily="34" charset="-127"/>
                <a:cs typeface="Arial" pitchFamily="34" charset="0"/>
              </a:rPr>
              <a:t>chương trình.</a:t>
            </a:r>
            <a:endParaRPr lang="ko-KR" altLang="en-US" sz="950">
              <a:solidFill>
                <a:srgbClr val="000000"/>
              </a:solidFill>
              <a:latin typeface="Arial" pitchFamily="34" charset="0"/>
              <a:ea typeface="LG Smart_H Regular" panose="020B0600000101010101" pitchFamily="34" charset="-127"/>
              <a:cs typeface="Arial" pitchFamily="34" charset="0"/>
            </a:endParaRPr>
          </a:p>
          <a:p>
            <a:pPr lvl="0" fontAlgn="base">
              <a:spcBef>
                <a:spcPct val="0"/>
              </a:spcBef>
              <a:spcAft>
                <a:spcPct val="0"/>
              </a:spcAft>
            </a:pPr>
            <a:r>
              <a:rPr lang="en-US" altLang="ko-KR" sz="950" smtClean="0">
                <a:solidFill>
                  <a:srgbClr val="FF0000"/>
                </a:solidFill>
                <a:latin typeface="Arial" pitchFamily="34" charset="0"/>
                <a:ea typeface="LG Smart_H Regular" panose="020B0600000101010101" pitchFamily="34" charset="-127"/>
                <a:cs typeface="Arial" pitchFamily="34" charset="0"/>
              </a:rPr>
              <a:t>D. </a:t>
            </a:r>
            <a:r>
              <a:rPr lang="ko-KR" altLang="en-US" sz="950" smtClean="0">
                <a:solidFill>
                  <a:srgbClr val="FF0000"/>
                </a:solidFill>
                <a:latin typeface="Arial" pitchFamily="34" charset="0"/>
                <a:ea typeface="LG Smart_H Regular" panose="020B0600000101010101" pitchFamily="34" charset="-127"/>
                <a:cs typeface="Arial" pitchFamily="34" charset="0"/>
              </a:rPr>
              <a:t> </a:t>
            </a:r>
            <a:r>
              <a:rPr lang="vi-VN" altLang="ko-KR" sz="950">
                <a:solidFill>
                  <a:srgbClr val="FF0000"/>
                </a:solidFill>
                <a:latin typeface="Arial" pitchFamily="34" charset="0"/>
                <a:ea typeface="LG Smart_H Regular" panose="020B0600000101010101" pitchFamily="34" charset="-127"/>
                <a:cs typeface="Arial" pitchFamily="34" charset="0"/>
              </a:rPr>
              <a:t>Là </a:t>
            </a:r>
            <a:r>
              <a:rPr lang="en-US" altLang="ko-KR" sz="950">
                <a:solidFill>
                  <a:srgbClr val="FF0000"/>
                </a:solidFill>
                <a:latin typeface="Arial" pitchFamily="34" charset="0"/>
                <a:ea typeface="LG Smart_H Regular" panose="020B0600000101010101" pitchFamily="34" charset="-127"/>
                <a:cs typeface="Arial" pitchFamily="34" charset="0"/>
              </a:rPr>
              <a:t>DEVICE</a:t>
            </a:r>
            <a:r>
              <a:rPr lang="vi-VN" altLang="ko-KR" sz="950">
                <a:solidFill>
                  <a:srgbClr val="FF0000"/>
                </a:solidFill>
                <a:latin typeface="Arial" pitchFamily="34" charset="0"/>
                <a:ea typeface="LG Smart_H Regular" panose="020B0600000101010101" pitchFamily="34" charset="-127"/>
                <a:cs typeface="Arial" pitchFamily="34" charset="0"/>
              </a:rPr>
              <a:t> lưu trữ / xuất dữ liệu đưa kết quả hoạt </a:t>
            </a:r>
            <a:endParaRPr lang="en-US" altLang="ko-KR" sz="950">
              <a:solidFill>
                <a:srgbClr val="FF0000"/>
              </a:solidFill>
              <a:latin typeface="Arial" pitchFamily="34" charset="0"/>
              <a:ea typeface="LG Smart_H Regular" panose="020B0600000101010101" pitchFamily="34" charset="-127"/>
              <a:cs typeface="Arial" pitchFamily="34" charset="0"/>
            </a:endParaRPr>
          </a:p>
          <a:p>
            <a:pPr lvl="0" fontAlgn="base">
              <a:spcBef>
                <a:spcPct val="0"/>
              </a:spcBef>
              <a:spcAft>
                <a:spcPct val="0"/>
              </a:spcAft>
            </a:pPr>
            <a:r>
              <a:rPr lang="vi-VN" altLang="ko-KR" sz="950">
                <a:solidFill>
                  <a:srgbClr val="FF0000"/>
                </a:solidFill>
                <a:latin typeface="Arial" pitchFamily="34" charset="0"/>
                <a:ea typeface="LG Smart_H Regular" panose="020B0600000101010101" pitchFamily="34" charset="-127"/>
                <a:cs typeface="Arial" pitchFamily="34" charset="0"/>
              </a:rPr>
              <a:t>động đến thiết bị đầu ra được kết nối với bộ đầu ra </a:t>
            </a:r>
            <a:endParaRPr lang="en-US" altLang="ko-KR" sz="950">
              <a:solidFill>
                <a:srgbClr val="FF0000"/>
              </a:solidFill>
              <a:latin typeface="Arial" pitchFamily="34" charset="0"/>
              <a:ea typeface="LG Smart_H Regular" panose="020B0600000101010101" pitchFamily="34" charset="-127"/>
              <a:cs typeface="Arial" pitchFamily="34" charset="0"/>
            </a:endParaRPr>
          </a:p>
          <a:p>
            <a:pPr lvl="0" fontAlgn="base">
              <a:spcBef>
                <a:spcPct val="0"/>
              </a:spcBef>
              <a:spcAft>
                <a:spcPct val="0"/>
              </a:spcAft>
            </a:pPr>
            <a:r>
              <a:rPr lang="vi-VN" altLang="ko-KR" sz="950">
                <a:solidFill>
                  <a:srgbClr val="FF0000"/>
                </a:solidFill>
                <a:latin typeface="Arial" pitchFamily="34" charset="0"/>
                <a:ea typeface="LG Smart_H Regular" panose="020B0600000101010101" pitchFamily="34" charset="-127"/>
                <a:cs typeface="Arial" pitchFamily="34" charset="0"/>
              </a:rPr>
              <a:t>PLC</a:t>
            </a:r>
            <a:endParaRPr lang="ko-KR" altLang="en-US" sz="950">
              <a:solidFill>
                <a:srgbClr val="FF0000"/>
              </a:solidFill>
              <a:latin typeface="Arial" pitchFamily="34" charset="0"/>
              <a:ea typeface="LG Smart_H Regular" panose="020B0600000101010101" pitchFamily="34" charset="-127"/>
              <a:cs typeface="Arial" pitchFamily="34" charset="0"/>
            </a:endParaRPr>
          </a:p>
          <a:p>
            <a:pPr lvl="0" fontAlgn="base">
              <a:lnSpc>
                <a:spcPct val="110000"/>
              </a:lnSpc>
              <a:spcBef>
                <a:spcPct val="0"/>
              </a:spcBef>
              <a:spcAft>
                <a:spcPct val="0"/>
              </a:spcAft>
            </a:pPr>
            <a:endParaRPr lang="ko-KR" altLang="en-US" sz="950">
              <a:solidFill>
                <a:srgbClr val="000000"/>
              </a:solidFill>
              <a:latin typeface="Arial" pitchFamily="34" charset="0"/>
              <a:ea typeface="LG Smart_H Regular" panose="020B0600000101010101" pitchFamily="34" charset="-127"/>
              <a:cs typeface="Arial" pitchFamily="34" charset="0"/>
            </a:endParaRPr>
          </a:p>
        </p:txBody>
      </p:sp>
      <p:sp>
        <p:nvSpPr>
          <p:cNvPr id="139" name="Rectangle 138"/>
          <p:cNvSpPr/>
          <p:nvPr/>
        </p:nvSpPr>
        <p:spPr>
          <a:xfrm>
            <a:off x="3414264" y="1873534"/>
            <a:ext cx="3255096" cy="969496"/>
          </a:xfrm>
          <a:prstGeom prst="rect">
            <a:avLst/>
          </a:prstGeom>
        </p:spPr>
        <p:txBody>
          <a:bodyPr wrap="square">
            <a:spAutoFit/>
          </a:bodyPr>
          <a:lstStyle/>
          <a:p>
            <a:pPr lvl="0" fontAlgn="base">
              <a:spcBef>
                <a:spcPct val="0"/>
              </a:spcBef>
              <a:spcAft>
                <a:spcPct val="0"/>
              </a:spcAft>
            </a:pPr>
            <a:r>
              <a:rPr lang="en-US" altLang="ko-KR" sz="950" smtClean="0">
                <a:solidFill>
                  <a:srgbClr val="000000"/>
                </a:solidFill>
                <a:latin typeface="Arial" pitchFamily="34" charset="0"/>
                <a:ea typeface="LG Smart_H Regular" panose="020B0600000101010101" pitchFamily="34" charset="-127"/>
                <a:cs typeface="Arial" pitchFamily="34" charset="0"/>
              </a:rPr>
              <a:t>36  </a:t>
            </a:r>
            <a:r>
              <a:rPr lang="vi-VN" altLang="ko-KR" sz="950">
                <a:solidFill>
                  <a:srgbClr val="000000"/>
                </a:solidFill>
                <a:latin typeface="Arial" pitchFamily="34" charset="0"/>
                <a:ea typeface="LG Smart_H Regular" panose="020B0600000101010101" pitchFamily="34" charset="-127"/>
                <a:cs typeface="Arial" pitchFamily="34" charset="0"/>
              </a:rPr>
              <a:t>Khi lập trình PLC Ladder thì điều gì là viết để mô tả về nội dung đặc biệt của Ladder? </a:t>
            </a:r>
            <a:endParaRPr lang="en-US" altLang="ko-KR" sz="950">
              <a:solidFill>
                <a:srgbClr val="000000"/>
              </a:solidFill>
              <a:latin typeface="Arial" pitchFamily="34" charset="0"/>
              <a:ea typeface="LG Smart_H Regular" panose="020B0600000101010101" pitchFamily="34" charset="-127"/>
              <a:cs typeface="Arial" pitchFamily="34" charset="0"/>
            </a:endParaRPr>
          </a:p>
          <a:p>
            <a:pPr marL="228600" lvl="0" indent="-228600" fontAlgn="base">
              <a:spcBef>
                <a:spcPct val="0"/>
              </a:spcBef>
              <a:spcAft>
                <a:spcPct val="0"/>
              </a:spcAft>
              <a:buFont typeface="+mj-lt"/>
              <a:buAutoNum type="alphaUcPeriod"/>
            </a:pPr>
            <a:r>
              <a:rPr lang="vi-VN" altLang="ko-KR" sz="950" smtClean="0">
                <a:solidFill>
                  <a:srgbClr val="000000"/>
                </a:solidFill>
                <a:latin typeface="Arial" pitchFamily="34" charset="0"/>
                <a:ea typeface="LG Smart_H Regular" panose="020B0600000101010101" pitchFamily="34" charset="-127"/>
                <a:cs typeface="Arial" pitchFamily="34" charset="0"/>
              </a:rPr>
              <a:t>Biên </a:t>
            </a:r>
            <a:r>
              <a:rPr lang="vi-VN" altLang="ko-KR" sz="950">
                <a:solidFill>
                  <a:srgbClr val="000000"/>
                </a:solidFill>
                <a:latin typeface="Arial" pitchFamily="34" charset="0"/>
                <a:ea typeface="LG Smart_H Regular" panose="020B0600000101010101" pitchFamily="34" charset="-127"/>
                <a:cs typeface="Arial" pitchFamily="34" charset="0"/>
              </a:rPr>
              <a:t>tập comment</a:t>
            </a:r>
            <a:endParaRPr lang="en-US" altLang="ko-KR" sz="950">
              <a:solidFill>
                <a:srgbClr val="000000"/>
              </a:solidFill>
              <a:latin typeface="Arial" pitchFamily="34" charset="0"/>
              <a:ea typeface="LG Smart_H Regular" panose="020B0600000101010101" pitchFamily="34" charset="-127"/>
              <a:cs typeface="Arial" pitchFamily="34" charset="0"/>
            </a:endParaRPr>
          </a:p>
          <a:p>
            <a:pPr marL="228600" lvl="0" indent="-228600" fontAlgn="base">
              <a:spcBef>
                <a:spcPct val="0"/>
              </a:spcBef>
              <a:spcAft>
                <a:spcPct val="0"/>
              </a:spcAft>
              <a:buFont typeface="+mj-lt"/>
              <a:buAutoNum type="alphaUcPeriod"/>
            </a:pPr>
            <a:r>
              <a:rPr lang="vi-VN" altLang="ko-KR" sz="950">
                <a:solidFill>
                  <a:srgbClr val="000000"/>
                </a:solidFill>
                <a:latin typeface="Arial" pitchFamily="34" charset="0"/>
                <a:ea typeface="LG Smart_H Regular" panose="020B0600000101010101" pitchFamily="34" charset="-127"/>
                <a:cs typeface="Arial" pitchFamily="34" charset="0"/>
              </a:rPr>
              <a:t>Biên tập note</a:t>
            </a:r>
          </a:p>
          <a:p>
            <a:pPr marL="228600" lvl="0" indent="-228600" fontAlgn="base">
              <a:spcBef>
                <a:spcPct val="0"/>
              </a:spcBef>
              <a:spcAft>
                <a:spcPct val="0"/>
              </a:spcAft>
              <a:buFont typeface="+mj-lt"/>
              <a:buAutoNum type="alphaUcPeriod"/>
            </a:pPr>
            <a:r>
              <a:rPr lang="vi-VN" altLang="ko-KR" sz="950" smtClean="0">
                <a:solidFill>
                  <a:srgbClr val="000000"/>
                </a:solidFill>
                <a:latin typeface="Arial" pitchFamily="34" charset="0"/>
                <a:ea typeface="LG Smart_H Regular" panose="020B0600000101010101" pitchFamily="34" charset="-127"/>
                <a:cs typeface="Arial" pitchFamily="34" charset="0"/>
              </a:rPr>
              <a:t>Parameter</a:t>
            </a:r>
            <a:endParaRPr lang="en-US" altLang="ko-KR" sz="950" smtClean="0">
              <a:solidFill>
                <a:srgbClr val="000000"/>
              </a:solidFill>
              <a:latin typeface="Arial" pitchFamily="34" charset="0"/>
              <a:ea typeface="LG Smart_H Regular" panose="020B0600000101010101" pitchFamily="34" charset="-127"/>
              <a:cs typeface="Arial" pitchFamily="34" charset="0"/>
            </a:endParaRPr>
          </a:p>
          <a:p>
            <a:pPr marL="228600" indent="-228600" fontAlgn="base">
              <a:spcBef>
                <a:spcPct val="0"/>
              </a:spcBef>
              <a:spcAft>
                <a:spcPct val="0"/>
              </a:spcAft>
              <a:buFont typeface="+mj-lt"/>
              <a:buAutoNum type="alphaUcPeriod"/>
            </a:pPr>
            <a:r>
              <a:rPr lang="vi-VN" altLang="ko-KR" sz="950">
                <a:solidFill>
                  <a:srgbClr val="FF0000"/>
                </a:solidFill>
                <a:latin typeface="Arial" pitchFamily="34" charset="0"/>
                <a:ea typeface="LG Smart_H Regular" panose="020B0600000101010101" pitchFamily="34" charset="-127"/>
                <a:cs typeface="Arial" pitchFamily="34" charset="0"/>
              </a:rPr>
              <a:t>Biên tập </a:t>
            </a:r>
            <a:r>
              <a:rPr lang="vi-VN" altLang="ko-KR" sz="950" smtClean="0">
                <a:solidFill>
                  <a:srgbClr val="FF0000"/>
                </a:solidFill>
                <a:latin typeface="Arial" pitchFamily="34" charset="0"/>
                <a:ea typeface="LG Smart_H Regular" panose="020B0600000101010101" pitchFamily="34" charset="-127"/>
                <a:cs typeface="Arial" pitchFamily="34" charset="0"/>
              </a:rPr>
              <a:t>statement</a:t>
            </a:r>
            <a:endParaRPr lang="en-US" altLang="ko-KR" sz="950">
              <a:solidFill>
                <a:srgbClr val="FF0000"/>
              </a:solidFill>
              <a:latin typeface="Arial" pitchFamily="34" charset="0"/>
              <a:ea typeface="LG Smart_H Regular" panose="020B0600000101010101" pitchFamily="34" charset="-127"/>
              <a:cs typeface="Arial" pitchFamily="34" charset="0"/>
            </a:endParaRPr>
          </a:p>
        </p:txBody>
      </p:sp>
    </p:spTree>
    <p:extLst>
      <p:ext uri="{BB962C8B-B14F-4D97-AF65-F5344CB8AC3E}">
        <p14:creationId xmlns:p14="http://schemas.microsoft.com/office/powerpoint/2010/main" val="420341506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5285"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dirty="0">
                <a:latin typeface="Times New Roman" pitchFamily="18" charset="0"/>
                <a:cs typeface="Times New Roman" pitchFamily="18" charset="0"/>
              </a:rPr>
              <a:t>Khí nén</a:t>
            </a:r>
            <a:r>
              <a:rPr lang="en-US" altLang="ko-KR" dirty="0">
                <a:latin typeface="Times New Roman" pitchFamily="18" charset="0"/>
                <a:cs typeface="Times New Roman" pitchFamily="18" charset="0"/>
              </a:rPr>
              <a:t>] </a:t>
            </a:r>
          </a:p>
        </p:txBody>
      </p:sp>
      <p:sp>
        <p:nvSpPr>
          <p:cNvPr id="7172" name="Rectangle 46"/>
          <p:cNvSpPr>
            <a:spLocks noChangeArrowheads="1"/>
          </p:cNvSpPr>
          <p:nvPr/>
        </p:nvSpPr>
        <p:spPr bwMode="auto">
          <a:xfrm>
            <a:off x="232792" y="764010"/>
            <a:ext cx="320890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en-US" altLang="ko-KR" sz="950" smtClean="0">
              <a:latin typeface="Times New Roman" pitchFamily="18" charset="0"/>
              <a:cs typeface="Times New Roman" pitchFamily="18" charset="0"/>
            </a:endParaRPr>
          </a:p>
          <a:p>
            <a:pPr eaLnBrk="1" fontAlgn="base" hangingPunct="1">
              <a:spcBef>
                <a:spcPct val="0"/>
              </a:spcBef>
              <a:spcAft>
                <a:spcPct val="0"/>
              </a:spcAft>
            </a:pPr>
            <a:endParaRPr lang="en-US" altLang="ko-KR" sz="950" smtClean="0">
              <a:latin typeface="Times New Roman" pitchFamily="18" charset="0"/>
              <a:cs typeface="Times New Roman" pitchFamily="18" charset="0"/>
            </a:endParaRPr>
          </a:p>
        </p:txBody>
      </p:sp>
      <p:sp>
        <p:nvSpPr>
          <p:cNvPr id="7173" name="Rectangle 47"/>
          <p:cNvSpPr>
            <a:spLocks noChangeArrowheads="1"/>
          </p:cNvSpPr>
          <p:nvPr/>
        </p:nvSpPr>
        <p:spPr bwMode="auto">
          <a:xfrm>
            <a:off x="3441700" y="769247"/>
            <a:ext cx="3183379"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latin typeface="Times New Roman" pitchFamily="18" charset="0"/>
              <a:cs typeface="Times New Roman" pitchFamily="18" charset="0"/>
            </a:endParaRPr>
          </a:p>
        </p:txBody>
      </p:sp>
      <p:sp>
        <p:nvSpPr>
          <p:cNvPr id="7174" name="Text Box 48"/>
          <p:cNvSpPr txBox="1">
            <a:spLocks noChangeArrowheads="1"/>
          </p:cNvSpPr>
          <p:nvPr/>
        </p:nvSpPr>
        <p:spPr bwMode="auto">
          <a:xfrm>
            <a:off x="270227" y="817563"/>
            <a:ext cx="1646605"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Khí nén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41</a:t>
            </a:r>
            <a:r>
              <a:rPr lang="ko-KR" altLang="en-US" sz="950" b="1" dirty="0" smtClean="0">
                <a:latin typeface="Times New Roman" pitchFamily="18" charset="0"/>
                <a:cs typeface="Times New Roman" pitchFamily="18" charset="0"/>
              </a:rPr>
              <a:t> </a:t>
            </a:r>
            <a:r>
              <a:rPr lang="en-US" altLang="ko-KR" sz="950" b="1" dirty="0" smtClean="0">
                <a:latin typeface="Times New Roman" pitchFamily="18" charset="0"/>
                <a:cs typeface="Times New Roman" pitchFamily="18" charset="0"/>
              </a:rPr>
              <a:t>~ </a:t>
            </a:r>
            <a:r>
              <a:rPr lang="vi-VN" altLang="ko-KR" sz="950" b="1" dirty="0" smtClean="0">
                <a:latin typeface="Times New Roman" pitchFamily="18" charset="0"/>
                <a:cs typeface="Times New Roman" pitchFamily="18" charset="0"/>
              </a:rPr>
              <a:t>câu </a:t>
            </a:r>
            <a:r>
              <a:rPr lang="en-US" altLang="ko-KR" sz="950" b="1" dirty="0" smtClean="0">
                <a:latin typeface="Times New Roman" pitchFamily="18" charset="0"/>
                <a:cs typeface="Times New Roman" pitchFamily="18" charset="0"/>
              </a:rPr>
              <a:t>60</a:t>
            </a:r>
            <a:endParaRPr lang="ko-KR" altLang="en-US" sz="950" b="1" dirty="0" smtClean="0">
              <a:latin typeface="Times New Roman" pitchFamily="18" charset="0"/>
              <a:cs typeface="Times New Roman" pitchFamily="18" charset="0"/>
            </a:endParaRPr>
          </a:p>
        </p:txBody>
      </p:sp>
      <p:sp>
        <p:nvSpPr>
          <p:cNvPr id="28" name="Rectangle 7"/>
          <p:cNvSpPr>
            <a:spLocks noChangeArrowheads="1"/>
          </p:cNvSpPr>
          <p:nvPr/>
        </p:nvSpPr>
        <p:spPr bwMode="auto">
          <a:xfrm>
            <a:off x="232792" y="476905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43. </a:t>
            </a:r>
            <a:r>
              <a:rPr lang="vi-VN" altLang="ko-KR" sz="950">
                <a:latin typeface="Times New Roman" pitchFamily="18" charset="0"/>
                <a:ea typeface="LG Smart_H Regular" panose="020B0600000101010101" pitchFamily="34" charset="-127"/>
                <a:cs typeface="Times New Roman" pitchFamily="18" charset="0"/>
              </a:rPr>
              <a:t>Không khí khí quyển là một dạng vật chất; do có khối lượng nên chịu ảnh hưởng của lực hút trái đất,áp suất khí quyển là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1.033kgf /1㎠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10.33kgf /1㎠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103.3kgf /1㎠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1033kgf /1㎠ </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53" name="Rectangle 7"/>
          <p:cNvSpPr>
            <a:spLocks noChangeArrowheads="1"/>
          </p:cNvSpPr>
          <p:nvPr/>
        </p:nvSpPr>
        <p:spPr bwMode="auto">
          <a:xfrm>
            <a:off x="3457922" y="8015952"/>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50. </a:t>
            </a:r>
            <a:r>
              <a:rPr lang="vi-VN" altLang="ko-KR" sz="950">
                <a:latin typeface="Times New Roman" pitchFamily="18" charset="0"/>
                <a:ea typeface="LG Smart_H Regular" panose="020B0600000101010101" pitchFamily="34" charset="-127"/>
                <a:cs typeface="Times New Roman" pitchFamily="18" charset="0"/>
              </a:rPr>
              <a:t>Relay có những tính năng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Tính năng phân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chia,</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khếch đại,</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biến đổi.</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phân </a:t>
            </a:r>
            <a:r>
              <a:rPr lang="vi-VN" altLang="ko-KR" sz="950" smtClean="0">
                <a:latin typeface="Times New Roman" pitchFamily="18" charset="0"/>
                <a:ea typeface="LG Smart_H Regular" panose="020B0600000101010101" pitchFamily="34" charset="-127"/>
                <a:cs typeface="Times New Roman" pitchFamily="18" charset="0"/>
              </a:rPr>
              <a:t>tách,</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khếch đại,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biến đổi,</a:t>
            </a:r>
            <a:r>
              <a:rPr lang="en-US" altLang="ko-KR" sz="95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ghi nhớ.</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khếch </a:t>
            </a:r>
            <a:r>
              <a:rPr lang="vi-VN" altLang="ko-KR" sz="950" smtClean="0">
                <a:latin typeface="Times New Roman" pitchFamily="18" charset="0"/>
                <a:ea typeface="LG Smart_H Regular" panose="020B0600000101010101" pitchFamily="34" charset="-127"/>
                <a:cs typeface="Times New Roman" pitchFamily="18" charset="0"/>
              </a:rPr>
              <a:t>đại,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biến thiên,</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ghi nhớ.</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năng phân </a:t>
            </a:r>
            <a:r>
              <a:rPr lang="vi-VN" altLang="ko-KR" sz="950" smtClean="0">
                <a:latin typeface="Times New Roman" pitchFamily="18" charset="0"/>
                <a:ea typeface="LG Smart_H Regular" panose="020B0600000101010101" pitchFamily="34" charset="-127"/>
                <a:cs typeface="Times New Roman" pitchFamily="18" charset="0"/>
              </a:rPr>
              <a:t>tách,</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khếch đại,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biến thiên,</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ghi </a:t>
            </a:r>
            <a:r>
              <a:rPr lang="vi-VN" altLang="ko-KR" sz="950">
                <a:latin typeface="Times New Roman" pitchFamily="18" charset="0"/>
                <a:ea typeface="LG Smart_H Regular" panose="020B0600000101010101" pitchFamily="34" charset="-127"/>
                <a:cs typeface="Times New Roman" pitchFamily="18" charset="0"/>
              </a:rPr>
              <a:t>nhớ.</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4" name="Group 3"/>
          <p:cNvGrpSpPr/>
          <p:nvPr/>
        </p:nvGrpSpPr>
        <p:grpSpPr>
          <a:xfrm>
            <a:off x="206479" y="1064568"/>
            <a:ext cx="3239810" cy="1554272"/>
            <a:chOff x="206479" y="1064568"/>
            <a:chExt cx="3239810" cy="1554272"/>
          </a:xfrm>
        </p:grpSpPr>
        <p:sp>
          <p:nvSpPr>
            <p:cNvPr id="25" name="Rectangle 7"/>
            <p:cNvSpPr>
              <a:spLocks noChangeArrowheads="1"/>
            </p:cNvSpPr>
            <p:nvPr/>
          </p:nvSpPr>
          <p:spPr bwMode="auto">
            <a:xfrm>
              <a:off x="206479" y="1064568"/>
              <a:ext cx="3239810"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41. Điền </a:t>
              </a:r>
              <a:r>
                <a:rPr lang="en-US" altLang="ko-KR" sz="950">
                  <a:latin typeface="Times New Roman" pitchFamily="18" charset="0"/>
                  <a:ea typeface="LG Smart_H Regular" panose="020B0600000101010101" pitchFamily="34" charset="-127"/>
                  <a:cs typeface="Times New Roman" pitchFamily="18" charset="0"/>
                </a:rPr>
                <a:t>vào chỗ </a:t>
              </a:r>
              <a:r>
                <a:rPr lang="en-US" altLang="ko-KR" sz="950" smtClean="0">
                  <a:latin typeface="Times New Roman" pitchFamily="18" charset="0"/>
                  <a:ea typeface="LG Smart_H Regular" panose="020B0600000101010101" pitchFamily="34" charset="-127"/>
                  <a:cs typeface="Times New Roman" pitchFamily="18" charset="0"/>
                </a:rPr>
                <a:t> ?????  Trong </a:t>
              </a:r>
              <a:r>
                <a:rPr lang="en-US" altLang="ko-KR" sz="950">
                  <a:latin typeface="Times New Roman" pitchFamily="18" charset="0"/>
                  <a:ea typeface="LG Smart_H Regular" panose="020B0600000101010101" pitchFamily="34" charset="-127"/>
                  <a:cs typeface="Times New Roman" pitchFamily="18" charset="0"/>
                </a:rPr>
                <a:t>hình </a:t>
              </a:r>
              <a:r>
                <a:rPr lang="en-US" altLang="ko-KR" sz="950" smtClean="0">
                  <a:latin typeface="Times New Roman" pitchFamily="18" charset="0"/>
                  <a:ea typeface="LG Smart_H Regular" panose="020B0600000101010101" pitchFamily="34" charset="-127"/>
                  <a:cs typeface="Times New Roman" pitchFamily="18" charset="0"/>
                </a:rPr>
                <a:t>là</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Regulator </a:t>
              </a:r>
              <a:r>
                <a:rPr lang="vi-VN" altLang="ko-KR" sz="950" smtClean="0">
                  <a:latin typeface="Times New Roman" pitchFamily="18" charset="0"/>
                  <a:ea typeface="LG Smart_H Regular" panose="020B0600000101010101" pitchFamily="34" charset="-127"/>
                  <a:cs typeface="Times New Roman" pitchFamily="18" charset="0"/>
                </a:rPr>
                <a:t>pressure</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Filter</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Lubricator</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Service unit</a:t>
              </a:r>
            </a:p>
          </p:txBody>
        </p:sp>
        <p:pic>
          <p:nvPicPr>
            <p:cNvPr id="31" name="Picture 30"/>
            <p:cNvPicPr>
              <a:picLocks noChangeAspect="1"/>
            </p:cNvPicPr>
            <p:nvPr/>
          </p:nvPicPr>
          <p:blipFill>
            <a:blip r:embed="rId3"/>
            <a:stretch>
              <a:fillRect/>
            </a:stretch>
          </p:blipFill>
          <p:spPr>
            <a:xfrm>
              <a:off x="1052736" y="1281577"/>
              <a:ext cx="1879093" cy="725942"/>
            </a:xfrm>
            <a:prstGeom prst="rect">
              <a:avLst/>
            </a:prstGeom>
          </p:spPr>
        </p:pic>
      </p:grpSp>
      <p:grpSp>
        <p:nvGrpSpPr>
          <p:cNvPr id="6" name="Group 5"/>
          <p:cNvGrpSpPr/>
          <p:nvPr/>
        </p:nvGrpSpPr>
        <p:grpSpPr>
          <a:xfrm>
            <a:off x="259544" y="6215752"/>
            <a:ext cx="3180502" cy="969496"/>
            <a:chOff x="259544" y="6211396"/>
            <a:chExt cx="3180502" cy="969496"/>
          </a:xfrm>
        </p:grpSpPr>
        <p:sp>
          <p:nvSpPr>
            <p:cNvPr id="30" name="Rectangle 7"/>
            <p:cNvSpPr>
              <a:spLocks noChangeArrowheads="1"/>
            </p:cNvSpPr>
            <p:nvPr/>
          </p:nvSpPr>
          <p:spPr bwMode="auto">
            <a:xfrm>
              <a:off x="259544" y="621139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44. </a:t>
              </a:r>
              <a:r>
                <a:rPr lang="vi-VN" altLang="ko-KR" sz="950">
                  <a:latin typeface="Times New Roman" pitchFamily="18" charset="0"/>
                  <a:ea typeface="LG Smart_H Regular" panose="020B0600000101010101" pitchFamily="34" charset="-127"/>
                  <a:cs typeface="Times New Roman" pitchFamily="18" charset="0"/>
                </a:rPr>
                <a:t>Kí hiệu hình dưới đây của bộ lọc tương ứng với phương thức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Phương thức lọc trong+ngoài.</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a:t>
              </a:r>
              <a:r>
                <a:rPr lang="vi-VN" altLang="ko-KR" sz="950" smtClean="0">
                  <a:latin typeface="Times New Roman" pitchFamily="18" charset="0"/>
                  <a:ea typeface="LG Smart_H Regular" panose="020B0600000101010101" pitchFamily="34" charset="-127"/>
                  <a:cs typeface="Times New Roman" pitchFamily="18" charset="0"/>
                </a:rPr>
                <a:t>trong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cơ </a:t>
              </a:r>
              <a:r>
                <a:rPr lang="vi-VN" altLang="ko-KR" sz="950" smtClean="0">
                  <a:latin typeface="Times New Roman" pitchFamily="18" charset="0"/>
                  <a:ea typeface="LG Smart_H Regular" panose="020B0600000101010101" pitchFamily="34" charset="-127"/>
                  <a:cs typeface="Times New Roman" pitchFamily="18" charset="0"/>
                </a:rPr>
                <a:t>bản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Phương thức lọc ngoài</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41" name="Picture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35453" y="6537176"/>
              <a:ext cx="1077523" cy="5377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42" name="Rectangle 7"/>
          <p:cNvSpPr>
            <a:spLocks noChangeArrowheads="1"/>
          </p:cNvSpPr>
          <p:nvPr/>
        </p:nvSpPr>
        <p:spPr bwMode="auto">
          <a:xfrm>
            <a:off x="243036" y="786464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45. </a:t>
            </a:r>
            <a:r>
              <a:rPr lang="vi-VN" altLang="ko-KR" sz="950">
                <a:latin typeface="Times New Roman" pitchFamily="18" charset="0"/>
                <a:ea typeface="LG Smart_H Regular" panose="020B0600000101010101" pitchFamily="34" charset="-127"/>
                <a:cs typeface="Times New Roman" pitchFamily="18" charset="0"/>
              </a:rPr>
              <a:t>Filter là thiết bị xử lý các tín hiệu nhiễu loạn có trong thành phần khí nén trong đó có bụi.Bộ lọc chính xác có thể loại bỏ hạt bụi có đường kính bao </a:t>
            </a:r>
            <a:r>
              <a:rPr lang="vi-VN" altLang="ko-KR" sz="950" smtClean="0">
                <a:latin typeface="Times New Roman" pitchFamily="18" charset="0"/>
                <a:ea typeface="LG Smart_H Regular" panose="020B0600000101010101" pitchFamily="34" charset="-127"/>
                <a:cs typeface="Times New Roman" pitchFamily="18" charset="0"/>
              </a:rPr>
              <a:t>nhiêu?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Trên </a:t>
            </a:r>
            <a:r>
              <a:rPr lang="vi-VN" altLang="ko-KR" sz="950" smtClean="0">
                <a:latin typeface="Times New Roman" pitchFamily="18" charset="0"/>
                <a:ea typeface="LG Smart_H Regular" panose="020B0600000101010101" pitchFamily="34" charset="-127"/>
                <a:cs typeface="Times New Roman" pitchFamily="18" charset="0"/>
              </a:rPr>
              <a:t>50um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latin typeface="Times New Roman" pitchFamily="18" charset="0"/>
                <a:ea typeface="LG Smart_H Regular" panose="020B0600000101010101" pitchFamily="34" charset="-127"/>
                <a:cs typeface="Times New Roman" pitchFamily="18" charset="0"/>
              </a:rPr>
              <a:t>30um~45um</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5um~20um</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D</a:t>
            </a:r>
            <a:r>
              <a:rPr lang="vi-VN" altLang="ko-KR" sz="950" smtClean="0">
                <a:latin typeface="Times New Roman" pitchFamily="18" charset="0"/>
                <a:ea typeface="LG Smart_H Regular" panose="020B0600000101010101" pitchFamily="34" charset="-127"/>
                <a:cs typeface="Times New Roman" pitchFamily="18" charset="0"/>
              </a:rPr>
              <a:t>ưới </a:t>
            </a:r>
            <a:r>
              <a:rPr lang="vi-VN" altLang="ko-KR" sz="950">
                <a:latin typeface="Times New Roman" pitchFamily="18" charset="0"/>
                <a:ea typeface="LG Smart_H Regular" panose="020B0600000101010101" pitchFamily="34" charset="-127"/>
                <a:cs typeface="Times New Roman" pitchFamily="18" charset="0"/>
              </a:rPr>
              <a:t>5um</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9" name="Group 8"/>
          <p:cNvGrpSpPr/>
          <p:nvPr/>
        </p:nvGrpSpPr>
        <p:grpSpPr>
          <a:xfrm>
            <a:off x="3473132" y="1092294"/>
            <a:ext cx="3180502" cy="1700466"/>
            <a:chOff x="3473132" y="1096650"/>
            <a:chExt cx="3180502" cy="1700466"/>
          </a:xfrm>
        </p:grpSpPr>
        <p:sp>
          <p:nvSpPr>
            <p:cNvPr id="46" name="Rectangle 7"/>
            <p:cNvSpPr>
              <a:spLocks noChangeArrowheads="1"/>
            </p:cNvSpPr>
            <p:nvPr/>
          </p:nvSpPr>
          <p:spPr bwMode="auto">
            <a:xfrm>
              <a:off x="3473132" y="1096650"/>
              <a:ext cx="3180502"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46. </a:t>
              </a:r>
              <a:r>
                <a:rPr lang="vi-VN" altLang="ko-KR" sz="950">
                  <a:latin typeface="Times New Roman" pitchFamily="18" charset="0"/>
                  <a:ea typeface="LG Smart_H Regular" panose="020B0600000101010101" pitchFamily="34" charset="-127"/>
                  <a:cs typeface="Times New Roman" pitchFamily="18" charset="0"/>
                </a:rPr>
                <a:t>Điền vào dấu </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Vòng giảm </a:t>
              </a:r>
              <a:r>
                <a:rPr lang="vi-VN" altLang="ko-KR" sz="950" smtClean="0">
                  <a:latin typeface="Times New Roman" pitchFamily="18" charset="0"/>
                  <a:ea typeface="LG Smart_H Regular" panose="020B0600000101010101" pitchFamily="34" charset="-127"/>
                  <a:cs typeface="Times New Roman" pitchFamily="18" charset="0"/>
                </a:rPr>
                <a:t>chấn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Đệm giảm </a:t>
              </a:r>
              <a:r>
                <a:rPr lang="vi-VN" altLang="ko-KR" sz="950" smtClean="0">
                  <a:latin typeface="Times New Roman" pitchFamily="18" charset="0"/>
                  <a:ea typeface="LG Smart_H Regular" panose="020B0600000101010101" pitchFamily="34" charset="-127"/>
                  <a:cs typeface="Times New Roman" pitchFamily="18" charset="0"/>
                </a:rPr>
                <a:t>chấn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Rod </a:t>
              </a:r>
              <a:r>
                <a:rPr lang="vi-VN" altLang="ko-KR" sz="950" smtClean="0">
                  <a:latin typeface="Times New Roman" pitchFamily="18" charset="0"/>
                  <a:ea typeface="LG Smart_H Regular" panose="020B0600000101010101" pitchFamily="34" charset="-127"/>
                  <a:cs typeface="Times New Roman" pitchFamily="18" charset="0"/>
                </a:rPr>
                <a:t>cover</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Vòng làm kín</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pic>
          <p:nvPicPr>
            <p:cNvPr id="43" name="Picture 42"/>
            <p:cNvPicPr>
              <a:picLocks noChangeAspect="1"/>
            </p:cNvPicPr>
            <p:nvPr/>
          </p:nvPicPr>
          <p:blipFill>
            <a:blip r:embed="rId5"/>
            <a:stretch>
              <a:fillRect/>
            </a:stretch>
          </p:blipFill>
          <p:spPr>
            <a:xfrm>
              <a:off x="3819992" y="1299680"/>
              <a:ext cx="2175069" cy="804530"/>
            </a:xfrm>
            <a:prstGeom prst="rect">
              <a:avLst/>
            </a:prstGeom>
          </p:spPr>
        </p:pic>
        <p:sp>
          <p:nvSpPr>
            <p:cNvPr id="7" name="Rectangle 6"/>
            <p:cNvSpPr/>
            <p:nvPr/>
          </p:nvSpPr>
          <p:spPr bwMode="auto">
            <a:xfrm>
              <a:off x="4907526" y="1946883"/>
              <a:ext cx="353090" cy="197805"/>
            </a:xfrm>
            <a:prstGeom prst="rect">
              <a:avLst/>
            </a:prstGeom>
            <a:solidFill>
              <a:schemeClr val="bg1"/>
            </a:solidFill>
            <a:ln w="3175" cap="flat" cmpd="sng" algn="ctr">
              <a:solidFill>
                <a:schemeClr val="tx1"/>
              </a:solidFill>
              <a:prstDash val="solid"/>
              <a:round/>
              <a:headEnd type="none" w="med" len="med"/>
              <a:tailEnd type="none" w="med" len="med"/>
            </a:ln>
            <a:effectLst/>
            <a:ex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r>
                <a:rPr kumimoji="1" lang="en-US" sz="900" b="0" i="0" u="none" strike="noStrike" cap="none" normalizeH="0" baseline="0" smtClean="0">
                  <a:ln>
                    <a:noFill/>
                  </a:ln>
                  <a:solidFill>
                    <a:schemeClr val="tx1"/>
                  </a:solidFill>
                  <a:effectLst/>
                  <a:latin typeface="Arial" charset="0"/>
                  <a:ea typeface="돋움" pitchFamily="50" charset="-127"/>
                </a:rPr>
                <a:t>???</a:t>
              </a:r>
            </a:p>
          </p:txBody>
        </p:sp>
      </p:grpSp>
      <p:grpSp>
        <p:nvGrpSpPr>
          <p:cNvPr id="10" name="Group 9"/>
          <p:cNvGrpSpPr/>
          <p:nvPr/>
        </p:nvGrpSpPr>
        <p:grpSpPr>
          <a:xfrm>
            <a:off x="3468850" y="2864768"/>
            <a:ext cx="3180502" cy="1471032"/>
            <a:chOff x="3468850" y="2864768"/>
            <a:chExt cx="3180502" cy="1471032"/>
          </a:xfrm>
        </p:grpSpPr>
        <p:sp>
          <p:nvSpPr>
            <p:cNvPr id="50" name="Rectangle 7"/>
            <p:cNvSpPr>
              <a:spLocks noChangeArrowheads="1"/>
            </p:cNvSpPr>
            <p:nvPr/>
          </p:nvSpPr>
          <p:spPr bwMode="auto">
            <a:xfrm>
              <a:off x="3468850" y="2864768"/>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47. </a:t>
              </a:r>
              <a:r>
                <a:rPr lang="vi-VN" altLang="ko-KR" sz="950" smtClean="0">
                  <a:latin typeface="Times New Roman" pitchFamily="18" charset="0"/>
                  <a:ea typeface="LG Smart_H Regular" panose="020B0600000101010101" pitchFamily="34" charset="-127"/>
                  <a:cs typeface="Times New Roman" pitchFamily="18" charset="0"/>
                </a:rPr>
                <a:t>Dùng </a:t>
              </a:r>
              <a:r>
                <a:rPr lang="vi-VN" altLang="ko-KR" sz="950">
                  <a:latin typeface="Times New Roman" pitchFamily="18" charset="0"/>
                  <a:ea typeface="LG Smart_H Regular" panose="020B0600000101010101" pitchFamily="34" charset="-127"/>
                  <a:cs typeface="Times New Roman" pitchFamily="18" charset="0"/>
                </a:rPr>
                <a:t>trong trường hợp tải rung hay có khả năng sẽ rung trong mặt phẳng, cho dù là sẽ chuyển động theo đường thẳng. Đâu không phải kiểu </a:t>
              </a:r>
              <a:r>
                <a:rPr lang="vi-VN" altLang="ko-KR" sz="950" smtClean="0">
                  <a:latin typeface="Times New Roman" pitchFamily="18" charset="0"/>
                  <a:ea typeface="LG Smart_H Regular" panose="020B0600000101010101" pitchFamily="34" charset="-127"/>
                  <a:cs typeface="Times New Roman" pitchFamily="18" charset="0"/>
                </a:rPr>
                <a:t>trunnion)?</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C.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D</a:t>
              </a:r>
              <a:r>
                <a:rPr lang="en-US" altLang="ko-KR" sz="950" smtClean="0">
                  <a:latin typeface="Times New Roman" pitchFamily="18" charset="0"/>
                  <a:ea typeface="LG Smart_H Regular" panose="020B0600000101010101" pitchFamily="34" charset="-127"/>
                  <a:cs typeface="Times New Roman" pitchFamily="18" charset="0"/>
                </a:rPr>
                <a:t>.</a:t>
              </a:r>
            </a:p>
          </p:txBody>
        </p:sp>
        <p:pic>
          <p:nvPicPr>
            <p:cNvPr id="47" name="Picture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19817" y="3990608"/>
              <a:ext cx="630686" cy="345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7" name="Picture 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32652" y="3492908"/>
              <a:ext cx="576467" cy="3473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8" name="Picture 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45224" y="3481842"/>
              <a:ext cx="605279" cy="358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9" name="Picture 5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12252" y="3968360"/>
              <a:ext cx="565599" cy="318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2" name="Group 11"/>
          <p:cNvGrpSpPr/>
          <p:nvPr/>
        </p:nvGrpSpPr>
        <p:grpSpPr>
          <a:xfrm>
            <a:off x="3449538" y="4991616"/>
            <a:ext cx="3180502" cy="969496"/>
            <a:chOff x="3449538" y="4991616"/>
            <a:chExt cx="3180502" cy="969496"/>
          </a:xfrm>
        </p:grpSpPr>
        <p:sp>
          <p:nvSpPr>
            <p:cNvPr id="51" name="Rectangle 7"/>
            <p:cNvSpPr>
              <a:spLocks noChangeArrowheads="1"/>
            </p:cNvSpPr>
            <p:nvPr/>
          </p:nvSpPr>
          <p:spPr bwMode="auto">
            <a:xfrm>
              <a:off x="3449538" y="4991616"/>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48. </a:t>
              </a:r>
              <a:r>
                <a:rPr lang="vi-VN" altLang="ko-KR" sz="950">
                  <a:latin typeface="Times New Roman" pitchFamily="18" charset="0"/>
                  <a:ea typeface="LG Smart_H Regular" panose="020B0600000101010101" pitchFamily="34" charset="-127"/>
                  <a:cs typeface="Times New Roman" pitchFamily="18" charset="0"/>
                </a:rPr>
                <a:t>Đây là ký hiệu của van </a:t>
              </a:r>
              <a:r>
                <a:rPr lang="vi-VN" altLang="ko-KR" sz="950" smtClean="0">
                  <a:latin typeface="Times New Roman" pitchFamily="18" charset="0"/>
                  <a:ea typeface="LG Smart_H Regular" panose="020B0600000101010101" pitchFamily="34" charset="-127"/>
                  <a:cs typeface="Times New Roman" pitchFamily="18" charset="0"/>
                </a:rPr>
                <a:t>gì?</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kiểm </a:t>
              </a:r>
              <a:r>
                <a:rPr lang="vi-VN" altLang="ko-KR" sz="950" smtClean="0">
                  <a:latin typeface="Times New Roman" pitchFamily="18" charset="0"/>
                  <a:ea typeface="LG Smart_H Regular" panose="020B0600000101010101" pitchFamily="34" charset="-127"/>
                  <a:cs typeface="Times New Roman" pitchFamily="18" charset="0"/>
                </a:rPr>
                <a:t>tra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Van điều khiển tốc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độ</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Van tiết </a:t>
              </a:r>
              <a:r>
                <a:rPr lang="vi-VN" altLang="ko-KR" sz="950" smtClean="0">
                  <a:latin typeface="Times New Roman" pitchFamily="18" charset="0"/>
                  <a:ea typeface="LG Smart_H Regular" panose="020B0600000101010101" pitchFamily="34" charset="-127"/>
                  <a:cs typeface="Times New Roman" pitchFamily="18" charset="0"/>
                </a:rPr>
                <a:t>lưu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Van relief</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1026" name="Picture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85184" y="5279485"/>
              <a:ext cx="1089694" cy="6096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3" name="Group 12"/>
          <p:cNvGrpSpPr/>
          <p:nvPr/>
        </p:nvGrpSpPr>
        <p:grpSpPr>
          <a:xfrm>
            <a:off x="3473132" y="6357590"/>
            <a:ext cx="3180502" cy="1554272"/>
            <a:chOff x="3473132" y="6357590"/>
            <a:chExt cx="3180502" cy="1554272"/>
          </a:xfrm>
        </p:grpSpPr>
        <p:sp>
          <p:nvSpPr>
            <p:cNvPr id="52" name="Rectangle 7"/>
            <p:cNvSpPr>
              <a:spLocks noChangeArrowheads="1"/>
            </p:cNvSpPr>
            <p:nvPr/>
          </p:nvSpPr>
          <p:spPr bwMode="auto">
            <a:xfrm>
              <a:off x="3473132" y="6357590"/>
              <a:ext cx="3180502"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49. </a:t>
              </a:r>
              <a:r>
                <a:rPr lang="vi-VN" altLang="ko-KR" sz="950">
                  <a:latin typeface="Times New Roman" pitchFamily="18" charset="0"/>
                  <a:ea typeface="LG Smart_H Regular" panose="020B0600000101010101" pitchFamily="34" charset="-127"/>
                  <a:cs typeface="Times New Roman" pitchFamily="18" charset="0"/>
                </a:rPr>
                <a:t>Đâu là gải thích ký hiệu sai về van điều khiển </a:t>
              </a:r>
              <a:r>
                <a:rPr lang="vi-VN" altLang="ko-KR" sz="950" smtClean="0">
                  <a:latin typeface="Times New Roman" pitchFamily="18" charset="0"/>
                  <a:ea typeface="LG Smart_H Regular" panose="020B0600000101010101" pitchFamily="34" charset="-127"/>
                  <a:cs typeface="Times New Roman" pitchFamily="18" charset="0"/>
                </a:rPr>
                <a:t>hướng?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Số ô vuông là số vị trí điều khiển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K</a:t>
              </a:r>
              <a:r>
                <a:rPr lang="vi-VN" altLang="ko-KR" sz="950" smtClean="0">
                  <a:latin typeface="Times New Roman" pitchFamily="18" charset="0"/>
                  <a:ea typeface="LG Smart_H Regular" panose="020B0600000101010101" pitchFamily="34" charset="-127"/>
                  <a:cs typeface="Times New Roman" pitchFamily="18" charset="0"/>
                </a:rPr>
                <a:t>ý </a:t>
              </a:r>
              <a:r>
                <a:rPr lang="vi-VN" altLang="ko-KR" sz="950">
                  <a:latin typeface="Times New Roman" pitchFamily="18" charset="0"/>
                  <a:ea typeface="LG Smart_H Regular" panose="020B0600000101010101" pitchFamily="34" charset="-127"/>
                  <a:cs typeface="Times New Roman" pitchFamily="18" charset="0"/>
                </a:rPr>
                <a:t>hiệu T là dòng chảy bị ngắt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Đường thẳng thể hiện hướng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chảy</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Cửa van </a:t>
              </a:r>
              <a:r>
                <a:rPr lang="en-US" altLang="ko-KR" sz="950" smtClean="0">
                  <a:latin typeface="Times New Roman" pitchFamily="18" charset="0"/>
                  <a:ea typeface="LG Smart_H Regular" panose="020B0600000101010101" pitchFamily="34" charset="-127"/>
                  <a:cs typeface="Times New Roman" pitchFamily="18" charset="0"/>
                </a:rPr>
                <a:t>bằng</a:t>
              </a:r>
              <a:r>
                <a:rPr lang="vi-VN" altLang="ko-KR" sz="950" smtClean="0">
                  <a:latin typeface="Times New Roman" pitchFamily="18" charset="0"/>
                  <a:ea typeface="LG Smart_H Regular" panose="020B0600000101010101" pitchFamily="34" charset="-127"/>
                  <a:cs typeface="Times New Roman" pitchFamily="18" charset="0"/>
                </a:rPr>
                <a:t> </a:t>
              </a:r>
              <a:r>
                <a:rPr lang="vi-VN" altLang="ko-KR" sz="950">
                  <a:latin typeface="Times New Roman" pitchFamily="18" charset="0"/>
                  <a:ea typeface="LG Smart_H Regular" panose="020B0600000101010101" pitchFamily="34" charset="-127"/>
                  <a:cs typeface="Times New Roman" pitchFamily="18" charset="0"/>
                </a:rPr>
                <a:t>vạch ngắn </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a:latin typeface="Times New Roman" pitchFamily="18" charset="0"/>
                  <a:ea typeface="LG Smart_H Regular" panose="020B0600000101010101" pitchFamily="34" charset="-127"/>
                  <a:cs typeface="Times New Roman" pitchFamily="18" charset="0"/>
                </a:rPr>
                <a:t> </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bên </a:t>
              </a:r>
              <a:r>
                <a:rPr lang="vi-VN" altLang="ko-KR" sz="950">
                  <a:latin typeface="Times New Roman" pitchFamily="18" charset="0"/>
                  <a:ea typeface="LG Smart_H Regular" panose="020B0600000101010101" pitchFamily="34" charset="-127"/>
                  <a:cs typeface="Times New Roman" pitchFamily="18" charset="0"/>
                </a:rPr>
                <a:t>ngoài hình vuông</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61" name="Picture 60"/>
            <p:cNvPicPr>
              <a:picLocks noChangeAspect="1"/>
            </p:cNvPicPr>
            <p:nvPr/>
          </p:nvPicPr>
          <p:blipFill>
            <a:blip r:embed="rId11"/>
            <a:stretch>
              <a:fillRect/>
            </a:stretch>
          </p:blipFill>
          <p:spPr>
            <a:xfrm>
              <a:off x="5630031" y="6611358"/>
              <a:ext cx="607281" cy="204101"/>
            </a:xfrm>
            <a:prstGeom prst="rect">
              <a:avLst/>
            </a:prstGeom>
          </p:spPr>
        </p:pic>
        <p:pic>
          <p:nvPicPr>
            <p:cNvPr id="62" name="Picture 61"/>
            <p:cNvPicPr>
              <a:picLocks noChangeAspect="1"/>
            </p:cNvPicPr>
            <p:nvPr/>
          </p:nvPicPr>
          <p:blipFill>
            <a:blip r:embed="rId12"/>
            <a:stretch>
              <a:fillRect/>
            </a:stretch>
          </p:blipFill>
          <p:spPr>
            <a:xfrm>
              <a:off x="5652885" y="7257256"/>
              <a:ext cx="584427" cy="184329"/>
            </a:xfrm>
            <a:prstGeom prst="rect">
              <a:avLst/>
            </a:prstGeom>
          </p:spPr>
        </p:pic>
        <p:pic>
          <p:nvPicPr>
            <p:cNvPr id="63" name="Picture 62"/>
            <p:cNvPicPr>
              <a:picLocks noChangeAspect="1"/>
            </p:cNvPicPr>
            <p:nvPr/>
          </p:nvPicPr>
          <p:blipFill>
            <a:blip r:embed="rId13"/>
            <a:stretch>
              <a:fillRect/>
            </a:stretch>
          </p:blipFill>
          <p:spPr>
            <a:xfrm>
              <a:off x="5630031" y="6897217"/>
              <a:ext cx="607282" cy="237510"/>
            </a:xfrm>
            <a:prstGeom prst="rect">
              <a:avLst/>
            </a:prstGeom>
          </p:spPr>
        </p:pic>
        <p:pic>
          <p:nvPicPr>
            <p:cNvPr id="64" name="Picture 63"/>
            <p:cNvPicPr>
              <a:picLocks noChangeAspect="1"/>
            </p:cNvPicPr>
            <p:nvPr/>
          </p:nvPicPr>
          <p:blipFill>
            <a:blip r:embed="rId14"/>
            <a:stretch>
              <a:fillRect/>
            </a:stretch>
          </p:blipFill>
          <p:spPr>
            <a:xfrm>
              <a:off x="5654982" y="7545288"/>
              <a:ext cx="582331" cy="216024"/>
            </a:xfrm>
            <a:prstGeom prst="rect">
              <a:avLst/>
            </a:prstGeom>
          </p:spPr>
        </p:pic>
      </p:grpSp>
      <p:grpSp>
        <p:nvGrpSpPr>
          <p:cNvPr id="2" name="Group 1"/>
          <p:cNvGrpSpPr/>
          <p:nvPr/>
        </p:nvGrpSpPr>
        <p:grpSpPr>
          <a:xfrm>
            <a:off x="248498" y="2894672"/>
            <a:ext cx="3180502" cy="1626280"/>
            <a:chOff x="248498" y="2894672"/>
            <a:chExt cx="3180502" cy="1626280"/>
          </a:xfrm>
        </p:grpSpPr>
        <p:grpSp>
          <p:nvGrpSpPr>
            <p:cNvPr id="5" name="Group 4"/>
            <p:cNvGrpSpPr/>
            <p:nvPr/>
          </p:nvGrpSpPr>
          <p:grpSpPr>
            <a:xfrm>
              <a:off x="248498" y="2894672"/>
              <a:ext cx="3180502" cy="1626280"/>
              <a:chOff x="248498" y="2894672"/>
              <a:chExt cx="3180502" cy="1626280"/>
            </a:xfrm>
          </p:grpSpPr>
          <p:sp>
            <p:nvSpPr>
              <p:cNvPr id="40" name="Rectangle 7"/>
              <p:cNvSpPr>
                <a:spLocks noChangeArrowheads="1"/>
              </p:cNvSpPr>
              <p:nvPr/>
            </p:nvSpPr>
            <p:spPr bwMode="auto">
              <a:xfrm>
                <a:off x="248498" y="2894672"/>
                <a:ext cx="3180502" cy="1554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42. </a:t>
                </a:r>
                <a:r>
                  <a:rPr lang="vi-VN" altLang="ko-KR" sz="950">
                    <a:latin typeface="Times New Roman" pitchFamily="18" charset="0"/>
                    <a:ea typeface="LG Smart_H Regular" panose="020B0600000101010101" pitchFamily="34" charset="-127"/>
                    <a:cs typeface="Times New Roman" pitchFamily="18" charset="0"/>
                  </a:rPr>
                  <a:t>Áp dụng nguyên lý di chuyển động lực học của không khi để quay đĩa quay với tốc độ cao, tăng lượng chuyển động của chất khí thông qua cánh từ đó làm tăng  tốc độ và áp suất.</a:t>
                </a:r>
              </a:p>
              <a:p>
                <a:pPr eaLnBrk="1" fontAlgn="base" hangingPunct="1">
                  <a:spcBef>
                    <a:spcPct val="0"/>
                  </a:spcBef>
                  <a:spcAft>
                    <a:spcPct val="0"/>
                  </a:spcAft>
                </a:pPr>
                <a:r>
                  <a:rPr lang="vi-VN" altLang="ko-KR" sz="950">
                    <a:latin typeface="Times New Roman" pitchFamily="18" charset="0"/>
                    <a:ea typeface="LG Smart_H Regular" panose="020B0600000101010101" pitchFamily="34" charset="-127"/>
                    <a:cs typeface="Times New Roman" pitchFamily="18" charset="0"/>
                  </a:rPr>
                  <a:t>Giải thích về MNK nào</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smtClean="0">
                    <a:latin typeface="Times New Roman" pitchFamily="18" charset="0"/>
                    <a:ea typeface="LG Smart_H Regular" panose="020B0600000101010101" pitchFamily="34" charset="-127"/>
                    <a:cs typeface="Times New Roman" pitchFamily="18" charset="0"/>
                  </a:rPr>
                  <a:t>                                          B.</a:t>
                </a: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a:t>
                </a:r>
                <a:r>
                  <a:rPr lang="en-US" altLang="ko-KR" sz="950" smtClean="0">
                    <a:latin typeface="Times New Roman" pitchFamily="18" charset="0"/>
                    <a:ea typeface="LG Smart_H Regular" panose="020B0600000101010101" pitchFamily="34" charset="-127"/>
                    <a:cs typeface="Times New Roman" pitchFamily="18" charset="0"/>
                  </a:rPr>
                  <a:t>.                                              D.</a:t>
                </a:r>
              </a:p>
            </p:txBody>
          </p:sp>
          <p:pic>
            <p:nvPicPr>
              <p:cNvPr id="49" name="Picture 48"/>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620688" y="3594345"/>
                <a:ext cx="398346"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 name="Picture 53"/>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204864" y="3620675"/>
                <a:ext cx="363861"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 name="Picture 55"/>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204864" y="4098401"/>
                <a:ext cx="465779"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pic>
          <p:nvPicPr>
            <p:cNvPr id="55" name="Picture 54"/>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707924" y="4098400"/>
              <a:ext cx="386518" cy="422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extLst>
      <p:ext uri="{BB962C8B-B14F-4D97-AF65-F5344CB8AC3E}">
        <p14:creationId xmlns:p14="http://schemas.microsoft.com/office/powerpoint/2010/main" val="425468994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Line 2"/>
          <p:cNvSpPr>
            <a:spLocks noChangeShapeType="1"/>
          </p:cNvSpPr>
          <p:nvPr/>
        </p:nvSpPr>
        <p:spPr bwMode="auto">
          <a:xfrm>
            <a:off x="2794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fontAlgn="base">
              <a:spcBef>
                <a:spcPct val="0"/>
              </a:spcBef>
              <a:spcAft>
                <a:spcPct val="0"/>
              </a:spcAft>
            </a:pPr>
            <a:endParaRPr kumimoji="1" lang="ko-KR" altLang="en-US" sz="950" smtClean="0">
              <a:solidFill>
                <a:srgbClr val="000000"/>
              </a:solidFill>
              <a:latin typeface="Times New Roman" pitchFamily="18" charset="0"/>
              <a:ea typeface="돋움" pitchFamily="50" charset="-127"/>
              <a:cs typeface="Times New Roman" pitchFamily="18" charset="0"/>
            </a:endParaRPr>
          </a:p>
        </p:txBody>
      </p:sp>
      <p:sp>
        <p:nvSpPr>
          <p:cNvPr id="227333" name="Text Box 5"/>
          <p:cNvSpPr txBox="1">
            <a:spLocks noChangeArrowheads="1"/>
          </p:cNvSpPr>
          <p:nvPr/>
        </p:nvSpPr>
        <p:spPr bwMode="auto">
          <a:xfrm>
            <a:off x="174625" y="239713"/>
            <a:ext cx="1127232" cy="338554"/>
          </a:xfrm>
          <a:prstGeom prst="rect">
            <a:avLst/>
          </a:prstGeom>
          <a:noFill/>
          <a:ln w="9525">
            <a:noFill/>
            <a:miter lim="800000"/>
            <a:headEnd/>
            <a:tailEnd/>
          </a:ln>
          <a:effec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dirty="0">
                <a:latin typeface="Times New Roman" pitchFamily="18" charset="0"/>
                <a:cs typeface="Times New Roman" pitchFamily="18" charset="0"/>
              </a:rPr>
              <a:t>[ </a:t>
            </a:r>
            <a:r>
              <a:rPr lang="vi-VN" altLang="ko-KR">
                <a:latin typeface="Times New Roman" pitchFamily="18" charset="0"/>
                <a:cs typeface="Times New Roman" pitchFamily="18" charset="0"/>
              </a:rPr>
              <a:t>Khí nén</a:t>
            </a:r>
            <a:r>
              <a:rPr lang="en-US" altLang="ko-KR">
                <a:latin typeface="Times New Roman" pitchFamily="18" charset="0"/>
                <a:cs typeface="Times New Roman" pitchFamily="18" charset="0"/>
              </a:rPr>
              <a:t>] </a:t>
            </a:r>
            <a:endParaRPr lang="en-US" altLang="ko-KR" dirty="0">
              <a:latin typeface="Times New Roman" pitchFamily="18" charset="0"/>
              <a:cs typeface="Times New Roman" pitchFamily="18" charset="0"/>
            </a:endParaRPr>
          </a:p>
        </p:txBody>
      </p:sp>
      <p:sp>
        <p:nvSpPr>
          <p:cNvPr id="8196" name="Rectangle 17"/>
          <p:cNvSpPr>
            <a:spLocks noChangeArrowheads="1"/>
          </p:cNvSpPr>
          <p:nvPr/>
        </p:nvSpPr>
        <p:spPr bwMode="auto">
          <a:xfrm>
            <a:off x="201848" y="776288"/>
            <a:ext cx="3178398"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54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8197" name="Rectangle 18"/>
          <p:cNvSpPr>
            <a:spLocks noChangeArrowheads="1"/>
          </p:cNvSpPr>
          <p:nvPr/>
        </p:nvSpPr>
        <p:spPr bwMode="auto">
          <a:xfrm>
            <a:off x="3404108" y="776288"/>
            <a:ext cx="3293112" cy="89011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rIns="72000"/>
          <a:lstStyle>
            <a:lvl1pPr marL="457200" indent="-457200" eaLnBrk="0" hangingPunct="0">
              <a:defRPr kumimoji="1" sz="900">
                <a:solidFill>
                  <a:schemeClr val="tx1"/>
                </a:solidFill>
                <a:latin typeface="돋움" pitchFamily="50" charset="-127"/>
                <a:ea typeface="돋움" pitchFamily="50" charset="-127"/>
              </a:defRPr>
            </a:lvl1pPr>
            <a:lvl2pPr marL="742950" indent="-285750" eaLnBrk="0" hangingPunct="0">
              <a:defRPr kumimoji="1" sz="900">
                <a:solidFill>
                  <a:schemeClr val="tx1"/>
                </a:solidFill>
                <a:latin typeface="돋움" pitchFamily="50" charset="-127"/>
                <a:ea typeface="돋움" pitchFamily="50" charset="-127"/>
              </a:defRPr>
            </a:lvl2pPr>
            <a:lvl3pPr marL="1143000" indent="-228600" eaLnBrk="0" hangingPunct="0">
              <a:defRPr kumimoji="1" sz="900">
                <a:solidFill>
                  <a:schemeClr val="tx1"/>
                </a:solidFill>
                <a:latin typeface="돋움" pitchFamily="50" charset="-127"/>
                <a:ea typeface="돋움" pitchFamily="50" charset="-127"/>
              </a:defRPr>
            </a:lvl3pPr>
            <a:lvl4pPr marL="1600200" indent="-228600" eaLnBrk="0" hangingPunct="0">
              <a:defRPr kumimoji="1" sz="900">
                <a:solidFill>
                  <a:schemeClr val="tx1"/>
                </a:solidFill>
                <a:latin typeface="돋움" pitchFamily="50" charset="-127"/>
                <a:ea typeface="돋움" pitchFamily="50" charset="-127"/>
              </a:defRPr>
            </a:lvl4pPr>
            <a:lvl5pPr marL="2057400" indent="-228600" eaLnBrk="0" hangingPunct="0">
              <a:defRPr kumimoji="1" sz="900">
                <a:solidFill>
                  <a:schemeClr val="tx1"/>
                </a:solidFill>
                <a:latin typeface="돋움" pitchFamily="50" charset="-127"/>
                <a:ea typeface="돋움" pitchFamily="50" charset="-127"/>
              </a:defRPr>
            </a:lvl5pPr>
            <a:lvl6pPr marL="2514600" indent="-228600" eaLnBrk="0" fontAlgn="base" hangingPunct="0">
              <a:spcBef>
                <a:spcPct val="0"/>
              </a:spcBef>
              <a:spcAft>
                <a:spcPct val="0"/>
              </a:spcAft>
              <a:defRPr kumimoji="1" sz="900">
                <a:solidFill>
                  <a:schemeClr val="tx1"/>
                </a:solidFill>
                <a:latin typeface="돋움" pitchFamily="50" charset="-127"/>
                <a:ea typeface="돋움" pitchFamily="50" charset="-127"/>
              </a:defRPr>
            </a:lvl6pPr>
            <a:lvl7pPr marL="2971800" indent="-228600" eaLnBrk="0" fontAlgn="base" hangingPunct="0">
              <a:spcBef>
                <a:spcPct val="0"/>
              </a:spcBef>
              <a:spcAft>
                <a:spcPct val="0"/>
              </a:spcAft>
              <a:defRPr kumimoji="1" sz="900">
                <a:solidFill>
                  <a:schemeClr val="tx1"/>
                </a:solidFill>
                <a:latin typeface="돋움" pitchFamily="50" charset="-127"/>
                <a:ea typeface="돋움" pitchFamily="50" charset="-127"/>
              </a:defRPr>
            </a:lvl7pPr>
            <a:lvl8pPr marL="3429000" indent="-228600" eaLnBrk="0" fontAlgn="base" hangingPunct="0">
              <a:spcBef>
                <a:spcPct val="0"/>
              </a:spcBef>
              <a:spcAft>
                <a:spcPct val="0"/>
              </a:spcAft>
              <a:defRPr kumimoji="1" sz="900">
                <a:solidFill>
                  <a:schemeClr val="tx1"/>
                </a:solidFill>
                <a:latin typeface="돋움" pitchFamily="50" charset="-127"/>
                <a:ea typeface="돋움" pitchFamily="50" charset="-127"/>
              </a:defRPr>
            </a:lvl8pPr>
            <a:lvl9pPr marL="3886200" indent="-228600" eaLnBrk="0" fontAlgn="base" hangingPunct="0">
              <a:spcBef>
                <a:spcPct val="0"/>
              </a:spcBef>
              <a:spcAft>
                <a:spcPct val="0"/>
              </a:spcAft>
              <a:defRPr kumimoji="1" sz="900">
                <a:solidFill>
                  <a:schemeClr val="tx1"/>
                </a:solidFill>
                <a:latin typeface="돋움" pitchFamily="50" charset="-127"/>
                <a:ea typeface="돋움" pitchFamily="50" charset="-127"/>
              </a:defRPr>
            </a:lvl9pPr>
          </a:lstStyle>
          <a:p>
            <a:pPr eaLnBrk="1" fontAlgn="base" hangingPunct="1">
              <a:spcBef>
                <a:spcPct val="0"/>
              </a:spcBef>
              <a:spcAft>
                <a:spcPct val="0"/>
              </a:spcAft>
            </a:pPr>
            <a:endParaRPr lang="ko-KR" altLang="ko-KR" sz="950" smtClean="0">
              <a:solidFill>
                <a:srgbClr val="000000"/>
              </a:solidFill>
              <a:latin typeface="Times New Roman" pitchFamily="18" charset="0"/>
              <a:cs typeface="Times New Roman" pitchFamily="18" charset="0"/>
            </a:endParaRPr>
          </a:p>
        </p:txBody>
      </p:sp>
      <p:sp>
        <p:nvSpPr>
          <p:cNvPr id="6" name="Rectangle 243"/>
          <p:cNvSpPr>
            <a:spLocks noChangeArrowheads="1"/>
          </p:cNvSpPr>
          <p:nvPr/>
        </p:nvSpPr>
        <p:spPr bwMode="auto">
          <a:xfrm>
            <a:off x="233091" y="5133454"/>
            <a:ext cx="3313113"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4</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Nội</a:t>
            </a:r>
            <a:r>
              <a:rPr lang="en-US" altLang="ko-KR" sz="950" dirty="0" smtClean="0">
                <a:latin typeface="Times New Roman" pitchFamily="18" charset="0"/>
                <a:cs typeface="Times New Roman" pitchFamily="18" charset="0"/>
              </a:rPr>
              <a:t> dung </a:t>
            </a:r>
            <a:r>
              <a:rPr lang="en-US" altLang="ko-KR" sz="950" dirty="0" err="1" smtClean="0">
                <a:latin typeface="Times New Roman" pitchFamily="18" charset="0"/>
                <a:cs typeface="Times New Roman" pitchFamily="18" charset="0"/>
              </a:rPr>
              <a:t>sau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đây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thích</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về</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gì</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dirty="0" smtClean="0">
                <a:latin typeface="Times New Roman" pitchFamily="18" charset="0"/>
                <a:cs typeface="Times New Roman" pitchFamily="18" charset="0"/>
              </a:rPr>
              <a:t>‘</a:t>
            </a:r>
            <a:r>
              <a:rPr lang="en-US" altLang="ko-KR" sz="950" dirty="0" err="1" smtClean="0">
                <a:latin typeface="Times New Roman" pitchFamily="18" charset="0"/>
                <a:cs typeface="Times New Roman" pitchFamily="18" charset="0"/>
              </a:rPr>
              <a:t>Được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lắp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ở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phụ</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nối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máy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vật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hoặc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gỉ</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khích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thước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từ</a:t>
            </a:r>
            <a:r>
              <a:rPr lang="en-US" altLang="ko-KR" sz="950" dirty="0" smtClean="0">
                <a:latin typeface="Times New Roman" pitchFamily="18" charset="0"/>
                <a:cs typeface="Times New Roman" pitchFamily="18" charset="0"/>
              </a:rPr>
              <a:t> </a:t>
            </a:r>
            <a:r>
              <a:rPr lang="ko-KR" altLang="en-US" sz="950" dirty="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50~75</a:t>
            </a:r>
            <a:r>
              <a:rPr lang="en-US" altLang="ko-KR" sz="950" dirty="0" smtClean="0">
                <a:latin typeface="Times New Roman" pitchFamily="18" charset="0"/>
                <a:cs typeface="Times New Roman" pitchFamily="18" charset="0"/>
              </a:rPr>
              <a:t>㎛</a:t>
            </a:r>
            <a:r>
              <a:rPr lang="ko-KR" altLang="en-US"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trong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endParaRPr lang="en-US" altLang="ko-KR" sz="950" dirty="0" smtClean="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a:t>
            </a:r>
            <a:r>
              <a:rPr lang="ko-KR" altLang="en-US" sz="950" smtClean="0">
                <a:solidFill>
                  <a:srgbClr val="FF0000"/>
                </a:solidFill>
                <a:latin typeface="Times New Roman" pitchFamily="18" charset="0"/>
                <a:cs typeface="Times New Roman" pitchFamily="18" charset="0"/>
              </a:rPr>
              <a:t> </a:t>
            </a:r>
            <a:r>
              <a:rPr lang="en-US" altLang="ko-KR" sz="950" dirty="0" smtClean="0">
                <a:solidFill>
                  <a:srgbClr val="FF0000"/>
                </a:solidFill>
                <a:latin typeface="Times New Roman" pitchFamily="18" charset="0"/>
                <a:cs typeface="Times New Roman" pitchFamily="18" charset="0"/>
              </a:rPr>
              <a:t>Main line </a:t>
            </a:r>
            <a:r>
              <a:rPr lang="en-US" altLang="ko-KR" sz="950" smtClean="0">
                <a:solidFill>
                  <a:srgbClr val="FF0000"/>
                </a:solidFill>
                <a:latin typeface="Times New Roman" pitchFamily="18" charset="0"/>
                <a:cs typeface="Times New Roman" pitchFamily="18" charset="0"/>
              </a:rPr>
              <a:t>filter</a:t>
            </a:r>
            <a:r>
              <a:rPr lang="ko-KR" altLang="en-US" sz="950" smtClean="0">
                <a:solidFill>
                  <a:srgbClr val="FF000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F</a:t>
            </a:r>
            <a:r>
              <a:rPr lang="en-US" altLang="ko-KR" sz="950" smtClean="0">
                <a:latin typeface="Times New Roman" pitchFamily="18" charset="0"/>
                <a:cs typeface="Times New Roman" pitchFamily="18" charset="0"/>
              </a:rPr>
              <a:t>ilter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Air </a:t>
            </a:r>
            <a:r>
              <a:rPr lang="en-US" altLang="ko-KR" sz="950" smtClean="0">
                <a:latin typeface="Times New Roman" pitchFamily="18" charset="0"/>
                <a:cs typeface="Times New Roman" pitchFamily="18" charset="0"/>
              </a:rPr>
              <a:t>dryer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a:latin typeface="Times New Roman" pitchFamily="18" charset="0"/>
                <a:cs typeface="Times New Roman" pitchFamily="18" charset="0"/>
              </a:rPr>
              <a:t>F</a:t>
            </a:r>
            <a:r>
              <a:rPr lang="en-US" altLang="ko-KR" sz="950" smtClean="0">
                <a:latin typeface="Times New Roman" pitchFamily="18" charset="0"/>
                <a:cs typeface="Times New Roman" pitchFamily="18" charset="0"/>
              </a:rPr>
              <a:t>ilter</a:t>
            </a:r>
            <a:endParaRPr lang="ko-KR" altLang="en-US" sz="950" dirty="0">
              <a:latin typeface="Times New Roman" pitchFamily="18" charset="0"/>
              <a:cs typeface="Times New Roman" pitchFamily="18" charset="0"/>
            </a:endParaRPr>
          </a:p>
        </p:txBody>
      </p:sp>
      <p:sp>
        <p:nvSpPr>
          <p:cNvPr id="7" name="Rectangle 83"/>
          <p:cNvSpPr>
            <a:spLocks noChangeArrowheads="1"/>
          </p:cNvSpPr>
          <p:nvPr/>
        </p:nvSpPr>
        <p:spPr bwMode="auto">
          <a:xfrm>
            <a:off x="244204" y="1064568"/>
            <a:ext cx="3113087"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1</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Những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bụi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nhỏ</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Air Filter </a:t>
            </a:r>
            <a:r>
              <a:rPr lang="en-US" altLang="ko-KR" sz="950" dirty="0" err="1" smtClean="0">
                <a:latin typeface="Times New Roman" pitchFamily="18" charset="0"/>
                <a:ea typeface="돋움" pitchFamily="50" charset="-127"/>
                <a:cs typeface="Times New Roman" pitchFamily="18" charset="0"/>
              </a:rPr>
              <a:t>sẽ</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lọc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bởi</a:t>
            </a:r>
            <a:r>
              <a:rPr lang="en-US" altLang="ko-KR" sz="950" dirty="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         </a:t>
            </a:r>
            <a:r>
              <a:rPr lang="en-US" altLang="ko-KR" sz="950" dirty="0" smtClean="0">
                <a:latin typeface="Times New Roman" pitchFamily="18" charset="0"/>
                <a:ea typeface="돋움" pitchFamily="50" charset="-127"/>
                <a:cs typeface="Times New Roman" pitchFamily="18" charset="0"/>
              </a:rPr>
              <a:t>) filter </a:t>
            </a:r>
            <a:r>
              <a:rPr lang="en-US" altLang="ko-KR" sz="950" dirty="0" err="1" smtClean="0">
                <a:latin typeface="Times New Roman" pitchFamily="18" charset="0"/>
                <a:ea typeface="돋움" pitchFamily="50" charset="-127"/>
                <a:cs typeface="Times New Roman" pitchFamily="18" charset="0"/>
              </a:rPr>
              <a:t>sau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có</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chất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dị</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vật</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sẽ</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được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đưa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ra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cửa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xả</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đúng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điền</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vào</a:t>
            </a:r>
            <a:r>
              <a:rPr lang="en-US" altLang="ko-KR" sz="950" smtClean="0">
                <a:latin typeface="Times New Roman" pitchFamily="18" charset="0"/>
                <a:ea typeface="돋움" pitchFamily="50" charset="-127"/>
                <a:cs typeface="Times New Roman" pitchFamily="18" charset="0"/>
              </a:rPr>
              <a:t> trong ngoặc?</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smtClean="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Deflector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dirty="0">
                <a:latin typeface="Times New Roman" pitchFamily="18" charset="0"/>
                <a:ea typeface="돋움" pitchFamily="50" charset="-127"/>
                <a:cs typeface="Times New Roman" pitchFamily="18" charset="0"/>
              </a:rPr>
              <a:t>B</a:t>
            </a:r>
            <a:r>
              <a:rPr lang="en-US" altLang="ko-KR" sz="950" smtClean="0">
                <a:latin typeface="Times New Roman" pitchFamily="18" charset="0"/>
                <a:ea typeface="돋움" pitchFamily="50" charset="-127"/>
                <a:cs typeface="Times New Roman" pitchFamily="18" charset="0"/>
              </a:rPr>
              <a:t>affle</a:t>
            </a:r>
            <a:r>
              <a:rPr lang="ko-KR" altLang="en-US" sz="950" smtClean="0">
                <a:latin typeface="Times New Roman" pitchFamily="18" charset="0"/>
                <a:ea typeface="돋움" pitchFamily="50" charset="-127"/>
                <a:cs typeface="Times New Roman" pitchFamily="18" charset="0"/>
              </a:rPr>
              <a:t>    </a:t>
            </a:r>
            <a:endParaRPr lang="ko-KR" altLang="en-US"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Diaphramg</a:t>
            </a:r>
            <a:r>
              <a:rPr lang="ko-KR" altLang="en-US" sz="950" smtClean="0">
                <a:latin typeface="Times New Roman" pitchFamily="18" charset="0"/>
                <a:ea typeface="돋움" pitchFamily="50" charset="-127"/>
                <a:cs typeface="Times New Roman" pitchFamily="18" charset="0"/>
              </a:rPr>
              <a:t>           </a:t>
            </a:r>
            <a:r>
              <a:rPr lang="en-US" altLang="ko-KR" sz="950" smtClean="0">
                <a:solidFill>
                  <a:srgbClr val="FF0000"/>
                </a:solidFill>
                <a:latin typeface="Times New Roman" pitchFamily="18" charset="0"/>
                <a:ea typeface="돋움" pitchFamily="50" charset="-127"/>
                <a:cs typeface="Times New Roman" pitchFamily="18" charset="0"/>
              </a:rPr>
              <a:t>D.</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dirty="0">
                <a:solidFill>
                  <a:srgbClr val="FF0000"/>
                </a:solidFill>
                <a:latin typeface="Times New Roman" pitchFamily="18" charset="0"/>
                <a:ea typeface="돋움" pitchFamily="50" charset="-127"/>
                <a:cs typeface="Times New Roman" pitchFamily="18" charset="0"/>
              </a:rPr>
              <a:t>E</a:t>
            </a:r>
            <a:r>
              <a:rPr lang="en-US" altLang="ko-KR" sz="950" smtClean="0">
                <a:solidFill>
                  <a:srgbClr val="FF0000"/>
                </a:solidFill>
                <a:latin typeface="Times New Roman" pitchFamily="18" charset="0"/>
                <a:ea typeface="돋움" pitchFamily="50" charset="-127"/>
                <a:cs typeface="Times New Roman" pitchFamily="18" charset="0"/>
              </a:rPr>
              <a:t>lement</a:t>
            </a:r>
            <a:endParaRPr lang="ko-KR" altLang="en-US" sz="950" dirty="0">
              <a:solidFill>
                <a:srgbClr val="FF0000"/>
              </a:solidFill>
              <a:latin typeface="Times New Roman" pitchFamily="18" charset="0"/>
              <a:ea typeface="돋움" pitchFamily="50" charset="-127"/>
              <a:cs typeface="Times New Roman" pitchFamily="18" charset="0"/>
            </a:endParaRPr>
          </a:p>
        </p:txBody>
      </p:sp>
      <p:sp>
        <p:nvSpPr>
          <p:cNvPr id="8" name="Rectangle 121"/>
          <p:cNvSpPr>
            <a:spLocks noChangeArrowheads="1"/>
          </p:cNvSpPr>
          <p:nvPr/>
        </p:nvSpPr>
        <p:spPr bwMode="auto">
          <a:xfrm>
            <a:off x="223566" y="7062425"/>
            <a:ext cx="3133725" cy="2139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5</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 </a:t>
            </a:r>
            <a:r>
              <a:rPr lang="en-US" altLang="ko-KR" sz="950" dirty="0" err="1">
                <a:solidFill>
                  <a:srgbClr val="FF0000"/>
                </a:solidFill>
                <a:latin typeface="Times New Roman" pitchFamily="18" charset="0"/>
                <a:cs typeface="Times New Roman" pitchFamily="18" charset="0"/>
              </a:rPr>
              <a:t>Đường</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mạch</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khí</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nén</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là</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loại</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kín</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có</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trao</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đổi</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khí</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vào</a:t>
            </a:r>
            <a:r>
              <a:rPr lang="en-US" altLang="ko-KR" sz="950" dirty="0">
                <a:solidFill>
                  <a:srgbClr val="FF0000"/>
                </a:solidFill>
                <a:latin typeface="Times New Roman" pitchFamily="18" charset="0"/>
                <a:cs typeface="Times New Roman" pitchFamily="18" charset="0"/>
              </a:rPr>
              <a:t>/</a:t>
            </a:r>
            <a:r>
              <a:rPr lang="en-US" altLang="ko-KR" sz="950" dirty="0" err="1">
                <a:solidFill>
                  <a:srgbClr val="FF0000"/>
                </a:solidFill>
                <a:latin typeface="Times New Roman" pitchFamily="18" charset="0"/>
                <a:cs typeface="Times New Roman" pitchFamily="18" charset="0"/>
              </a:rPr>
              <a:t>khí</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thảo</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ra</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với</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không</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khí</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bên</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ngoài</a:t>
            </a:r>
            <a:r>
              <a:rPr lang="en-US" altLang="ko-KR" sz="950" dirty="0" smtClean="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cần</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đường</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ống</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hồi</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giống</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như</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mạch</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thủy</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lực</a:t>
            </a:r>
            <a:r>
              <a:rPr lang="en-US" altLang="ko-KR" sz="950" dirty="0">
                <a:solidFill>
                  <a:srgbClr val="FF0000"/>
                </a:solidFill>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B. </a:t>
            </a:r>
            <a:r>
              <a:rPr lang="en-US" altLang="ko-KR" sz="950" dirty="0">
                <a:latin typeface="Times New Roman" pitchFamily="18" charset="0"/>
                <a:cs typeface="Times New Roman" pitchFamily="18" charset="0"/>
              </a:rPr>
              <a:t>Do </a:t>
            </a:r>
            <a:r>
              <a:rPr lang="en-US" altLang="ko-KR" sz="950" dirty="0" err="1">
                <a:latin typeface="Times New Roman" pitchFamily="18" charset="0"/>
                <a:cs typeface="Times New Roman" pitchFamily="18" charset="0"/>
              </a:rPr>
              <a:t>không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quán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tính</a:t>
            </a:r>
            <a:r>
              <a:rPr lang="en-US" altLang="ko-KR" sz="950" dirty="0">
                <a:latin typeface="Times New Roman" pitchFamily="18" charset="0"/>
                <a:cs typeface="Times New Roman" pitchFamily="18" charset="0"/>
              </a:rPr>
              <a:t> hay </a:t>
            </a:r>
            <a:r>
              <a:rPr lang="en-US" altLang="ko-KR" sz="950" dirty="0" err="1">
                <a:latin typeface="Times New Roman" pitchFamily="18" charset="0"/>
                <a:cs typeface="Times New Roman" pitchFamily="18" charset="0"/>
              </a:rPr>
              <a:t>độ</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nhớt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nhỏ</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nên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tổn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thất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áp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 so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thủy</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 </a:t>
            </a:r>
            <a:r>
              <a:rPr lang="en-US" altLang="ko-KR" sz="950" dirty="0">
                <a:latin typeface="Times New Roman" pitchFamily="18" charset="0"/>
                <a:cs typeface="Times New Roman" pitchFamily="18" charset="0"/>
              </a:rPr>
              <a:t>Do </a:t>
            </a:r>
            <a:r>
              <a:rPr lang="en-US" altLang="ko-KR" sz="950" dirty="0" err="1">
                <a:latin typeface="Times New Roman" pitchFamily="18" charset="0"/>
                <a:cs typeface="Times New Roman" pitchFamily="18" charset="0"/>
              </a:rPr>
              <a:t>không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được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tính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nên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dù</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dùng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đồng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thời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một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thiết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bị</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được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nối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cùng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một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đường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ống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cũng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ít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sảy</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ra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ảnh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hưởng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giữa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máy</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D. </a:t>
            </a:r>
            <a:r>
              <a:rPr lang="en-US" altLang="ko-KR" sz="950" dirty="0">
                <a:latin typeface="Times New Roman" pitchFamily="18" charset="0"/>
                <a:cs typeface="Times New Roman" pitchFamily="18" charset="0"/>
              </a:rPr>
              <a:t>Ở </a:t>
            </a:r>
            <a:r>
              <a:rPr lang="en-US" altLang="ko-KR" sz="950" dirty="0" err="1">
                <a:latin typeface="Times New Roman" pitchFamily="18" charset="0"/>
                <a:cs typeface="Times New Roman" pitchFamily="18" charset="0"/>
              </a:rPr>
              <a:t>khía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cạnh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tổn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thất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năng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lượng</a:t>
            </a:r>
            <a:r>
              <a:rPr lang="en-US" altLang="ko-KR" sz="950" dirty="0">
                <a:latin typeface="Times New Roman" pitchFamily="18" charset="0"/>
                <a:cs typeface="Times New Roman" pitchFamily="18" charset="0"/>
              </a:rPr>
              <a:t> di </a:t>
            </a:r>
            <a:r>
              <a:rPr lang="en-US" altLang="ko-KR" sz="950" dirty="0" err="1">
                <a:latin typeface="Times New Roman" pitchFamily="18" charset="0"/>
                <a:cs typeface="Times New Roman" pitchFamily="18" charset="0"/>
              </a:rPr>
              <a:t>chuyển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nhỏ</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ảnh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hưởng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giữa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thiết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bị</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ít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thể</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lắp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đường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ống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khí</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nén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đến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tận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góc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máy</a:t>
            </a:r>
            <a:r>
              <a:rPr lang="en-US" altLang="ko-KR" sz="950" dirty="0">
                <a:latin typeface="Times New Roman" pitchFamily="18" charset="0"/>
                <a:cs typeface="Times New Roman" pitchFamily="18" charset="0"/>
              </a:rPr>
              <a:t>.</a:t>
            </a:r>
          </a:p>
          <a:p>
            <a:pPr eaLnBrk="1" hangingPunct="1"/>
            <a:endParaRPr lang="en-US" altLang="ko-KR" sz="950" dirty="0">
              <a:latin typeface="Times New Roman" pitchFamily="18" charset="0"/>
              <a:cs typeface="Times New Roman" pitchFamily="18" charset="0"/>
            </a:endParaRPr>
          </a:p>
        </p:txBody>
      </p:sp>
      <p:sp>
        <p:nvSpPr>
          <p:cNvPr id="9" name="Rectangle 34"/>
          <p:cNvSpPr>
            <a:spLocks noChangeArrowheads="1"/>
          </p:cNvSpPr>
          <p:nvPr/>
        </p:nvSpPr>
        <p:spPr bwMode="auto">
          <a:xfrm>
            <a:off x="233090" y="2576736"/>
            <a:ext cx="312420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2</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Cylinder </a:t>
            </a:r>
            <a:r>
              <a:rPr lang="en-US" altLang="ko-KR" sz="950" dirty="0" err="1" smtClean="0">
                <a:latin typeface="Times New Roman" pitchFamily="18" charset="0"/>
                <a:cs typeface="Times New Roman" pitchFamily="18" charset="0"/>
              </a:rPr>
              <a:t>khí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endParaRPr lang="en-US" altLang="ko-KR" sz="950" smtClean="0">
              <a:solidFill>
                <a:srgbClr val="FF0000"/>
              </a:solidFill>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A. </a:t>
            </a:r>
            <a:r>
              <a:rPr lang="en-US" altLang="ko-KR" sz="950" dirty="0" smtClean="0">
                <a:solidFill>
                  <a:srgbClr val="FF0000"/>
                </a:solidFill>
                <a:latin typeface="Times New Roman" pitchFamily="18" charset="0"/>
                <a:cs typeface="Times New Roman" pitchFamily="18" charset="0"/>
              </a:rPr>
              <a:t>Cylinder </a:t>
            </a:r>
            <a:r>
              <a:rPr lang="en-US" altLang="ko-KR" sz="950" err="1" smtClean="0">
                <a:solidFill>
                  <a:srgbClr val="FF0000"/>
                </a:solidFill>
                <a:latin typeface="Times New Roman" pitchFamily="18" charset="0"/>
                <a:cs typeface="Times New Roman" pitchFamily="18" charset="0"/>
              </a:rPr>
              <a:t>thép</a:t>
            </a:r>
            <a:r>
              <a:rPr lang="ko-KR" altLang="en-US" sz="950" smtClean="0">
                <a:solidFill>
                  <a:srgbClr val="FF000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Compact cylinder</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Cylinder </a:t>
            </a:r>
            <a:r>
              <a:rPr lang="en-US" altLang="ko-KR" sz="950" dirty="0" err="1" smtClean="0">
                <a:latin typeface="Times New Roman" pitchFamily="18" charset="0"/>
                <a:cs typeface="Times New Roman" pitchFamily="18" charset="0"/>
              </a:rPr>
              <a:t>gắn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tự</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do</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Tie Rod Cylinder</a:t>
            </a:r>
            <a:endParaRPr lang="ko-KR" altLang="en-US" sz="950" dirty="0">
              <a:latin typeface="Times New Roman" pitchFamily="18" charset="0"/>
              <a:cs typeface="Times New Roman" pitchFamily="18" charset="0"/>
            </a:endParaRPr>
          </a:p>
        </p:txBody>
      </p:sp>
      <p:grpSp>
        <p:nvGrpSpPr>
          <p:cNvPr id="13" name="Group 12"/>
          <p:cNvGrpSpPr/>
          <p:nvPr/>
        </p:nvGrpSpPr>
        <p:grpSpPr>
          <a:xfrm>
            <a:off x="3404108" y="1064568"/>
            <a:ext cx="3429000" cy="1257300"/>
            <a:chOff x="3384550" y="7489826"/>
            <a:chExt cx="3429000" cy="1257300"/>
          </a:xfrm>
        </p:grpSpPr>
        <p:grpSp>
          <p:nvGrpSpPr>
            <p:cNvPr id="14" name="Group 40"/>
            <p:cNvGrpSpPr>
              <a:grpSpLocks/>
            </p:cNvGrpSpPr>
            <p:nvPr/>
          </p:nvGrpSpPr>
          <p:grpSpPr bwMode="auto">
            <a:xfrm>
              <a:off x="3709988" y="7623175"/>
              <a:ext cx="2057400" cy="1123951"/>
              <a:chOff x="397" y="4667"/>
              <a:chExt cx="1296" cy="708"/>
            </a:xfrm>
          </p:grpSpPr>
          <p:pic>
            <p:nvPicPr>
              <p:cNvPr id="16" name="Picture 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 y="4667"/>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9" y="4667"/>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3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7" y="5003"/>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3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09" y="5003"/>
                <a:ext cx="38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 name="Rectangle 33"/>
            <p:cNvSpPr>
              <a:spLocks noChangeArrowheads="1"/>
            </p:cNvSpPr>
            <p:nvPr/>
          </p:nvSpPr>
          <p:spPr bwMode="auto">
            <a:xfrm>
              <a:off x="3384550" y="7489826"/>
              <a:ext cx="3429000"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5</a:t>
              </a:r>
              <a:r>
                <a:rPr lang="en-US" altLang="ko-KR" sz="950" smtClean="0">
                  <a:latin typeface="Times New Roman" pitchFamily="18" charset="0"/>
                  <a:ea typeface="돋움" pitchFamily="50" charset="-127"/>
                  <a:cs typeface="Times New Roman" pitchFamily="18" charset="0"/>
                </a:rPr>
                <a:t>6</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Trong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số</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các</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hiệu</a:t>
              </a:r>
              <a:r>
                <a:rPr lang="en-US" altLang="ko-KR" sz="950" dirty="0" smtClean="0">
                  <a:latin typeface="Times New Roman" pitchFamily="18" charset="0"/>
                  <a:ea typeface="돋움" pitchFamily="50" charset="-127"/>
                  <a:cs typeface="Times New Roman" pitchFamily="18" charset="0"/>
                </a:rPr>
                <a:t> Valve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loại</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đúng </a:t>
              </a:r>
              <a:r>
                <a:rPr lang="en-US" altLang="ko-KR" sz="950" dirty="0" smtClean="0">
                  <a:latin typeface="Times New Roman" pitchFamily="18" charset="0"/>
                  <a:ea typeface="돋움" pitchFamily="50" charset="-127"/>
                  <a:cs typeface="Times New Roman" pitchFamily="18" charset="0"/>
                </a:rPr>
                <a:t>3/2 Way?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dirty="0">
                  <a:latin typeface="Times New Roman" pitchFamily="18" charset="0"/>
                  <a:ea typeface="돋움" pitchFamily="50" charset="-127"/>
                  <a:cs typeface="Times New Roman" pitchFamily="18" charset="0"/>
                </a:rPr>
                <a:t>  </a:t>
              </a: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A.                                             B.</a:t>
              </a:r>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endParaRPr lang="en-US" altLang="ko-KR" sz="950" dirty="0">
                <a:latin typeface="Times New Roman" pitchFamily="18" charset="0"/>
                <a:ea typeface="돋움" pitchFamily="50" charset="-127"/>
                <a:cs typeface="Times New Roman" pitchFamily="18" charset="0"/>
              </a:endParaRPr>
            </a:p>
            <a:p>
              <a:pPr eaLnBrk="1" hangingPunct="1"/>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C.                                              </a:t>
              </a:r>
              <a:r>
                <a:rPr lang="en-US" altLang="ko-KR" sz="950" smtClean="0">
                  <a:solidFill>
                    <a:srgbClr val="FF0000"/>
                  </a:solidFill>
                  <a:latin typeface="Times New Roman" pitchFamily="18" charset="0"/>
                  <a:ea typeface="돋움" pitchFamily="50" charset="-127"/>
                  <a:cs typeface="Times New Roman" pitchFamily="18" charset="0"/>
                </a:rPr>
                <a:t>D.</a:t>
              </a:r>
              <a:endParaRPr lang="en-US" altLang="ko-KR" sz="950" dirty="0">
                <a:solidFill>
                  <a:srgbClr val="FF0000"/>
                </a:solidFill>
                <a:latin typeface="Times New Roman" pitchFamily="18" charset="0"/>
                <a:ea typeface="돋움" pitchFamily="50" charset="-127"/>
                <a:cs typeface="Times New Roman" pitchFamily="18" charset="0"/>
              </a:endParaRPr>
            </a:p>
          </p:txBody>
        </p:sp>
      </p:grpSp>
      <p:sp>
        <p:nvSpPr>
          <p:cNvPr id="20" name="Rectangle 49"/>
          <p:cNvSpPr>
            <a:spLocks noChangeArrowheads="1"/>
          </p:cNvSpPr>
          <p:nvPr/>
        </p:nvSpPr>
        <p:spPr bwMode="auto">
          <a:xfrm>
            <a:off x="3429000" y="2576736"/>
            <a:ext cx="3240360" cy="1700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7</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Chọn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đáp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án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không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phải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đặc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điểm</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a:latin typeface="Times New Roman" pitchFamily="18" charset="0"/>
                <a:cs typeface="Times New Roman" pitchFamily="18" charset="0"/>
              </a:rPr>
              <a:t>valve </a:t>
            </a:r>
            <a:r>
              <a:rPr lang="en-US" altLang="ko-KR" sz="950" smtClean="0">
                <a:latin typeface="Times New Roman" pitchFamily="18" charset="0"/>
                <a:cs typeface="Times New Roman" pitchFamily="18" charset="0"/>
              </a:rPr>
              <a:t>dạng Poppet ? </a:t>
            </a:r>
            <a:endParaRPr lang="en-US" altLang="ko-KR" sz="950" dirty="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err="1">
                <a:latin typeface="Times New Roman" pitchFamily="18" charset="0"/>
                <a:cs typeface="Times New Roman" pitchFamily="18" charset="0"/>
              </a:rPr>
              <a:t>Hiệu</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quả</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tốt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dù</a:t>
            </a:r>
            <a:r>
              <a:rPr lang="en-US" altLang="ko-KR" sz="950" dirty="0">
                <a:latin typeface="Times New Roman" pitchFamily="18" charset="0"/>
                <a:cs typeface="Times New Roman" pitchFamily="18" charset="0"/>
              </a:rPr>
              <a:t> Spring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bị</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hư</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hại</a:t>
            </a:r>
            <a:r>
              <a:rPr lang="en-US" altLang="ko-KR" sz="950" dirty="0">
                <a:latin typeface="Times New Roman" pitchFamily="18" charset="0"/>
                <a:cs typeface="Times New Roman" pitchFamily="18" charset="0"/>
              </a:rPr>
              <a:t>, valve </a:t>
            </a:r>
            <a:r>
              <a:rPr lang="en-US" altLang="ko-KR" sz="950" dirty="0" err="1">
                <a:latin typeface="Times New Roman" pitchFamily="18" charset="0"/>
                <a:cs typeface="Times New Roman" pitchFamily="18" charset="0"/>
              </a:rPr>
              <a:t>cũng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được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đóng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lại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nhờ</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áp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lực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chất</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lỏng</a:t>
            </a:r>
            <a:r>
              <a:rPr lang="en-US" altLang="ko-KR" sz="950" dirty="0">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B. </a:t>
            </a:r>
            <a:r>
              <a:rPr lang="en-US" altLang="ko-KR" sz="950" dirty="0" err="1">
                <a:latin typeface="Times New Roman" pitchFamily="18" charset="0"/>
                <a:cs typeface="Times New Roman" pitchFamily="18" charset="0"/>
              </a:rPr>
              <a:t>Có</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khả</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năng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điều</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chỉnh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lưu</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lượng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và</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phù</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hợp</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với</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các</a:t>
            </a:r>
            <a:r>
              <a:rPr lang="en-US" altLang="ko-KR" sz="950" dirty="0">
                <a:latin typeface="Times New Roman" pitchFamily="18" charset="0"/>
                <a:cs typeface="Times New Roman" pitchFamily="18" charset="0"/>
              </a:rPr>
              <a:t> hole </a:t>
            </a:r>
            <a:r>
              <a:rPr lang="en-US" altLang="ko-KR" sz="950" dirty="0" err="1">
                <a:latin typeface="Times New Roman" pitchFamily="18" charset="0"/>
                <a:cs typeface="Times New Roman" pitchFamily="18" charset="0"/>
              </a:rPr>
              <a:t>lớn</a:t>
            </a:r>
            <a:r>
              <a:rPr lang="en-US" altLang="ko-KR" sz="950" dirty="0">
                <a:latin typeface="Times New Roman" pitchFamily="18" charset="0"/>
                <a:cs typeface="Times New Roman" pitchFamily="18" charset="0"/>
              </a:rPr>
              <a:t>.</a:t>
            </a:r>
          </a:p>
          <a:p>
            <a:pPr eaLnBrk="1" hangingPunct="1"/>
            <a:r>
              <a:rPr lang="en-US" altLang="ko-KR" sz="950" smtClean="0">
                <a:solidFill>
                  <a:srgbClr val="FF0000"/>
                </a:solidFill>
                <a:latin typeface="Times New Roman" pitchFamily="18" charset="0"/>
                <a:cs typeface="Times New Roman" pitchFamily="18" charset="0"/>
              </a:rPr>
              <a:t>C. </a:t>
            </a:r>
            <a:r>
              <a:rPr lang="en-US" altLang="ko-KR" sz="950" dirty="0" err="1">
                <a:solidFill>
                  <a:srgbClr val="FF0000"/>
                </a:solidFill>
                <a:latin typeface="Times New Roman" pitchFamily="18" charset="0"/>
                <a:cs typeface="Times New Roman" pitchFamily="18" charset="0"/>
              </a:rPr>
              <a:t>Khả</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năng</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điều</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chỉnh</a:t>
            </a:r>
            <a:r>
              <a:rPr lang="en-US" altLang="ko-KR" sz="950" dirty="0">
                <a:solidFill>
                  <a:srgbClr val="FF0000"/>
                </a:solidFill>
                <a:latin typeface="Times New Roman" pitchFamily="18" charset="0"/>
                <a:cs typeface="Times New Roman" pitchFamily="18" charset="0"/>
              </a:rPr>
              <a:t> Valve </a:t>
            </a:r>
            <a:r>
              <a:rPr lang="en-US" altLang="ko-KR" sz="950" dirty="0" err="1">
                <a:solidFill>
                  <a:srgbClr val="FF0000"/>
                </a:solidFill>
                <a:latin typeface="Times New Roman" pitchFamily="18" charset="0"/>
                <a:cs typeface="Times New Roman" pitchFamily="18" charset="0"/>
              </a:rPr>
              <a:t>phải</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nhỏ</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hơn</a:t>
            </a:r>
            <a:r>
              <a:rPr lang="en-US" altLang="ko-KR" sz="950" dirty="0">
                <a:solidFill>
                  <a:srgbClr val="FF0000"/>
                </a:solidFill>
                <a:latin typeface="Times New Roman" pitchFamily="18" charset="0"/>
                <a:cs typeface="Times New Roman" pitchFamily="18" charset="0"/>
              </a:rPr>
              <a:t> so </a:t>
            </a:r>
            <a:r>
              <a:rPr lang="en-US" altLang="ko-KR" sz="950" dirty="0" err="1">
                <a:solidFill>
                  <a:srgbClr val="FF0000"/>
                </a:solidFill>
                <a:latin typeface="Times New Roman" pitchFamily="18" charset="0"/>
                <a:cs typeface="Times New Roman" pitchFamily="18" charset="0"/>
              </a:rPr>
              <a:t>với</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áp</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lực</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chất</a:t>
            </a:r>
            <a:r>
              <a:rPr lang="en-US" altLang="ko-KR" sz="950" dirty="0">
                <a:solidFill>
                  <a:srgbClr val="FF0000"/>
                </a:solidFill>
                <a:latin typeface="Times New Roman" pitchFamily="18" charset="0"/>
                <a:cs typeface="Times New Roman" pitchFamily="18" charset="0"/>
              </a:rPr>
              <a:t> </a:t>
            </a:r>
            <a:r>
              <a:rPr lang="en-US" altLang="ko-KR" sz="950" dirty="0" err="1">
                <a:solidFill>
                  <a:srgbClr val="FF0000"/>
                </a:solidFill>
                <a:latin typeface="Times New Roman" pitchFamily="18" charset="0"/>
                <a:cs typeface="Times New Roman" pitchFamily="18" charset="0"/>
              </a:rPr>
              <a:t>lỏng</a:t>
            </a:r>
            <a:r>
              <a:rPr lang="en-US" altLang="ko-KR" sz="950" dirty="0">
                <a:solidFill>
                  <a:srgbClr val="FF0000"/>
                </a:solidFill>
                <a:latin typeface="Times New Roman" pitchFamily="18" charset="0"/>
                <a:cs typeface="Times New Roman" pitchFamily="18" charset="0"/>
              </a:rPr>
              <a:t>.</a:t>
            </a:r>
          </a:p>
          <a:p>
            <a:pPr eaLnBrk="1" hangingPunct="1"/>
            <a:r>
              <a:rPr lang="en-US" altLang="ko-KR" sz="950" smtClean="0">
                <a:latin typeface="Times New Roman" pitchFamily="18" charset="0"/>
                <a:cs typeface="Times New Roman" pitchFamily="18" charset="0"/>
              </a:rPr>
              <a:t>D. </a:t>
            </a:r>
            <a:r>
              <a:rPr lang="en-US" altLang="ko-KR" sz="950" dirty="0" err="1">
                <a:latin typeface="Times New Roman" pitchFamily="18" charset="0"/>
                <a:cs typeface="Times New Roman" pitchFamily="18" charset="0"/>
              </a:rPr>
              <a:t>Quãng</a:t>
            </a:r>
            <a:r>
              <a:rPr lang="en-US" altLang="ko-KR" sz="950" dirty="0">
                <a:latin typeface="Times New Roman" pitchFamily="18" charset="0"/>
                <a:cs typeface="Times New Roman" pitchFamily="18" charset="0"/>
              </a:rPr>
              <a:t> </a:t>
            </a:r>
            <a:r>
              <a:rPr lang="en-US" altLang="ko-KR" sz="950" err="1">
                <a:latin typeface="Times New Roman" pitchFamily="18" charset="0"/>
                <a:cs typeface="Times New Roman" pitchFamily="18" charset="0"/>
              </a:rPr>
              <a:t>đường</a:t>
            </a:r>
            <a:r>
              <a:rPr lang="en-US" altLang="ko-KR"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di chuyển </a:t>
            </a:r>
            <a:r>
              <a:rPr lang="en-US" altLang="ko-KR" sz="950" dirty="0" err="1">
                <a:latin typeface="Times New Roman" pitchFamily="18" charset="0"/>
                <a:cs typeface="Times New Roman" pitchFamily="18" charset="0"/>
              </a:rPr>
              <a:t>của</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phần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vận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hành</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ngắn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nên</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tốc</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độ</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đóng</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mở</a:t>
            </a:r>
            <a:r>
              <a:rPr lang="en-US" altLang="ko-KR" sz="950" dirty="0">
                <a:latin typeface="Times New Roman" pitchFamily="18" charset="0"/>
                <a:cs typeface="Times New Roman" pitchFamily="18" charset="0"/>
              </a:rPr>
              <a:t> </a:t>
            </a:r>
            <a:r>
              <a:rPr lang="en-US" altLang="ko-KR" sz="950" dirty="0" err="1">
                <a:latin typeface="Times New Roman" pitchFamily="18" charset="0"/>
                <a:cs typeface="Times New Roman" pitchFamily="18" charset="0"/>
              </a:rPr>
              <a:t>nhanh</a:t>
            </a:r>
            <a:endParaRPr lang="en-US" altLang="ko-KR" sz="950" dirty="0">
              <a:latin typeface="Times New Roman" pitchFamily="18" charset="0"/>
              <a:cs typeface="Times New Roman" pitchFamily="18" charset="0"/>
            </a:endParaRPr>
          </a:p>
          <a:p>
            <a:pPr eaLnBrk="1" hangingPunct="1"/>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p:txBody>
      </p:sp>
      <p:sp>
        <p:nvSpPr>
          <p:cNvPr id="21" name="Rectangle 21"/>
          <p:cNvSpPr>
            <a:spLocks noChangeArrowheads="1"/>
          </p:cNvSpPr>
          <p:nvPr/>
        </p:nvSpPr>
        <p:spPr bwMode="auto">
          <a:xfrm>
            <a:off x="3429000" y="4808984"/>
            <a:ext cx="3268220" cy="1831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lnSpc>
                <a:spcPct val="120000"/>
              </a:lnSpc>
            </a:pPr>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8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đặc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điểm</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của</a:t>
            </a:r>
            <a:r>
              <a:rPr lang="en-US" altLang="ko-KR" sz="950" dirty="0" smtClean="0">
                <a:latin typeface="Times New Roman" pitchFamily="18" charset="0"/>
                <a:cs typeface="Times New Roman" pitchFamily="18" charset="0"/>
              </a:rPr>
              <a:t> Ejector?</a:t>
            </a:r>
            <a:endParaRPr lang="en-US" altLang="ko-KR" sz="950" dirty="0">
              <a:latin typeface="Times New Roman" pitchFamily="18" charset="0"/>
              <a:cs typeface="Times New Roman" pitchFamily="18" charset="0"/>
            </a:endParaRPr>
          </a:p>
          <a:p>
            <a:pPr eaLnBrk="1" hangingPunct="1">
              <a:lnSpc>
                <a:spcPct val="120000"/>
              </a:lnSpc>
            </a:pPr>
            <a:r>
              <a:rPr lang="en-US" altLang="ko-KR" sz="950" smtClean="0">
                <a:latin typeface="Times New Roman" pitchFamily="18" charset="0"/>
                <a:cs typeface="Times New Roman" pitchFamily="18" charset="0"/>
              </a:rPr>
              <a:t>A.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nhỏ</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khoảng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mấy</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chục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lần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pump chân</a:t>
            </a:r>
            <a:r>
              <a:rPr lang="en-US" altLang="ko-KR" sz="950" dirty="0">
                <a:latin typeface="Times New Roman" pitchFamily="18" charset="0"/>
                <a:cs typeface="Times New Roman" pitchFamily="18" charset="0"/>
              </a:rPr>
              <a:t> </a:t>
            </a:r>
            <a:r>
              <a:rPr lang="en-US" altLang="ko-KR" sz="950" smtClean="0">
                <a:latin typeface="Times New Roman" pitchFamily="18" charset="0"/>
                <a:cs typeface="Times New Roman" pitchFamily="18" charset="0"/>
              </a:rPr>
              <a:t>không </a:t>
            </a:r>
            <a:r>
              <a:rPr lang="en-US" altLang="ko-KR" sz="950" dirty="0" err="1" smtClean="0">
                <a:latin typeface="Times New Roman" pitchFamily="18" charset="0"/>
                <a:cs typeface="Times New Roman" pitchFamily="18" charset="0"/>
              </a:rPr>
              <a:t>khác</a:t>
            </a:r>
            <a:endParaRPr lang="ko-KR" altLang="en-US" sz="950" dirty="0">
              <a:latin typeface="Times New Roman" pitchFamily="18" charset="0"/>
              <a:cs typeface="Times New Roman" pitchFamily="18" charset="0"/>
            </a:endParaRPr>
          </a:p>
          <a:p>
            <a:pPr eaLnBrk="1" hangingPunct="1">
              <a:lnSpc>
                <a:spcPct val="120000"/>
              </a:lnSpc>
            </a:pPr>
            <a:r>
              <a:rPr lang="en-US" altLang="ko-KR" sz="950" smtClean="0">
                <a:solidFill>
                  <a:srgbClr val="FF0000"/>
                </a:solidFill>
                <a:latin typeface="Times New Roman" pitchFamily="18" charset="0"/>
                <a:cs typeface="Times New Roman" pitchFamily="18" charset="0"/>
              </a:rPr>
              <a:t>B.</a:t>
            </a:r>
            <a:r>
              <a:rPr lang="ko-KR" altLang="en-US" sz="95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Mức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độ</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chân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không</a:t>
            </a:r>
            <a:r>
              <a:rPr lang="en-US" altLang="ko-KR" sz="950" dirty="0" smtClean="0">
                <a:solidFill>
                  <a:srgbClr val="FF0000"/>
                </a:solidFill>
                <a:latin typeface="Times New Roman" pitchFamily="18" charset="0"/>
                <a:cs typeface="Times New Roman" pitchFamily="18" charset="0"/>
              </a:rPr>
              <a:t> ở </a:t>
            </a:r>
            <a:r>
              <a:rPr lang="en-US" altLang="ko-KR" sz="950" dirty="0" err="1" smtClean="0">
                <a:solidFill>
                  <a:srgbClr val="FF0000"/>
                </a:solidFill>
                <a:latin typeface="Times New Roman" pitchFamily="18" charset="0"/>
                <a:cs typeface="Times New Roman" pitchFamily="18" charset="0"/>
              </a:rPr>
              <a:t>phạm</a:t>
            </a:r>
            <a:r>
              <a:rPr lang="en-US" altLang="ko-KR" sz="950" dirty="0" smtClean="0">
                <a:solidFill>
                  <a:srgbClr val="FF0000"/>
                </a:solidFill>
                <a:latin typeface="Times New Roman" pitchFamily="18" charset="0"/>
                <a:cs typeface="Times New Roman" pitchFamily="18" charset="0"/>
              </a:rPr>
              <a:t> vi </a:t>
            </a:r>
            <a:r>
              <a:rPr lang="en-US" altLang="ko-KR" sz="950" dirty="0" err="1" smtClean="0">
                <a:solidFill>
                  <a:srgbClr val="FF0000"/>
                </a:solidFill>
                <a:latin typeface="Times New Roman" pitchFamily="18" charset="0"/>
                <a:cs typeface="Times New Roman" pitchFamily="18" charset="0"/>
              </a:rPr>
              <a:t>sử</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dụng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thực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tế</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hầu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như</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tỷ</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lệ</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với</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áp</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lực</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cung</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cấp</a:t>
            </a:r>
            <a:r>
              <a:rPr lang="en-US" altLang="ko-KR" sz="950" dirty="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nên</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khó</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điều</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khiển</a:t>
            </a:r>
            <a:r>
              <a:rPr lang="en-US" altLang="ko-KR" sz="950" dirty="0" smtClean="0">
                <a:solidFill>
                  <a:srgbClr val="FF0000"/>
                </a:solidFill>
                <a:latin typeface="Times New Roman" pitchFamily="18" charset="0"/>
                <a:cs typeface="Times New Roman" pitchFamily="18" charset="0"/>
              </a:rPr>
              <a:t> chi </a:t>
            </a:r>
            <a:r>
              <a:rPr lang="en-US" altLang="ko-KR" sz="950" dirty="0" err="1" smtClean="0">
                <a:solidFill>
                  <a:srgbClr val="FF0000"/>
                </a:solidFill>
                <a:latin typeface="Times New Roman" pitchFamily="18" charset="0"/>
                <a:cs typeface="Times New Roman" pitchFamily="18" charset="0"/>
              </a:rPr>
              <a:t>tiết</a:t>
            </a:r>
            <a:r>
              <a:rPr lang="en-US" altLang="ko-KR" sz="950" dirty="0" smtClean="0">
                <a:solidFill>
                  <a:srgbClr val="FF0000"/>
                </a:solidFill>
                <a:latin typeface="Times New Roman" pitchFamily="18" charset="0"/>
                <a:cs typeface="Times New Roman" pitchFamily="18" charset="0"/>
              </a:rPr>
              <a:t> </a:t>
            </a:r>
            <a:r>
              <a:rPr lang="en-US" altLang="ko-KR" sz="950" dirty="0" err="1" smtClean="0">
                <a:solidFill>
                  <a:srgbClr val="FF0000"/>
                </a:solidFill>
                <a:latin typeface="Times New Roman" pitchFamily="18" charset="0"/>
                <a:cs typeface="Times New Roman" pitchFamily="18" charset="0"/>
              </a:rPr>
              <a:t>nhỏ</a:t>
            </a:r>
            <a:endParaRPr lang="ko-KR" altLang="en-US" sz="950" dirty="0">
              <a:solidFill>
                <a:srgbClr val="FF0000"/>
              </a:solidFill>
              <a:latin typeface="Times New Roman" pitchFamily="18" charset="0"/>
              <a:cs typeface="Times New Roman" pitchFamily="18" charset="0"/>
            </a:endParaRPr>
          </a:p>
          <a:p>
            <a:pPr eaLnBrk="1" hangingPunct="1">
              <a:lnSpc>
                <a:spcPct val="120000"/>
              </a:lnSpc>
            </a:pPr>
            <a:r>
              <a:rPr lang="en-US" altLang="ko-KR" sz="950" smtClean="0">
                <a:latin typeface="Times New Roman" pitchFamily="18" charset="0"/>
                <a:cs typeface="Times New Roman" pitchFamily="18" charset="0"/>
              </a:rPr>
              <a:t>C.</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rung </a:t>
            </a:r>
            <a:r>
              <a:rPr lang="en-US" altLang="ko-KR" sz="950" dirty="0" err="1" smtClean="0">
                <a:latin typeface="Times New Roman" pitchFamily="18" charset="0"/>
                <a:cs typeface="Times New Roman" pitchFamily="18" charset="0"/>
              </a:rPr>
              <a:t>động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tính</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hồi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tốt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cần</a:t>
            </a:r>
            <a:r>
              <a:rPr lang="en-US" altLang="ko-KR" sz="950" dirty="0" smtClean="0">
                <a:latin typeface="Times New Roman" pitchFamily="18" charset="0"/>
                <a:cs typeface="Times New Roman" pitchFamily="18" charset="0"/>
              </a:rPr>
              <a:t> tank </a:t>
            </a:r>
            <a:r>
              <a:rPr lang="en-US" altLang="ko-KR" sz="950" dirty="0" err="1" smtClean="0">
                <a:latin typeface="Times New Roman" pitchFamily="18" charset="0"/>
                <a:cs typeface="Times New Roman" pitchFamily="18" charset="0"/>
              </a:rPr>
              <a:t>chân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phù</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trường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hợp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lặp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lại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thao</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tác</a:t>
            </a:r>
            <a:r>
              <a:rPr lang="en-US" altLang="ko-KR" sz="950" dirty="0" smtClean="0">
                <a:latin typeface="Times New Roman" pitchFamily="18" charset="0"/>
                <a:cs typeface="Times New Roman" pitchFamily="18" charset="0"/>
              </a:rPr>
              <a:t> ON-OFF </a:t>
            </a:r>
            <a:r>
              <a:rPr lang="en-US" altLang="ko-KR" sz="950" dirty="0" err="1" smtClean="0">
                <a:latin typeface="Times New Roman" pitchFamily="18" charset="0"/>
                <a:cs typeface="Times New Roman" pitchFamily="18" charset="0"/>
              </a:rPr>
              <a:t>nhiều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lần</a:t>
            </a:r>
            <a:r>
              <a:rPr lang="en-US" altLang="ko-KR" sz="950" dirty="0" smtClean="0">
                <a:latin typeface="Times New Roman" pitchFamily="18" charset="0"/>
                <a:cs typeface="Times New Roman" pitchFamily="18" charset="0"/>
              </a:rPr>
              <a:t>.</a:t>
            </a:r>
            <a:endParaRPr lang="en-US" altLang="ko-KR" sz="950" dirty="0">
              <a:latin typeface="Times New Roman" pitchFamily="18" charset="0"/>
              <a:cs typeface="Times New Roman" pitchFamily="18" charset="0"/>
            </a:endParaRPr>
          </a:p>
          <a:p>
            <a:pPr eaLnBrk="1" hangingPunct="1">
              <a:lnSpc>
                <a:spcPct val="120000"/>
              </a:lnSpc>
            </a:pPr>
            <a:r>
              <a:rPr lang="en-US" altLang="ko-KR" sz="950" smtClean="0">
                <a:latin typeface="Times New Roman" pitchFamily="18" charset="0"/>
                <a:cs typeface="Times New Roman" pitchFamily="18" charset="0"/>
              </a:rPr>
              <a:t>D.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nguồn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lượng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giống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thiết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bị</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kí</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nén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khác</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nên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có</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khả</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năng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dùng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chung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với</a:t>
            </a:r>
            <a:r>
              <a:rPr lang="en-US" altLang="ko-KR" sz="950" dirty="0" smtClean="0">
                <a:latin typeface="Times New Roman" pitchFamily="18" charset="0"/>
                <a:cs typeface="Times New Roman" pitchFamily="18" charset="0"/>
              </a:rPr>
              <a:t> valve </a:t>
            </a:r>
            <a:r>
              <a:rPr lang="en-US" altLang="ko-KR" sz="950" dirty="0" err="1" smtClean="0">
                <a:latin typeface="Times New Roman" pitchFamily="18" charset="0"/>
                <a:cs typeface="Times New Roman" pitchFamily="18" charset="0"/>
              </a:rPr>
              <a:t>điều</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khiển</a:t>
            </a:r>
            <a:endParaRPr lang="en-US" altLang="ko-KR" sz="950" dirty="0">
              <a:latin typeface="Times New Roman" pitchFamily="18" charset="0"/>
              <a:cs typeface="Times New Roman" pitchFamily="18" charset="0"/>
            </a:endParaRPr>
          </a:p>
        </p:txBody>
      </p:sp>
      <p:sp>
        <p:nvSpPr>
          <p:cNvPr id="22" name="Rectangle 13"/>
          <p:cNvSpPr>
            <a:spLocks noChangeArrowheads="1"/>
          </p:cNvSpPr>
          <p:nvPr/>
        </p:nvSpPr>
        <p:spPr bwMode="auto">
          <a:xfrm>
            <a:off x="3429000" y="6897216"/>
            <a:ext cx="324036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cs typeface="Times New Roman" pitchFamily="18" charset="0"/>
              </a:rPr>
              <a:t>5</a:t>
            </a:r>
            <a:r>
              <a:rPr lang="en-US" altLang="ko-KR" sz="950" smtClean="0">
                <a:latin typeface="Times New Roman" pitchFamily="18" charset="0"/>
                <a:cs typeface="Times New Roman" pitchFamily="18" charset="0"/>
              </a:rPr>
              <a:t>9</a:t>
            </a:r>
            <a:r>
              <a:rPr lang="en-US" altLang="ko-KR" sz="950" dirty="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Chọn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đáp</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án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không</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phải</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là</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một</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loại</a:t>
            </a:r>
            <a:r>
              <a:rPr lang="en-US" altLang="ko-KR" sz="950" dirty="0" smtClean="0">
                <a:latin typeface="Times New Roman" pitchFamily="18" charset="0"/>
                <a:cs typeface="Times New Roman" pitchFamily="18" charset="0"/>
              </a:rPr>
              <a:t> </a:t>
            </a:r>
            <a:r>
              <a:rPr lang="ko-KR" altLang="en-US" sz="950" dirty="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Counter?</a:t>
            </a:r>
            <a:endParaRPr lang="en-US" altLang="ko-KR" sz="950" dirty="0">
              <a:latin typeface="Times New Roman" pitchFamily="18" charset="0"/>
              <a:cs typeface="Times New Roman" pitchFamily="18" charset="0"/>
            </a:endParaRPr>
          </a:p>
          <a:p>
            <a:pPr eaLnBrk="1" hangingPunct="1"/>
            <a:endParaRPr lang="en-US" altLang="ko-KR" sz="950" smtClean="0">
              <a:latin typeface="Times New Roman" pitchFamily="18" charset="0"/>
              <a:cs typeface="Times New Roman" pitchFamily="18" charset="0"/>
            </a:endParaRPr>
          </a:p>
          <a:p>
            <a:pPr eaLnBrk="1" hangingPunct="1"/>
            <a:r>
              <a:rPr lang="en-US" altLang="ko-KR" sz="950" smtClean="0">
                <a:latin typeface="Times New Roman" pitchFamily="18" charset="0"/>
                <a:cs typeface="Times New Roman" pitchFamily="18" charset="0"/>
              </a:rPr>
              <a:t>A.  </a:t>
            </a:r>
            <a:r>
              <a:rPr lang="en-US" altLang="ko-KR" sz="950" dirty="0" smtClean="0">
                <a:latin typeface="Times New Roman" pitchFamily="18" charset="0"/>
                <a:cs typeface="Times New Roman" pitchFamily="18" charset="0"/>
              </a:rPr>
              <a:t>Counter </a:t>
            </a:r>
            <a:r>
              <a:rPr lang="en-US" altLang="ko-KR" sz="950" dirty="0" err="1" smtClean="0">
                <a:latin typeface="Times New Roman" pitchFamily="18" charset="0"/>
                <a:cs typeface="Times New Roman" pitchFamily="18" charset="0"/>
              </a:rPr>
              <a:t>cơ</a:t>
            </a:r>
            <a:r>
              <a:rPr lang="en-US" altLang="ko-KR" sz="950" dirty="0" smtClean="0">
                <a:latin typeface="Times New Roman" pitchFamily="18" charset="0"/>
                <a:cs typeface="Times New Roman" pitchFamily="18" charset="0"/>
              </a:rPr>
              <a:t> </a:t>
            </a:r>
            <a:r>
              <a:rPr lang="en-US" altLang="ko-KR" sz="950" err="1" smtClean="0">
                <a:latin typeface="Times New Roman" pitchFamily="18" charset="0"/>
                <a:cs typeface="Times New Roman" pitchFamily="18" charset="0"/>
              </a:rPr>
              <a:t>khí</a:t>
            </a:r>
            <a:r>
              <a:rPr lang="en-US" altLang="ko-KR" sz="950" smtClean="0">
                <a:latin typeface="Times New Roman" pitchFamily="18" charset="0"/>
                <a:cs typeface="Times New Roman" pitchFamily="18" charset="0"/>
              </a:rPr>
              <a:t> </a:t>
            </a:r>
            <a:r>
              <a:rPr lang="ko-KR" altLang="en-US" sz="950" smtClean="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Counter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từ</a:t>
            </a:r>
            <a:r>
              <a:rPr lang="ko-KR" altLang="en-US" sz="950" dirty="0" smtClean="0">
                <a:latin typeface="Times New Roman" pitchFamily="18" charset="0"/>
                <a:cs typeface="Times New Roman" pitchFamily="18" charset="0"/>
              </a:rPr>
              <a:t>  </a:t>
            </a:r>
            <a:endParaRPr lang="ko-KR" altLang="en-US" sz="950" dirty="0">
              <a:latin typeface="Times New Roman" pitchFamily="18" charset="0"/>
              <a:cs typeface="Times New Roman" pitchFamily="18" charset="0"/>
            </a:endParaRPr>
          </a:p>
          <a:p>
            <a:pPr eaLnBrk="1" hangingPunct="1"/>
            <a:r>
              <a:rPr lang="en-US" altLang="ko-KR" sz="950" smtClean="0">
                <a:solidFill>
                  <a:srgbClr val="FF0000"/>
                </a:solidFill>
                <a:latin typeface="Times New Roman" pitchFamily="18" charset="0"/>
                <a:cs typeface="Times New Roman" pitchFamily="18" charset="0"/>
              </a:rPr>
              <a:t>C.</a:t>
            </a:r>
            <a:r>
              <a:rPr lang="ko-KR" altLang="en-US" sz="950" smtClean="0">
                <a:solidFill>
                  <a:srgbClr val="FF0000"/>
                </a:solidFill>
                <a:latin typeface="Times New Roman" pitchFamily="18" charset="0"/>
                <a:cs typeface="Times New Roman" pitchFamily="18" charset="0"/>
              </a:rPr>
              <a:t>  </a:t>
            </a:r>
            <a:r>
              <a:rPr lang="en-US" altLang="ko-KR" sz="950" dirty="0" smtClean="0">
                <a:solidFill>
                  <a:srgbClr val="FF0000"/>
                </a:solidFill>
                <a:latin typeface="Times New Roman" pitchFamily="18" charset="0"/>
                <a:cs typeface="Times New Roman" pitchFamily="18" charset="0"/>
              </a:rPr>
              <a:t>Counter </a:t>
            </a:r>
            <a:r>
              <a:rPr lang="en-US" altLang="ko-KR" sz="950" smtClean="0">
                <a:solidFill>
                  <a:srgbClr val="FF0000"/>
                </a:solidFill>
                <a:latin typeface="Times New Roman" pitchFamily="18" charset="0"/>
                <a:cs typeface="Times New Roman" pitchFamily="18" charset="0"/>
              </a:rPr>
              <a:t>pin </a:t>
            </a:r>
            <a:r>
              <a:rPr lang="ko-KR" altLang="en-US" sz="950" smtClean="0">
                <a:solidFill>
                  <a:srgbClr val="FF0000"/>
                </a:solidFill>
                <a:latin typeface="Times New Roman" pitchFamily="18" charset="0"/>
                <a:cs typeface="Times New Roman" pitchFamily="18" charset="0"/>
              </a:rPr>
              <a:t>        </a:t>
            </a:r>
            <a:r>
              <a:rPr lang="en-US" altLang="ko-KR" sz="950" smtClean="0">
                <a:latin typeface="Times New Roman" pitchFamily="18" charset="0"/>
                <a:cs typeface="Times New Roman" pitchFamily="18" charset="0"/>
              </a:rPr>
              <a:t>D.</a:t>
            </a:r>
            <a:r>
              <a:rPr lang="ko-KR" altLang="en-US" sz="950" smtClean="0">
                <a:latin typeface="Times New Roman" pitchFamily="18" charset="0"/>
                <a:cs typeface="Times New Roman" pitchFamily="18" charset="0"/>
              </a:rPr>
              <a:t> </a:t>
            </a:r>
            <a:r>
              <a:rPr lang="en-US" altLang="ko-KR" sz="950" dirty="0" smtClean="0">
                <a:latin typeface="Times New Roman" pitchFamily="18" charset="0"/>
                <a:cs typeface="Times New Roman" pitchFamily="18" charset="0"/>
              </a:rPr>
              <a:t>Counter </a:t>
            </a:r>
            <a:r>
              <a:rPr lang="en-US" altLang="ko-KR" sz="950" dirty="0" err="1" smtClean="0">
                <a:latin typeface="Times New Roman" pitchFamily="18" charset="0"/>
                <a:cs typeface="Times New Roman" pitchFamily="18" charset="0"/>
              </a:rPr>
              <a:t>điện</a:t>
            </a:r>
            <a:r>
              <a:rPr lang="en-US" altLang="ko-KR" sz="950" dirty="0" smtClean="0">
                <a:latin typeface="Times New Roman" pitchFamily="18" charset="0"/>
                <a:cs typeface="Times New Roman" pitchFamily="18" charset="0"/>
              </a:rPr>
              <a:t> </a:t>
            </a:r>
            <a:r>
              <a:rPr lang="en-US" altLang="ko-KR" sz="950" dirty="0" err="1" smtClean="0">
                <a:latin typeface="Times New Roman" pitchFamily="18" charset="0"/>
                <a:cs typeface="Times New Roman" pitchFamily="18" charset="0"/>
              </a:rPr>
              <a:t>tử</a:t>
            </a:r>
            <a:endParaRPr lang="ko-KR" altLang="en-US" sz="950" dirty="0">
              <a:latin typeface="Times New Roman" pitchFamily="18" charset="0"/>
              <a:cs typeface="Times New Roman" pitchFamily="18" charset="0"/>
            </a:endParaRPr>
          </a:p>
        </p:txBody>
      </p:sp>
      <p:grpSp>
        <p:nvGrpSpPr>
          <p:cNvPr id="23" name="Group 22"/>
          <p:cNvGrpSpPr/>
          <p:nvPr/>
        </p:nvGrpSpPr>
        <p:grpSpPr>
          <a:xfrm>
            <a:off x="3429000" y="8002782"/>
            <a:ext cx="3225232" cy="1495794"/>
            <a:chOff x="188640" y="4669405"/>
            <a:chExt cx="3225232" cy="1495794"/>
          </a:xfrm>
        </p:grpSpPr>
        <p:sp>
          <p:nvSpPr>
            <p:cNvPr id="24" name="Rectangle 45"/>
            <p:cNvSpPr>
              <a:spLocks noChangeArrowheads="1"/>
            </p:cNvSpPr>
            <p:nvPr/>
          </p:nvSpPr>
          <p:spPr bwMode="auto">
            <a:xfrm>
              <a:off x="188640" y="4669405"/>
              <a:ext cx="3124200" cy="14957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lnSpc>
                  <a:spcPct val="120000"/>
                </a:lnSpc>
              </a:pPr>
              <a:r>
                <a:rPr lang="en-US" altLang="ko-KR" sz="950" dirty="0">
                  <a:latin typeface="Times New Roman" pitchFamily="18" charset="0"/>
                  <a:ea typeface="돋움" pitchFamily="50" charset="-127"/>
                  <a:cs typeface="Times New Roman" pitchFamily="18" charset="0"/>
                </a:rPr>
                <a:t>6</a:t>
              </a:r>
              <a:r>
                <a:rPr lang="en-US" altLang="ko-KR" sz="950" smtClean="0">
                  <a:latin typeface="Times New Roman" pitchFamily="18" charset="0"/>
                  <a:ea typeface="돋움" pitchFamily="50" charset="-127"/>
                  <a:cs typeface="Times New Roman" pitchFamily="18" charset="0"/>
                </a:rPr>
                <a:t>0</a:t>
              </a:r>
              <a:r>
                <a:rPr lang="en-US" altLang="ko-KR" sz="950" dirty="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đáp</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án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phải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là</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giải</a:t>
              </a:r>
              <a:r>
                <a:rPr lang="en-US" altLang="ko-KR" sz="950" smtClean="0">
                  <a:latin typeface="Times New Roman" pitchFamily="18" charset="0"/>
                  <a:ea typeface="돋움" pitchFamily="50" charset="-127"/>
                  <a:cs typeface="Times New Roman" pitchFamily="18" charset="0"/>
                </a:rPr>
                <a:t> </a:t>
              </a:r>
            </a:p>
            <a:p>
              <a:pPr eaLnBrk="1" hangingPunct="1">
                <a:lnSpc>
                  <a:spcPct val="120000"/>
                </a:lnSpc>
              </a:pPr>
              <a:r>
                <a:rPr lang="en-US" altLang="ko-KR" sz="950" smtClean="0">
                  <a:latin typeface="Times New Roman" pitchFamily="18" charset="0"/>
                  <a:ea typeface="돋움" pitchFamily="50" charset="-127"/>
                  <a:cs typeface="Times New Roman" pitchFamily="18" charset="0"/>
                </a:rPr>
                <a:t>thích </a:t>
              </a:r>
              <a:r>
                <a:rPr lang="en-US" altLang="ko-KR" sz="950" dirty="0" err="1" smtClean="0">
                  <a:latin typeface="Times New Roman" pitchFamily="18" charset="0"/>
                  <a:ea typeface="돋움" pitchFamily="50" charset="-127"/>
                  <a:cs typeface="Times New Roman" pitchFamily="18" charset="0"/>
                </a:rPr>
                <a:t>bằng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sơ</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đồ</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mạch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latin typeface="Times New Roman" pitchFamily="18" charset="0"/>
                  <a:ea typeface="돋움" pitchFamily="50" charset="-127"/>
                  <a:cs typeface="Times New Roman" pitchFamily="18" charset="0"/>
                </a:rPr>
                <a:t>A. </a:t>
              </a:r>
              <a:r>
                <a:rPr lang="en-US" altLang="ko-KR" sz="950" dirty="0" err="1" smtClean="0">
                  <a:latin typeface="Times New Roman" pitchFamily="18" charset="0"/>
                  <a:ea typeface="돋움" pitchFamily="50" charset="-127"/>
                  <a:cs typeface="Times New Roman" pitchFamily="18" charset="0"/>
                </a:rPr>
                <a:t>Sử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dụng</a:t>
              </a:r>
              <a:r>
                <a:rPr lang="en-US" altLang="ko-KR" sz="950" dirty="0" smtClean="0">
                  <a:latin typeface="Times New Roman" pitchFamily="18" charset="0"/>
                  <a:ea typeface="돋움" pitchFamily="50" charset="-127"/>
                  <a:cs typeface="Times New Roman" pitchFamily="18" charset="0"/>
                </a:rPr>
                <a:t> Cylinder </a:t>
              </a:r>
              <a:r>
                <a:rPr lang="en-US" altLang="ko-KR" sz="950" dirty="0" err="1" smtClean="0">
                  <a:latin typeface="Times New Roman" pitchFamily="18" charset="0"/>
                  <a:ea typeface="돋움" pitchFamily="50" charset="-127"/>
                  <a:cs typeface="Times New Roman" pitchFamily="18" charset="0"/>
                </a:rPr>
                <a:t>kép</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latin typeface="Times New Roman" pitchFamily="18" charset="0"/>
                  <a:ea typeface="돋움" pitchFamily="50" charset="-127"/>
                  <a:cs typeface="Times New Roman" pitchFamily="18" charset="0"/>
                </a:rPr>
                <a:t>B. Là </a:t>
              </a:r>
              <a:r>
                <a:rPr lang="en-US" altLang="ko-KR" sz="950" dirty="0" err="1" smtClean="0">
                  <a:latin typeface="Times New Roman" pitchFamily="18" charset="0"/>
                  <a:ea typeface="돋움" pitchFamily="50" charset="-127"/>
                  <a:cs typeface="Times New Roman" pitchFamily="18" charset="0"/>
                </a:rPr>
                <a:t>mạch</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theo</a:t>
              </a:r>
              <a:r>
                <a:rPr lang="en-US" altLang="ko-KR" sz="950" dirty="0" smtClean="0">
                  <a:latin typeface="Times New Roman" pitchFamily="18" charset="0"/>
                  <a:ea typeface="돋움" pitchFamily="50" charset="-127"/>
                  <a:cs typeface="Times New Roman" pitchFamily="18" charset="0"/>
                </a:rPr>
                <a:t> </a:t>
              </a:r>
              <a:r>
                <a:rPr lang="en-US" altLang="ko-KR" sz="950" err="1" smtClean="0">
                  <a:latin typeface="Times New Roman" pitchFamily="18" charset="0"/>
                  <a:ea typeface="돋움" pitchFamily="50" charset="-127"/>
                  <a:cs typeface="Times New Roman" pitchFamily="18" charset="0"/>
                </a:rPr>
                <a:t>phương</a:t>
              </a:r>
              <a:r>
                <a:rPr lang="en-US" altLang="ko-KR" sz="950" smtClean="0">
                  <a:latin typeface="Times New Roman" pitchFamily="18" charset="0"/>
                  <a:ea typeface="돋움" pitchFamily="50" charset="-127"/>
                  <a:cs typeface="Times New Roman" pitchFamily="18" charset="0"/>
                </a:rPr>
                <a:t> thức meter </a:t>
              </a:r>
            </a:p>
            <a:p>
              <a:pPr eaLnBrk="1" hangingPunct="1">
                <a:lnSpc>
                  <a:spcPct val="120000"/>
                </a:lnSpc>
              </a:pPr>
              <a:r>
                <a:rPr lang="en-US" altLang="ko-KR" sz="950" smtClean="0">
                  <a:latin typeface="Times New Roman" pitchFamily="18" charset="0"/>
                  <a:ea typeface="돋움" pitchFamily="50" charset="-127"/>
                  <a:cs typeface="Times New Roman" pitchFamily="18" charset="0"/>
                </a:rPr>
                <a:t>out . </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điều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khiển</a:t>
              </a:r>
              <a:r>
                <a:rPr lang="en-US" altLang="ko-KR" sz="950" dirty="0" smtClean="0">
                  <a:latin typeface="Times New Roman" pitchFamily="18" charset="0"/>
                  <a:ea typeface="돋움" pitchFamily="50" charset="-127"/>
                  <a:cs typeface="Times New Roman" pitchFamily="18" charset="0"/>
                </a:rPr>
                <a:t> air </a:t>
              </a:r>
              <a:r>
                <a:rPr lang="en-US" altLang="ko-KR" sz="950" dirty="0" err="1" smtClean="0">
                  <a:latin typeface="Times New Roman" pitchFamily="18" charset="0"/>
                  <a:ea typeface="돋움" pitchFamily="50" charset="-127"/>
                  <a:cs typeface="Times New Roman" pitchFamily="18" charset="0"/>
                </a:rPr>
                <a:t>phía</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thải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latin typeface="Times New Roman" pitchFamily="18" charset="0"/>
                  <a:ea typeface="돋움" pitchFamily="50" charset="-127"/>
                  <a:cs typeface="Times New Roman" pitchFamily="18" charset="0"/>
                </a:rPr>
                <a:t>C. Vị </a:t>
              </a:r>
              <a:r>
                <a:rPr lang="en-US" altLang="ko-KR" sz="950" dirty="0" err="1" smtClean="0">
                  <a:latin typeface="Times New Roman" pitchFamily="18" charset="0"/>
                  <a:ea typeface="돋움" pitchFamily="50" charset="-127"/>
                  <a:cs typeface="Times New Roman" pitchFamily="18" charset="0"/>
                </a:rPr>
                <a:t>trí</a:t>
              </a:r>
              <a:r>
                <a:rPr lang="en-US" altLang="ko-KR" sz="950" dirty="0" smtClean="0">
                  <a:latin typeface="Times New Roman" pitchFamily="18" charset="0"/>
                  <a:ea typeface="돋움" pitchFamily="50" charset="-127"/>
                  <a:cs typeface="Times New Roman" pitchFamily="18" charset="0"/>
                </a:rPr>
                <a:t> ban </a:t>
              </a:r>
              <a:r>
                <a:rPr lang="en-US" altLang="ko-KR" sz="950" dirty="0" err="1" smtClean="0">
                  <a:latin typeface="Times New Roman" pitchFamily="18" charset="0"/>
                  <a:ea typeface="돋움" pitchFamily="50" charset="-127"/>
                  <a:cs typeface="Times New Roman" pitchFamily="18" charset="0"/>
                </a:rPr>
                <a:t>đầu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đang</a:t>
              </a:r>
              <a:r>
                <a:rPr lang="en-US" altLang="ko-KR" sz="950" dirty="0" smtClean="0">
                  <a:latin typeface="Times New Roman" pitchFamily="18" charset="0"/>
                  <a:ea typeface="돋움" pitchFamily="50" charset="-127"/>
                  <a:cs typeface="Times New Roman" pitchFamily="18" charset="0"/>
                </a:rPr>
                <a:t> ở </a:t>
              </a:r>
              <a:r>
                <a:rPr lang="en-US" altLang="ko-KR" sz="950" err="1" smtClean="0">
                  <a:latin typeface="Times New Roman" pitchFamily="18" charset="0"/>
                  <a:ea typeface="돋움" pitchFamily="50" charset="-127"/>
                  <a:cs typeface="Times New Roman" pitchFamily="18" charset="0"/>
                </a:rPr>
                <a:t>trạng</a:t>
              </a:r>
              <a:r>
                <a:rPr lang="en-US" altLang="ko-KR" sz="950" smtClean="0">
                  <a:latin typeface="Times New Roman" pitchFamily="18" charset="0"/>
                  <a:ea typeface="돋움" pitchFamily="50" charset="-127"/>
                  <a:cs typeface="Times New Roman" pitchFamily="18" charset="0"/>
                </a:rPr>
                <a:t> thái</a:t>
              </a:r>
              <a:r>
                <a:rPr lang="en-US" altLang="ko-KR" sz="950" dirty="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lùi</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lnSpc>
                  <a:spcPct val="120000"/>
                </a:lnSpc>
              </a:pPr>
              <a:r>
                <a:rPr lang="en-US" altLang="ko-KR" sz="950" smtClean="0">
                  <a:solidFill>
                    <a:srgbClr val="FF0000"/>
                  </a:solidFill>
                  <a:latin typeface="Times New Roman" pitchFamily="18" charset="0"/>
                  <a:ea typeface="돋움" pitchFamily="50" charset="-127"/>
                  <a:cs typeface="Times New Roman" pitchFamily="18" charset="0"/>
                </a:rPr>
                <a:t>D. Đang </a:t>
              </a:r>
              <a:r>
                <a:rPr lang="en-US" altLang="ko-KR" sz="950" dirty="0" err="1" smtClean="0">
                  <a:solidFill>
                    <a:srgbClr val="FF0000"/>
                  </a:solidFill>
                  <a:latin typeface="Times New Roman" pitchFamily="18" charset="0"/>
                  <a:ea typeface="돋움" pitchFamily="50" charset="-127"/>
                  <a:cs typeface="Times New Roman" pitchFamily="18" charset="0"/>
                </a:rPr>
                <a:t>sử</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dụng</a:t>
              </a:r>
              <a:r>
                <a:rPr lang="en-US" altLang="ko-KR" sz="950" dirty="0" smtClean="0">
                  <a:solidFill>
                    <a:srgbClr val="FF0000"/>
                  </a:solidFill>
                  <a:latin typeface="Times New Roman" pitchFamily="18" charset="0"/>
                  <a:ea typeface="돋움" pitchFamily="50" charset="-127"/>
                  <a:cs typeface="Times New Roman" pitchFamily="18" charset="0"/>
                </a:rPr>
                <a:t> 5/2 </a:t>
              </a:r>
              <a:r>
                <a:rPr lang="en-US" altLang="ko-KR" sz="950" dirty="0">
                  <a:solidFill>
                    <a:srgbClr val="FF0000"/>
                  </a:solidFill>
                  <a:latin typeface="Times New Roman" pitchFamily="18" charset="0"/>
                  <a:ea typeface="돋움" pitchFamily="50" charset="-127"/>
                  <a:cs typeface="Times New Roman" pitchFamily="18" charset="0"/>
                </a:rPr>
                <a:t>Way </a:t>
              </a:r>
              <a:r>
                <a:rPr lang="en-US" altLang="ko-KR" sz="950" dirty="0" smtClean="0">
                  <a:solidFill>
                    <a:srgbClr val="FF0000"/>
                  </a:solidFill>
                  <a:latin typeface="Times New Roman" pitchFamily="18" charset="0"/>
                  <a:ea typeface="돋움" pitchFamily="50" charset="-127"/>
                  <a:cs typeface="Times New Roman" pitchFamily="18" charset="0"/>
                </a:rPr>
                <a:t> </a:t>
              </a:r>
              <a:r>
                <a:rPr lang="en-US" altLang="ko-KR" sz="950" dirty="0" err="1" smtClean="0">
                  <a:solidFill>
                    <a:srgbClr val="FF0000"/>
                  </a:solidFill>
                  <a:latin typeface="Times New Roman" pitchFamily="18" charset="0"/>
                  <a:ea typeface="돋움" pitchFamily="50" charset="-127"/>
                  <a:cs typeface="Times New Roman" pitchFamily="18" charset="0"/>
                </a:rPr>
                <a:t>hai</a:t>
              </a:r>
              <a:r>
                <a:rPr lang="en-US" altLang="ko-KR" sz="950" dirty="0" smtClean="0">
                  <a:solidFill>
                    <a:srgbClr val="FF0000"/>
                  </a:solidFill>
                  <a:latin typeface="Times New Roman" pitchFamily="18" charset="0"/>
                  <a:ea typeface="돋움" pitchFamily="50" charset="-127"/>
                  <a:cs typeface="Times New Roman" pitchFamily="18" charset="0"/>
                </a:rPr>
                <a:t> solenoid</a:t>
              </a:r>
              <a:endParaRPr lang="en-US" altLang="ko-KR" sz="950" dirty="0">
                <a:solidFill>
                  <a:srgbClr val="FF0000"/>
                </a:solidFill>
                <a:latin typeface="Times New Roman" pitchFamily="18" charset="0"/>
                <a:ea typeface="돋움" pitchFamily="50" charset="-127"/>
                <a:cs typeface="Times New Roman" pitchFamily="18" charset="0"/>
              </a:endParaRPr>
            </a:p>
          </p:txBody>
        </p:sp>
        <p:pic>
          <p:nvPicPr>
            <p:cNvPr id="25" name="Picture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4822381"/>
              <a:ext cx="1204072" cy="1045019"/>
            </a:xfrm>
            <a:prstGeom prst="rect">
              <a:avLst/>
            </a:prstGeom>
            <a:noFill/>
            <a:ln w="952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pic>
      </p:grpSp>
      <p:grpSp>
        <p:nvGrpSpPr>
          <p:cNvPr id="26" name="Group 25"/>
          <p:cNvGrpSpPr/>
          <p:nvPr/>
        </p:nvGrpSpPr>
        <p:grpSpPr>
          <a:xfrm>
            <a:off x="260648" y="3779837"/>
            <a:ext cx="3124200" cy="969496"/>
            <a:chOff x="3356992" y="3779837"/>
            <a:chExt cx="3124200" cy="969496"/>
          </a:xfrm>
        </p:grpSpPr>
        <p:sp>
          <p:nvSpPr>
            <p:cNvPr id="27" name="Rectangle 39"/>
            <p:cNvSpPr>
              <a:spLocks noChangeArrowheads="1"/>
            </p:cNvSpPr>
            <p:nvPr/>
          </p:nvSpPr>
          <p:spPr bwMode="auto">
            <a:xfrm>
              <a:off x="3356992" y="3779837"/>
              <a:ext cx="312420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a:solidFill>
                    <a:schemeClr val="tx1"/>
                  </a:solidFill>
                  <a:latin typeface="굴림" pitchFamily="50" charset="-127"/>
                  <a:ea typeface="굴림" pitchFamily="50" charset="-127"/>
                </a:defRPr>
              </a:lvl1pPr>
              <a:lvl2pPr marL="742950" indent="-285750" eaLnBrk="0" hangingPunct="0">
                <a:defRPr kumimoji="1">
                  <a:solidFill>
                    <a:schemeClr val="tx1"/>
                  </a:solidFill>
                  <a:latin typeface="굴림" pitchFamily="50" charset="-127"/>
                  <a:ea typeface="굴림" pitchFamily="50" charset="-127"/>
                </a:defRPr>
              </a:lvl2pPr>
              <a:lvl3pPr marL="1143000" indent="-228600" eaLnBrk="0" hangingPunct="0">
                <a:defRPr kumimoji="1">
                  <a:solidFill>
                    <a:schemeClr val="tx1"/>
                  </a:solidFill>
                  <a:latin typeface="굴림" pitchFamily="50" charset="-127"/>
                  <a:ea typeface="굴림" pitchFamily="50" charset="-127"/>
                </a:defRPr>
              </a:lvl3pPr>
              <a:lvl4pPr marL="1600200" indent="-228600" eaLnBrk="0" hangingPunct="0">
                <a:defRPr kumimoji="1">
                  <a:solidFill>
                    <a:schemeClr val="tx1"/>
                  </a:solidFill>
                  <a:latin typeface="굴림" pitchFamily="50" charset="-127"/>
                  <a:ea typeface="굴림" pitchFamily="50" charset="-127"/>
                </a:defRPr>
              </a:lvl4pPr>
              <a:lvl5pPr marL="2057400" indent="-228600" eaLnBrk="0" hangingPunct="0">
                <a:defRPr kumimoji="1">
                  <a:solidFill>
                    <a:schemeClr val="tx1"/>
                  </a:solidFill>
                  <a:latin typeface="굴림" pitchFamily="50" charset="-127"/>
                  <a:ea typeface="굴림" pitchFamily="50" charset="-127"/>
                </a:defRPr>
              </a:lvl5pPr>
              <a:lvl6pPr marL="25146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latinLnBrk="1" hangingPunct="0">
                <a:spcBef>
                  <a:spcPct val="0"/>
                </a:spcBef>
                <a:spcAft>
                  <a:spcPct val="0"/>
                </a:spcAft>
                <a:defRPr kumimoji="1">
                  <a:solidFill>
                    <a:schemeClr val="tx1"/>
                  </a:solidFill>
                  <a:latin typeface="굴림" pitchFamily="50" charset="-127"/>
                  <a:ea typeface="굴림" pitchFamily="50" charset="-127"/>
                </a:defRPr>
              </a:lvl9pPr>
            </a:lstStyle>
            <a:p>
              <a:pPr eaLnBrk="1" hangingPunct="1"/>
              <a:r>
                <a:rPr lang="en-US" altLang="ko-KR" sz="950" dirty="0">
                  <a:latin typeface="Times New Roman" pitchFamily="18" charset="0"/>
                  <a:ea typeface="돋움" pitchFamily="50" charset="-127"/>
                  <a:cs typeface="Times New Roman" pitchFamily="18" charset="0"/>
                </a:rPr>
                <a:t>13. </a:t>
              </a:r>
              <a:r>
                <a:rPr lang="en-US" altLang="ko-KR" sz="950" dirty="0" err="1" smtClean="0">
                  <a:latin typeface="Times New Roman" pitchFamily="18" charset="0"/>
                  <a:ea typeface="돋움" pitchFamily="50" charset="-127"/>
                  <a:cs typeface="Times New Roman" pitchFamily="18" charset="0"/>
                </a:rPr>
                <a:t>Chọn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nội</a:t>
              </a:r>
              <a:r>
                <a:rPr lang="en-US" altLang="ko-KR" sz="950" dirty="0" smtClean="0">
                  <a:latin typeface="Times New Roman" pitchFamily="18" charset="0"/>
                  <a:ea typeface="돋움" pitchFamily="50" charset="-127"/>
                  <a:cs typeface="Times New Roman" pitchFamily="18" charset="0"/>
                </a:rPr>
                <a:t> dung </a:t>
              </a:r>
              <a:r>
                <a:rPr lang="en-US" altLang="ko-KR" sz="950" dirty="0" err="1" smtClean="0">
                  <a:latin typeface="Times New Roman" pitchFamily="18" charset="0"/>
                  <a:ea typeface="돋움" pitchFamily="50" charset="-127"/>
                  <a:cs typeface="Times New Roman" pitchFamily="18" charset="0"/>
                </a:rPr>
                <a:t>không</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liên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quan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đến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hiệu</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khí</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nén</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dưới</a:t>
              </a:r>
              <a:r>
                <a:rPr lang="en-US" altLang="ko-KR" sz="950" dirty="0" smtClean="0">
                  <a:latin typeface="Times New Roman" pitchFamily="18" charset="0"/>
                  <a:ea typeface="돋움" pitchFamily="50" charset="-127"/>
                  <a:cs typeface="Times New Roman" pitchFamily="18" charset="0"/>
                </a:rPr>
                <a:t> </a:t>
              </a:r>
              <a:r>
                <a:rPr lang="en-US" altLang="ko-KR" sz="950" dirty="0" err="1" smtClean="0">
                  <a:latin typeface="Times New Roman" pitchFamily="18" charset="0"/>
                  <a:ea typeface="돋움" pitchFamily="50" charset="-127"/>
                  <a:cs typeface="Times New Roman" pitchFamily="18" charset="0"/>
                </a:rPr>
                <a:t>đây</a:t>
              </a:r>
              <a:r>
                <a:rPr lang="en-US" altLang="ko-KR" sz="950" dirty="0" smtClean="0">
                  <a:latin typeface="Times New Roman" pitchFamily="18" charset="0"/>
                  <a:ea typeface="돋움" pitchFamily="50" charset="-127"/>
                  <a:cs typeface="Times New Roman" pitchFamily="18" charset="0"/>
                </a:rPr>
                <a:t>?</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A. Van Speed Control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B. Van Check</a:t>
              </a:r>
              <a:r>
                <a:rPr lang="ko-KR" altLang="en-US" sz="95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latin typeface="Times New Roman" pitchFamily="18" charset="0"/>
                  <a:ea typeface="돋움" pitchFamily="50" charset="-127"/>
                  <a:cs typeface="Times New Roman" pitchFamily="18" charset="0"/>
                </a:rPr>
                <a:t>C. Van tiết lưu Needle</a:t>
              </a:r>
              <a:r>
                <a:rPr lang="ko-KR" altLang="en-US" sz="950" smtClean="0">
                  <a:latin typeface="Times New Roman" pitchFamily="18" charset="0"/>
                  <a:ea typeface="돋움" pitchFamily="50" charset="-127"/>
                  <a:cs typeface="Times New Roman" pitchFamily="18" charset="0"/>
                </a:rPr>
                <a:t> </a:t>
              </a:r>
              <a:endParaRPr lang="en-US" altLang="ko-KR" sz="950" dirty="0">
                <a:latin typeface="Times New Roman" pitchFamily="18" charset="0"/>
                <a:ea typeface="돋움" pitchFamily="50" charset="-127"/>
                <a:cs typeface="Times New Roman" pitchFamily="18" charset="0"/>
              </a:endParaRPr>
            </a:p>
            <a:p>
              <a:pPr eaLnBrk="1" hangingPunct="1"/>
              <a:r>
                <a:rPr lang="en-US" altLang="ko-KR" sz="950" smtClean="0">
                  <a:solidFill>
                    <a:srgbClr val="FF0000"/>
                  </a:solidFill>
                  <a:latin typeface="Times New Roman" pitchFamily="18" charset="0"/>
                  <a:ea typeface="돋움" pitchFamily="50" charset="-127"/>
                  <a:cs typeface="Times New Roman" pitchFamily="18" charset="0"/>
                </a:rPr>
                <a:t>D. Van Pilot</a:t>
              </a:r>
              <a:endParaRPr lang="en-US" altLang="ko-KR" sz="950" dirty="0">
                <a:solidFill>
                  <a:srgbClr val="FF0000"/>
                </a:solidFill>
                <a:latin typeface="Times New Roman" pitchFamily="18" charset="0"/>
                <a:ea typeface="돋움" pitchFamily="50" charset="-127"/>
                <a:cs typeface="Times New Roman" pitchFamily="18" charset="0"/>
              </a:endParaRPr>
            </a:p>
          </p:txBody>
        </p:sp>
        <p:pic>
          <p:nvPicPr>
            <p:cNvPr id="28" name="Picture 40" descr="Untitled-1"/>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360988" y="4078609"/>
              <a:ext cx="685800" cy="514351"/>
            </a:xfrm>
            <a:prstGeom prst="rect">
              <a:avLst/>
            </a:prstGeom>
            <a:solidFill>
              <a:srgbClr val="0000FF"/>
            </a:solidFill>
            <a:ln>
              <a:noFill/>
            </a:ln>
            <a:extLs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175494754"/>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78182"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sp>
        <p:nvSpPr>
          <p:cNvPr id="9220" name="Rectangle 4"/>
          <p:cNvSpPr>
            <a:spLocks noChangeArrowheads="1"/>
          </p:cNvSpPr>
          <p:nvPr/>
        </p:nvSpPr>
        <p:spPr bwMode="auto">
          <a:xfrm>
            <a:off x="184150" y="764096"/>
            <a:ext cx="3200400" cy="885666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a:p>
            <a:pPr marL="457200" marR="0" lvl="0" indent="-457200" algn="l" defTabSz="914400" rtl="0" eaLnBrk="1" fontAlgn="base" latinLnBrk="1" hangingPunct="1">
              <a:lnSpc>
                <a:spcPct val="100000"/>
              </a:lnSpc>
              <a:spcBef>
                <a:spcPct val="0"/>
              </a:spcBef>
              <a:spcAft>
                <a:spcPct val="0"/>
              </a:spcAft>
              <a:buClrTx/>
              <a:buSzTx/>
              <a:buFontTx/>
              <a:buNone/>
              <a:tabLst/>
              <a:defRPr/>
            </a:pPr>
            <a:r>
              <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rPr>
              <a:t>   </a:t>
            </a:r>
          </a:p>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a:ln>
                <a:noFill/>
              </a:ln>
              <a:effectLst/>
              <a:uLnTx/>
              <a:uFillTx/>
              <a:latin typeface="Times New Roman" pitchFamily="18" charset="0"/>
              <a:ea typeface="Dotum" pitchFamily="50" charset="-127"/>
              <a:cs typeface="Times New Roman" pitchFamily="18" charset="0"/>
            </a:endParaRPr>
          </a:p>
        </p:txBody>
      </p:sp>
      <p:sp>
        <p:nvSpPr>
          <p:cNvPr id="9221" name="Text Box 6"/>
          <p:cNvSpPr txBox="1">
            <a:spLocks noChangeArrowheads="1"/>
          </p:cNvSpPr>
          <p:nvPr/>
        </p:nvSpPr>
        <p:spPr bwMode="auto">
          <a:xfrm>
            <a:off x="292100" y="817563"/>
            <a:ext cx="1502334" cy="2385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0" marR="0" lvl="0" indent="0" algn="l" defTabSz="914400" rtl="0" eaLnBrk="1" fontAlgn="base" latinLnBrk="1" hangingPunct="1">
              <a:lnSpc>
                <a:spcPct val="100000"/>
              </a:lnSpc>
              <a:spcBef>
                <a:spcPct val="0"/>
              </a:spcBef>
              <a:spcAft>
                <a:spcPct val="0"/>
              </a:spcAft>
              <a:buClrTx/>
              <a:buSzTx/>
              <a:buFontTx/>
              <a:buNone/>
              <a:tabLst/>
              <a:defRPr/>
            </a:pP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Máy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61</a:t>
            </a:r>
            <a:r>
              <a:rPr kumimoji="1" lang="ko-KR" altLang="en-US"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 </a:t>
            </a:r>
            <a:r>
              <a:rPr kumimoji="1" lang="en-US" altLang="ko-KR"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rPr>
              <a:t>~ </a:t>
            </a:r>
            <a:r>
              <a:rPr kumimoji="1" lang="vi-VN"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câu </a:t>
            </a:r>
            <a:r>
              <a:rPr kumimoji="1" lang="en-US" altLang="ko-KR" sz="950" b="1" i="0" u="none" strike="noStrike" kern="1200" cap="none" spc="0" normalizeH="0" baseline="0" noProof="0" dirty="0" smtClean="0">
                <a:ln>
                  <a:noFill/>
                </a:ln>
                <a:effectLst/>
                <a:uLnTx/>
                <a:uFillTx/>
                <a:latin typeface="Times New Roman" pitchFamily="18" charset="0"/>
                <a:ea typeface="Dotum" pitchFamily="50" charset="-127"/>
                <a:cs typeface="Times New Roman" pitchFamily="18" charset="0"/>
              </a:rPr>
              <a:t>80</a:t>
            </a:r>
            <a:endParaRPr kumimoji="1" lang="ko-KR" altLang="en-US" sz="950" b="1" i="0" u="none" strike="noStrike" kern="1200" cap="none" spc="0" normalizeH="0" baseline="0" noProof="0" dirty="0">
              <a:ln>
                <a:noFill/>
              </a:ln>
              <a:effectLst/>
              <a:uLnTx/>
              <a:uFillTx/>
              <a:latin typeface="Times New Roman" pitchFamily="18" charset="0"/>
              <a:ea typeface="Dotum" pitchFamily="50" charset="-127"/>
              <a:cs typeface="Times New Roman" pitchFamily="18" charset="0"/>
            </a:endParaRPr>
          </a:p>
        </p:txBody>
      </p:sp>
      <p:sp>
        <p:nvSpPr>
          <p:cNvPr id="7" name="Rectangle 5"/>
          <p:cNvSpPr>
            <a:spLocks noChangeArrowheads="1"/>
          </p:cNvSpPr>
          <p:nvPr/>
        </p:nvSpPr>
        <p:spPr bwMode="auto">
          <a:xfrm>
            <a:off x="3384550" y="758523"/>
            <a:ext cx="3284810" cy="8853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defRPr kumimoji="1" sz="900">
                <a:solidFill>
                  <a:schemeClr val="tx1"/>
                </a:solidFill>
                <a:latin typeface="Dotum" pitchFamily="50" charset="-127"/>
                <a:ea typeface="Dotum" pitchFamily="50" charset="-127"/>
              </a:defRPr>
            </a:lvl1pPr>
            <a:lvl2pPr marL="742950" indent="-285750" eaLnBrk="0" hangingPunct="0">
              <a:defRPr kumimoji="1" sz="900">
                <a:solidFill>
                  <a:schemeClr val="tx1"/>
                </a:solidFill>
                <a:latin typeface="Dotum" pitchFamily="50" charset="-127"/>
                <a:ea typeface="Dotum" pitchFamily="50" charset="-127"/>
              </a:defRPr>
            </a:lvl2pPr>
            <a:lvl3pPr marL="1143000" indent="-228600" eaLnBrk="0" hangingPunct="0">
              <a:defRPr kumimoji="1" sz="900">
                <a:solidFill>
                  <a:schemeClr val="tx1"/>
                </a:solidFill>
                <a:latin typeface="Dotum" pitchFamily="50" charset="-127"/>
                <a:ea typeface="Dotum" pitchFamily="50" charset="-127"/>
              </a:defRPr>
            </a:lvl3pPr>
            <a:lvl4pPr marL="1600200" indent="-228600" eaLnBrk="0" hangingPunct="0">
              <a:defRPr kumimoji="1" sz="900">
                <a:solidFill>
                  <a:schemeClr val="tx1"/>
                </a:solidFill>
                <a:latin typeface="Dotum" pitchFamily="50" charset="-127"/>
                <a:ea typeface="Dotum" pitchFamily="50" charset="-127"/>
              </a:defRPr>
            </a:lvl4pPr>
            <a:lvl5pPr marL="2057400" indent="-228600" eaLnBrk="0" hangingPunct="0">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defRPr kumimoji="1" sz="900">
                <a:solidFill>
                  <a:schemeClr val="tx1"/>
                </a:solidFill>
                <a:latin typeface="Dotum" pitchFamily="50" charset="-127"/>
                <a:ea typeface="Dotum" pitchFamily="50"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en-US" altLang="ko-KR" sz="950" b="0" i="0" u="none" strike="noStrike" kern="1200" cap="none" spc="0" normalizeH="0" baseline="0" noProof="0" dirty="0">
              <a:ln>
                <a:noFill/>
              </a:ln>
              <a:effectLst/>
              <a:uLnTx/>
              <a:uFillTx/>
              <a:latin typeface="Times New Roman" pitchFamily="18" charset="0"/>
              <a:ea typeface="LG Smart_H Regular" panose="020B0600000101010101" pitchFamily="34" charset="-127"/>
              <a:cs typeface="Times New Roman" pitchFamily="18" charset="0"/>
            </a:endParaRPr>
          </a:p>
        </p:txBody>
      </p:sp>
      <p:sp>
        <p:nvSpPr>
          <p:cNvPr id="37" name="Rectangle 7"/>
          <p:cNvSpPr>
            <a:spLocks noChangeArrowheads="1"/>
          </p:cNvSpPr>
          <p:nvPr/>
        </p:nvSpPr>
        <p:spPr bwMode="auto">
          <a:xfrm>
            <a:off x="184150" y="2608613"/>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62. </a:t>
            </a:r>
            <a:r>
              <a:rPr lang="vi-VN" altLang="ko-KR" sz="950">
                <a:latin typeface="Times New Roman" pitchFamily="18" charset="0"/>
                <a:ea typeface="LG Smart_H Regular" panose="020B0600000101010101" pitchFamily="34" charset="-127"/>
                <a:cs typeface="Times New Roman" pitchFamily="18" charset="0"/>
              </a:rPr>
              <a:t>Coupling nào mặt ngoài hình tròn và bên trong có một lỗ tròn. Mặt ngoài được gắn 3 bolt dài và sau đó được cố định bằng feather </a:t>
            </a:r>
            <a:r>
              <a:rPr lang="vi-VN" altLang="ko-KR" sz="950" smtClean="0">
                <a:latin typeface="Times New Roman" pitchFamily="18" charset="0"/>
                <a:ea typeface="LG Smart_H Regular" panose="020B0600000101010101" pitchFamily="34" charset="-127"/>
                <a:cs typeface="Times New Roman" pitchFamily="18" charset="0"/>
              </a:rPr>
              <a:t>key?</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Clamp </a:t>
            </a:r>
            <a:r>
              <a:rPr lang="vi-VN" altLang="ko-KR" sz="950" smtClean="0">
                <a:latin typeface="Times New Roman" pitchFamily="18" charset="0"/>
                <a:ea typeface="LG Smart_H Regular" panose="020B0600000101010101" pitchFamily="34" charset="-127"/>
                <a:cs typeface="Times New Roman" pitchFamily="18" charset="0"/>
              </a:rPr>
              <a:t>Coupling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Seller’s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Coupling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Muff </a:t>
            </a:r>
            <a:r>
              <a:rPr lang="vi-VN" altLang="ko-KR" sz="950" smtClean="0">
                <a:latin typeface="Times New Roman" pitchFamily="18" charset="0"/>
                <a:ea typeface="LG Smart_H Regular" panose="020B0600000101010101" pitchFamily="34" charset="-127"/>
                <a:cs typeface="Times New Roman" pitchFamily="18" charset="0"/>
              </a:rPr>
              <a:t>coupling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Universal </a:t>
            </a:r>
            <a:r>
              <a:rPr lang="en-US" altLang="ko-KR" sz="950" smtClean="0">
                <a:latin typeface="Times New Roman" pitchFamily="18" charset="0"/>
                <a:ea typeface="LG Smart_H Regular" panose="020B0600000101010101" pitchFamily="34" charset="-127"/>
                <a:cs typeface="Times New Roman" pitchFamily="18" charset="0"/>
              </a:rPr>
              <a:t>Coupling</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3" name="Rectangle 7"/>
          <p:cNvSpPr>
            <a:spLocks noChangeArrowheads="1"/>
          </p:cNvSpPr>
          <p:nvPr/>
        </p:nvSpPr>
        <p:spPr bwMode="auto">
          <a:xfrm>
            <a:off x="3364652" y="1233227"/>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66. </a:t>
            </a:r>
            <a:r>
              <a:rPr lang="vi-VN" altLang="ko-KR" sz="950">
                <a:latin typeface="Times New Roman" pitchFamily="18" charset="0"/>
                <a:ea typeface="LG Smart_H Regular" panose="020B0600000101010101" pitchFamily="34" charset="-127"/>
                <a:cs typeface="Times New Roman" pitchFamily="18" charset="0"/>
              </a:rPr>
              <a:t>Đâu không phải ưu điểm của đai Belt hình chữ </a:t>
            </a:r>
            <a:r>
              <a:rPr lang="vi-VN" altLang="ko-KR" sz="950" smtClean="0">
                <a:latin typeface="Times New Roman" pitchFamily="18" charset="0"/>
                <a:ea typeface="LG Smart_H Regular" panose="020B0600000101010101" pitchFamily="34" charset="-127"/>
                <a:cs typeface="Times New Roman" pitchFamily="18" charset="0"/>
              </a:rPr>
              <a:t>V?</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Độ dài của belt có thể thay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đổi</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Không cần lo lắng belt bị tuột ra </a:t>
            </a:r>
            <a:r>
              <a:rPr lang="en-US" altLang="ko-KR" sz="950" smtClean="0">
                <a:latin typeface="Times New Roman" pitchFamily="18" charset="0"/>
                <a:ea typeface="LG Smart_H Regular" panose="020B0600000101010101" pitchFamily="34" charset="-127"/>
                <a:cs typeface="Times New Roman" pitchFamily="18" charset="0"/>
              </a:rPr>
              <a:t>ngoài</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Hiệu suất truyền có thể đạt 99</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lắp đặt tại nơi chật hẹp</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4" name="Rectangle 7"/>
          <p:cNvSpPr>
            <a:spLocks noChangeArrowheads="1"/>
          </p:cNvSpPr>
          <p:nvPr/>
        </p:nvSpPr>
        <p:spPr bwMode="auto">
          <a:xfrm>
            <a:off x="3379882" y="2903384"/>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67. </a:t>
            </a:r>
            <a:r>
              <a:rPr lang="vi-VN" altLang="ko-KR" sz="950">
                <a:latin typeface="Times New Roman" pitchFamily="18" charset="0"/>
                <a:ea typeface="LG Smart_H Regular" panose="020B0600000101010101" pitchFamily="34" charset="-127"/>
                <a:cs typeface="Times New Roman" pitchFamily="18" charset="0"/>
              </a:rPr>
              <a:t>Chi tiết nào được lắp trong LM Block giúp tuần hoàn nhiệt của </a:t>
            </a:r>
            <a:r>
              <a:rPr lang="vi-VN" altLang="ko-KR" sz="950" smtClean="0">
                <a:latin typeface="Times New Roman" pitchFamily="18" charset="0"/>
                <a:ea typeface="LG Smart_H Regular" panose="020B0600000101010101" pitchFamily="34" charset="-127"/>
                <a:cs typeface="Times New Roman" pitchFamily="18" charset="0"/>
              </a:rPr>
              <a:t>Ball?</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End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Plate</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LM </a:t>
            </a:r>
            <a:r>
              <a:rPr lang="vi-VN" altLang="ko-KR" sz="950" smtClean="0">
                <a:latin typeface="Times New Roman" pitchFamily="18" charset="0"/>
                <a:ea typeface="LG Smart_H Regular" panose="020B0600000101010101" pitchFamily="34" charset="-127"/>
                <a:cs typeface="Times New Roman" pitchFamily="18" charset="0"/>
              </a:rPr>
              <a:t>Rail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End </a:t>
            </a:r>
            <a:r>
              <a:rPr lang="vi-VN" altLang="ko-KR" sz="950" smtClean="0">
                <a:latin typeface="Times New Roman" pitchFamily="18" charset="0"/>
                <a:ea typeface="LG Smart_H Regular" panose="020B0600000101010101" pitchFamily="34" charset="-127"/>
                <a:cs typeface="Times New Roman" pitchFamily="18" charset="0"/>
              </a:rPr>
              <a:t>Seal</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Base Plate</a:t>
            </a:r>
            <a:endParaRPr lang="en-US" altLang="ko-KR" sz="950" dirty="0">
              <a:latin typeface="Times New Roman" pitchFamily="18" charset="0"/>
              <a:ea typeface="LG Smart_H Regular" panose="020B0600000101010101" pitchFamily="34" charset="-127"/>
              <a:cs typeface="Times New Roman" pitchFamily="18" charset="0"/>
            </a:endParaRPr>
          </a:p>
        </p:txBody>
      </p:sp>
      <p:sp>
        <p:nvSpPr>
          <p:cNvPr id="46" name="Rectangle 7"/>
          <p:cNvSpPr>
            <a:spLocks noChangeArrowheads="1"/>
          </p:cNvSpPr>
          <p:nvPr/>
        </p:nvSpPr>
        <p:spPr bwMode="auto">
          <a:xfrm>
            <a:off x="3417858" y="4428872"/>
            <a:ext cx="3251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68. Đâu không phải những đặc tính thông thường của d</a:t>
            </a:r>
            <a:r>
              <a:rPr lang="vi-VN" altLang="ko-KR" sz="950" smtClean="0">
                <a:latin typeface="Times New Roman" pitchFamily="18" charset="0"/>
                <a:ea typeface="LG Smart_H Regular" panose="020B0600000101010101" pitchFamily="34" charset="-127"/>
                <a:cs typeface="Times New Roman" pitchFamily="18" charset="0"/>
              </a:rPr>
              <a:t>ầu </a:t>
            </a:r>
            <a:r>
              <a:rPr lang="vi-VN" altLang="ko-KR" sz="950">
                <a:latin typeface="Times New Roman" pitchFamily="18" charset="0"/>
                <a:ea typeface="LG Smart_H Regular" panose="020B0600000101010101" pitchFamily="34" charset="-127"/>
                <a:cs typeface="Times New Roman" pitchFamily="18" charset="0"/>
              </a:rPr>
              <a:t>bôi trơn dạng </a:t>
            </a:r>
            <a:r>
              <a:rPr lang="vi-VN" altLang="ko-KR" sz="950" smtClean="0">
                <a:latin typeface="Times New Roman" pitchFamily="18" charset="0"/>
                <a:ea typeface="LG Smart_H Regular" panose="020B0600000101010101" pitchFamily="34" charset="-127"/>
                <a:cs typeface="Times New Roman" pitchFamily="18" charset="0"/>
              </a:rPr>
              <a:t>lỏng?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độ dính đủ cần trong trạng thái sử dụng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tính dầu có thể chịu </a:t>
            </a:r>
            <a:r>
              <a:rPr lang="vi-VN" altLang="ko-KR" sz="950" smtClean="0">
                <a:latin typeface="Times New Roman" pitchFamily="18" charset="0"/>
                <a:ea typeface="LG Smart_H Regular" panose="020B0600000101010101" pitchFamily="34" charset="-127"/>
                <a:cs typeface="Times New Roman" pitchFamily="18" charset="0"/>
              </a:rPr>
              <a:t>được </a:t>
            </a:r>
            <a:r>
              <a:rPr lang="en-US" altLang="ko-KR" sz="950" smtClean="0">
                <a:latin typeface="Times New Roman" pitchFamily="18" charset="0"/>
                <a:ea typeface="LG Smart_H Regular" panose="020B0600000101010101" pitchFamily="34" charset="-127"/>
                <a:cs typeface="Times New Roman" pitchFamily="18" charset="0"/>
              </a:rPr>
              <a:t>ở </a:t>
            </a:r>
            <a:r>
              <a:rPr lang="vi-VN" altLang="ko-KR" sz="950" smtClean="0">
                <a:latin typeface="Times New Roman" pitchFamily="18" charset="0"/>
                <a:ea typeface="LG Smart_H Regular" panose="020B0600000101010101" pitchFamily="34" charset="-127"/>
                <a:cs typeface="Times New Roman" pitchFamily="18" charset="0"/>
              </a:rPr>
              <a:t>trạng </a:t>
            </a:r>
            <a:r>
              <a:rPr lang="vi-VN" altLang="ko-KR" sz="950">
                <a:latin typeface="Times New Roman" pitchFamily="18" charset="0"/>
                <a:ea typeface="LG Smart_H Regular" panose="020B0600000101010101" pitchFamily="34" charset="-127"/>
                <a:cs typeface="Times New Roman" pitchFamily="18" charset="0"/>
              </a:rPr>
              <a:t>thái bôi trơn </a:t>
            </a:r>
            <a:r>
              <a:rPr lang="vi-VN" altLang="ko-KR" sz="950" smtClean="0">
                <a:latin typeface="Times New Roman" pitchFamily="18" charset="0"/>
                <a:ea typeface="LG Smart_H Regular" panose="020B0600000101010101" pitchFamily="34" charset="-127"/>
                <a:cs typeface="Times New Roman" pitchFamily="18" charset="0"/>
              </a:rPr>
              <a:t>giới</a:t>
            </a:r>
            <a:r>
              <a:rPr lang="en-US" altLang="ko-KR" sz="950" smtClean="0">
                <a:latin typeface="Times New Roman" pitchFamily="18" charset="0"/>
                <a:ea typeface="LG Smart_H Regular" panose="020B0600000101010101" pitchFamily="34" charset="-127"/>
                <a:cs typeface="Times New Roman" pitchFamily="18" charset="0"/>
              </a:rPr>
              <a:t> </a:t>
            </a:r>
            <a:r>
              <a:rPr lang="vi-VN" altLang="ko-KR" sz="950" smtClean="0">
                <a:latin typeface="Times New Roman" pitchFamily="18" charset="0"/>
                <a:ea typeface="LG Smart_H Regular" panose="020B0600000101010101" pitchFamily="34" charset="-127"/>
                <a:cs typeface="Times New Roman" pitchFamily="18" charset="0"/>
              </a:rPr>
              <a:t>hạn.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Tính bền ô xi hóa và nhiệt cao, mang tính trơ hóa học có thể, sạch mà đồng chất</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Chất làm cô đặc</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47" name="Rectangle 7"/>
          <p:cNvSpPr>
            <a:spLocks noChangeArrowheads="1"/>
          </p:cNvSpPr>
          <p:nvPr/>
        </p:nvSpPr>
        <p:spPr bwMode="auto">
          <a:xfrm>
            <a:off x="3409102" y="8193360"/>
            <a:ext cx="3180502" cy="1115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70. </a:t>
            </a:r>
            <a:r>
              <a:rPr lang="vi-VN" altLang="ko-KR" sz="950">
                <a:latin typeface="Times New Roman" pitchFamily="18" charset="0"/>
                <a:ea typeface="LG Smart_H Regular" panose="020B0600000101010101" pitchFamily="34" charset="-127"/>
                <a:cs typeface="Times New Roman" pitchFamily="18" charset="0"/>
              </a:rPr>
              <a:t>Đâu không phải là phương pháp chiếu góc nhìn vào vật </a:t>
            </a:r>
            <a:r>
              <a:rPr lang="vi-VN" altLang="ko-KR" sz="950" smtClean="0">
                <a:latin typeface="Times New Roman" pitchFamily="18" charset="0"/>
                <a:ea typeface="LG Smart_H Regular" panose="020B0600000101010101" pitchFamily="34" charset="-127"/>
                <a:cs typeface="Times New Roman" pitchFamily="18" charset="0"/>
              </a:rPr>
              <a:t>thể?</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Hình chiếu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nghiêng</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nb-NO" altLang="ko-KR" sz="950">
                <a:latin typeface="Times New Roman" pitchFamily="18" charset="0"/>
                <a:ea typeface="LG Smart_H Regular" panose="020B0600000101010101" pitchFamily="34" charset="-127"/>
                <a:cs typeface="Times New Roman" pitchFamily="18" charset="0"/>
              </a:rPr>
              <a:t>Hình chiếu </a:t>
            </a:r>
            <a:r>
              <a:rPr lang="nb-NO" altLang="ko-KR" sz="950" smtClean="0">
                <a:latin typeface="Times New Roman" pitchFamily="18" charset="0"/>
                <a:ea typeface="LG Smart_H Regular" panose="020B0600000101010101" pitchFamily="34" charset="-127"/>
                <a:cs typeface="Times New Roman" pitchFamily="18" charset="0"/>
              </a:rPr>
              <a:t>bằng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Hình chiếu </a:t>
            </a:r>
            <a:r>
              <a:rPr lang="vi-VN" altLang="ko-KR" sz="950" smtClean="0">
                <a:latin typeface="Times New Roman" pitchFamily="18" charset="0"/>
                <a:ea typeface="LG Smart_H Regular" panose="020B0600000101010101" pitchFamily="34" charset="-127"/>
                <a:cs typeface="Times New Roman" pitchFamily="18" charset="0"/>
              </a:rPr>
              <a:t>đứng</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Hình chiếu cạnh</a:t>
            </a:r>
            <a:endParaRPr lang="en-US" altLang="ko-KR" sz="950" smtClean="0">
              <a:latin typeface="Times New Roman" pitchFamily="18" charset="0"/>
              <a:ea typeface="LG Smart_H Regular" panose="020B0600000101010101" pitchFamily="34" charset="-127"/>
              <a:cs typeface="Times New Roman" pitchFamily="18" charset="0"/>
            </a:endParaRPr>
          </a:p>
        </p:txBody>
      </p:sp>
      <p:sp>
        <p:nvSpPr>
          <p:cNvPr id="40" name="Rectangle 7"/>
          <p:cNvSpPr>
            <a:spLocks noChangeArrowheads="1"/>
          </p:cNvSpPr>
          <p:nvPr/>
        </p:nvSpPr>
        <p:spPr bwMode="auto">
          <a:xfrm>
            <a:off x="228600" y="6161628"/>
            <a:ext cx="3180502"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64. </a:t>
            </a:r>
            <a:r>
              <a:rPr lang="vi-VN" altLang="ko-KR" sz="950">
                <a:latin typeface="Times New Roman" pitchFamily="18" charset="0"/>
                <a:ea typeface="LG Smart_H Regular" panose="020B0600000101010101" pitchFamily="34" charset="-127"/>
                <a:cs typeface="Times New Roman" pitchFamily="18" charset="0"/>
              </a:rPr>
              <a:t>Đâu không phải là đặc điểm của khóa Key bán nguyệt (woodruff key</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Dễ dàng lắp đặt và sửa </a:t>
            </a:r>
            <a:r>
              <a:rPr lang="vi-VN" altLang="ko-KR" sz="950" smtClean="0">
                <a:latin typeface="Times New Roman" pitchFamily="18" charset="0"/>
                <a:ea typeface="LG Smart_H Regular" panose="020B0600000101010101" pitchFamily="34" charset="-127"/>
                <a:cs typeface="Times New Roman" pitchFamily="18" charset="0"/>
              </a:rPr>
              <a:t>chữa</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Do home sâu nên làm giảm độ bền của trục. </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Là dạng khóa hình bán nguyệt thường dùng trên các trục nhỏ(60mm trở xuống</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Thường dùng trong trục chính của xe ô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tô</a:t>
            </a:r>
            <a:endParaRPr lang="en-US" altLang="ko-KR" sz="950" dirty="0">
              <a:solidFill>
                <a:srgbClr val="FF0000"/>
              </a:solidFill>
              <a:latin typeface="Times New Roman" pitchFamily="18" charset="0"/>
              <a:ea typeface="LG Smart_H Regular" panose="020B0600000101010101" pitchFamily="34" charset="-127"/>
              <a:cs typeface="Times New Roman" pitchFamily="18" charset="0"/>
            </a:endParaRPr>
          </a:p>
        </p:txBody>
      </p:sp>
      <p:sp>
        <p:nvSpPr>
          <p:cNvPr id="29" name="Rectangle 7"/>
          <p:cNvSpPr>
            <a:spLocks noChangeArrowheads="1"/>
          </p:cNvSpPr>
          <p:nvPr/>
        </p:nvSpPr>
        <p:spPr bwMode="auto">
          <a:xfrm>
            <a:off x="3409102" y="6393160"/>
            <a:ext cx="3180502"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69. </a:t>
            </a:r>
            <a:r>
              <a:rPr lang="vi-VN" altLang="ko-KR" sz="950">
                <a:latin typeface="Times New Roman" pitchFamily="18" charset="0"/>
                <a:ea typeface="LG Smart_H Regular" panose="020B0600000101010101" pitchFamily="34" charset="-127"/>
                <a:cs typeface="Times New Roman" pitchFamily="18" charset="0"/>
              </a:rPr>
              <a:t>Đâu là đặc điểm không đúng của bôi trơn </a:t>
            </a:r>
            <a:r>
              <a:rPr lang="vi-VN" altLang="ko-KR" sz="950" smtClean="0">
                <a:latin typeface="Times New Roman" pitchFamily="18" charset="0"/>
                <a:ea typeface="LG Smart_H Regular" panose="020B0600000101010101" pitchFamily="34" charset="-127"/>
                <a:cs typeface="Times New Roman" pitchFamily="18" charset="0"/>
              </a:rPr>
              <a:t>Dầu?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Hệ thống bôi trơn đơn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giản</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Lượng dầu cần </a:t>
            </a:r>
            <a:r>
              <a:rPr lang="vi-VN" altLang="ko-KR" sz="950" smtClean="0">
                <a:latin typeface="Times New Roman" pitchFamily="18" charset="0"/>
                <a:ea typeface="LG Smart_H Regular" panose="020B0600000101010101" pitchFamily="34" charset="-127"/>
                <a:cs typeface="Times New Roman" pitchFamily="18" charset="0"/>
              </a:rPr>
              <a:t>nhiều</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Thiết bị bịt kín phức </a:t>
            </a:r>
            <a:r>
              <a:rPr lang="en-US" altLang="ko-KR" sz="950" smtClean="0">
                <a:latin typeface="Times New Roman" pitchFamily="18" charset="0"/>
                <a:ea typeface="LG Smart_H Regular" panose="020B0600000101010101" pitchFamily="34" charset="-127"/>
                <a:cs typeface="Times New Roman" pitchFamily="18" charset="0"/>
              </a:rPr>
              <a:t>tạp</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liên tục loại bỏ tạp chất</a:t>
            </a:r>
            <a:endParaRPr lang="en-US" altLang="ko-KR" sz="950" smtClean="0">
              <a:latin typeface="Times New Roman" pitchFamily="18" charset="0"/>
              <a:ea typeface="LG Smart_H Regular" panose="020B0600000101010101" pitchFamily="34" charset="-127"/>
              <a:cs typeface="Times New Roman" pitchFamily="18" charset="0"/>
            </a:endParaRPr>
          </a:p>
        </p:txBody>
      </p:sp>
      <p:grpSp>
        <p:nvGrpSpPr>
          <p:cNvPr id="2" name="Group 1"/>
          <p:cNvGrpSpPr/>
          <p:nvPr/>
        </p:nvGrpSpPr>
        <p:grpSpPr>
          <a:xfrm>
            <a:off x="188640" y="1208584"/>
            <a:ext cx="3229218" cy="969496"/>
            <a:chOff x="188640" y="1208584"/>
            <a:chExt cx="3229218" cy="969496"/>
          </a:xfrm>
        </p:grpSpPr>
        <p:sp>
          <p:nvSpPr>
            <p:cNvPr id="32" name="Rectangle 7"/>
            <p:cNvSpPr>
              <a:spLocks noChangeArrowheads="1"/>
            </p:cNvSpPr>
            <p:nvPr/>
          </p:nvSpPr>
          <p:spPr bwMode="auto">
            <a:xfrm>
              <a:off x="188640" y="1208584"/>
              <a:ext cx="3229218"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61. </a:t>
              </a:r>
              <a:r>
                <a:rPr lang="vi-VN" altLang="ko-KR" sz="950">
                  <a:latin typeface="Times New Roman" pitchFamily="18" charset="0"/>
                  <a:ea typeface="LG Smart_H Regular" panose="020B0600000101010101" pitchFamily="34" charset="-127"/>
                  <a:cs typeface="Times New Roman" pitchFamily="18" charset="0"/>
                </a:rPr>
                <a:t>Hình ảnh dưới đây đang thể hiện khi lắp ghép dung sai </a:t>
              </a:r>
              <a:r>
                <a:rPr lang="vi-VN" altLang="ko-KR" sz="950" smtClean="0">
                  <a:latin typeface="Times New Roman" pitchFamily="18" charset="0"/>
                  <a:ea typeface="LG Smart_H Regular" panose="020B0600000101010101" pitchFamily="34" charset="-127"/>
                  <a:cs typeface="Times New Roman" pitchFamily="18" charset="0"/>
                </a:rPr>
                <a:t>nào?</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Lắp </a:t>
              </a:r>
              <a:r>
                <a:rPr lang="en-US" altLang="ko-KR" sz="950" smtClean="0">
                  <a:latin typeface="Times New Roman" pitchFamily="18" charset="0"/>
                  <a:ea typeface="LG Smart_H Regular" panose="020B0600000101010101" pitchFamily="34" charset="-127"/>
                  <a:cs typeface="Times New Roman" pitchFamily="18" charset="0"/>
                </a:rPr>
                <a:t>khít</a:t>
              </a:r>
            </a:p>
            <a:p>
              <a:pPr marL="228600" indent="-228600" eaLnBrk="1" fontAlgn="base" hangingPunct="1">
                <a:spcBef>
                  <a:spcPct val="0"/>
                </a:spcBef>
                <a:spcAft>
                  <a:spcPct val="0"/>
                </a:spcAft>
                <a:buAutoNum type="alphaUcPeriod"/>
              </a:pPr>
              <a:r>
                <a:rPr lang="en-US" altLang="ko-KR" sz="950">
                  <a:latin typeface="Times New Roman" pitchFamily="18" charset="0"/>
                  <a:ea typeface="LG Smart_H Regular" panose="020B0600000101010101" pitchFamily="34" charset="-127"/>
                  <a:cs typeface="Times New Roman" pitchFamily="18" charset="0"/>
                </a:rPr>
                <a:t>Lắp </a:t>
              </a:r>
              <a:r>
                <a:rPr lang="en-US" altLang="ko-KR" sz="950" smtClean="0">
                  <a:latin typeface="Times New Roman" pitchFamily="18" charset="0"/>
                  <a:ea typeface="LG Smart_H Regular" panose="020B0600000101010101" pitchFamily="34" charset="-127"/>
                  <a:cs typeface="Times New Roman" pitchFamily="18" charset="0"/>
                </a:rPr>
                <a:t>chặt</a:t>
              </a:r>
            </a:p>
            <a:p>
              <a:pPr marL="228600" indent="-228600" eaLnBrk="1" fontAlgn="base" hangingPunct="1">
                <a:spcBef>
                  <a:spcPct val="0"/>
                </a:spcBef>
                <a:spcAft>
                  <a:spcPct val="0"/>
                </a:spcAft>
                <a:buAutoNum type="alphaUcPeriod"/>
              </a:pPr>
              <a:r>
                <a:rPr lang="en-US" altLang="ko-KR" sz="950">
                  <a:solidFill>
                    <a:srgbClr val="FF0000"/>
                  </a:solidFill>
                  <a:latin typeface="Times New Roman" pitchFamily="18" charset="0"/>
                  <a:ea typeface="LG Smart_H Regular" panose="020B0600000101010101" pitchFamily="34" charset="-127"/>
                  <a:cs typeface="Times New Roman" pitchFamily="18" charset="0"/>
                </a:rPr>
                <a:t>Lắp </a:t>
              </a:r>
              <a:r>
                <a:rPr lang="en-US" altLang="ko-KR" sz="950" smtClean="0">
                  <a:solidFill>
                    <a:srgbClr val="FF0000"/>
                  </a:solidFill>
                  <a:latin typeface="Times New Roman" pitchFamily="18" charset="0"/>
                  <a:ea typeface="LG Smart_H Regular" panose="020B0600000101010101" pitchFamily="34" charset="-127"/>
                  <a:cs typeface="Times New Roman" pitchFamily="18" charset="0"/>
                </a:rPr>
                <a:t>lỏng</a:t>
              </a: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Lắp độ dôi</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22" name="Picture 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00808" y="1496615"/>
              <a:ext cx="1134343" cy="6348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8" name="Rectangle 7"/>
          <p:cNvSpPr>
            <a:spLocks noChangeArrowheads="1"/>
          </p:cNvSpPr>
          <p:nvPr/>
        </p:nvSpPr>
        <p:spPr bwMode="auto">
          <a:xfrm>
            <a:off x="176490" y="4415552"/>
            <a:ext cx="3180502" cy="1408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63. </a:t>
            </a:r>
            <a:r>
              <a:rPr lang="vi-VN" altLang="ko-KR" sz="950">
                <a:latin typeface="Times New Roman" pitchFamily="18" charset="0"/>
                <a:ea typeface="LG Smart_H Regular" panose="020B0600000101010101" pitchFamily="34" charset="-127"/>
                <a:cs typeface="Times New Roman" pitchFamily="18" charset="0"/>
              </a:rPr>
              <a:t>Đâu không phải đặc điểm của vòng bi Angular ball </a:t>
            </a:r>
            <a:r>
              <a:rPr lang="vi-VN" altLang="ko-KR" sz="950" smtClean="0">
                <a:latin typeface="Times New Roman" pitchFamily="18" charset="0"/>
                <a:ea typeface="LG Smart_H Regular" panose="020B0600000101010101" pitchFamily="34" charset="-127"/>
                <a:cs typeface="Times New Roman" pitchFamily="18" charset="0"/>
              </a:rPr>
              <a:t>bearing?</a:t>
            </a:r>
            <a:endParaRPr lang="en-US" altLang="ko-KR" sz="950" smtClean="0">
              <a:latin typeface="Times New Roman" pitchFamily="18" charset="0"/>
              <a:ea typeface="LG Smart_H Regular" panose="020B0600000101010101" pitchFamily="34" charset="-127"/>
              <a:cs typeface="Times New Roman" pitchFamily="18" charset="0"/>
            </a:endParaRPr>
          </a:p>
          <a:p>
            <a:pPr eaLnBrk="1" fontAlgn="base" hangingPunct="1">
              <a:spcBef>
                <a:spcPct val="0"/>
              </a:spcBef>
              <a:spcAft>
                <a:spcPct val="0"/>
              </a:spcAft>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Bearing có tính chuẩn xác cao và tốc độ quay </a:t>
            </a:r>
            <a:r>
              <a:rPr lang="vi-VN" altLang="ko-KR" sz="950" smtClean="0">
                <a:latin typeface="Times New Roman" pitchFamily="18" charset="0"/>
                <a:ea typeface="LG Smart_H Regular" panose="020B0600000101010101" pitchFamily="34" charset="-127"/>
                <a:cs typeface="Times New Roman" pitchFamily="18" charset="0"/>
              </a:rPr>
              <a:t>lớn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So với loại tiêu chuẩn vòng bi một rãnh sâu thì có khả năng chịu tải cao hơn</a:t>
            </a:r>
            <a:r>
              <a:rPr lang="vi-VN" altLang="ko-KR" sz="950" smtClean="0">
                <a:latin typeface="Times New Roman" pitchFamily="18" charset="0"/>
                <a:ea typeface="LG Smart_H Regular" panose="020B0600000101010101" pitchFamily="34" charset="-127"/>
                <a:cs typeface="Times New Roman" pitchFamily="18" charset="0"/>
              </a:rPr>
              <a:t>.</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Là hình thái đại diện cho Rolling Bearing và có mục đích sử dụng rộng. </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Có thể chịu tải trong theo hướng dọc trục.</a:t>
            </a:r>
            <a:endParaRPr lang="en-US" altLang="ko-KR" sz="950" dirty="0">
              <a:latin typeface="Times New Roman" pitchFamily="18" charset="0"/>
              <a:ea typeface="LG Smart_H Regular" panose="020B0600000101010101" pitchFamily="34" charset="-127"/>
              <a:cs typeface="Times New Roman" pitchFamily="18" charset="0"/>
            </a:endParaRPr>
          </a:p>
        </p:txBody>
      </p:sp>
      <p:grpSp>
        <p:nvGrpSpPr>
          <p:cNvPr id="3" name="Group 2"/>
          <p:cNvGrpSpPr/>
          <p:nvPr/>
        </p:nvGrpSpPr>
        <p:grpSpPr>
          <a:xfrm>
            <a:off x="163884" y="8193360"/>
            <a:ext cx="3253973" cy="1067550"/>
            <a:chOff x="163884" y="8193360"/>
            <a:chExt cx="3253973" cy="1067550"/>
          </a:xfrm>
        </p:grpSpPr>
        <p:sp>
          <p:nvSpPr>
            <p:cNvPr id="42" name="Rectangle 7"/>
            <p:cNvSpPr>
              <a:spLocks noChangeArrowheads="1"/>
            </p:cNvSpPr>
            <p:nvPr/>
          </p:nvSpPr>
          <p:spPr bwMode="auto">
            <a:xfrm>
              <a:off x="163884" y="8193360"/>
              <a:ext cx="3253973"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900">
                  <a:solidFill>
                    <a:schemeClr val="tx1"/>
                  </a:solidFill>
                  <a:latin typeface="Arial" charset="0"/>
                  <a:ea typeface="돋움" pitchFamily="50" charset="-127"/>
                </a:defRPr>
              </a:lvl1pPr>
              <a:lvl2pPr marL="742950" indent="-285750" eaLnBrk="0" hangingPunct="0">
                <a:defRPr kumimoji="1" sz="900">
                  <a:solidFill>
                    <a:schemeClr val="tx1"/>
                  </a:solidFill>
                  <a:latin typeface="Arial" charset="0"/>
                  <a:ea typeface="돋움" pitchFamily="50" charset="-127"/>
                </a:defRPr>
              </a:lvl2pPr>
              <a:lvl3pPr marL="1143000" indent="-228600" eaLnBrk="0" hangingPunct="0">
                <a:defRPr kumimoji="1" sz="900">
                  <a:solidFill>
                    <a:schemeClr val="tx1"/>
                  </a:solidFill>
                  <a:latin typeface="Arial" charset="0"/>
                  <a:ea typeface="돋움" pitchFamily="50" charset="-127"/>
                </a:defRPr>
              </a:lvl3pPr>
              <a:lvl4pPr marL="1600200" indent="-228600" eaLnBrk="0" hangingPunct="0">
                <a:defRPr kumimoji="1" sz="900">
                  <a:solidFill>
                    <a:schemeClr val="tx1"/>
                  </a:solidFill>
                  <a:latin typeface="Arial" charset="0"/>
                  <a:ea typeface="돋움" pitchFamily="50" charset="-127"/>
                </a:defRPr>
              </a:lvl4pPr>
              <a:lvl5pPr marL="2057400" indent="-228600" eaLnBrk="0" hangingPunct="0">
                <a:defRPr kumimoji="1" sz="900">
                  <a:solidFill>
                    <a:schemeClr val="tx1"/>
                  </a:solidFill>
                  <a:latin typeface="Arial" charset="0"/>
                  <a:ea typeface="돋움" pitchFamily="50" charset="-127"/>
                </a:defRPr>
              </a:lvl5pPr>
              <a:lvl6pPr marL="2514600" indent="-228600" eaLnBrk="0" fontAlgn="base" hangingPunct="0">
                <a:spcBef>
                  <a:spcPct val="0"/>
                </a:spcBef>
                <a:spcAft>
                  <a:spcPct val="0"/>
                </a:spcAft>
                <a:defRPr kumimoji="1" sz="900">
                  <a:solidFill>
                    <a:schemeClr val="tx1"/>
                  </a:solidFill>
                  <a:latin typeface="Arial" charset="0"/>
                  <a:ea typeface="돋움" pitchFamily="50" charset="-127"/>
                </a:defRPr>
              </a:lvl6pPr>
              <a:lvl7pPr marL="2971800" indent="-228600" eaLnBrk="0" fontAlgn="base" hangingPunct="0">
                <a:spcBef>
                  <a:spcPct val="0"/>
                </a:spcBef>
                <a:spcAft>
                  <a:spcPct val="0"/>
                </a:spcAft>
                <a:defRPr kumimoji="1" sz="900">
                  <a:solidFill>
                    <a:schemeClr val="tx1"/>
                  </a:solidFill>
                  <a:latin typeface="Arial" charset="0"/>
                  <a:ea typeface="돋움" pitchFamily="50" charset="-127"/>
                </a:defRPr>
              </a:lvl7pPr>
              <a:lvl8pPr marL="3429000" indent="-228600" eaLnBrk="0" fontAlgn="base" hangingPunct="0">
                <a:spcBef>
                  <a:spcPct val="0"/>
                </a:spcBef>
                <a:spcAft>
                  <a:spcPct val="0"/>
                </a:spcAft>
                <a:defRPr kumimoji="1" sz="900">
                  <a:solidFill>
                    <a:schemeClr val="tx1"/>
                  </a:solidFill>
                  <a:latin typeface="Arial" charset="0"/>
                  <a:ea typeface="돋움" pitchFamily="50" charset="-127"/>
                </a:defRPr>
              </a:lvl8pPr>
              <a:lvl9pPr marL="3886200" indent="-228600" eaLnBrk="0" fontAlgn="base" hangingPunct="0">
                <a:spcBef>
                  <a:spcPct val="0"/>
                </a:spcBef>
                <a:spcAft>
                  <a:spcPct val="0"/>
                </a:spcAft>
                <a:defRPr kumimoji="1" sz="900">
                  <a:solidFill>
                    <a:schemeClr val="tx1"/>
                  </a:solidFill>
                  <a:latin typeface="Arial" charset="0"/>
                  <a:ea typeface="돋움" pitchFamily="50" charset="-127"/>
                </a:defRPr>
              </a:lvl9pPr>
            </a:lstStyle>
            <a:p>
              <a:pPr eaLnBrk="1" fontAlgn="base" hangingPunct="1">
                <a:spcBef>
                  <a:spcPct val="0"/>
                </a:spcBef>
                <a:spcAft>
                  <a:spcPct val="0"/>
                </a:spcAft>
              </a:pPr>
              <a:r>
                <a:rPr lang="en-US" altLang="ko-KR" sz="950" smtClean="0">
                  <a:latin typeface="Times New Roman" pitchFamily="18" charset="0"/>
                  <a:ea typeface="LG Smart_H Regular" panose="020B0600000101010101" pitchFamily="34" charset="-127"/>
                  <a:cs typeface="Times New Roman" pitchFamily="18" charset="0"/>
                </a:rPr>
                <a:t>65. </a:t>
              </a:r>
              <a:r>
                <a:rPr lang="vi-VN" altLang="ko-KR" sz="950">
                  <a:latin typeface="Times New Roman" pitchFamily="18" charset="0"/>
                  <a:ea typeface="LG Smart_H Regular" panose="020B0600000101010101" pitchFamily="34" charset="-127"/>
                  <a:cs typeface="Times New Roman" pitchFamily="18" charset="0"/>
                </a:rPr>
                <a:t>Tên gọi của chốt ( Pin)  trong hình bên dưới </a:t>
              </a:r>
              <a:r>
                <a:rPr lang="vi-VN" altLang="ko-KR" sz="950" smtClean="0">
                  <a:latin typeface="Times New Roman" pitchFamily="18" charset="0"/>
                  <a:ea typeface="LG Smart_H Regular" panose="020B0600000101010101" pitchFamily="34" charset="-127"/>
                  <a:cs typeface="Times New Roman" pitchFamily="18" charset="0"/>
                </a:rPr>
                <a:t>là?</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solidFill>
                    <a:srgbClr val="FF0000"/>
                  </a:solidFill>
                  <a:latin typeface="Times New Roman" pitchFamily="18" charset="0"/>
                  <a:ea typeface="LG Smart_H Regular" panose="020B0600000101010101" pitchFamily="34" charset="-127"/>
                  <a:cs typeface="Times New Roman" pitchFamily="18" charset="0"/>
                </a:rPr>
                <a:t>Spring </a:t>
              </a:r>
              <a:r>
                <a:rPr lang="vi-VN" altLang="ko-KR" sz="950" smtClean="0">
                  <a:solidFill>
                    <a:srgbClr val="FF0000"/>
                  </a:solidFill>
                  <a:latin typeface="Times New Roman" pitchFamily="18" charset="0"/>
                  <a:ea typeface="LG Smart_H Regular" panose="020B0600000101010101" pitchFamily="34" charset="-127"/>
                  <a:cs typeface="Times New Roman" pitchFamily="18" charset="0"/>
                </a:rPr>
                <a:t>pin</a:t>
              </a:r>
              <a:endParaRPr lang="en-US" altLang="ko-KR" sz="950" smtClean="0">
                <a:solidFill>
                  <a:srgbClr val="FF0000"/>
                </a:solidFill>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Knuckle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Parallel </a:t>
              </a:r>
              <a:r>
                <a:rPr lang="vi-VN" altLang="ko-KR" sz="950" smtClean="0">
                  <a:latin typeface="Times New Roman" pitchFamily="18" charset="0"/>
                  <a:ea typeface="LG Smart_H Regular" panose="020B0600000101010101" pitchFamily="34" charset="-127"/>
                  <a:cs typeface="Times New Roman" pitchFamily="18" charset="0"/>
                </a:rPr>
                <a:t>pin</a:t>
              </a:r>
              <a:endParaRPr lang="en-US" altLang="ko-KR" sz="950" smtClean="0">
                <a:latin typeface="Times New Roman" pitchFamily="18" charset="0"/>
                <a:ea typeface="LG Smart_H Regular" panose="020B0600000101010101" pitchFamily="34" charset="-127"/>
                <a:cs typeface="Times New Roman" pitchFamily="18" charset="0"/>
              </a:endParaRPr>
            </a:p>
            <a:p>
              <a:pPr marL="228600" indent="-228600" eaLnBrk="1" fontAlgn="base" hangingPunct="1">
                <a:spcBef>
                  <a:spcPct val="0"/>
                </a:spcBef>
                <a:spcAft>
                  <a:spcPct val="0"/>
                </a:spcAft>
                <a:buAutoNum type="alphaUcPeriod"/>
              </a:pPr>
              <a:r>
                <a:rPr lang="vi-VN" altLang="ko-KR" sz="950">
                  <a:latin typeface="Times New Roman" pitchFamily="18" charset="0"/>
                  <a:ea typeface="LG Smart_H Regular" panose="020B0600000101010101" pitchFamily="34" charset="-127"/>
                  <a:cs typeface="Times New Roman" pitchFamily="18" charset="0"/>
                </a:rPr>
                <a:t>Split pin</a:t>
              </a:r>
              <a:endParaRPr lang="en-US" altLang="ko-KR" sz="950" dirty="0">
                <a:latin typeface="Times New Roman" pitchFamily="18" charset="0"/>
                <a:ea typeface="LG Smart_H Regular" panose="020B0600000101010101" pitchFamily="34" charset="-127"/>
                <a:cs typeface="Times New Roman" pitchFamily="18" charset="0"/>
              </a:endParaRPr>
            </a:p>
          </p:txBody>
        </p:sp>
        <p:pic>
          <p:nvPicPr>
            <p:cNvPr id="30" name="Picture 29"/>
            <p:cNvPicPr>
              <a:picLocks noChangeAspect="1"/>
            </p:cNvPicPr>
            <p:nvPr/>
          </p:nvPicPr>
          <p:blipFill>
            <a:blip r:embed="rId4"/>
            <a:stretch>
              <a:fillRect/>
            </a:stretch>
          </p:blipFill>
          <p:spPr>
            <a:xfrm>
              <a:off x="1467879" y="8465802"/>
              <a:ext cx="1457065" cy="795108"/>
            </a:xfrm>
            <a:prstGeom prst="rect">
              <a:avLst/>
            </a:prstGeom>
          </p:spPr>
        </p:pic>
      </p:grpSp>
    </p:spTree>
    <p:extLst>
      <p:ext uri="{BB962C8B-B14F-4D97-AF65-F5344CB8AC3E}">
        <p14:creationId xmlns:p14="http://schemas.microsoft.com/office/powerpoint/2010/main" val="195506693"/>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Line 2"/>
          <p:cNvSpPr>
            <a:spLocks noChangeShapeType="1"/>
          </p:cNvSpPr>
          <p:nvPr/>
        </p:nvSpPr>
        <p:spPr bwMode="auto">
          <a:xfrm>
            <a:off x="228600" y="609600"/>
            <a:ext cx="6324600" cy="0"/>
          </a:xfrm>
          <a:prstGeom prst="line">
            <a:avLst/>
          </a:prstGeom>
          <a:noFill/>
          <a:ln w="57150" cmpd="thinThick">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1" hangingPunct="1">
              <a:lnSpc>
                <a:spcPct val="100000"/>
              </a:lnSpc>
              <a:spcBef>
                <a:spcPct val="0"/>
              </a:spcBef>
              <a:spcAft>
                <a:spcPct val="0"/>
              </a:spcAft>
              <a:buClrTx/>
              <a:buSzTx/>
              <a:buFontTx/>
              <a:buNone/>
              <a:tabLst/>
              <a:defRPr/>
            </a:pPr>
            <a:endParaRPr kumimoji="1" lang="ko-KR" altLang="en-US"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4" name="Rectangle 4"/>
          <p:cNvSpPr>
            <a:spLocks noChangeArrowheads="1"/>
          </p:cNvSpPr>
          <p:nvPr/>
        </p:nvSpPr>
        <p:spPr bwMode="auto">
          <a:xfrm>
            <a:off x="188640" y="809164"/>
            <a:ext cx="3258330"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92075" indent="-92075" eaLnBrk="0" hangingPunct="0">
              <a:tabLst>
                <a:tab pos="0" algn="l"/>
              </a:tabLst>
              <a:defRPr kumimoji="1" sz="900">
                <a:solidFill>
                  <a:schemeClr val="tx1"/>
                </a:solidFill>
                <a:latin typeface="Dotum" pitchFamily="50" charset="-127"/>
                <a:ea typeface="Dotum" pitchFamily="50" charset="-127"/>
              </a:defRPr>
            </a:lvl1pPr>
            <a:lvl2pPr marL="742950" indent="-285750" eaLnBrk="0" hangingPunct="0">
              <a:tabLst>
                <a:tab pos="0" algn="l"/>
              </a:tabLst>
              <a:defRPr kumimoji="1" sz="900">
                <a:solidFill>
                  <a:schemeClr val="tx1"/>
                </a:solidFill>
                <a:latin typeface="Dotum" pitchFamily="50" charset="-127"/>
                <a:ea typeface="Dotum" pitchFamily="50" charset="-127"/>
              </a:defRPr>
            </a:lvl2pPr>
            <a:lvl3pPr marL="1143000" indent="-228600" eaLnBrk="0" hangingPunct="0">
              <a:tabLst>
                <a:tab pos="0" algn="l"/>
              </a:tabLst>
              <a:defRPr kumimoji="1" sz="900">
                <a:solidFill>
                  <a:schemeClr val="tx1"/>
                </a:solidFill>
                <a:latin typeface="Dotum" pitchFamily="50" charset="-127"/>
                <a:ea typeface="Dotum" pitchFamily="50" charset="-127"/>
              </a:defRPr>
            </a:lvl3pPr>
            <a:lvl4pPr marL="1600200" indent="-228600" eaLnBrk="0" hangingPunct="0">
              <a:tabLst>
                <a:tab pos="0" algn="l"/>
              </a:tabLst>
              <a:defRPr kumimoji="1" sz="900">
                <a:solidFill>
                  <a:schemeClr val="tx1"/>
                </a:solidFill>
                <a:latin typeface="Dotum" pitchFamily="50" charset="-127"/>
                <a:ea typeface="Dotum" pitchFamily="50" charset="-127"/>
              </a:defRPr>
            </a:lvl4pPr>
            <a:lvl5pPr marL="2057400" indent="-228600" eaLnBrk="0" hangingPunct="0">
              <a:tabLst>
                <a:tab pos="0" algn="l"/>
              </a:tabLst>
              <a:defRPr kumimoji="1" sz="900">
                <a:solidFill>
                  <a:schemeClr val="tx1"/>
                </a:solidFill>
                <a:latin typeface="Dotum" pitchFamily="50" charset="-127"/>
                <a:ea typeface="Dotum" pitchFamily="50" charset="-127"/>
              </a:defRPr>
            </a:lvl5pPr>
            <a:lvl6pPr marL="25146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6pPr>
            <a:lvl7pPr marL="29718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7pPr>
            <a:lvl8pPr marL="34290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8pPr>
            <a:lvl9pPr marL="3886200" indent="-228600" eaLnBrk="0" fontAlgn="base" hangingPunct="0">
              <a:spcBef>
                <a:spcPct val="0"/>
              </a:spcBef>
              <a:spcAft>
                <a:spcPct val="0"/>
              </a:spcAft>
              <a:tabLst>
                <a:tab pos="0" algn="l"/>
              </a:tabLst>
              <a:defRPr kumimoji="1" sz="900">
                <a:solidFill>
                  <a:schemeClr val="tx1"/>
                </a:solidFill>
                <a:latin typeface="Dotum" pitchFamily="50" charset="-127"/>
                <a:ea typeface="Dotum" pitchFamily="50" charset="-127"/>
              </a:defRPr>
            </a:lvl9pPr>
          </a:lstStyle>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smtClean="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a:p>
            <a:pPr marL="92075" marR="0" lvl="0" indent="-92075" algn="l" defTabSz="914400" rtl="0" eaLnBrk="1" fontAlgn="base" latinLnBrk="1" hangingPunct="1">
              <a:lnSpc>
                <a:spcPct val="100000"/>
              </a:lnSpc>
              <a:spcBef>
                <a:spcPct val="0"/>
              </a:spcBef>
              <a:spcAft>
                <a:spcPct val="0"/>
              </a:spcAft>
              <a:buClrTx/>
              <a:buSzTx/>
              <a:buFontTx/>
              <a:buNone/>
              <a:tabLst>
                <a:tab pos="0" algn="l"/>
              </a:tabLst>
              <a:defRPr/>
            </a:pPr>
            <a:endParaRPr kumimoji="1" lang="en-US" altLang="ko-KR" sz="950" b="0" i="0" u="none" strike="noStrike" kern="1200" cap="none" spc="0" normalizeH="0" baseline="0" noProof="0" dirty="0">
              <a:ln>
                <a:noFill/>
              </a:ln>
              <a:solidFill>
                <a:srgbClr val="000000"/>
              </a:solidFill>
              <a:effectLst/>
              <a:uLnTx/>
              <a:uFillTx/>
              <a:latin typeface="Times New Roman" pitchFamily="18" charset="0"/>
              <a:ea typeface="LG Smart_H Regular" panose="020B0600000101010101" pitchFamily="34" charset="-127"/>
              <a:cs typeface="Times New Roman" pitchFamily="18" charset="0"/>
            </a:endParaRPr>
          </a:p>
        </p:txBody>
      </p:sp>
      <p:sp>
        <p:nvSpPr>
          <p:cNvPr id="10245" name="Rectangle 5"/>
          <p:cNvSpPr>
            <a:spLocks noChangeArrowheads="1"/>
          </p:cNvSpPr>
          <p:nvPr/>
        </p:nvSpPr>
        <p:spPr bwMode="auto">
          <a:xfrm>
            <a:off x="3446970" y="812800"/>
            <a:ext cx="3210197" cy="88677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457200" indent="-457200" eaLnBrk="0" hangingPunct="0">
              <a:spcBef>
                <a:spcPct val="20000"/>
              </a:spcBef>
              <a:buChar char="•"/>
              <a:defRPr kumimoji="1" sz="3200">
                <a:solidFill>
                  <a:schemeClr val="tx1"/>
                </a:solidFill>
                <a:latin typeface="굴림" charset="-127"/>
                <a:ea typeface="굴림" charset="-127"/>
              </a:defRPr>
            </a:lvl1pPr>
            <a:lvl2pPr marL="742950" indent="-285750" eaLnBrk="0" hangingPunct="0">
              <a:spcBef>
                <a:spcPct val="20000"/>
              </a:spcBef>
              <a:buChar char="–"/>
              <a:defRPr kumimoji="1" sz="2800">
                <a:solidFill>
                  <a:schemeClr val="tx1"/>
                </a:solidFill>
                <a:latin typeface="굴림" charset="-127"/>
                <a:ea typeface="굴림" charset="-127"/>
              </a:defRPr>
            </a:lvl2pPr>
            <a:lvl3pPr marL="1143000" indent="-228600" eaLnBrk="0" hangingPunct="0">
              <a:spcBef>
                <a:spcPct val="20000"/>
              </a:spcBef>
              <a:buChar char="•"/>
              <a:defRPr kumimoji="1" sz="2400">
                <a:solidFill>
                  <a:schemeClr val="tx1"/>
                </a:solidFill>
                <a:latin typeface="굴림" charset="-127"/>
                <a:ea typeface="굴림" charset="-127"/>
              </a:defRPr>
            </a:lvl3pPr>
            <a:lvl4pPr marL="1600200" indent="-228600" eaLnBrk="0" hangingPunct="0">
              <a:spcBef>
                <a:spcPct val="20000"/>
              </a:spcBef>
              <a:buChar char="–"/>
              <a:defRPr kumimoji="1" sz="2000">
                <a:solidFill>
                  <a:schemeClr val="tx1"/>
                </a:solidFill>
                <a:latin typeface="굴림" charset="-127"/>
                <a:ea typeface="굴림" charset="-127"/>
              </a:defRPr>
            </a:lvl4pPr>
            <a:lvl5pPr marL="2057400" indent="-228600" eaLnBrk="0" hangingPunct="0">
              <a:spcBef>
                <a:spcPct val="20000"/>
              </a:spcBef>
              <a:buChar char="»"/>
              <a:defRPr kumimoji="1" sz="2000">
                <a:solidFill>
                  <a:schemeClr val="tx1"/>
                </a:solidFill>
                <a:latin typeface="굴림" charset="-127"/>
                <a:ea typeface="굴림" charset="-127"/>
              </a:defRPr>
            </a:lvl5pPr>
            <a:lvl6pPr marL="2514600" indent="-228600" eaLnBrk="0" fontAlgn="base" hangingPunct="0">
              <a:spcBef>
                <a:spcPct val="20000"/>
              </a:spcBef>
              <a:spcAft>
                <a:spcPct val="0"/>
              </a:spcAft>
              <a:buChar char="»"/>
              <a:defRPr kumimoji="1" sz="2000">
                <a:solidFill>
                  <a:schemeClr val="tx1"/>
                </a:solidFill>
                <a:latin typeface="굴림" charset="-127"/>
                <a:ea typeface="굴림" charset="-127"/>
              </a:defRPr>
            </a:lvl6pPr>
            <a:lvl7pPr marL="2971800" indent="-228600" eaLnBrk="0" fontAlgn="base" hangingPunct="0">
              <a:spcBef>
                <a:spcPct val="20000"/>
              </a:spcBef>
              <a:spcAft>
                <a:spcPct val="0"/>
              </a:spcAft>
              <a:buChar char="»"/>
              <a:defRPr kumimoji="1" sz="2000">
                <a:solidFill>
                  <a:schemeClr val="tx1"/>
                </a:solidFill>
                <a:latin typeface="굴림" charset="-127"/>
                <a:ea typeface="굴림" charset="-127"/>
              </a:defRPr>
            </a:lvl7pPr>
            <a:lvl8pPr marL="3429000" indent="-228600" eaLnBrk="0" fontAlgn="base" hangingPunct="0">
              <a:spcBef>
                <a:spcPct val="20000"/>
              </a:spcBef>
              <a:spcAft>
                <a:spcPct val="0"/>
              </a:spcAft>
              <a:buChar char="»"/>
              <a:defRPr kumimoji="1" sz="2000">
                <a:solidFill>
                  <a:schemeClr val="tx1"/>
                </a:solidFill>
                <a:latin typeface="굴림" charset="-127"/>
                <a:ea typeface="굴림" charset="-127"/>
              </a:defRPr>
            </a:lvl8pPr>
            <a:lvl9pPr marL="3886200" indent="-228600" eaLnBrk="0" fontAlgn="base" hangingPunct="0">
              <a:spcBef>
                <a:spcPct val="20000"/>
              </a:spcBef>
              <a:spcAft>
                <a:spcPct val="0"/>
              </a:spcAft>
              <a:buChar char="»"/>
              <a:defRPr kumimoji="1" sz="2000">
                <a:solidFill>
                  <a:schemeClr val="tx1"/>
                </a:solidFill>
                <a:latin typeface="굴림" charset="-127"/>
                <a:ea typeface="굴림" charset="-127"/>
              </a:defRPr>
            </a:lvl9pPr>
          </a:lstStyle>
          <a:p>
            <a:pPr marL="457200" marR="0" lvl="0" indent="-457200" algn="l" defTabSz="914400" rtl="0" eaLnBrk="1" fontAlgn="base" latinLnBrk="1" hangingPunct="1">
              <a:lnSpc>
                <a:spcPct val="100000"/>
              </a:lnSpc>
              <a:spcBef>
                <a:spcPct val="0"/>
              </a:spcBef>
              <a:spcAft>
                <a:spcPct val="0"/>
              </a:spcAft>
              <a:buClrTx/>
              <a:buSzTx/>
              <a:buFontTx/>
              <a:buNone/>
              <a:tabLst/>
              <a:defRPr/>
            </a:pPr>
            <a:endParaRPr kumimoji="1" lang="ko-KR" altLang="ko-KR" sz="950" b="0" i="0" u="none" strike="noStrike" kern="1200" cap="none" spc="0" normalizeH="0" baseline="0" noProof="0">
              <a:ln>
                <a:noFill/>
              </a:ln>
              <a:solidFill>
                <a:srgbClr val="000000"/>
              </a:solidFill>
              <a:effectLst/>
              <a:uLnTx/>
              <a:uFillTx/>
              <a:latin typeface="Times New Roman" pitchFamily="18" charset="0"/>
              <a:ea typeface="Dotum" pitchFamily="50" charset="-127"/>
              <a:cs typeface="Times New Roman" pitchFamily="18" charset="0"/>
            </a:endParaRPr>
          </a:p>
        </p:txBody>
      </p:sp>
      <p:sp>
        <p:nvSpPr>
          <p:cNvPr id="14" name="Text Box 6"/>
          <p:cNvSpPr txBox="1">
            <a:spLocks noChangeArrowheads="1"/>
          </p:cNvSpPr>
          <p:nvPr/>
        </p:nvSpPr>
        <p:spPr bwMode="auto">
          <a:xfrm>
            <a:off x="123825" y="228600"/>
            <a:ext cx="837089" cy="338554"/>
          </a:xfrm>
          <a:prstGeom prst="rect">
            <a:avLst/>
          </a:prstGeom>
          <a:noFill/>
          <a:ln w="9525">
            <a:noFill/>
            <a:miter lim="800000"/>
            <a:headEnd/>
            <a:tailEn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ko-KR"/>
            </a:defPPr>
            <a:lvl1pPr fontAlgn="base">
              <a:spcBef>
                <a:spcPct val="0"/>
              </a:spcBef>
              <a:spcAft>
                <a:spcPct val="0"/>
              </a:spcAft>
              <a:defRPr kumimoji="1" sz="1600" b="1">
                <a:solidFill>
                  <a:srgbClr val="000000"/>
                </a:solidFill>
                <a:effectLst>
                  <a:outerShdw blurRad="38100" dist="38100" dir="2700000" algn="tl">
                    <a:srgbClr val="C0C0C0"/>
                  </a:outerShdw>
                </a:effectLst>
                <a:latin typeface="Arial" pitchFamily="34" charset="0"/>
                <a:ea typeface="돋움" pitchFamily="50" charset="-127"/>
                <a:cs typeface="Arial" pitchFamily="34" charset="0"/>
              </a:defRPr>
            </a:lvl1pPr>
          </a:lstStyle>
          <a:p>
            <a:r>
              <a:rPr lang="en-US" altLang="ko-KR" smtClean="0">
                <a:latin typeface="Times New Roman" pitchFamily="18" charset="0"/>
                <a:cs typeface="Times New Roman" pitchFamily="18" charset="0"/>
              </a:rPr>
              <a:t>[ M</a:t>
            </a:r>
            <a:r>
              <a:rPr lang="vi-VN" altLang="ko-KR">
                <a:latin typeface="Times New Roman" pitchFamily="18" charset="0"/>
                <a:cs typeface="Times New Roman" pitchFamily="18" charset="0"/>
              </a:rPr>
              <a:t>áy</a:t>
            </a:r>
            <a:r>
              <a:rPr lang="ko-KR" altLang="en-US">
                <a:latin typeface="Times New Roman" pitchFamily="18" charset="0"/>
                <a:cs typeface="Times New Roman" pitchFamily="18" charset="0"/>
              </a:rPr>
              <a:t> </a:t>
            </a:r>
            <a:r>
              <a:rPr lang="en-US" altLang="ko-KR">
                <a:latin typeface="Times New Roman" pitchFamily="18" charset="0"/>
                <a:cs typeface="Times New Roman" pitchFamily="18" charset="0"/>
              </a:rPr>
              <a:t>]</a:t>
            </a:r>
            <a:endParaRPr lang="en-US" altLang="ko-KR" dirty="0">
              <a:latin typeface="Times New Roman" pitchFamily="18" charset="0"/>
              <a:cs typeface="Times New Roman" pitchFamily="18" charset="0"/>
            </a:endParaRPr>
          </a:p>
        </p:txBody>
      </p:sp>
      <p:sp>
        <p:nvSpPr>
          <p:cNvPr id="6" name="Rectangle 52"/>
          <p:cNvSpPr>
            <a:spLocks noChangeArrowheads="1"/>
          </p:cNvSpPr>
          <p:nvPr/>
        </p:nvSpPr>
        <p:spPr bwMode="auto">
          <a:xfrm>
            <a:off x="260648" y="1208584"/>
            <a:ext cx="3124200" cy="155427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1</a:t>
            </a:r>
            <a:r>
              <a:rPr lang="en-US" altLang="ko-KR" sz="950">
                <a:latin typeface="Times New Roman" pitchFamily="18" charset="0"/>
                <a:cs typeface="Times New Roman" pitchFamily="18" charset="0"/>
              </a:rPr>
              <a:t>. Dưới đây là giải nghĩa về một thuật ngữ thể hiện đặc tính của LM Block. Hãy chọn đáp án đúng điền </a:t>
            </a:r>
            <a:r>
              <a:rPr lang="en-US" altLang="ko-KR" sz="950" smtClean="0">
                <a:latin typeface="Times New Roman" pitchFamily="18" charset="0"/>
                <a:cs typeface="Times New Roman" pitchFamily="18" charset="0"/>
              </a:rPr>
              <a:t>vào</a:t>
            </a:r>
            <a:endParaRPr lang="en-US" altLang="ko-KR" sz="950">
              <a:latin typeface="Times New Roman" pitchFamily="18" charset="0"/>
              <a:cs typeface="Times New Roman" pitchFamily="18" charset="0"/>
            </a:endParaRPr>
          </a:p>
          <a:p>
            <a:r>
              <a:rPr lang="en-US" altLang="ko-KR" sz="950" smtClean="0">
                <a:latin typeface="Times New Roman" pitchFamily="18" charset="0"/>
                <a:cs typeface="Times New Roman" pitchFamily="18" charset="0"/>
              </a:rPr>
              <a:t>“Tải </a:t>
            </a:r>
            <a:r>
              <a:rPr lang="en-US" altLang="ko-KR" sz="950">
                <a:latin typeface="Times New Roman" pitchFamily="18" charset="0"/>
                <a:cs typeface="Times New Roman" pitchFamily="18" charset="0"/>
              </a:rPr>
              <a:t>trọng bên trong được cho trước vào phần truyền động với mục đích để </a:t>
            </a:r>
            <a:r>
              <a:rPr lang="en-US" altLang="ko-KR" sz="950" smtClean="0">
                <a:latin typeface="Times New Roman" pitchFamily="18" charset="0"/>
                <a:cs typeface="Times New Roman" pitchFamily="18" charset="0"/>
              </a:rPr>
              <a:t>tăng </a:t>
            </a:r>
            <a:r>
              <a:rPr lang="en-US" altLang="ko-KR" sz="950">
                <a:latin typeface="Times New Roman" pitchFamily="18" charset="0"/>
                <a:cs typeface="Times New Roman" pitchFamily="18" charset="0"/>
              </a:rPr>
              <a:t>tính mạnh cho LM Block và loại bỏ khe hở được gọi là </a:t>
            </a:r>
            <a:r>
              <a:rPr lang="en-US" altLang="ko-KR" sz="950" smtClean="0">
                <a:latin typeface="Times New Roman" pitchFamily="18" charset="0"/>
                <a:cs typeface="Times New Roman" pitchFamily="18" charset="0"/>
              </a:rPr>
              <a:t>gì?”.</a:t>
            </a:r>
            <a:endParaRPr lang="en-US" altLang="ko-KR" sz="950">
              <a:latin typeface="Times New Roman" pitchFamily="18" charset="0"/>
              <a:cs typeface="Times New Roman" pitchFamily="18" charset="0"/>
            </a:endParaRPr>
          </a:p>
          <a:p>
            <a:endParaRPr lang="en-US" altLang="ko-KR" sz="950">
              <a:latin typeface="Times New Roman" pitchFamily="18" charset="0"/>
              <a:cs typeface="Times New Roman" pitchFamily="18" charset="0"/>
            </a:endParaRPr>
          </a:p>
          <a:p>
            <a:pPr marL="228600" indent="-228600">
              <a:buAutoNum type="alphaUcPeriod"/>
            </a:pPr>
            <a:r>
              <a:rPr lang="en-US" altLang="ko-KR" sz="950" smtClean="0">
                <a:latin typeface="Times New Roman" pitchFamily="18" charset="0"/>
                <a:cs typeface="Times New Roman" pitchFamily="18" charset="0"/>
              </a:rPr>
              <a:t>Mô men xoắn</a:t>
            </a:r>
            <a:r>
              <a:rPr lang="ko-KR" altLang="en-US" sz="950" smtClean="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a:buAutoNum type="alphaUcPeriod"/>
            </a:pPr>
            <a:r>
              <a:rPr lang="en-US" altLang="ko-KR" sz="950" smtClean="0">
                <a:latin typeface="Times New Roman" pitchFamily="18" charset="0"/>
                <a:cs typeface="Times New Roman" pitchFamily="18" charset="0"/>
              </a:rPr>
              <a:t>Tính </a:t>
            </a:r>
            <a:r>
              <a:rPr lang="en-US" altLang="ko-KR" sz="950">
                <a:latin typeface="Times New Roman" pitchFamily="18" charset="0"/>
                <a:cs typeface="Times New Roman" pitchFamily="18" charset="0"/>
              </a:rPr>
              <a:t>mạnh</a:t>
            </a:r>
            <a:r>
              <a:rPr lang="ko-KR" altLang="en-US" sz="95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a:buAutoNum type="alphaUcPeriod"/>
            </a:pPr>
            <a:r>
              <a:rPr lang="en-US" altLang="ko-KR" sz="950" smtClean="0">
                <a:latin typeface="Times New Roman" pitchFamily="18" charset="0"/>
                <a:cs typeface="Times New Roman" pitchFamily="18" charset="0"/>
              </a:rPr>
              <a:t>Backlash</a:t>
            </a:r>
            <a:r>
              <a:rPr lang="ko-KR" altLang="en-US" sz="950" smtClean="0">
                <a:latin typeface="Times New Roman" pitchFamily="18" charset="0"/>
                <a:cs typeface="Times New Roman" pitchFamily="18" charset="0"/>
              </a:rPr>
              <a:t>    </a:t>
            </a:r>
            <a:endParaRPr lang="en-US" altLang="ko-KR" sz="950" smtClean="0">
              <a:latin typeface="Times New Roman" pitchFamily="18" charset="0"/>
              <a:cs typeface="Times New Roman" pitchFamily="18" charset="0"/>
            </a:endParaRPr>
          </a:p>
          <a:p>
            <a:pPr marL="228600" indent="-228600">
              <a:buAutoNum type="alphaUcPeriod"/>
            </a:pPr>
            <a:r>
              <a:rPr lang="en-US" altLang="ko-KR" sz="950" smtClean="0">
                <a:solidFill>
                  <a:srgbClr val="FF0000"/>
                </a:solidFill>
                <a:latin typeface="Times New Roman" pitchFamily="18" charset="0"/>
                <a:cs typeface="Times New Roman" pitchFamily="18" charset="0"/>
              </a:rPr>
              <a:t>Preloaded </a:t>
            </a:r>
            <a:endParaRPr lang="ko-KR" altLang="en-US" sz="950">
              <a:solidFill>
                <a:srgbClr val="FF0000"/>
              </a:solidFill>
              <a:latin typeface="Times New Roman" pitchFamily="18" charset="0"/>
              <a:cs typeface="Times New Roman" pitchFamily="18" charset="0"/>
            </a:endParaRPr>
          </a:p>
        </p:txBody>
      </p:sp>
      <p:grpSp>
        <p:nvGrpSpPr>
          <p:cNvPr id="7" name="Group 6"/>
          <p:cNvGrpSpPr/>
          <p:nvPr/>
        </p:nvGrpSpPr>
        <p:grpSpPr>
          <a:xfrm>
            <a:off x="260648" y="3224808"/>
            <a:ext cx="3124200" cy="965200"/>
            <a:chOff x="3429000" y="3851275"/>
            <a:chExt cx="3124200" cy="965200"/>
          </a:xfrm>
        </p:grpSpPr>
        <p:sp>
          <p:nvSpPr>
            <p:cNvPr id="8" name="Rectangle 53"/>
            <p:cNvSpPr>
              <a:spLocks noChangeArrowheads="1"/>
            </p:cNvSpPr>
            <p:nvPr/>
          </p:nvSpPr>
          <p:spPr bwMode="auto">
            <a:xfrm>
              <a:off x="3429000" y="3851275"/>
              <a:ext cx="3124200" cy="82330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2</a:t>
              </a:r>
              <a:r>
                <a:rPr lang="en-US" altLang="ko-KR" sz="950">
                  <a:latin typeface="Times New Roman" pitchFamily="18" charset="0"/>
                  <a:ea typeface="돋움" pitchFamily="50" charset="-127"/>
                  <a:cs typeface="Times New Roman" pitchFamily="18" charset="0"/>
                </a:rPr>
                <a:t>. </a:t>
              </a:r>
              <a:r>
                <a:rPr lang="ko-KR" altLang="en-US" sz="950">
                  <a:latin typeface="Times New Roman" pitchFamily="18" charset="0"/>
                  <a:ea typeface="돋움" pitchFamily="50" charset="-127"/>
                  <a:cs typeface="Times New Roman" pitchFamily="18" charset="0"/>
                </a:rPr>
                <a:t>“</a:t>
              </a:r>
              <a:r>
                <a:rPr lang="en-US" altLang="ko-KR" sz="950">
                  <a:latin typeface="Times New Roman" pitchFamily="18" charset="0"/>
                  <a:ea typeface="돋움" pitchFamily="50" charset="-127"/>
                  <a:cs typeface="Times New Roman" pitchFamily="18" charset="0"/>
                </a:rPr>
                <a:t>A” ở hình dưới đây </a:t>
              </a:r>
              <a:r>
                <a:rPr lang="en-US" altLang="ko-KR" sz="950" smtClean="0">
                  <a:latin typeface="Times New Roman" pitchFamily="18" charset="0"/>
                  <a:ea typeface="돋움" pitchFamily="50" charset="-127"/>
                  <a:cs typeface="Times New Roman" pitchFamily="18" charset="0"/>
                </a:rPr>
                <a:t>được gọi </a:t>
              </a:r>
              <a:r>
                <a:rPr lang="en-US" altLang="ko-KR" sz="950">
                  <a:latin typeface="Times New Roman" pitchFamily="18" charset="0"/>
                  <a:ea typeface="돋움" pitchFamily="50" charset="-127"/>
                  <a:cs typeface="Times New Roman" pitchFamily="18" charset="0"/>
                </a:rPr>
                <a:t>là gì?</a:t>
              </a:r>
            </a:p>
            <a:p>
              <a:r>
                <a:rPr lang="en-US" altLang="ko-KR" sz="950" smtClean="0">
                  <a:latin typeface="Times New Roman" pitchFamily="18" charset="0"/>
                  <a:ea typeface="돋움" pitchFamily="50" charset="-127"/>
                  <a:cs typeface="Times New Roman" pitchFamily="18" charset="0"/>
                </a:rPr>
                <a:t>A. </a:t>
              </a:r>
              <a:r>
                <a:rPr lang="en-US" altLang="ko-KR" sz="950">
                  <a:latin typeface="Times New Roman" pitchFamily="18" charset="0"/>
                  <a:ea typeface="돋움" pitchFamily="50" charset="-127"/>
                  <a:cs typeface="Times New Roman" pitchFamily="18" charset="0"/>
                </a:rPr>
                <a:t>Phần kết nối</a:t>
              </a:r>
              <a:r>
                <a:rPr lang="ko-KR" altLang="en-US" sz="950">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Phần </a:t>
              </a:r>
              <a:r>
                <a:rPr lang="en-US" altLang="ko-KR" sz="950" smtClean="0">
                  <a:latin typeface="Times New Roman" pitchFamily="18" charset="0"/>
                  <a:ea typeface="돋움" pitchFamily="50" charset="-127"/>
                  <a:cs typeface="Times New Roman" pitchFamily="18" charset="0"/>
                </a:rPr>
                <a:t>key</a:t>
              </a:r>
              <a:endParaRPr lang="ko-KR" altLang="en-US" sz="950">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C.</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Phần </a:t>
              </a:r>
              <a:r>
                <a:rPr lang="en-US" altLang="ko-KR" sz="950" smtClean="0">
                  <a:solidFill>
                    <a:srgbClr val="FF0000"/>
                  </a:solidFill>
                  <a:latin typeface="Times New Roman" pitchFamily="18" charset="0"/>
                  <a:ea typeface="돋움" pitchFamily="50" charset="-127"/>
                  <a:cs typeface="Times New Roman" pitchFamily="18" charset="0"/>
                </a:rPr>
                <a:t>Spring</a:t>
              </a:r>
              <a:r>
                <a:rPr lang="ko-KR" altLang="en-US" sz="950">
                  <a:solidFill>
                    <a:srgbClr val="FF0000"/>
                  </a:solidFill>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Phần chốt</a:t>
              </a:r>
              <a:endParaRPr lang="ko-KR" altLang="en-US" sz="950">
                <a:latin typeface="Times New Roman" pitchFamily="18" charset="0"/>
                <a:ea typeface="돋움" pitchFamily="50" charset="-127"/>
                <a:cs typeface="Times New Roman" pitchFamily="18" charset="0"/>
              </a:endParaRPr>
            </a:p>
          </p:txBody>
        </p:sp>
        <p:grpSp>
          <p:nvGrpSpPr>
            <p:cNvPr id="9" name="Group 54"/>
            <p:cNvGrpSpPr>
              <a:grpSpLocks/>
            </p:cNvGrpSpPr>
            <p:nvPr/>
          </p:nvGrpSpPr>
          <p:grpSpPr bwMode="auto">
            <a:xfrm>
              <a:off x="4941888" y="4067175"/>
              <a:ext cx="1366837" cy="749300"/>
              <a:chOff x="3113" y="2426"/>
              <a:chExt cx="861" cy="472"/>
            </a:xfrm>
          </p:grpSpPr>
          <p:pic>
            <p:nvPicPr>
              <p:cNvPr id="10" name="Picture 55" descr="thkd051_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3" y="2426"/>
                <a:ext cx="861"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56"/>
              <p:cNvSpPr>
                <a:spLocks noChangeArrowheads="1"/>
              </p:cNvSpPr>
              <p:nvPr/>
            </p:nvSpPr>
            <p:spPr bwMode="auto">
              <a:xfrm>
                <a:off x="3484" y="2804"/>
                <a:ext cx="168" cy="94"/>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ko-KR" sz="950">
                    <a:latin typeface="Times New Roman" pitchFamily="18" charset="0"/>
                    <a:ea typeface="돋움" pitchFamily="50" charset="-127"/>
                    <a:cs typeface="Times New Roman" pitchFamily="18" charset="0"/>
                  </a:rPr>
                  <a:t>A</a:t>
                </a:r>
              </a:p>
            </p:txBody>
          </p:sp>
        </p:grpSp>
      </p:grpSp>
      <p:sp>
        <p:nvSpPr>
          <p:cNvPr id="12" name="Rectangle 57"/>
          <p:cNvSpPr>
            <a:spLocks noChangeArrowheads="1"/>
          </p:cNvSpPr>
          <p:nvPr/>
        </p:nvSpPr>
        <p:spPr bwMode="auto">
          <a:xfrm>
            <a:off x="188640" y="4448944"/>
            <a:ext cx="3258330" cy="1408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3.Chọn </a:t>
            </a:r>
            <a:r>
              <a:rPr lang="en-US" altLang="ko-KR" sz="950">
                <a:latin typeface="Times New Roman" pitchFamily="18" charset="0"/>
                <a:ea typeface="돋움" pitchFamily="50" charset="-127"/>
                <a:cs typeface="Times New Roman" pitchFamily="18" charset="0"/>
              </a:rPr>
              <a:t>đáp án không phải là đặc điểm của bôi trơn dầu?</a:t>
            </a:r>
          </a:p>
          <a:p>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a:solidFill>
                  <a:srgbClr val="FF0000"/>
                </a:solidFill>
                <a:latin typeface="Times New Roman" pitchFamily="18" charset="0"/>
                <a:ea typeface="돋움" pitchFamily="50" charset="-127"/>
                <a:cs typeface="Times New Roman" pitchFamily="18" charset="0"/>
              </a:rPr>
              <a:t>Phù hợp với sử dụng nhiệt độ thấp hoặc tốc độ thấp hơn là bôi trơn bằng mỡ.</a:t>
            </a:r>
          </a:p>
          <a:p>
            <a:r>
              <a:rPr lang="en-US" altLang="ko-KR" sz="950" smtClean="0">
                <a:latin typeface="Times New Roman" pitchFamily="18" charset="0"/>
                <a:ea typeface="돋움" pitchFamily="50" charset="-127"/>
                <a:cs typeface="Times New Roman" pitchFamily="18" charset="0"/>
              </a:rPr>
              <a:t>B. </a:t>
            </a:r>
            <a:r>
              <a:rPr lang="en-US" altLang="ko-KR" sz="950">
                <a:latin typeface="Times New Roman" pitchFamily="18" charset="0"/>
                <a:ea typeface="돋움" pitchFamily="50" charset="-127"/>
                <a:cs typeface="Times New Roman" pitchFamily="18" charset="0"/>
              </a:rPr>
              <a:t>Bôi trơn bằng dầu là thích hợp trong trường hợp cần thoát nhiệt ra bên ngoài.</a:t>
            </a:r>
          </a:p>
          <a:p>
            <a:r>
              <a:rPr lang="en-US" altLang="ko-KR" sz="950" smtClean="0">
                <a:latin typeface="Times New Roman" pitchFamily="18" charset="0"/>
                <a:ea typeface="돋움" pitchFamily="50" charset="-127"/>
                <a:cs typeface="Times New Roman" pitchFamily="18" charset="0"/>
              </a:rPr>
              <a:t>C. </a:t>
            </a:r>
            <a:r>
              <a:rPr lang="en-US" altLang="ko-KR" sz="950">
                <a:latin typeface="Times New Roman" pitchFamily="18" charset="0"/>
                <a:ea typeface="돋움" pitchFamily="50" charset="-127"/>
                <a:cs typeface="Times New Roman" pitchFamily="18" charset="0"/>
              </a:rPr>
              <a:t>Cần phải sử dụng dầu có độ nhớt thấp đúng với tốc độ quay.</a:t>
            </a:r>
          </a:p>
          <a:p>
            <a:r>
              <a:rPr lang="en-US" altLang="ko-KR" sz="950" smtClean="0">
                <a:latin typeface="Times New Roman" pitchFamily="18" charset="0"/>
                <a:ea typeface="돋움" pitchFamily="50" charset="-127"/>
                <a:cs typeface="Times New Roman" pitchFamily="18" charset="0"/>
              </a:rPr>
              <a:t>D. </a:t>
            </a:r>
            <a:r>
              <a:rPr lang="en-US" altLang="ko-KR" sz="950">
                <a:latin typeface="Times New Roman" pitchFamily="18" charset="0"/>
                <a:ea typeface="돋움" pitchFamily="50" charset="-127"/>
                <a:cs typeface="Times New Roman" pitchFamily="18" charset="0"/>
              </a:rPr>
              <a:t>Cần phải sử dụng dầu bôi trơn có độ lớn cao tùy theo tải trọng.</a:t>
            </a:r>
          </a:p>
          <a:p>
            <a:endParaRPr lang="en-US" altLang="ko-KR" sz="950">
              <a:latin typeface="Times New Roman" pitchFamily="18" charset="0"/>
              <a:ea typeface="돋움" pitchFamily="50" charset="-127"/>
              <a:cs typeface="Times New Roman" pitchFamily="18" charset="0"/>
            </a:endParaRPr>
          </a:p>
        </p:txBody>
      </p:sp>
      <p:sp>
        <p:nvSpPr>
          <p:cNvPr id="13" name="Rectangle 58"/>
          <p:cNvSpPr>
            <a:spLocks noChangeArrowheads="1"/>
          </p:cNvSpPr>
          <p:nvPr/>
        </p:nvSpPr>
        <p:spPr bwMode="auto">
          <a:xfrm>
            <a:off x="260648" y="5961112"/>
            <a:ext cx="3212504" cy="73558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4</a:t>
            </a:r>
            <a:r>
              <a:rPr lang="en-US" altLang="ko-KR" sz="950">
                <a:latin typeface="Times New Roman" pitchFamily="18" charset="0"/>
                <a:cs typeface="Times New Roman" pitchFamily="18" charset="0"/>
              </a:rPr>
              <a:t>. Nếu chia một vạch của thước </a:t>
            </a:r>
            <a:r>
              <a:rPr lang="en-US" altLang="ko-KR" sz="950" smtClean="0">
                <a:latin typeface="Times New Roman" pitchFamily="18" charset="0"/>
                <a:cs typeface="Times New Roman" pitchFamily="18" charset="0"/>
              </a:rPr>
              <a:t>chính </a:t>
            </a:r>
            <a:r>
              <a:rPr lang="en-US" altLang="ko-KR" sz="950">
                <a:latin typeface="Times New Roman" pitchFamily="18" charset="0"/>
                <a:cs typeface="Times New Roman" pitchFamily="18" charset="0"/>
              </a:rPr>
              <a:t>Vernier Calipers ra 50 lần thì được bao nhiêu?</a:t>
            </a:r>
          </a:p>
          <a:p>
            <a:pPr>
              <a:lnSpc>
                <a:spcPct val="120000"/>
              </a:lnSpc>
            </a:pPr>
            <a:endParaRPr lang="en-US" altLang="ko-KR" sz="950" smtClean="0">
              <a:latin typeface="Times New Roman" pitchFamily="18" charset="0"/>
              <a:cs typeface="Times New Roman" pitchFamily="18" charset="0"/>
            </a:endParaRPr>
          </a:p>
          <a:p>
            <a:pPr>
              <a:lnSpc>
                <a:spcPct val="120000"/>
              </a:lnSpc>
            </a:pPr>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0.2mm     </a:t>
            </a:r>
            <a:r>
              <a:rPr lang="en-US" altLang="ko-KR" sz="950" smtClean="0">
                <a:solidFill>
                  <a:srgbClr val="FF0000"/>
                </a:solidFill>
                <a:latin typeface="Times New Roman" pitchFamily="18" charset="0"/>
                <a:cs typeface="Times New Roman" pitchFamily="18" charset="0"/>
              </a:rPr>
              <a:t>B. </a:t>
            </a:r>
            <a:r>
              <a:rPr lang="en-US" altLang="ko-KR" sz="950">
                <a:solidFill>
                  <a:srgbClr val="FF0000"/>
                </a:solidFill>
                <a:latin typeface="Times New Roman" pitchFamily="18" charset="0"/>
                <a:cs typeface="Times New Roman" pitchFamily="18" charset="0"/>
              </a:rPr>
              <a:t>0.02mm     </a:t>
            </a:r>
            <a:r>
              <a:rPr lang="en-US" altLang="ko-KR" sz="950" smtClean="0">
                <a:latin typeface="Times New Roman" pitchFamily="18" charset="0"/>
                <a:cs typeface="Times New Roman" pitchFamily="18" charset="0"/>
              </a:rPr>
              <a:t>C. </a:t>
            </a:r>
            <a:r>
              <a:rPr lang="en-US" altLang="ko-KR" sz="950">
                <a:latin typeface="Times New Roman" pitchFamily="18" charset="0"/>
                <a:cs typeface="Times New Roman" pitchFamily="18" charset="0"/>
              </a:rPr>
              <a:t>0.5mm     </a:t>
            </a:r>
            <a:r>
              <a:rPr lang="en-US" altLang="ko-KR" sz="950" smtClean="0">
                <a:latin typeface="Times New Roman" pitchFamily="18" charset="0"/>
                <a:cs typeface="Times New Roman" pitchFamily="18" charset="0"/>
              </a:rPr>
              <a:t>D. </a:t>
            </a:r>
            <a:r>
              <a:rPr lang="en-US" altLang="ko-KR" sz="950">
                <a:latin typeface="Times New Roman" pitchFamily="18" charset="0"/>
                <a:cs typeface="Times New Roman" pitchFamily="18" charset="0"/>
              </a:rPr>
              <a:t>0.05mm</a:t>
            </a:r>
          </a:p>
        </p:txBody>
      </p:sp>
      <p:grpSp>
        <p:nvGrpSpPr>
          <p:cNvPr id="15" name="Group 14"/>
          <p:cNvGrpSpPr/>
          <p:nvPr/>
        </p:nvGrpSpPr>
        <p:grpSpPr>
          <a:xfrm>
            <a:off x="260648" y="7140575"/>
            <a:ext cx="3124200" cy="1571327"/>
            <a:chOff x="3429000" y="7140575"/>
            <a:chExt cx="3124200" cy="1571327"/>
          </a:xfrm>
        </p:grpSpPr>
        <p:sp>
          <p:nvSpPr>
            <p:cNvPr id="16" name="Rectangle 59"/>
            <p:cNvSpPr>
              <a:spLocks noChangeArrowheads="1"/>
            </p:cNvSpPr>
            <p:nvPr/>
          </p:nvSpPr>
          <p:spPr bwMode="auto">
            <a:xfrm>
              <a:off x="3429000" y="7140575"/>
              <a:ext cx="3124200" cy="126188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5</a:t>
              </a:r>
              <a:r>
                <a:rPr lang="en-US" altLang="ko-KR" sz="950">
                  <a:latin typeface="Times New Roman" pitchFamily="18" charset="0"/>
                  <a:ea typeface="돋움" pitchFamily="50" charset="-127"/>
                  <a:cs typeface="Times New Roman" pitchFamily="18" charset="0"/>
                </a:rPr>
                <a:t>. Chọn hình có </a:t>
              </a:r>
              <a:r>
                <a:rPr lang="en-US" altLang="ko-KR" sz="950" smtClean="0">
                  <a:latin typeface="Times New Roman" pitchFamily="18" charset="0"/>
                  <a:ea typeface="돋움" pitchFamily="50" charset="-127"/>
                  <a:cs typeface="Times New Roman" pitchFamily="18" charset="0"/>
                </a:rPr>
                <a:t>cách </a:t>
              </a:r>
              <a:r>
                <a:rPr lang="en-US" altLang="ko-KR" sz="950">
                  <a:latin typeface="Times New Roman" pitchFamily="18" charset="0"/>
                  <a:ea typeface="돋움" pitchFamily="50" charset="-127"/>
                  <a:cs typeface="Times New Roman" pitchFamily="18" charset="0"/>
                </a:rPr>
                <a:t>sử dụng </a:t>
              </a:r>
              <a:r>
                <a:rPr lang="en-US" altLang="ko-KR" sz="950" smtClean="0">
                  <a:latin typeface="Times New Roman" pitchFamily="18" charset="0"/>
                  <a:ea typeface="돋움" pitchFamily="50" charset="-127"/>
                  <a:cs typeface="Times New Roman" pitchFamily="18" charset="0"/>
                </a:rPr>
                <a:t>Búa Hammer đúng</a:t>
              </a:r>
              <a:r>
                <a:rPr lang="en-US" altLang="ko-KR" sz="950">
                  <a:latin typeface="Times New Roman" pitchFamily="18" charset="0"/>
                  <a:ea typeface="돋움" pitchFamily="50" charset="-127"/>
                  <a:cs typeface="Times New Roman" pitchFamily="18" charset="0"/>
                </a:rPr>
                <a:t>?</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B. </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C.                                           </a:t>
              </a:r>
              <a:r>
                <a:rPr lang="en-US" altLang="ko-KR" sz="950" smtClean="0">
                  <a:latin typeface="Times New Roman" pitchFamily="18" charset="0"/>
                  <a:ea typeface="돋움" pitchFamily="50" charset="-127"/>
                  <a:cs typeface="Times New Roman" pitchFamily="18" charset="0"/>
                </a:rPr>
                <a:t>D.</a:t>
              </a:r>
              <a:endParaRPr lang="en-US" altLang="ko-KR" sz="950">
                <a:latin typeface="Times New Roman" pitchFamily="18" charset="0"/>
                <a:ea typeface="돋움" pitchFamily="50" charset="-127"/>
                <a:cs typeface="Times New Roman" pitchFamily="18" charset="0"/>
              </a:endParaRPr>
            </a:p>
          </p:txBody>
        </p:sp>
        <p:pic>
          <p:nvPicPr>
            <p:cNvPr id="17" name="Picture 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6338" y="7500938"/>
              <a:ext cx="936832" cy="455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6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57240" y="7500938"/>
              <a:ext cx="936028" cy="455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6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16338" y="8239125"/>
              <a:ext cx="936832" cy="472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6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57240" y="8218488"/>
              <a:ext cx="936028" cy="4680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1" name="Group 20"/>
          <p:cNvGrpSpPr/>
          <p:nvPr/>
        </p:nvGrpSpPr>
        <p:grpSpPr>
          <a:xfrm>
            <a:off x="3560398" y="1208584"/>
            <a:ext cx="3180970" cy="1773562"/>
            <a:chOff x="304800" y="971550"/>
            <a:chExt cx="3180970" cy="1773562"/>
          </a:xfrm>
        </p:grpSpPr>
        <p:sp>
          <p:nvSpPr>
            <p:cNvPr id="22" name="Rectangle 41"/>
            <p:cNvSpPr>
              <a:spLocks noChangeArrowheads="1"/>
            </p:cNvSpPr>
            <p:nvPr/>
          </p:nvSpPr>
          <p:spPr bwMode="auto">
            <a:xfrm>
              <a:off x="304800" y="971550"/>
              <a:ext cx="3180970" cy="1773562"/>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6</a:t>
              </a:r>
              <a:r>
                <a:rPr lang="en-US" altLang="ko-KR" sz="950">
                  <a:latin typeface="Times New Roman" pitchFamily="18" charset="0"/>
                  <a:ea typeface="돋움" pitchFamily="50" charset="-127"/>
                  <a:cs typeface="Times New Roman" pitchFamily="18" charset="0"/>
                </a:rPr>
                <a:t>. Chọn đáp án </a:t>
              </a:r>
              <a:r>
                <a:rPr lang="en-US" altLang="ko-KR" sz="950" smtClean="0">
                  <a:latin typeface="Times New Roman" pitchFamily="18" charset="0"/>
                  <a:ea typeface="돋움" pitchFamily="50" charset="-127"/>
                  <a:cs typeface="Times New Roman" pitchFamily="18" charset="0"/>
                </a:rPr>
                <a:t>đường kẻ biểu </a:t>
              </a:r>
              <a:r>
                <a:rPr lang="en-US" altLang="ko-KR" sz="950">
                  <a:latin typeface="Times New Roman" pitchFamily="18" charset="0"/>
                  <a:ea typeface="돋움" pitchFamily="50" charset="-127"/>
                  <a:cs typeface="Times New Roman" pitchFamily="18" charset="0"/>
                </a:rPr>
                <a:t>thị phần xử lí bề mặt của vật thể?</a:t>
              </a: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A. </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B. </a:t>
              </a:r>
              <a:endParaRPr lang="en-US" altLang="ko-KR" sz="950">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C. </a:t>
              </a:r>
              <a:endParaRPr lang="en-US" altLang="ko-KR" sz="950">
                <a:solidFill>
                  <a:srgbClr val="FF0000"/>
                </a:solidFill>
                <a:latin typeface="Times New Roman" pitchFamily="18" charset="0"/>
                <a:ea typeface="돋움" pitchFamily="50" charset="-127"/>
                <a:cs typeface="Times New Roman" pitchFamily="18" charset="0"/>
              </a:endParaRPr>
            </a:p>
            <a:p>
              <a:endParaRPr lang="en-US" altLang="ko-KR" sz="95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D.</a:t>
              </a:r>
              <a:endParaRPr lang="en-US" altLang="ko-KR" sz="950">
                <a:latin typeface="Times New Roman" pitchFamily="18" charset="0"/>
                <a:ea typeface="돋움" pitchFamily="50" charset="-127"/>
                <a:cs typeface="Times New Roman" pitchFamily="18" charset="0"/>
              </a:endParaRPr>
            </a:p>
            <a:p>
              <a:pPr>
                <a:spcBef>
                  <a:spcPct val="50000"/>
                </a:spcBef>
              </a:pPr>
              <a:endParaRPr lang="en-US" altLang="ko-KR" sz="950">
                <a:latin typeface="Times New Roman" pitchFamily="18" charset="0"/>
                <a:ea typeface="돋움" pitchFamily="50" charset="-127"/>
                <a:cs typeface="Times New Roman" pitchFamily="18" charset="0"/>
              </a:endParaRPr>
            </a:p>
          </p:txBody>
        </p:sp>
        <p:grpSp>
          <p:nvGrpSpPr>
            <p:cNvPr id="23" name="Group 42"/>
            <p:cNvGrpSpPr>
              <a:grpSpLocks/>
            </p:cNvGrpSpPr>
            <p:nvPr/>
          </p:nvGrpSpPr>
          <p:grpSpPr bwMode="auto">
            <a:xfrm>
              <a:off x="549275" y="1548100"/>
              <a:ext cx="1447800" cy="863600"/>
              <a:chOff x="384" y="1008"/>
              <a:chExt cx="912" cy="544"/>
            </a:xfrm>
          </p:grpSpPr>
          <p:sp>
            <p:nvSpPr>
              <p:cNvPr id="24" name="Line 43"/>
              <p:cNvSpPr>
                <a:spLocks noChangeShapeType="1"/>
              </p:cNvSpPr>
              <p:nvPr/>
            </p:nvSpPr>
            <p:spPr bwMode="auto">
              <a:xfrm>
                <a:off x="432" y="1008"/>
                <a:ext cx="864" cy="0"/>
              </a:xfrm>
              <a:prstGeom prst="line">
                <a:avLst/>
              </a:prstGeom>
              <a:noFill/>
              <a:ln w="19050">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25" name="Line 44"/>
              <p:cNvSpPr>
                <a:spLocks noChangeShapeType="1"/>
              </p:cNvSpPr>
              <p:nvPr/>
            </p:nvSpPr>
            <p:spPr bwMode="auto">
              <a:xfrm>
                <a:off x="432" y="1152"/>
                <a:ext cx="864" cy="0"/>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26" name="Line 45"/>
              <p:cNvSpPr>
                <a:spLocks noChangeShapeType="1"/>
              </p:cNvSpPr>
              <p:nvPr/>
            </p:nvSpPr>
            <p:spPr bwMode="auto">
              <a:xfrm>
                <a:off x="432" y="1344"/>
                <a:ext cx="864" cy="0"/>
              </a:xfrm>
              <a:prstGeom prst="line">
                <a:avLst/>
              </a:prstGeom>
              <a:noFill/>
              <a:ln w="190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sp>
            <p:nvSpPr>
              <p:cNvPr id="27" name="Freeform 46"/>
              <p:cNvSpPr>
                <a:spLocks/>
              </p:cNvSpPr>
              <p:nvPr/>
            </p:nvSpPr>
            <p:spPr bwMode="auto">
              <a:xfrm>
                <a:off x="384" y="1440"/>
                <a:ext cx="912" cy="112"/>
              </a:xfrm>
              <a:custGeom>
                <a:avLst/>
                <a:gdLst>
                  <a:gd name="T0" fmla="*/ 0 w 912"/>
                  <a:gd name="T1" fmla="*/ 96 h 112"/>
                  <a:gd name="T2" fmla="*/ 48 w 912"/>
                  <a:gd name="T3" fmla="*/ 96 h 112"/>
                  <a:gd name="T4" fmla="*/ 240 w 912"/>
                  <a:gd name="T5" fmla="*/ 0 h 112"/>
                  <a:gd name="T6" fmla="*/ 432 w 912"/>
                  <a:gd name="T7" fmla="*/ 96 h 112"/>
                  <a:gd name="T8" fmla="*/ 768 w 912"/>
                  <a:gd name="T9" fmla="*/ 48 h 112"/>
                  <a:gd name="T10" fmla="*/ 912 w 912"/>
                  <a:gd name="T11" fmla="*/ 96 h 11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912" h="112">
                    <a:moveTo>
                      <a:pt x="0" y="96"/>
                    </a:moveTo>
                    <a:cubicBezTo>
                      <a:pt x="4" y="104"/>
                      <a:pt x="8" y="112"/>
                      <a:pt x="48" y="96"/>
                    </a:cubicBezTo>
                    <a:cubicBezTo>
                      <a:pt x="88" y="80"/>
                      <a:pt x="176" y="0"/>
                      <a:pt x="240" y="0"/>
                    </a:cubicBezTo>
                    <a:cubicBezTo>
                      <a:pt x="304" y="0"/>
                      <a:pt x="344" y="88"/>
                      <a:pt x="432" y="96"/>
                    </a:cubicBezTo>
                    <a:cubicBezTo>
                      <a:pt x="520" y="104"/>
                      <a:pt x="688" y="48"/>
                      <a:pt x="768" y="48"/>
                    </a:cubicBezTo>
                    <a:cubicBezTo>
                      <a:pt x="848" y="48"/>
                      <a:pt x="896" y="88"/>
                      <a:pt x="912" y="96"/>
                    </a:cubicBezTo>
                  </a:path>
                </a:pathLst>
              </a:custGeom>
              <a:noFill/>
              <a:ln w="19050" cap="flat" cmpd="sng">
                <a:solidFill>
                  <a:schemeClr val="tx1"/>
                </a:solidFill>
                <a:prstDash val="solid"/>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950">
                  <a:latin typeface="Times New Roman" pitchFamily="18" charset="0"/>
                  <a:cs typeface="Times New Roman" pitchFamily="18" charset="0"/>
                </a:endParaRPr>
              </a:p>
            </p:txBody>
          </p:sp>
        </p:grpSp>
      </p:grpSp>
      <p:sp>
        <p:nvSpPr>
          <p:cNvPr id="28" name="Rectangle 47"/>
          <p:cNvSpPr>
            <a:spLocks noChangeArrowheads="1"/>
          </p:cNvSpPr>
          <p:nvPr/>
        </p:nvSpPr>
        <p:spPr bwMode="auto">
          <a:xfrm>
            <a:off x="3429000" y="3224808"/>
            <a:ext cx="3124200" cy="73558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cs typeface="Times New Roman" pitchFamily="18" charset="0"/>
              </a:rPr>
              <a:t>7</a:t>
            </a:r>
            <a:r>
              <a:rPr lang="en-US" altLang="ko-KR" sz="950" smtClean="0">
                <a:latin typeface="Times New Roman" pitchFamily="18" charset="0"/>
                <a:cs typeface="Times New Roman" pitchFamily="18" charset="0"/>
              </a:rPr>
              <a:t>7</a:t>
            </a:r>
            <a:r>
              <a:rPr lang="en-US" altLang="ko-KR" sz="950">
                <a:latin typeface="Times New Roman" pitchFamily="18" charset="0"/>
                <a:cs typeface="Times New Roman" pitchFamily="18" charset="0"/>
              </a:rPr>
              <a:t>. Nếu chia một vạch của thước </a:t>
            </a:r>
            <a:r>
              <a:rPr lang="en-US" altLang="ko-KR" sz="950" smtClean="0">
                <a:latin typeface="Times New Roman" pitchFamily="18" charset="0"/>
                <a:cs typeface="Times New Roman" pitchFamily="18" charset="0"/>
              </a:rPr>
              <a:t>chính </a:t>
            </a:r>
            <a:r>
              <a:rPr lang="en-US" altLang="ko-KR" sz="950">
                <a:latin typeface="Times New Roman" pitchFamily="18" charset="0"/>
                <a:cs typeface="Times New Roman" pitchFamily="18" charset="0"/>
              </a:rPr>
              <a:t>Vernier Calipers ra 50 lần thì được bao nhiêu?</a:t>
            </a:r>
          </a:p>
          <a:p>
            <a:pPr>
              <a:lnSpc>
                <a:spcPct val="120000"/>
              </a:lnSpc>
            </a:pPr>
            <a:endParaRPr lang="en-US" altLang="ko-KR" sz="950" smtClean="0">
              <a:latin typeface="Times New Roman" pitchFamily="18" charset="0"/>
              <a:cs typeface="Times New Roman" pitchFamily="18" charset="0"/>
            </a:endParaRPr>
          </a:p>
          <a:p>
            <a:pPr>
              <a:lnSpc>
                <a:spcPct val="120000"/>
              </a:lnSpc>
            </a:pPr>
            <a:r>
              <a:rPr lang="en-US" altLang="ko-KR" sz="950" smtClean="0">
                <a:latin typeface="Times New Roman" pitchFamily="18" charset="0"/>
                <a:cs typeface="Times New Roman" pitchFamily="18" charset="0"/>
              </a:rPr>
              <a:t>A. </a:t>
            </a:r>
            <a:r>
              <a:rPr lang="en-US" altLang="ko-KR" sz="950">
                <a:latin typeface="Times New Roman" pitchFamily="18" charset="0"/>
                <a:cs typeface="Times New Roman" pitchFamily="18" charset="0"/>
              </a:rPr>
              <a:t>0.2mm     </a:t>
            </a:r>
            <a:r>
              <a:rPr lang="en-US" altLang="ko-KR" sz="950" smtClean="0">
                <a:solidFill>
                  <a:srgbClr val="FF0000"/>
                </a:solidFill>
                <a:latin typeface="Times New Roman" pitchFamily="18" charset="0"/>
                <a:cs typeface="Times New Roman" pitchFamily="18" charset="0"/>
              </a:rPr>
              <a:t>B. </a:t>
            </a:r>
            <a:r>
              <a:rPr lang="en-US" altLang="ko-KR" sz="950">
                <a:solidFill>
                  <a:srgbClr val="FF0000"/>
                </a:solidFill>
                <a:latin typeface="Times New Roman" pitchFamily="18" charset="0"/>
                <a:cs typeface="Times New Roman" pitchFamily="18" charset="0"/>
              </a:rPr>
              <a:t>0.02mm     </a:t>
            </a:r>
            <a:r>
              <a:rPr lang="en-US" altLang="ko-KR" sz="950" smtClean="0">
                <a:latin typeface="Times New Roman" pitchFamily="18" charset="0"/>
                <a:cs typeface="Times New Roman" pitchFamily="18" charset="0"/>
              </a:rPr>
              <a:t>C. </a:t>
            </a:r>
            <a:r>
              <a:rPr lang="en-US" altLang="ko-KR" sz="950">
                <a:latin typeface="Times New Roman" pitchFamily="18" charset="0"/>
                <a:cs typeface="Times New Roman" pitchFamily="18" charset="0"/>
              </a:rPr>
              <a:t>0.5mm     </a:t>
            </a:r>
            <a:r>
              <a:rPr lang="en-US" altLang="ko-KR" sz="950" smtClean="0">
                <a:latin typeface="Times New Roman" pitchFamily="18" charset="0"/>
                <a:cs typeface="Times New Roman" pitchFamily="18" charset="0"/>
              </a:rPr>
              <a:t>D. </a:t>
            </a:r>
            <a:r>
              <a:rPr lang="en-US" altLang="ko-KR" sz="950">
                <a:latin typeface="Times New Roman" pitchFamily="18" charset="0"/>
                <a:cs typeface="Times New Roman" pitchFamily="18" charset="0"/>
              </a:rPr>
              <a:t>0.05mm</a:t>
            </a:r>
          </a:p>
        </p:txBody>
      </p:sp>
      <p:grpSp>
        <p:nvGrpSpPr>
          <p:cNvPr id="30" name="Group 29"/>
          <p:cNvGrpSpPr/>
          <p:nvPr/>
        </p:nvGrpSpPr>
        <p:grpSpPr>
          <a:xfrm>
            <a:off x="3501008" y="7833320"/>
            <a:ext cx="3124200" cy="1381221"/>
            <a:chOff x="245410" y="5494338"/>
            <a:chExt cx="3124200" cy="1381221"/>
          </a:xfrm>
        </p:grpSpPr>
        <p:sp>
          <p:nvSpPr>
            <p:cNvPr id="31" name="Rectangle 106"/>
            <p:cNvSpPr>
              <a:spLocks noChangeArrowheads="1"/>
            </p:cNvSpPr>
            <p:nvPr/>
          </p:nvSpPr>
          <p:spPr bwMode="auto">
            <a:xfrm>
              <a:off x="245410" y="5494338"/>
              <a:ext cx="3124200" cy="1261884"/>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50">
                  <a:latin typeface="Times New Roman" pitchFamily="18" charset="0"/>
                  <a:cs typeface="Times New Roman" pitchFamily="18" charset="0"/>
                </a:rPr>
                <a:t>8</a:t>
              </a:r>
              <a:r>
                <a:rPr lang="en-US" altLang="ko-KR" sz="950" smtClean="0">
                  <a:latin typeface="Times New Roman" pitchFamily="18" charset="0"/>
                  <a:cs typeface="Times New Roman" pitchFamily="18" charset="0"/>
                </a:rPr>
                <a:t>0</a:t>
              </a:r>
              <a:r>
                <a:rPr lang="en-US" altLang="ko-KR" sz="950">
                  <a:latin typeface="Times New Roman" pitchFamily="18" charset="0"/>
                  <a:cs typeface="Times New Roman" pitchFamily="18" charset="0"/>
                </a:rPr>
                <a:t>. Dưới đây là hình của</a:t>
              </a:r>
              <a:r>
                <a:rPr lang="ko-KR" altLang="en-US" sz="950">
                  <a:latin typeface="Times New Roman" pitchFamily="18" charset="0"/>
                  <a:cs typeface="Times New Roman" pitchFamily="18" charset="0"/>
                </a:rPr>
                <a:t> </a:t>
              </a:r>
              <a:r>
                <a:rPr lang="en-US" altLang="ko-KR" sz="950" smtClean="0">
                  <a:latin typeface="Times New Roman" pitchFamily="18" charset="0"/>
                  <a:cs typeface="Times New Roman" pitchFamily="18" charset="0"/>
                </a:rPr>
                <a:t>Ball Screw.</a:t>
              </a:r>
              <a:endParaRPr lang="en-US" altLang="ko-KR" sz="950">
                <a:latin typeface="Times New Roman" pitchFamily="18" charset="0"/>
                <a:cs typeface="Times New Roman" pitchFamily="18" charset="0"/>
              </a:endParaRPr>
            </a:p>
            <a:p>
              <a:r>
                <a:rPr lang="en-US" altLang="ko-KR" sz="950">
                  <a:latin typeface="Times New Roman" pitchFamily="18" charset="0"/>
                  <a:cs typeface="Times New Roman" pitchFamily="18" charset="0"/>
                </a:rPr>
                <a:t>       Tấm nhấn </a:t>
              </a:r>
              <a:r>
                <a:rPr lang="en-US" altLang="ko-KR" sz="950" smtClean="0">
                  <a:latin typeface="Times New Roman" pitchFamily="18" charset="0"/>
                  <a:cs typeface="Times New Roman" pitchFamily="18" charset="0"/>
                </a:rPr>
                <a:t>Pipe </a:t>
              </a:r>
              <a:r>
                <a:rPr lang="en-US" altLang="ko-KR" sz="950">
                  <a:latin typeface="Times New Roman" pitchFamily="18" charset="0"/>
                  <a:cs typeface="Times New Roman" pitchFamily="18" charset="0"/>
                </a:rPr>
                <a:t>cố </a:t>
              </a:r>
              <a:r>
                <a:rPr lang="en-US" altLang="ko-KR" sz="950" smtClean="0">
                  <a:latin typeface="Times New Roman" pitchFamily="18" charset="0"/>
                  <a:cs typeface="Times New Roman" pitchFamily="18" charset="0"/>
                </a:rPr>
                <a:t>định </a:t>
              </a:r>
              <a:r>
                <a:rPr lang="en-US" altLang="ko-KR" sz="950">
                  <a:latin typeface="Times New Roman" pitchFamily="18" charset="0"/>
                  <a:cs typeface="Times New Roman" pitchFamily="18" charset="0"/>
                </a:rPr>
                <a:t>R</a:t>
              </a:r>
              <a:r>
                <a:rPr lang="en-US" altLang="ko-KR" sz="950" smtClean="0">
                  <a:latin typeface="Times New Roman" pitchFamily="18" charset="0"/>
                  <a:cs typeface="Times New Roman" pitchFamily="18" charset="0"/>
                </a:rPr>
                <a:t>eturn </a:t>
              </a:r>
              <a:r>
                <a:rPr lang="en-US" altLang="ko-KR" sz="950">
                  <a:latin typeface="Times New Roman" pitchFamily="18" charset="0"/>
                  <a:cs typeface="Times New Roman" pitchFamily="18" charset="0"/>
                </a:rPr>
                <a:t>pipe  và </a:t>
              </a:r>
              <a:r>
                <a:rPr lang="en-US" altLang="ko-KR" sz="950" smtClean="0">
                  <a:latin typeface="Times New Roman" pitchFamily="18" charset="0"/>
                  <a:cs typeface="Times New Roman" pitchFamily="18" charset="0"/>
                </a:rPr>
                <a:t>Return </a:t>
              </a:r>
              <a:r>
                <a:rPr lang="en-US" altLang="ko-KR" sz="950">
                  <a:latin typeface="Times New Roman" pitchFamily="18" charset="0"/>
                  <a:cs typeface="Times New Roman" pitchFamily="18" charset="0"/>
                </a:rPr>
                <a:t>pipe, là một yếu tố làm </a:t>
              </a:r>
              <a:r>
                <a:rPr lang="en-US" altLang="ko-KR" sz="950" smtClean="0">
                  <a:latin typeface="Times New Roman" pitchFamily="18" charset="0"/>
                  <a:cs typeface="Times New Roman" pitchFamily="18" charset="0"/>
                </a:rPr>
                <a:t>Ball </a:t>
              </a:r>
              <a:r>
                <a:rPr lang="en-US" altLang="ko-KR" sz="950">
                  <a:latin typeface="Times New Roman" pitchFamily="18" charset="0"/>
                  <a:cs typeface="Times New Roman" pitchFamily="18" charset="0"/>
                </a:rPr>
                <a:t>xoay linh hoạt hơn là số </a:t>
              </a:r>
              <a:r>
                <a:rPr lang="en-US" altLang="ko-KR" sz="950" smtClean="0">
                  <a:latin typeface="Times New Roman" pitchFamily="18" charset="0"/>
                  <a:cs typeface="Times New Roman" pitchFamily="18" charset="0"/>
                </a:rPr>
                <a:t>mấy ở hình dưới đây?</a:t>
              </a:r>
              <a:endParaRPr lang="en-US" altLang="ko-KR" sz="950">
                <a:latin typeface="Times New Roman" pitchFamily="18" charset="0"/>
                <a:cs typeface="Times New Roman" pitchFamily="18" charset="0"/>
              </a:endParaRPr>
            </a:p>
            <a:p>
              <a:endParaRPr lang="en-US" altLang="ko-KR" sz="950">
                <a:latin typeface="Times New Roman" pitchFamily="18" charset="0"/>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A. </a:t>
              </a:r>
              <a:r>
                <a:rPr lang="en-US" altLang="ko-KR" sz="950">
                  <a:solidFill>
                    <a:srgbClr val="FF0000"/>
                  </a:solidFill>
                  <a:latin typeface="Times New Roman" pitchFamily="18" charset="0"/>
                  <a:ea typeface="돋움" pitchFamily="50" charset="-127"/>
                  <a:cs typeface="Times New Roman" pitchFamily="18" charset="0"/>
                </a:rPr>
                <a:t>2,1</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B.</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1, 4</a:t>
              </a:r>
              <a:r>
                <a:rPr lang="ko-KR" altLang="en-US" sz="950">
                  <a:latin typeface="Times New Roman" pitchFamily="18" charset="0"/>
                  <a:ea typeface="돋움" pitchFamily="50" charset="-127"/>
                  <a:cs typeface="Times New Roman" pitchFamily="18" charset="0"/>
                </a:rPr>
                <a:t>     </a:t>
              </a:r>
            </a:p>
            <a:p>
              <a:endParaRPr lang="en-US" altLang="ko-KR" sz="950" smtClean="0">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2,5</a:t>
              </a:r>
              <a:r>
                <a:rPr lang="ko-KR" altLang="en-US" sz="950">
                  <a:latin typeface="Times New Roman" pitchFamily="18" charset="0"/>
                  <a:ea typeface="돋움" pitchFamily="50" charset="-127"/>
                  <a:cs typeface="Times New Roman" pitchFamily="18" charset="0"/>
                </a:rPr>
                <a:t>     </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a:latin typeface="Times New Roman" pitchFamily="18" charset="0"/>
                  <a:ea typeface="돋움" pitchFamily="50" charset="-127"/>
                  <a:cs typeface="Times New Roman" pitchFamily="18" charset="0"/>
                </a:rPr>
                <a:t>2,6</a:t>
              </a:r>
              <a:endParaRPr lang="ko-KR" altLang="en-US" sz="950">
                <a:latin typeface="Times New Roman" pitchFamily="18" charset="0"/>
                <a:ea typeface="돋움" pitchFamily="50" charset="-127"/>
                <a:cs typeface="Times New Roman" pitchFamily="18" charset="0"/>
              </a:endParaRPr>
            </a:p>
          </p:txBody>
        </p:sp>
        <p:grpSp>
          <p:nvGrpSpPr>
            <p:cNvPr id="32" name="Group 107"/>
            <p:cNvGrpSpPr>
              <a:grpSpLocks/>
            </p:cNvGrpSpPr>
            <p:nvPr/>
          </p:nvGrpSpPr>
          <p:grpSpPr bwMode="auto">
            <a:xfrm>
              <a:off x="1312293" y="5927932"/>
              <a:ext cx="1717538" cy="947627"/>
              <a:chOff x="1694" y="132"/>
              <a:chExt cx="1405" cy="1355"/>
            </a:xfrm>
          </p:grpSpPr>
          <p:pic>
            <p:nvPicPr>
              <p:cNvPr id="33" name="Picture 10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09" y="370"/>
                <a:ext cx="1281" cy="1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Text Box 109"/>
              <p:cNvSpPr txBox="1">
                <a:spLocks noChangeArrowheads="1"/>
              </p:cNvSpPr>
              <p:nvPr/>
            </p:nvSpPr>
            <p:spPr bwMode="auto">
              <a:xfrm>
                <a:off x="2319" y="233"/>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1</a:t>
                </a:r>
                <a:endParaRPr lang="ko-KR" altLang="en-US" sz="950" b="1">
                  <a:latin typeface="Times New Roman" pitchFamily="18" charset="0"/>
                  <a:cs typeface="Times New Roman" pitchFamily="18" charset="0"/>
                </a:endParaRPr>
              </a:p>
            </p:txBody>
          </p:sp>
          <p:sp>
            <p:nvSpPr>
              <p:cNvPr id="35" name="Text Box 110"/>
              <p:cNvSpPr txBox="1">
                <a:spLocks noChangeArrowheads="1"/>
              </p:cNvSpPr>
              <p:nvPr/>
            </p:nvSpPr>
            <p:spPr bwMode="auto">
              <a:xfrm>
                <a:off x="2575" y="132"/>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3</a:t>
                </a:r>
                <a:endParaRPr lang="ko-KR" altLang="en-US" sz="950" b="1">
                  <a:latin typeface="Times New Roman" pitchFamily="18" charset="0"/>
                  <a:cs typeface="Times New Roman" pitchFamily="18" charset="0"/>
                </a:endParaRPr>
              </a:p>
            </p:txBody>
          </p:sp>
          <p:sp>
            <p:nvSpPr>
              <p:cNvPr id="36" name="Text Box 111"/>
              <p:cNvSpPr txBox="1">
                <a:spLocks noChangeArrowheads="1"/>
              </p:cNvSpPr>
              <p:nvPr/>
            </p:nvSpPr>
            <p:spPr bwMode="auto">
              <a:xfrm>
                <a:off x="2898" y="773"/>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4</a:t>
                </a:r>
                <a:endParaRPr lang="ko-KR" altLang="en-US" sz="950" b="1">
                  <a:latin typeface="Times New Roman" pitchFamily="18" charset="0"/>
                  <a:cs typeface="Times New Roman" pitchFamily="18" charset="0"/>
                </a:endParaRPr>
              </a:p>
            </p:txBody>
          </p:sp>
          <p:sp>
            <p:nvSpPr>
              <p:cNvPr id="37" name="Text Box 112"/>
              <p:cNvSpPr txBox="1">
                <a:spLocks noChangeArrowheads="1"/>
              </p:cNvSpPr>
              <p:nvPr/>
            </p:nvSpPr>
            <p:spPr bwMode="auto">
              <a:xfrm>
                <a:off x="2770" y="942"/>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5</a:t>
                </a:r>
                <a:endParaRPr lang="ko-KR" altLang="en-US" sz="950" b="1">
                  <a:latin typeface="Times New Roman" pitchFamily="18" charset="0"/>
                  <a:cs typeface="Times New Roman" pitchFamily="18" charset="0"/>
                </a:endParaRPr>
              </a:p>
            </p:txBody>
          </p:sp>
          <p:sp>
            <p:nvSpPr>
              <p:cNvPr id="38" name="Text Box 113"/>
              <p:cNvSpPr txBox="1">
                <a:spLocks noChangeArrowheads="1"/>
              </p:cNvSpPr>
              <p:nvPr/>
            </p:nvSpPr>
            <p:spPr bwMode="auto">
              <a:xfrm>
                <a:off x="2102" y="369"/>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6</a:t>
                </a:r>
                <a:endParaRPr lang="ko-KR" altLang="en-US" sz="950" b="1">
                  <a:latin typeface="Times New Roman" pitchFamily="18" charset="0"/>
                  <a:cs typeface="Times New Roman" pitchFamily="18" charset="0"/>
                </a:endParaRPr>
              </a:p>
            </p:txBody>
          </p:sp>
          <p:sp>
            <p:nvSpPr>
              <p:cNvPr id="39" name="Text Box 114"/>
              <p:cNvSpPr txBox="1">
                <a:spLocks noChangeArrowheads="1"/>
              </p:cNvSpPr>
              <p:nvPr/>
            </p:nvSpPr>
            <p:spPr bwMode="auto">
              <a:xfrm>
                <a:off x="1961" y="486"/>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2</a:t>
                </a:r>
                <a:endParaRPr lang="ko-KR" altLang="en-US" sz="950" b="1">
                  <a:latin typeface="Times New Roman" pitchFamily="18" charset="0"/>
                  <a:cs typeface="Times New Roman" pitchFamily="18" charset="0"/>
                </a:endParaRPr>
              </a:p>
            </p:txBody>
          </p:sp>
          <p:sp>
            <p:nvSpPr>
              <p:cNvPr id="40" name="Text Box 115"/>
              <p:cNvSpPr txBox="1">
                <a:spLocks noChangeArrowheads="1"/>
              </p:cNvSpPr>
              <p:nvPr/>
            </p:nvSpPr>
            <p:spPr bwMode="auto">
              <a:xfrm>
                <a:off x="1694" y="634"/>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7</a:t>
                </a:r>
                <a:endParaRPr lang="ko-KR" altLang="en-US" sz="950" b="1">
                  <a:latin typeface="Times New Roman" pitchFamily="18" charset="0"/>
                  <a:cs typeface="Times New Roman" pitchFamily="18" charset="0"/>
                </a:endParaRPr>
              </a:p>
            </p:txBody>
          </p:sp>
          <p:sp>
            <p:nvSpPr>
              <p:cNvPr id="41" name="Text Box 116"/>
              <p:cNvSpPr txBox="1">
                <a:spLocks noChangeArrowheads="1"/>
              </p:cNvSpPr>
              <p:nvPr/>
            </p:nvSpPr>
            <p:spPr bwMode="auto">
              <a:xfrm>
                <a:off x="2516" y="1146"/>
                <a:ext cx="201" cy="3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3200">
                    <a:solidFill>
                      <a:schemeClr val="tx1"/>
                    </a:solidFill>
                    <a:latin typeface="굴림" charset="-127"/>
                    <a:ea typeface="굴림" charset="-127"/>
                  </a:defRPr>
                </a:lvl1pPr>
                <a:lvl2pPr>
                  <a:defRPr kumimoji="1" sz="2800">
                    <a:solidFill>
                      <a:schemeClr val="tx1"/>
                    </a:solidFill>
                    <a:latin typeface="굴림" charset="-127"/>
                    <a:ea typeface="굴림" charset="-127"/>
                  </a:defRPr>
                </a:lvl2pPr>
                <a:lvl3pPr>
                  <a:defRPr kumimoji="1" sz="2400">
                    <a:solidFill>
                      <a:schemeClr val="tx1"/>
                    </a:solidFill>
                    <a:latin typeface="굴림" charset="-127"/>
                    <a:ea typeface="굴림" charset="-127"/>
                  </a:defRPr>
                </a:lvl3pPr>
                <a:lvl4pPr>
                  <a:defRPr kumimoji="1" sz="2000">
                    <a:solidFill>
                      <a:schemeClr val="tx1"/>
                    </a:solidFill>
                    <a:latin typeface="굴림" charset="-127"/>
                    <a:ea typeface="굴림" charset="-127"/>
                  </a:defRPr>
                </a:lvl4pPr>
                <a:lvl5pPr>
                  <a:defRPr kumimoji="1" sz="2000">
                    <a:solidFill>
                      <a:schemeClr val="tx1"/>
                    </a:solidFill>
                    <a:latin typeface="굴림" charset="-127"/>
                    <a:ea typeface="굴림" charset="-127"/>
                  </a:defRPr>
                </a:lvl5pPr>
                <a:lvl6pPr eaLnBrk="0" hangingPunct="0">
                  <a:defRPr kumimoji="1" sz="2000">
                    <a:solidFill>
                      <a:schemeClr val="tx1"/>
                    </a:solidFill>
                    <a:latin typeface="굴림" charset="-127"/>
                    <a:ea typeface="굴림" charset="-127"/>
                  </a:defRPr>
                </a:lvl6pPr>
                <a:lvl7pPr eaLnBrk="0" hangingPunct="0">
                  <a:defRPr kumimoji="1" sz="2000">
                    <a:solidFill>
                      <a:schemeClr val="tx1"/>
                    </a:solidFill>
                    <a:latin typeface="굴림" charset="-127"/>
                    <a:ea typeface="굴림" charset="-127"/>
                  </a:defRPr>
                </a:lvl7pPr>
                <a:lvl8pPr eaLnBrk="0" hangingPunct="0">
                  <a:defRPr kumimoji="1" sz="2000">
                    <a:solidFill>
                      <a:schemeClr val="tx1"/>
                    </a:solidFill>
                    <a:latin typeface="굴림" charset="-127"/>
                    <a:ea typeface="굴림" charset="-127"/>
                  </a:defRPr>
                </a:lvl8pPr>
                <a:lvl9pPr eaLnBrk="0" hangingPunct="0">
                  <a:defRPr kumimoji="1" sz="2000">
                    <a:solidFill>
                      <a:schemeClr val="tx1"/>
                    </a:solidFill>
                    <a:latin typeface="굴림" charset="-127"/>
                    <a:ea typeface="굴림" charset="-127"/>
                  </a:defRPr>
                </a:lvl9pPr>
              </a:lstStyle>
              <a:p>
                <a:pPr algn="ctr"/>
                <a:r>
                  <a:rPr lang="en-US" altLang="ko-KR" sz="950" b="1">
                    <a:latin typeface="Times New Roman" pitchFamily="18" charset="0"/>
                    <a:cs typeface="Times New Roman" pitchFamily="18" charset="0"/>
                  </a:rPr>
                  <a:t>8</a:t>
                </a:r>
                <a:endParaRPr lang="ko-KR" altLang="en-US" sz="950" b="1">
                  <a:latin typeface="Times New Roman" pitchFamily="18" charset="0"/>
                  <a:cs typeface="Times New Roman" pitchFamily="18" charset="0"/>
                </a:endParaRPr>
              </a:p>
            </p:txBody>
          </p:sp>
        </p:grpSp>
      </p:grpSp>
      <p:sp>
        <p:nvSpPr>
          <p:cNvPr id="42" name="Rectangle 117"/>
          <p:cNvSpPr>
            <a:spLocks noChangeArrowheads="1"/>
          </p:cNvSpPr>
          <p:nvPr/>
        </p:nvSpPr>
        <p:spPr bwMode="auto">
          <a:xfrm>
            <a:off x="3429000" y="4448944"/>
            <a:ext cx="3255598" cy="969496"/>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ko-KR" sz="950">
                <a:latin typeface="Times New Roman" pitchFamily="18" charset="0"/>
                <a:ea typeface="돋움" pitchFamily="50" charset="-127"/>
                <a:cs typeface="Times New Roman" pitchFamily="18" charset="0"/>
              </a:rPr>
              <a:t>7</a:t>
            </a:r>
            <a:r>
              <a:rPr lang="en-US" altLang="ko-KR" sz="950" smtClean="0">
                <a:latin typeface="Times New Roman" pitchFamily="18" charset="0"/>
                <a:ea typeface="돋움" pitchFamily="50" charset="-127"/>
                <a:cs typeface="Times New Roman" pitchFamily="18" charset="0"/>
              </a:rPr>
              <a:t>8</a:t>
            </a:r>
            <a:r>
              <a:rPr lang="en-US" altLang="ko-KR" sz="950">
                <a:latin typeface="Times New Roman" pitchFamily="18" charset="0"/>
                <a:ea typeface="돋움" pitchFamily="50" charset="-127"/>
                <a:cs typeface="Times New Roman" pitchFamily="18" charset="0"/>
              </a:rPr>
              <a:t>. Chọn đáp án không phải là điều kiện </a:t>
            </a:r>
            <a:r>
              <a:rPr lang="en-US" altLang="ko-KR" sz="950" smtClean="0">
                <a:latin typeface="Times New Roman" pitchFamily="18" charset="0"/>
                <a:ea typeface="돋움" pitchFamily="50" charset="-127"/>
                <a:cs typeface="Times New Roman" pitchFamily="18" charset="0"/>
              </a:rPr>
              <a:t>mà </a:t>
            </a:r>
            <a:r>
              <a:rPr lang="en-US" altLang="ko-KR" sz="950">
                <a:latin typeface="Times New Roman" pitchFamily="18" charset="0"/>
                <a:ea typeface="돋움" pitchFamily="50" charset="-127"/>
                <a:cs typeface="Times New Roman" pitchFamily="18" charset="0"/>
              </a:rPr>
              <a:t>chất bôi trơn phải có?</a:t>
            </a:r>
          </a:p>
          <a:p>
            <a:r>
              <a:rPr lang="en-US" altLang="ko-KR" sz="950" smtClean="0">
                <a:latin typeface="Times New Roman" pitchFamily="18" charset="0"/>
                <a:ea typeface="돋움" pitchFamily="50" charset="-127"/>
                <a:cs typeface="Times New Roman" pitchFamily="18" charset="0"/>
              </a:rPr>
              <a:t>A. Cường </a:t>
            </a:r>
            <a:r>
              <a:rPr lang="en-US" altLang="ko-KR" sz="950">
                <a:latin typeface="Times New Roman" pitchFamily="18" charset="0"/>
                <a:ea typeface="돋움" pitchFamily="50" charset="-127"/>
                <a:cs typeface="Times New Roman" pitchFamily="18" charset="0"/>
              </a:rPr>
              <a:t>độ màng dầu phải mạnh</a:t>
            </a:r>
            <a:r>
              <a:rPr lang="ko-KR" altLang="en-US" sz="950">
                <a:latin typeface="Times New Roman" pitchFamily="18" charset="0"/>
                <a:ea typeface="돋움" pitchFamily="50" charset="-127"/>
                <a:cs typeface="Times New Roman" pitchFamily="18" charset="0"/>
              </a:rPr>
              <a:t>    </a:t>
            </a:r>
            <a:endParaRPr lang="en-US" altLang="ko-KR" sz="950" smtClean="0">
              <a:latin typeface="Times New Roman" pitchFamily="18" charset="0"/>
              <a:ea typeface="돋움" pitchFamily="50" charset="-127"/>
              <a:cs typeface="Times New Roman" pitchFamily="18" charset="0"/>
            </a:endParaRPr>
          </a:p>
          <a:p>
            <a:r>
              <a:rPr lang="en-US" altLang="ko-KR" sz="950" smtClean="0">
                <a:solidFill>
                  <a:srgbClr val="FF0000"/>
                </a:solidFill>
                <a:latin typeface="Times New Roman" pitchFamily="18" charset="0"/>
                <a:ea typeface="돋움" pitchFamily="50" charset="-127"/>
                <a:cs typeface="Times New Roman" pitchFamily="18" charset="0"/>
              </a:rPr>
              <a:t>B.</a:t>
            </a:r>
            <a:r>
              <a:rPr lang="ko-KR" altLang="en-US" sz="950" smtClean="0">
                <a:solidFill>
                  <a:srgbClr val="FF0000"/>
                </a:solidFill>
                <a:latin typeface="Times New Roman" pitchFamily="18" charset="0"/>
                <a:ea typeface="돋움" pitchFamily="50" charset="-127"/>
                <a:cs typeface="Times New Roman" pitchFamily="18" charset="0"/>
              </a:rPr>
              <a:t> </a:t>
            </a:r>
            <a:r>
              <a:rPr lang="en-US" altLang="ko-KR" sz="950">
                <a:solidFill>
                  <a:srgbClr val="FF0000"/>
                </a:solidFill>
                <a:latin typeface="Times New Roman" pitchFamily="18" charset="0"/>
                <a:ea typeface="돋움" pitchFamily="50" charset="-127"/>
                <a:cs typeface="Times New Roman" pitchFamily="18" charset="0"/>
              </a:rPr>
              <a:t>Khả năng chống mòn nhỏ</a:t>
            </a:r>
            <a:endParaRPr lang="ko-KR" altLang="en-US" sz="950">
              <a:solidFill>
                <a:srgbClr val="FF0000"/>
              </a:solidFill>
              <a:latin typeface="Times New Roman" pitchFamily="18" charset="0"/>
              <a:ea typeface="돋움" pitchFamily="50" charset="-127"/>
              <a:cs typeface="Times New Roman" pitchFamily="18" charset="0"/>
            </a:endParaRPr>
          </a:p>
          <a:p>
            <a:r>
              <a:rPr lang="en-US" altLang="ko-KR" sz="950" smtClean="0">
                <a:latin typeface="Times New Roman" pitchFamily="18" charset="0"/>
                <a:ea typeface="돋움" pitchFamily="50" charset="-127"/>
                <a:cs typeface="Times New Roman" pitchFamily="18" charset="0"/>
              </a:rPr>
              <a:t>C.</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Ma </a:t>
            </a:r>
            <a:r>
              <a:rPr lang="en-US" altLang="ko-KR" sz="950">
                <a:latin typeface="Times New Roman" pitchFamily="18" charset="0"/>
                <a:ea typeface="돋움" pitchFamily="50" charset="-127"/>
                <a:cs typeface="Times New Roman" pitchFamily="18" charset="0"/>
              </a:rPr>
              <a:t>sát ít</a:t>
            </a:r>
            <a:r>
              <a:rPr lang="ko-KR" altLang="en-US" sz="950">
                <a:latin typeface="Times New Roman" pitchFamily="18" charset="0"/>
                <a:ea typeface="돋움" pitchFamily="50" charset="-127"/>
                <a:cs typeface="Times New Roman" pitchFamily="18" charset="0"/>
              </a:rPr>
              <a:t>           </a:t>
            </a:r>
          </a:p>
          <a:p>
            <a:r>
              <a:rPr lang="en-US" altLang="ko-KR" sz="950" smtClean="0">
                <a:latin typeface="Times New Roman" pitchFamily="18" charset="0"/>
                <a:ea typeface="돋움" pitchFamily="50" charset="-127"/>
                <a:cs typeface="Times New Roman" pitchFamily="18" charset="0"/>
              </a:rPr>
              <a:t>D.</a:t>
            </a:r>
            <a:r>
              <a:rPr lang="ko-KR" altLang="en-US" sz="950" smtClean="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Dù </a:t>
            </a:r>
            <a:r>
              <a:rPr lang="en-US" altLang="ko-KR" sz="950">
                <a:latin typeface="Times New Roman" pitchFamily="18" charset="0"/>
                <a:ea typeface="돋움" pitchFamily="50" charset="-127"/>
                <a:cs typeface="Times New Roman" pitchFamily="18" charset="0"/>
              </a:rPr>
              <a:t>bị thay nhiều lần nhưng </a:t>
            </a:r>
            <a:r>
              <a:rPr lang="en-US" altLang="ko-KR" sz="950" smtClean="0">
                <a:latin typeface="Times New Roman" pitchFamily="18" charset="0"/>
                <a:ea typeface="돋움" pitchFamily="50" charset="-127"/>
                <a:cs typeface="Times New Roman" pitchFamily="18" charset="0"/>
              </a:rPr>
              <a:t>tác dụng</a:t>
            </a:r>
            <a:r>
              <a:rPr lang="en-US" altLang="ko-KR" sz="950">
                <a:latin typeface="Times New Roman" pitchFamily="18" charset="0"/>
                <a:ea typeface="돋움" pitchFamily="50" charset="-127"/>
                <a:cs typeface="Times New Roman" pitchFamily="18" charset="0"/>
              </a:rPr>
              <a:t> </a:t>
            </a:r>
            <a:r>
              <a:rPr lang="en-US" altLang="ko-KR" sz="950" smtClean="0">
                <a:latin typeface="Times New Roman" pitchFamily="18" charset="0"/>
                <a:ea typeface="돋움" pitchFamily="50" charset="-127"/>
                <a:cs typeface="Times New Roman" pitchFamily="18" charset="0"/>
              </a:rPr>
              <a:t>không </a:t>
            </a:r>
            <a:r>
              <a:rPr lang="en-US" altLang="ko-KR" sz="950">
                <a:latin typeface="Times New Roman" pitchFamily="18" charset="0"/>
                <a:ea typeface="돋움" pitchFamily="50" charset="-127"/>
                <a:cs typeface="Times New Roman" pitchFamily="18" charset="0"/>
              </a:rPr>
              <a:t>thay đổi lớn</a:t>
            </a:r>
            <a:endParaRPr lang="ko-KR" altLang="en-US" sz="950">
              <a:latin typeface="Times New Roman" pitchFamily="18" charset="0"/>
              <a:ea typeface="돋움" pitchFamily="50" charset="-127"/>
              <a:cs typeface="Times New Roman" pitchFamily="18" charset="0"/>
            </a:endParaRPr>
          </a:p>
        </p:txBody>
      </p:sp>
      <p:sp>
        <p:nvSpPr>
          <p:cNvPr id="43" name="Rectangle 50"/>
          <p:cNvSpPr>
            <a:spLocks noChangeArrowheads="1"/>
          </p:cNvSpPr>
          <p:nvPr/>
        </p:nvSpPr>
        <p:spPr bwMode="auto">
          <a:xfrm>
            <a:off x="3458005" y="6483459"/>
            <a:ext cx="3124200" cy="1061829"/>
          </a:xfrm>
          <a:prstGeom prst="rect">
            <a:avLst/>
          </a:prstGeom>
          <a:noFill/>
          <a:ln>
            <a:noFill/>
          </a:ln>
          <a:effectLst/>
          <a:extLst>
            <a:ext uri="{909E8E84-426E-40DD-AFC4-6F175D3DCCD1}">
              <a14:hiddenFill xmlns:a14="http://schemas.microsoft.com/office/drawing/2010/main">
                <a:solidFill>
                  <a:srgbClr val="00CC99"/>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ko-KR" sz="900" smtClean="0">
                <a:latin typeface="Arial" pitchFamily="34" charset="0"/>
                <a:ea typeface="돋움" pitchFamily="50" charset="-127"/>
                <a:cs typeface="Arial" pitchFamily="34" charset="0"/>
              </a:rPr>
              <a:t>79</a:t>
            </a:r>
            <a:r>
              <a:rPr lang="en-US" altLang="ko-KR" sz="900">
                <a:latin typeface="Arial" pitchFamily="34" charset="0"/>
                <a:ea typeface="돋움" pitchFamily="50" charset="-127"/>
                <a:cs typeface="Arial" pitchFamily="34" charset="0"/>
              </a:rPr>
              <a:t>. Chọn đáp án không phải là đặc điểm của Timing Belt?</a:t>
            </a:r>
          </a:p>
          <a:p>
            <a:endParaRPr lang="en-US" altLang="ko-KR" sz="900">
              <a:latin typeface="Arial" pitchFamily="34" charset="0"/>
              <a:ea typeface="돋움" pitchFamily="50" charset="-127"/>
              <a:cs typeface="Arial" pitchFamily="34" charset="0"/>
            </a:endParaRPr>
          </a:p>
          <a:p>
            <a:r>
              <a:rPr lang="en-US" altLang="ko-KR" sz="900" smtClean="0">
                <a:latin typeface="Arial" pitchFamily="34" charset="0"/>
                <a:ea typeface="돋움" pitchFamily="50" charset="-127"/>
                <a:cs typeface="Arial" pitchFamily="34" charset="0"/>
              </a:rPr>
              <a:t>A. Không </a:t>
            </a:r>
            <a:r>
              <a:rPr lang="en-US" altLang="ko-KR" sz="900">
                <a:latin typeface="Arial" pitchFamily="34" charset="0"/>
                <a:ea typeface="돋움" pitchFamily="50" charset="-127"/>
                <a:cs typeface="Arial" pitchFamily="34" charset="0"/>
              </a:rPr>
              <a:t>cần thiết bị cấp dầu. </a:t>
            </a:r>
          </a:p>
          <a:p>
            <a:r>
              <a:rPr lang="en-US" altLang="ko-KR" sz="900" smtClean="0">
                <a:latin typeface="Arial" pitchFamily="34" charset="0"/>
                <a:ea typeface="돋움" pitchFamily="50" charset="-127"/>
                <a:cs typeface="Arial" pitchFamily="34" charset="0"/>
              </a:rPr>
              <a:t>B. </a:t>
            </a:r>
            <a:r>
              <a:rPr lang="en-US" altLang="ko-KR" sz="900">
                <a:latin typeface="Arial" pitchFamily="34" charset="0"/>
                <a:ea typeface="돋움" pitchFamily="50" charset="-127"/>
                <a:cs typeface="Arial" pitchFamily="34" charset="0"/>
              </a:rPr>
              <a:t>Là cấu trúc được  tối thiểu hóa của </a:t>
            </a:r>
            <a:r>
              <a:rPr lang="en-US" altLang="ko-KR" sz="900" smtClean="0">
                <a:latin typeface="Arial" pitchFamily="34" charset="0"/>
                <a:ea typeface="돋움" pitchFamily="50" charset="-127"/>
                <a:cs typeface="Arial" pitchFamily="34" charset="0"/>
              </a:rPr>
              <a:t>Backlash </a:t>
            </a:r>
            <a:r>
              <a:rPr lang="en-US" altLang="ko-KR" sz="900">
                <a:latin typeface="Arial" pitchFamily="34" charset="0"/>
                <a:ea typeface="돋움" pitchFamily="50" charset="-127"/>
                <a:cs typeface="Arial" pitchFamily="34" charset="0"/>
              </a:rPr>
              <a:t>và độ giãn thấp</a:t>
            </a:r>
          </a:p>
          <a:p>
            <a:r>
              <a:rPr lang="en-US" altLang="ko-KR" sz="900" smtClean="0">
                <a:latin typeface="Arial" pitchFamily="34" charset="0"/>
                <a:ea typeface="돋움" pitchFamily="50" charset="-127"/>
                <a:cs typeface="Arial" pitchFamily="34" charset="0"/>
              </a:rPr>
              <a:t>C. </a:t>
            </a:r>
            <a:r>
              <a:rPr lang="en-US" altLang="ko-KR" sz="900">
                <a:latin typeface="Arial" pitchFamily="34" charset="0"/>
                <a:ea typeface="돋움" pitchFamily="50" charset="-127"/>
                <a:cs typeface="Arial" pitchFamily="34" charset="0"/>
              </a:rPr>
              <a:t>Có thể giảm tối đa không gian lắp </a:t>
            </a:r>
            <a:r>
              <a:rPr lang="en-US" altLang="ko-KR" sz="900" smtClean="0">
                <a:latin typeface="Arial" pitchFamily="34" charset="0"/>
                <a:ea typeface="돋움" pitchFamily="50" charset="-127"/>
                <a:cs typeface="Arial" pitchFamily="34" charset="0"/>
              </a:rPr>
              <a:t>đặt</a:t>
            </a:r>
            <a:endParaRPr lang="en-US" altLang="ko-KR" sz="900">
              <a:latin typeface="Arial" pitchFamily="34" charset="0"/>
              <a:ea typeface="돋움" pitchFamily="50" charset="-127"/>
              <a:cs typeface="Arial" pitchFamily="34" charset="0"/>
            </a:endParaRPr>
          </a:p>
          <a:p>
            <a:r>
              <a:rPr lang="en-US" altLang="ko-KR" sz="900" smtClean="0">
                <a:solidFill>
                  <a:srgbClr val="FF0000"/>
                </a:solidFill>
                <a:latin typeface="Arial" pitchFamily="34" charset="0"/>
                <a:ea typeface="돋움" pitchFamily="50" charset="-127"/>
                <a:cs typeface="Arial" pitchFamily="34" charset="0"/>
              </a:rPr>
              <a:t>D. </a:t>
            </a:r>
            <a:r>
              <a:rPr lang="en-US" altLang="ko-KR" sz="900">
                <a:solidFill>
                  <a:srgbClr val="FF0000"/>
                </a:solidFill>
                <a:latin typeface="Arial" pitchFamily="34" charset="0"/>
                <a:ea typeface="돋움" pitchFamily="50" charset="-127"/>
                <a:cs typeface="Arial" pitchFamily="34" charset="0"/>
              </a:rPr>
              <a:t>Cần có lực căng ban đầu cao.</a:t>
            </a:r>
          </a:p>
        </p:txBody>
      </p:sp>
    </p:spTree>
    <p:extLst>
      <p:ext uri="{BB962C8B-B14F-4D97-AF65-F5344CB8AC3E}">
        <p14:creationId xmlns:p14="http://schemas.microsoft.com/office/powerpoint/2010/main" val="18885590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WS12차_1회_051119">
  <a:themeElements>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LG">
      <a:majorFont>
        <a:latin typeface="LG Smart_H Regular"/>
        <a:ea typeface="LG Smart_H Regular"/>
        <a:cs typeface=""/>
      </a:majorFont>
      <a:minorFont>
        <a:latin typeface="LG Smart_H Regular"/>
        <a:ea typeface="LG Smart_H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Arial" charset="0"/>
            <a:ea typeface="돋움" pitchFamily="50" charset="-127"/>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Arial" charset="0"/>
            <a:ea typeface="돋움" pitchFamily="50" charset="-127"/>
          </a:defRPr>
        </a:defPPr>
      </a:lstStyle>
    </a:lnDef>
  </a:objectDefaults>
  <a:extraClrSchemeLst>
    <a:extraClrScheme>
      <a:clrScheme name="1_WS12차_1회_051119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WS12차_1회_051119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WS12차_1회_051119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WS12차_1회_051119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WS12차_1회_051119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WS12차_1회_051119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WS12차_1회_051119">
  <a:themeElements>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WS12차_1회_051119">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돋움" pitchFamily="50" charset="-127"/>
            <a:ea typeface="돋움" pitchFamily="50" charset="-127"/>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SzTx/>
          <a:buFontTx/>
          <a:buNone/>
          <a:tabLst/>
          <a:defRPr kumimoji="1" lang="ko-KR" altLang="en-US" sz="900" b="0" i="0" u="none" strike="noStrike" cap="none" normalizeH="0" baseline="0" smtClean="0">
            <a:ln>
              <a:noFill/>
            </a:ln>
            <a:solidFill>
              <a:schemeClr val="tx1"/>
            </a:solidFill>
            <a:effectLst/>
            <a:latin typeface="돋움" pitchFamily="50" charset="-127"/>
            <a:ea typeface="돋움" pitchFamily="50" charset="-127"/>
          </a:defRPr>
        </a:defPPr>
      </a:lstStyle>
    </a:lnDef>
  </a:objectDefaults>
  <a:extraClrSchemeLst>
    <a:extraClrScheme>
      <a:clrScheme name="1_WS12차_1회_051119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WS12차_1회_051119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WS12차_1회_051119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WS12차_1회_051119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WS12차_1회_051119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WS12차_1회_051119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WS12차_1회_051119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27908</TotalTime>
  <Words>31307</Words>
  <Application>Microsoft Office PowerPoint</Application>
  <PresentationFormat>A4 Paper (210x297 mm)</PresentationFormat>
  <Paragraphs>4460</Paragraphs>
  <Slides>64</Slides>
  <Notes>64</Notes>
  <HiddenSlides>0</HiddenSlides>
  <MMClips>0</MMClips>
  <ScaleCrop>false</ScaleCrop>
  <HeadingPairs>
    <vt:vector size="8" baseType="variant">
      <vt:variant>
        <vt:lpstr>Fonts Used</vt:lpstr>
      </vt:variant>
      <vt:variant>
        <vt:i4>11</vt:i4>
      </vt:variant>
      <vt:variant>
        <vt:lpstr>Theme</vt:lpstr>
      </vt:variant>
      <vt:variant>
        <vt:i4>3</vt:i4>
      </vt:variant>
      <vt:variant>
        <vt:lpstr>Embedded OLE Servers</vt:lpstr>
      </vt:variant>
      <vt:variant>
        <vt:i4>1</vt:i4>
      </vt:variant>
      <vt:variant>
        <vt:lpstr>Slide Titles</vt:lpstr>
      </vt:variant>
      <vt:variant>
        <vt:i4>64</vt:i4>
      </vt:variant>
    </vt:vector>
  </HeadingPairs>
  <TitlesOfParts>
    <vt:vector size="79" baseType="lpstr">
      <vt:lpstr>Dotum</vt:lpstr>
      <vt:lpstr>Dotum</vt:lpstr>
      <vt:lpstr>굴림</vt:lpstr>
      <vt:lpstr>HY견고딕</vt:lpstr>
      <vt:lpstr>LG Smart_H Regular</vt:lpstr>
      <vt:lpstr>맑은 고딕</vt:lpstr>
      <vt:lpstr>Arial</vt:lpstr>
      <vt:lpstr>Arial Narrow</vt:lpstr>
      <vt:lpstr>Symbol</vt:lpstr>
      <vt:lpstr>Times New Roman</vt:lpstr>
      <vt:lpstr>Wingdings</vt:lpstr>
      <vt:lpstr>Office 테마</vt:lpstr>
      <vt:lpstr>1_WS12차_1회_051119</vt:lpstr>
      <vt:lpstr>2_WS12차_1회_051119</vt:lpstr>
      <vt:lpstr>비트맵 이미지</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Windows 사용자</dc:creator>
  <cp:lastModifiedBy>daoduythanh03</cp:lastModifiedBy>
  <cp:revision>550</cp:revision>
  <cp:lastPrinted>2022-06-15T03:07:58Z</cp:lastPrinted>
  <dcterms:created xsi:type="dcterms:W3CDTF">2021-05-12T06:04:51Z</dcterms:created>
  <dcterms:modified xsi:type="dcterms:W3CDTF">2025-11-22T06:04:01Z</dcterms:modified>
</cp:coreProperties>
</file>